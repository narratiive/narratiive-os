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c0cc103b254b94" /><Relationship Type="http://schemas.openxmlformats.org/officeDocument/2006/relationships/extended-properties" Target="/docProps/app.xml" Id="R6783246a44824f83" /><Relationship Type="http://schemas.openxmlformats.org/officeDocument/2006/relationships/officeDocument" Target="/ppt/presentation.xml" Id="Rdda22025520b43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2baf2afa114585"/>
  </p:sldMasterIdLst>
  <p:notesMasterIdLst>
    <p:notesMasterId xmlns:r="http://schemas.openxmlformats.org/officeDocument/2006/relationships" r:id="Rbd6be22190424044"/>
  </p:notesMasterIdLst>
  <p:sldIdLst>
    <p:sldId xmlns:r="http://schemas.openxmlformats.org/officeDocument/2006/relationships" id="256" r:id="Rbcbe453ee03440ce"/>
    <p:sldId xmlns:r="http://schemas.openxmlformats.org/officeDocument/2006/relationships" id="257" r:id="R410048daa5a2462f"/>
    <p:sldId xmlns:r="http://schemas.openxmlformats.org/officeDocument/2006/relationships" id="258" r:id="R2e6b9572bee84ea6"/>
    <p:sldId xmlns:r="http://schemas.openxmlformats.org/officeDocument/2006/relationships" id="259" r:id="Rb5f3b869e4d84bcf"/>
    <p:sldId xmlns:r="http://schemas.openxmlformats.org/officeDocument/2006/relationships" id="260" r:id="R7b7951cda59446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9efe5dc81f4e00" /><Relationship Type="http://schemas.openxmlformats.org/officeDocument/2006/relationships/slideMaster" Target="/ppt/slideMasters/slideMaster1.xml" Id="R842baf2afa114585" /><Relationship Type="http://schemas.openxmlformats.org/officeDocument/2006/relationships/notesMaster" Target="/ppt/notesMasters/notesMaster1.xml" Id="Rbd6be22190424044" /><Relationship Type="http://schemas.openxmlformats.org/officeDocument/2006/relationships/presProps" Target="/ppt/presProps.xml" Id="Rdbbc4e6fb5274c0c" /><Relationship Type="http://schemas.openxmlformats.org/officeDocument/2006/relationships/tableStyles" Target="/ppt/tableStyles.xml" Id="R7f3392736b584efc" /><Relationship Type="http://schemas.openxmlformats.org/officeDocument/2006/relationships/slide" Target="/ppt/slides/slide1.xml" Id="Rbcbe453ee03440ce" /><Relationship Type="http://schemas.openxmlformats.org/officeDocument/2006/relationships/slide" Target="/ppt/slides/slide2.xml" Id="R410048daa5a2462f" /><Relationship Type="http://schemas.openxmlformats.org/officeDocument/2006/relationships/slide" Target="/ppt/slides/slide3.xml" Id="R2e6b9572bee84ea6" /><Relationship Type="http://schemas.openxmlformats.org/officeDocument/2006/relationships/slide" Target="/ppt/slides/slide4.xml" Id="Rb5f3b869e4d84bcf" /><Relationship Type="http://schemas.openxmlformats.org/officeDocument/2006/relationships/slide" Target="/ppt/slides/slide5.xml" Id="R7b7951cda59446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8df83e44f843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a4973c6dc3433b" /><Relationship Type="http://schemas.openxmlformats.org/officeDocument/2006/relationships/notesMaster" Target="/ppt/notesMasters/notesMaster1.xml" Id="R0ff154bb409b49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75c24d57c545aa" /><Relationship Type="http://schemas.openxmlformats.org/officeDocument/2006/relationships/notesMaster" Target="/ppt/notesMasters/notesMaster1.xml" Id="Rd06375f283e144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f3d47567024cdf" /><Relationship Type="http://schemas.openxmlformats.org/officeDocument/2006/relationships/notesMaster" Target="/ppt/notesMasters/notesMaster1.xml" Id="Re844d9808c2542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5bdd70603a4823" /><Relationship Type="http://schemas.openxmlformats.org/officeDocument/2006/relationships/notesMaster" Target="/ppt/notesMasters/notesMaster1.xml" Id="R9bf241679b0240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e0e850032046c5" /><Relationship Type="http://schemas.openxmlformats.org/officeDocument/2006/relationships/notesMaster" Target="/ppt/notesMasters/notesMaster1.xml" Id="Ra1b4df989e604f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unsolicited Rave example only.</a:t>
            </a:r>
          </a:p>
          <a:p xmlns:a="http://schemas.openxmlformats.org/drawingml/2006/main">
            <a:r>
              <a:t>The background is AI-generated and not a Rave-owned asset.</a:t>
            </a:r>
          </a:p>
          <a:p xmlns:a="http://schemas.openxmlformats.org/drawingml/2006/main">
            <a:r>
              <a:t>This prototype defines a shared visual grammar; it is not client-approved brand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Palette and type are prototype specifications, not extracted Rave brand standards.</a:t>
            </a:r>
          </a:p>
          <a:p xmlns:a="http://schemas.openxmlformats.org/drawingml/2006/main">
            <a:r>
              <a:t>Yellow carries direction; cobalt carries evidence.</a:t>
            </a:r>
          </a:p>
          <a:p xmlns:a="http://schemas.openxmlformats.org/drawingml/2006/main">
            <a:r>
              <a:t>Arial was selected for portability and reliable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accepted experimental founder argument, message msg_011Cg9hDhGoFhwkcU34gMtok.</a:t>
            </a:r>
          </a:p>
          <a:p xmlns:a="http://schemas.openxmlformats.org/drawingml/2006/main">
            <a:r>
              <a:t>The Rave research pack is archived and requires current revalidation.</a:t>
            </a:r>
          </a:p>
          <a:p xmlns:a="http://schemas.openxmlformats.org/drawingml/2006/main">
            <a:r>
              <a:t>No financial forecast or client approval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Creative territory prototype only; it has not been approved by Rave or Matt.</a:t>
            </a:r>
          </a:p>
          <a:p xmlns:a="http://schemas.openxmlformats.org/drawingml/2006/main">
            <a:r>
              <a:t>The same AI-generated background is reused as a system memory device.</a:t>
            </a:r>
          </a:p>
          <a:p xmlns:a="http://schemas.openxmlformats.org/drawingml/2006/main">
            <a:r>
              <a:t>External release requires rights, product-accuracy and brand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FIELDWORK and SKETCHBOOK share a client identity while preserving distinct product roles.</a:t>
            </a:r>
          </a:p>
          <a:p xmlns:a="http://schemas.openxmlformats.org/drawingml/2006/main">
            <a:r>
              <a:t>This prototype demonstrates the relationship only; no SKETCHBOOK production pipeline has been built.</a:t>
            </a:r>
          </a:p>
          <a:p xmlns:a="http://schemas.openxmlformats.org/drawingml/2006/main">
            <a:r>
              <a:t>Next decision: approve, revise or reject the shared visual grammar.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2d071e2464e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b3496609f4d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a5029452c42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902b2c2714a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4b3dc1b3f4c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4326eee754d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81B7D9-F4F8-49C2-9186-4C14EC3B9C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A20057-01D5-40CC-9256-5580244660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149C39-277A-4992-BABF-2E9EDE48C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89A266-502F-414A-AABD-A4925508E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43479B-4A7E-4DFB-9967-7273E3DD97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A676E5-99CC-43CC-97EF-817BB5BB7D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C66FDA-CF81-49C4-A81F-FB2CBF6D6B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2522C9-1192-48BC-A975-BBC1AF177E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C0EE2C-1AB1-4197-AF25-C8AB77289D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452636-6082-4301-B29A-6C705533FC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5d5d8698fd4da1" /><Relationship Type="http://schemas.openxmlformats.org/officeDocument/2006/relationships/slideLayout" Target="/ppt/slideLayouts/slideLayout1.xml" Id="R626d0df790d446d5" /><Relationship Type="http://schemas.openxmlformats.org/officeDocument/2006/relationships/slideLayout" Target="/ppt/slideLayouts/slideLayout2.xml" Id="R62a6812ccd1f4da5" /><Relationship Type="http://schemas.openxmlformats.org/officeDocument/2006/relationships/slideLayout" Target="/ppt/slideLayouts/slideLayout3.xml" Id="Rc863fa65374d4544" /><Relationship Type="http://schemas.openxmlformats.org/officeDocument/2006/relationships/slideLayout" Target="/ppt/slideLayouts/slideLayout4.xml" Id="Rf3b7f6b65e654f90" /><Relationship Type="http://schemas.openxmlformats.org/officeDocument/2006/relationships/slideLayout" Target="/ppt/slideLayouts/slideLayout5.xml" Id="Rddab7d0595ba43d5" /><Relationship Type="http://schemas.openxmlformats.org/officeDocument/2006/relationships/slideLayout" Target="/ppt/slideLayouts/slideLayout6.xml" Id="R7d163ced46cd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6d0df790d446d5"/>
    <p:sldLayoutId xmlns:r="http://schemas.openxmlformats.org/officeDocument/2006/relationships" id="2147483650" r:id="R62a6812ccd1f4da5"/>
    <p:sldLayoutId xmlns:r="http://schemas.openxmlformats.org/officeDocument/2006/relationships" id="2147483651" r:id="Rc863fa65374d4544"/>
    <p:sldLayoutId xmlns:r="http://schemas.openxmlformats.org/officeDocument/2006/relationships" id="2147483652" r:id="Rf3b7f6b65e654f90"/>
    <p:sldLayoutId xmlns:r="http://schemas.openxmlformats.org/officeDocument/2006/relationships" id="2147483653" r:id="Rddab7d0595ba43d5"/>
    <p:sldLayoutId xmlns:r="http://schemas.openxmlformats.org/officeDocument/2006/relationships" id="2147483654" r:id="R7d163ced46cd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1113c21294b1f" /><Relationship Type="http://schemas.openxmlformats.org/officeDocument/2006/relationships/image" Target="/ppt/media/image.png" Id="R256380a8c5374881" /><Relationship Type="http://schemas.openxmlformats.org/officeDocument/2006/relationships/notesSlide" Target="/ppt/notesSlides/notesSlide1.xml" Id="Raea4f0b3d90042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ba145195d4203" /><Relationship Type="http://schemas.openxmlformats.org/officeDocument/2006/relationships/notesSlide" Target="/ppt/notesSlides/notesSlide2.xml" Id="R3a15a1d8a41843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20972242b4815" /><Relationship Type="http://schemas.openxmlformats.org/officeDocument/2006/relationships/notesSlide" Target="/ppt/notesSlides/notesSlide3.xml" Id="R818f987a7e9d4c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d5e2f7bfe40f9" /><Relationship Type="http://schemas.openxmlformats.org/officeDocument/2006/relationships/image" Target="/ppt/media/image2.png" Id="Rb8155e21adda434c" /><Relationship Type="http://schemas.openxmlformats.org/officeDocument/2006/relationships/notesSlide" Target="/ppt/notesSlides/notesSlide4.xml" Id="Rae4ac3b8a27346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3c2cc6dc64eab" /><Relationship Type="http://schemas.openxmlformats.org/officeDocument/2006/relationships/notesSlide" Target="/ppt/notesSlides/notesSlide5.xml" Id="Rab257a46e81949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2B55B-AD19-4886-A0FF-BB3A88334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380a8c53748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38B1E-EECC-4E55-93C7-396419EA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6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F8978-913A-4437-BAAB-CA4A18AA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94118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8410E-97C6-4022-B2B2-D3BF51DA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RAVE COFFEE / CLIENT WORLD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0D366-2423-49A1-9A82-75E9F2D5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client world.</a:t>
            </a:r>
          </a:p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different jobs.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3AE39-1E2C-4C3B-BF43-362999B2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FIELDWORK explains the choice.</a:t>
            </a:r>
          </a:p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SKETCHBOOK makes the choice tangible.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004FE-5E24-40BA-B986-E21ABF1A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Proposed design system for internal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61070-41A7-45AB-82CE-E72F859C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FIELDWORK + SKETCHBOOK / RAVE EXAMPLE / INTERNAL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D29A7-5998-4153-9012-0DAAED99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994518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E29A85-C886-43D4-83C3-175D6A85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SHARED CLIENT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740AE-B743-46AE-8592-59B6222F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A clear path through serious coffee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97A19-FCAE-461E-9A3D-11F132D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identity stays consistent. The amount of evidence and expression changes with the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86060-D551-4915-8BCC-2C8B0A98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CF8DA-7681-4067-A0B2-7D7B2048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22146-73B1-4F30-AF56-43F2A063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#17130F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5EF4A-1D58-4E8B-9AB2-E49AE32B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3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97452-6D2A-4C50-BAC5-328D9B42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52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1A320-7784-40B8-9E03-0025C351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#F5EFE3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030C7-67E2-4BBB-9F59-9BA805D0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6700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5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73D96-6906-4C7A-8A24-2A3F8515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52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A27A0-B1E4-465D-B31E-49809598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#FFCA05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A49B2-D413-40AA-BFAF-06E16379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A3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076B5-AD18-4A5D-90E8-B002701A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52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2046D-0A47-432F-A07C-16BD6D6D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#1738A3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10CCD-D746-47B5-A321-9F92583B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351F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657DE-D9AD-4B48-9439-317CB99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528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ROAST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532EA-66A0-42A6-8671-F0B718EC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#6B351F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9FE234-A213-4D9C-BF1B-79F64511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467E1-1D51-4E11-8A94-C783B068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Arial Bold for decisions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F6BE1-EB72-4855-B9C9-A22E1E12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Arial Regular for evidence, explanation and captions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69656-0ADE-47A7-A8ED-E8DE93BD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19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MEMORY DEVICE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806D82-34C1-4045-B6E5-3C09FB2A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19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5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7E3B3-C53E-49D8-87C0-BFDFAFD3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816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yellow path marks progression and choice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AFC7E3-A3B0-4ED2-913F-0A75EE08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FIELDWORK + SKETCHBOOK / RAVE EXAMPLE / INTERNAL PROTOTYPE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B7BB26-2111-4429-994C-BE9571E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1553986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8992B-D1D1-462A-9FC7-AA97A3FC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5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15F4C-E8C4-41E1-BA7C-A32BE89D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FIELDWORK / ARGUMENT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21244-2F4C-4A71-BB00-79BE48EC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Rave has many routes to repeat.</a:t>
            </a:r>
          </a:p>
          <a:p xmlns:a="http://schemas.openxmlformats.org/drawingml/2006/main">
            <a:pPr algn="l">
              <a:defRPr sz="32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It does not yet know which one compounds.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560A5-3E69-4FF2-9739-ECBC8FA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CURRENT 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B4F6F-B0FE-44A1-9109-847F3EB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Coffee Club, Subscribe &amp; Save, rewards, wholesale and a wide product range already exist. Public evidence does not reveal which entry route creates stronger repeat purchase and contribution.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A7FDE-7651-485D-9796-8E4025E3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57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FOUNDER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B72D7-90E0-436F-A233-6553A005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Release channel, repeat and contribution data before choosing where to scale.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3D3B4-72BC-4DE7-96A8-B8940B76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5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E02AC-C840-4C2E-B93C-99818C61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Qualified entry  ×  first choice  ×  early repeat  ×  progression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707B5-E71A-4DB9-A4B1-3CCC343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MODELLED MECHANISM / NOT A FORECAST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1BC39-89C7-4CFD-81CA-8DB49472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FIELDWORK / RAVE EXAMPLE / EXPERIMENTAL ARGUMENT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48156-F64B-4548-A53B-F0A4DF45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864505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FA20D-664F-49FB-93DD-92A10E74F0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55e21adda434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8E804-0259-4970-AD8B-86C4D87F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32157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9EE5F-EDE0-43A3-9C4F-431BAEDE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0F">
              <a:alpha val="92157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8486B-6942-4419-8736-17C6A085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SKETCHBOOK / TERRITORY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85427-091B-4AEF-B42F-2BE2D220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better cup,</a:t>
            </a:r>
          </a:p>
          <a:p xmlns:a="http://schemas.openxmlformats.org/drawingml/2006/main">
            <a:pPr algn="l">
              <a:defRPr sz="3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without the ceremony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7C973-6D5E-44A4-8AF2-A687FD23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Creative illustration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4CF94-0221-4225-A618-66F0EDFD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yellow path turns the strategic progression into a recognisable visual world: familiar coffee, a clearer route and permission to keep exploring.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6E8B6-D707-420C-B06C-1AB78186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FFCA0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CA05"/>
                </a:solidFill>
                <a:latin typeface="Arial"/>
                <a:ea typeface="Arial"/>
                <a:cs typeface="Arial"/>
              </a:rPr>
              <a:t>PHOTOGRAPHY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6DFA4-F65E-4737-8973-2CCE7C69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Tactile surfaces, crisp daylight, useful negative 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6F4C3-DA54-4580-9916-BD6BE2C6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SKETCHBOOK / RAVE EXAMPLE / CREATIVE ILLUSTRATION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8607F-746F-49E2-9FA3-DB3903B4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430656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B8FAC-7D88-4059-9FA1-24DC4CFB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ONE WORLD / TWO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A0900-C50E-4112-885D-A6F34B2E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Consistency without sameness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DCAE8-B29A-4CB0-A061-BCA9A37A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A3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DA5C1-0624-45EF-99A9-E3F696B7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FIELDWORK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2EED3-C807-4CB5-AF0E-B31EE0AB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Evidence first</a:t>
            </a:r>
          </a:p>
          <a:p xmlns:a="http://schemas.openxmlformats.org/drawingml/2006/main">
            <a: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Paper and ink dominate</a:t>
            </a:r>
          </a:p>
          <a:p xmlns:a="http://schemas.openxmlformats.org/drawingml/2006/main">
            <a: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Yellow marks the decision</a:t>
            </a:r>
          </a:p>
          <a:p xmlns:a="http://schemas.openxmlformats.org/drawingml/2006/main">
            <a: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Models remain editable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0BF50-2C76-4211-9E3C-9BA14DF4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64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5">
              <a:alpha val="10000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3235D-008F-49CB-A58E-96FAC87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SKETCHBOOK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39ABF-236E-4CC4-B2D4-92CED661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Expression first</a:t>
            </a:r>
          </a:p>
          <a:p xmlns:a="http://schemas.openxmlformats.org/drawingml/2006/main">
            <a: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Photography takes more space</a:t>
            </a:r>
          </a:p>
          <a:p xmlns:a="http://schemas.openxmlformats.org/drawingml/2006/main">
            <a: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The path becomes kinetic</a:t>
            </a:r>
          </a:p>
          <a:p xmlns:a="http://schemas.openxmlformats.org/drawingml/2006/main">
            <a:pPr algn="l">
              <a:defRPr sz="1800" b="0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Hypotheses stay labelled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B1C94-BC8F-414B-81FB-9FA20264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1738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8A3"/>
                </a:solidFill>
                <a:latin typeface="Arial"/>
                <a:ea typeface="Arial"/>
                <a:cs typeface="Arial"/>
              </a:rPr>
              <a:t>Shared across both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32BC1-2F1D-47CA-B359-A7C73A53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38750"/>
            <a:ext cx="817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7130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30F"/>
                </a:solidFill>
                <a:latin typeface="Arial"/>
                <a:ea typeface="Arial"/>
                <a:cs typeface="Arial"/>
              </a:rPr>
              <a:t>Palette, type hierarchy, yellow path, crop behaviour, footer, evidence status and approval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24C89-EE3F-4496-B30E-267B4C20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FIELDWORK + SKETCHBOOK / RAVE EXAMPLE / INTERNAL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9FB05-3FB6-4594-998C-B529E214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75" b="1" i="0">
                <a:solidFill>
                  <a:srgbClr val="6E66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E665D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1122150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2026-10-18T12:26:09.3540000Z</dcterms:created>
  <dcterms:modified xsi:type="dcterms:W3CDTF">2026-10-18T12:26:09.3540000Z</dcterms:modified>
</coreProperties>
</file>