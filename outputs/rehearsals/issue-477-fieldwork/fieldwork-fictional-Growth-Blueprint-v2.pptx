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9076c944a2142e0" /><Relationship Type="http://schemas.openxmlformats.org/officeDocument/2006/relationships/extended-properties" Target="/docProps/app.xml" Id="R07c806c4c32a427d" /><Relationship Type="http://schemas.openxmlformats.org/officeDocument/2006/relationships/officeDocument" Target="/ppt/presentation.xml" Id="R3e38b1c4e2444e6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fab7a4ed5ce44f3"/>
  </p:sldMasterIdLst>
  <p:notesMasterIdLst>
    <p:notesMasterId xmlns:r="http://schemas.openxmlformats.org/officeDocument/2006/relationships" r:id="Rddf92d83ea994927"/>
  </p:notesMasterIdLst>
  <p:sldIdLst>
    <p:sldId xmlns:r="http://schemas.openxmlformats.org/officeDocument/2006/relationships" id="256" r:id="R692c1ded079f45c4"/>
    <p:sldId xmlns:r="http://schemas.openxmlformats.org/officeDocument/2006/relationships" id="257" r:id="Rf2f1074b4f93413f"/>
    <p:sldId xmlns:r="http://schemas.openxmlformats.org/officeDocument/2006/relationships" id="258" r:id="R676932f274704148"/>
    <p:sldId xmlns:r="http://schemas.openxmlformats.org/officeDocument/2006/relationships" id="259" r:id="Ra791c90ae3db460c"/>
    <p:sldId xmlns:r="http://schemas.openxmlformats.org/officeDocument/2006/relationships" id="260" r:id="Rfd821fb25a314ee7"/>
    <p:sldId xmlns:r="http://schemas.openxmlformats.org/officeDocument/2006/relationships" id="261" r:id="R1efaf709319d4cd9"/>
    <p:sldId xmlns:r="http://schemas.openxmlformats.org/officeDocument/2006/relationships" id="262" r:id="R63dae48c9da24c05"/>
    <p:sldId xmlns:r="http://schemas.openxmlformats.org/officeDocument/2006/relationships" id="263" r:id="R2f2a1b7c01d4496a"/>
    <p:sldId xmlns:r="http://schemas.openxmlformats.org/officeDocument/2006/relationships" id="264" r:id="Rd5e231b603d544aa"/>
    <p:sldId xmlns:r="http://schemas.openxmlformats.org/officeDocument/2006/relationships" id="265" r:id="R898158d088ff4524"/>
    <p:sldId xmlns:r="http://schemas.openxmlformats.org/officeDocument/2006/relationships" id="266" r:id="R6d51ef1239d24bda"/>
    <p:sldId xmlns:r="http://schemas.openxmlformats.org/officeDocument/2006/relationships" id="267" r:id="Ree764fc12d984c04"/>
    <p:sldId xmlns:r="http://schemas.openxmlformats.org/officeDocument/2006/relationships" id="268" r:id="Ra745f56021b0473f"/>
    <p:sldId xmlns:r="http://schemas.openxmlformats.org/officeDocument/2006/relationships" id="269" r:id="Ra97a8ad8e36348a3"/>
    <p:sldId xmlns:r="http://schemas.openxmlformats.org/officeDocument/2006/relationships" id="270" r:id="Rb56627b2fc1d4187"/>
    <p:sldId xmlns:r="http://schemas.openxmlformats.org/officeDocument/2006/relationships" id="271" r:id="Rc9cfee1e5764408f"/>
    <p:sldId xmlns:r="http://schemas.openxmlformats.org/officeDocument/2006/relationships" id="272" r:id="R8c66a66beab84223"/>
    <p:sldId xmlns:r="http://schemas.openxmlformats.org/officeDocument/2006/relationships" id="273" r:id="R4804901ade3c4051"/>
    <p:sldId xmlns:r="http://schemas.openxmlformats.org/officeDocument/2006/relationships" id="274" r:id="Raf996b7652854d21"/>
    <p:sldId xmlns:r="http://schemas.openxmlformats.org/officeDocument/2006/relationships" id="275" r:id="R067915d24508496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2d3c843b2a24f18" /><Relationship Type="http://schemas.openxmlformats.org/officeDocument/2006/relationships/slideMaster" Target="/ppt/slideMasters/slideMaster1.xml" Id="R1fab7a4ed5ce44f3" /><Relationship Type="http://schemas.openxmlformats.org/officeDocument/2006/relationships/notesMaster" Target="/ppt/notesMasters/notesMaster1.xml" Id="Rddf92d83ea994927" /><Relationship Type="http://schemas.openxmlformats.org/officeDocument/2006/relationships/presProps" Target="/ppt/presProps.xml" Id="R5dd626b6f0924d07" /><Relationship Type="http://schemas.openxmlformats.org/officeDocument/2006/relationships/tableStyles" Target="/ppt/tableStyles.xml" Id="R829a2726ae844b86" /><Relationship Type="http://schemas.openxmlformats.org/officeDocument/2006/relationships/slide" Target="/ppt/slides/slide1.xml" Id="R692c1ded079f45c4" /><Relationship Type="http://schemas.openxmlformats.org/officeDocument/2006/relationships/slide" Target="/ppt/slides/slide2.xml" Id="Rf2f1074b4f93413f" /><Relationship Type="http://schemas.openxmlformats.org/officeDocument/2006/relationships/slide" Target="/ppt/slides/slide3.xml" Id="R676932f274704148" /><Relationship Type="http://schemas.openxmlformats.org/officeDocument/2006/relationships/slide" Target="/ppt/slides/slide4.xml" Id="Ra791c90ae3db460c" /><Relationship Type="http://schemas.openxmlformats.org/officeDocument/2006/relationships/slide" Target="/ppt/slides/slide5.xml" Id="Rfd821fb25a314ee7" /><Relationship Type="http://schemas.openxmlformats.org/officeDocument/2006/relationships/slide" Target="/ppt/slides/slide6.xml" Id="R1efaf709319d4cd9" /><Relationship Type="http://schemas.openxmlformats.org/officeDocument/2006/relationships/slide" Target="/ppt/slides/slide7.xml" Id="R63dae48c9da24c05" /><Relationship Type="http://schemas.openxmlformats.org/officeDocument/2006/relationships/slide" Target="/ppt/slides/slide8.xml" Id="R2f2a1b7c01d4496a" /><Relationship Type="http://schemas.openxmlformats.org/officeDocument/2006/relationships/slide" Target="/ppt/slides/slide9.xml" Id="Rd5e231b603d544aa" /><Relationship Type="http://schemas.openxmlformats.org/officeDocument/2006/relationships/slide" Target="/ppt/slides/slide10.xml" Id="R898158d088ff4524" /><Relationship Type="http://schemas.openxmlformats.org/officeDocument/2006/relationships/slide" Target="/ppt/slides/slide11.xml" Id="R6d51ef1239d24bda" /><Relationship Type="http://schemas.openxmlformats.org/officeDocument/2006/relationships/slide" Target="/ppt/slides/slide12.xml" Id="Ree764fc12d984c04" /><Relationship Type="http://schemas.openxmlformats.org/officeDocument/2006/relationships/slide" Target="/ppt/slides/slide13.xml" Id="Ra745f56021b0473f" /><Relationship Type="http://schemas.openxmlformats.org/officeDocument/2006/relationships/slide" Target="/ppt/slides/slide14.xml" Id="Ra97a8ad8e36348a3" /><Relationship Type="http://schemas.openxmlformats.org/officeDocument/2006/relationships/slide" Target="/ppt/slides/slide15.xml" Id="Rb56627b2fc1d4187" /><Relationship Type="http://schemas.openxmlformats.org/officeDocument/2006/relationships/slide" Target="/ppt/slides/slide16.xml" Id="Rc9cfee1e5764408f" /><Relationship Type="http://schemas.openxmlformats.org/officeDocument/2006/relationships/slide" Target="/ppt/slides/slide17.xml" Id="R8c66a66beab84223" /><Relationship Type="http://schemas.openxmlformats.org/officeDocument/2006/relationships/slide" Target="/ppt/slides/slide18.xml" Id="R4804901ade3c4051" /><Relationship Type="http://schemas.openxmlformats.org/officeDocument/2006/relationships/slide" Target="/ppt/slides/slide19.xml" Id="Raf996b7652854d21" /><Relationship Type="http://schemas.openxmlformats.org/officeDocument/2006/relationships/slide" Target="/ppt/slides/slide20.xml" Id="R067915d24508496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350db92af97481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8e224649e524927" /><Relationship Type="http://schemas.openxmlformats.org/officeDocument/2006/relationships/notesMaster" Target="/ppt/notesMasters/notesMaster1.xml" Id="R38ac49e7a1fc404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e5e6908267a4a75" /><Relationship Type="http://schemas.openxmlformats.org/officeDocument/2006/relationships/notesMaster" Target="/ppt/notesMasters/notesMaster1.xml" Id="Re364c783c8d043d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5ade8b1a0234131" /><Relationship Type="http://schemas.openxmlformats.org/officeDocument/2006/relationships/notesMaster" Target="/ppt/notesMasters/notesMaster1.xml" Id="Rad925cf065be48d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3fcae9c3ac549f2" /><Relationship Type="http://schemas.openxmlformats.org/officeDocument/2006/relationships/notesMaster" Target="/ppt/notesMasters/notesMaster1.xml" Id="R7dc8991c854b4d8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65b27d97d094a67" /><Relationship Type="http://schemas.openxmlformats.org/officeDocument/2006/relationships/notesMaster" Target="/ppt/notesMasters/notesMaster1.xml" Id="R7ed426ff4fd7403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7768840fa904b66" /><Relationship Type="http://schemas.openxmlformats.org/officeDocument/2006/relationships/notesMaster" Target="/ppt/notesMasters/notesMaster1.xml" Id="R6219583e2e1c428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ee218f510f941e6" /><Relationship Type="http://schemas.openxmlformats.org/officeDocument/2006/relationships/notesMaster" Target="/ppt/notesMasters/notesMaster1.xml" Id="R0b28e4743a834bf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282a7fa4c4240a9" /><Relationship Type="http://schemas.openxmlformats.org/officeDocument/2006/relationships/notesMaster" Target="/ppt/notesMasters/notesMaster1.xml" Id="R859655100c23459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bdea0cf57a64271" /><Relationship Type="http://schemas.openxmlformats.org/officeDocument/2006/relationships/notesMaster" Target="/ppt/notesMasters/notesMaster1.xml" Id="Rea4bcb9d0d2e4d3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80c3b5afaba4865" /><Relationship Type="http://schemas.openxmlformats.org/officeDocument/2006/relationships/notesMaster" Target="/ppt/notesMasters/notesMaster1.xml" Id="R3d0201329fd547f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d3691fda81a4330" /><Relationship Type="http://schemas.openxmlformats.org/officeDocument/2006/relationships/notesMaster" Target="/ppt/notesMasters/notesMaster1.xml" Id="Rb0c45d73a896474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48b1c6fd1814ac1" /><Relationship Type="http://schemas.openxmlformats.org/officeDocument/2006/relationships/notesMaster" Target="/ppt/notesMasters/notesMaster1.xml" Id="R1b7204863c7e4a4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5fc6e9ce024406c" /><Relationship Type="http://schemas.openxmlformats.org/officeDocument/2006/relationships/notesMaster" Target="/ppt/notesMasters/notesMaster1.xml" Id="R5c708e82f07c426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c519f0c72534d9c" /><Relationship Type="http://schemas.openxmlformats.org/officeDocument/2006/relationships/notesMaster" Target="/ppt/notesMasters/notesMaster1.xml" Id="Rc558278fe54c4c8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c4804501dd24052" /><Relationship Type="http://schemas.openxmlformats.org/officeDocument/2006/relationships/notesMaster" Target="/ppt/notesMasters/notesMaster1.xml" Id="R0226e88e1024499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55f49b8e6e14c79" /><Relationship Type="http://schemas.openxmlformats.org/officeDocument/2006/relationships/notesMaster" Target="/ppt/notesMasters/notesMaster1.xml" Id="Rc4b2b65f3d084f3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093358af4b34ae5" /><Relationship Type="http://schemas.openxmlformats.org/officeDocument/2006/relationships/notesMaster" Target="/ppt/notesMasters/notesMaster1.xml" Id="Re75a5cee5fcc484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3635ada58c847e1" /><Relationship Type="http://schemas.openxmlformats.org/officeDocument/2006/relationships/notesMaster" Target="/ppt/notesMasters/notesMaster1.xml" Id="R81b53e147a474e2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b3ca7a379194429" /><Relationship Type="http://schemas.openxmlformats.org/officeDocument/2006/relationships/notesMaster" Target="/ppt/notesMasters/notesMaster1.xml" Id="R8ecc0eb2003941f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603ddab8b86458a" /><Relationship Type="http://schemas.openxmlformats.org/officeDocument/2006/relationships/notesMaster" Target="/ppt/notesMasters/notesMaster1.xml" Id="Rb4e6e4d4c79a433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A1 [ASSUMPTION]: FIELDWORK receives 600,000 ecommerce sessions per year.</a:t>
            </a:r>
          </a:p>
          <a:p xmlns:a="http://schemas.openxmlformats.org/drawingml/2006/main">
            <a:r>
              <a:t>A2 [ASSUMPTION]: FIELDWORK converts 2.0% of ecommerce sessions to orders.</a:t>
            </a:r>
          </a:p>
          <a:p xmlns:a="http://schemas.openxmlformats.org/drawingml/2006/main">
            <a:r>
              <a:t>A3 [ASSUMPTION]: FIELDWORK has a £100 average order value before returns and discounts.</a:t>
            </a:r>
          </a:p>
          <a:p xmlns:a="http://schemas.openxmlformats.org/drawingml/2006/main">
            <a:r>
              <a:t>A8 [ASSUMPTION]: Incremental revenue contributes 32% after returns, fulfilment, payment fees and incremental media.</a:t>
            </a:r>
          </a:p>
          <a:p xmlns:a="http://schemas.openxmlformats.org/drawingml/2006/main">
            <a:r>
              <a:t>A9 [ASSUMPTION]: The business realises 35% to 65% of annualised scenario headroom in the first 12 months.</a:t>
            </a:r>
          </a:p>
          <a:p xmlns:a="http://schemas.openxmlformats.org/drawingml/2006/main">
            <a:r>
              <a:t>A10 [ASSUMPTION]: The first 12 months require £85,000 of incremental implementation investment beyond the Growth Blueprint fee.</a:t>
            </a:r>
          </a:p>
          <a:p xmlns:a="http://schemas.openxmlformats.org/drawingml/2006/main">
            <a:r>
              <a:t>Governed evidence refs: A1, A2, A3, A8, A9, A10</a:t>
            </a:r>
          </a:p>
          <a:p xmlns:a="http://schemas.openxmlformats.org/drawingml/2006/main">
            <a:r>
              <a:t>INTERNAL FICTIONAL DEMONSTRATION - HUMAN APPROVAL REQUIRED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A1 [ASSUMPTION]: FIELDWORK receives 600,000 ecommerce sessions per year.</a:t>
            </a:r>
          </a:p>
          <a:p xmlns:a="http://schemas.openxmlformats.org/drawingml/2006/main">
            <a:r>
              <a:t>A2 [ASSUMPTION]: FIELDWORK converts 2.0% of ecommerce sessions to orders.</a:t>
            </a:r>
          </a:p>
          <a:p xmlns:a="http://schemas.openxmlformats.org/drawingml/2006/main">
            <a:r>
              <a:t>A3 [ASSUMPTION]: FIELDWORK has a £100 average order value before returns and discounts.</a:t>
            </a:r>
          </a:p>
          <a:p xmlns:a="http://schemas.openxmlformats.org/drawingml/2006/main">
            <a:r>
              <a:t>A8 [ASSUMPTION]: Incremental revenue contributes 32% after returns, fulfilment, payment fees and incremental media.</a:t>
            </a:r>
          </a:p>
          <a:p xmlns:a="http://schemas.openxmlformats.org/drawingml/2006/main">
            <a:r>
              <a:t>A9 [ASSUMPTION]: The business realises 35% to 65% of annualised scenario headroom in the first 12 months.</a:t>
            </a:r>
          </a:p>
          <a:p xmlns:a="http://schemas.openxmlformats.org/drawingml/2006/main">
            <a:r>
              <a:t>A10 [ASSUMPTION]: The first 12 months require £85,000 of incremental implementation investment beyond the Growth Blueprint fee.</a:t>
            </a:r>
          </a:p>
          <a:p xmlns:a="http://schemas.openxmlformats.org/drawingml/2006/main">
            <a:r>
              <a:t>Governed evidence refs: A1, A2, A3, A8, A9, A10</a:t>
            </a:r>
          </a:p>
          <a:p xmlns:a="http://schemas.openxmlformats.org/drawingml/2006/main">
            <a:r>
              <a:t>INTERNAL FICTIONAL DEMONSTRATION - HUMAN APPROVAL REQUIRED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A4 [ASSUMPTION]: The principal growth constraint is a broad proposition that gives qualified buyers too little reason to choose FIELDWORK.</a:t>
            </a:r>
          </a:p>
          <a:p xmlns:a="http://schemas.openxmlformats.org/drawingml/2006/main">
            <a:r>
              <a:t>Governed evidence refs: A4</a:t>
            </a:r>
          </a:p>
          <a:p xmlns:a="http://schemas.openxmlformats.org/drawingml/2006/main">
            <a:r>
              <a:t>INTERNAL FICTIONAL DEMONSTRATION - HUMAN APPROVAL REQUIRED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A4 [ASSUMPTION]: The principal growth constraint is a broad proposition that gives qualified buyers too little reason to choose FIELDWORK.</a:t>
            </a:r>
          </a:p>
          <a:p xmlns:a="http://schemas.openxmlformats.org/drawingml/2006/main">
            <a:r>
              <a:t>A5 [ASSUMPTION]: FIELDWORK can build an advantage around objects designed for the overlap between work and home life.</a:t>
            </a:r>
          </a:p>
          <a:p xmlns:a="http://schemas.openxmlformats.org/drawingml/2006/main">
            <a:r>
              <a:t>A6 [ASSUMPTION]: A proposition-led acquisition, conversion and retention programme is operationally feasible.</a:t>
            </a:r>
          </a:p>
          <a:p xmlns:a="http://schemas.openxmlformats.org/drawingml/2006/main">
            <a:r>
              <a:t>C1 [CREATIVE ILLUSTRATION]: Built for the work of living is an illustrative creative territory for FIELDWORK.</a:t>
            </a:r>
          </a:p>
          <a:p xmlns:a="http://schemas.openxmlformats.org/drawingml/2006/main">
            <a:r>
              <a:t>Governed evidence refs: A4, A5, A6, C1</a:t>
            </a:r>
          </a:p>
          <a:p xmlns:a="http://schemas.openxmlformats.org/drawingml/2006/main">
            <a:r>
              <a:t>INTERNAL FICTIONAL DEMONSTRATION - HUMAN APPROVAL REQUIRED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A5 [ASSUMPTION]: FIELDWORK can build an advantage around objects designed for the overlap between work and home life.</a:t>
            </a:r>
          </a:p>
          <a:p xmlns:a="http://schemas.openxmlformats.org/drawingml/2006/main">
            <a:r>
              <a:t>C1 [CREATIVE ILLUSTRATION]: Built for the work of living is an illustrative creative territory for FIELDWORK.</a:t>
            </a:r>
          </a:p>
          <a:p xmlns:a="http://schemas.openxmlformats.org/drawingml/2006/main">
            <a:r>
              <a:t>Governed evidence refs: A5, C1</a:t>
            </a:r>
          </a:p>
          <a:p xmlns:a="http://schemas.openxmlformats.org/drawingml/2006/main">
            <a:r>
              <a:t>INTERNAL FICTIONAL DEMONSTRATION - HUMAN APPROVAL REQUIRED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A1 [ASSUMPTION]: FIELDWORK receives 600,000 ecommerce sessions per year.</a:t>
            </a:r>
          </a:p>
          <a:p xmlns:a="http://schemas.openxmlformats.org/drawingml/2006/main">
            <a:r>
              <a:t>A2 [ASSUMPTION]: FIELDWORK converts 2.0% of ecommerce sessions to orders.</a:t>
            </a:r>
          </a:p>
          <a:p xmlns:a="http://schemas.openxmlformats.org/drawingml/2006/main">
            <a:r>
              <a:t>A3 [ASSUMPTION]: FIELDWORK has a £100 average order value before returns and discounts.</a:t>
            </a:r>
          </a:p>
          <a:p xmlns:a="http://schemas.openxmlformats.org/drawingml/2006/main">
            <a:r>
              <a:t>A8 [ASSUMPTION]: Incremental revenue contributes 32% after returns, fulfilment, payment fees and incremental media.</a:t>
            </a:r>
          </a:p>
          <a:p xmlns:a="http://schemas.openxmlformats.org/drawingml/2006/main">
            <a:r>
              <a:t>A9 [ASSUMPTION]: The business realises 35% to 65% of annualised scenario headroom in the first 12 months.</a:t>
            </a:r>
          </a:p>
          <a:p xmlns:a="http://schemas.openxmlformats.org/drawingml/2006/main">
            <a:r>
              <a:t>A10 [ASSUMPTION]: The first 12 months require £85,000 of incremental implementation investment beyond the Growth Blueprint fee.</a:t>
            </a:r>
          </a:p>
          <a:p xmlns:a="http://schemas.openxmlformats.org/drawingml/2006/main">
            <a:r>
              <a:t>Governed evidence refs: A1, A2, A3, A8, A9, A10</a:t>
            </a:r>
          </a:p>
          <a:p xmlns:a="http://schemas.openxmlformats.org/drawingml/2006/main">
            <a:r>
              <a:t>INTERNAL FICTIONAL DEMONSTRATION - HUMAN APPROVAL REQUIRED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A1 [ASSUMPTION]: FIELDWORK receives 600,000 ecommerce sessions per year.</a:t>
            </a:r>
          </a:p>
          <a:p xmlns:a="http://schemas.openxmlformats.org/drawingml/2006/main">
            <a:r>
              <a:t>A2 [ASSUMPTION]: FIELDWORK converts 2.0% of ecommerce sessions to orders.</a:t>
            </a:r>
          </a:p>
          <a:p xmlns:a="http://schemas.openxmlformats.org/drawingml/2006/main">
            <a:r>
              <a:t>A3 [ASSUMPTION]: FIELDWORK has a £100 average order value before returns and discounts.</a:t>
            </a:r>
          </a:p>
          <a:p xmlns:a="http://schemas.openxmlformats.org/drawingml/2006/main">
            <a:r>
              <a:t>A8 [ASSUMPTION]: Incremental revenue contributes 32% after returns, fulfilment, payment fees and incremental media.</a:t>
            </a:r>
          </a:p>
          <a:p xmlns:a="http://schemas.openxmlformats.org/drawingml/2006/main">
            <a:r>
              <a:t>A9 [ASSUMPTION]: The business realises 35% to 65% of annualised scenario headroom in the first 12 months.</a:t>
            </a:r>
          </a:p>
          <a:p xmlns:a="http://schemas.openxmlformats.org/drawingml/2006/main">
            <a:r>
              <a:t>A10 [ASSUMPTION]: The first 12 months require £85,000 of incremental implementation investment beyond the Growth Blueprint fee.</a:t>
            </a:r>
          </a:p>
          <a:p xmlns:a="http://schemas.openxmlformats.org/drawingml/2006/main">
            <a:r>
              <a:t>Governed evidence refs: A1, A2, A3, A8, A9, A10</a:t>
            </a:r>
          </a:p>
          <a:p xmlns:a="http://schemas.openxmlformats.org/drawingml/2006/main">
            <a:r>
              <a:t>INTERNAL FICTIONAL DEMONSTRATION - HUMAN APPROVAL REQUIRED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A4 [ASSUMPTION]: The principal growth constraint is a broad proposition that gives qualified buyers too little reason to choose FIELDWORK.</a:t>
            </a:r>
          </a:p>
          <a:p xmlns:a="http://schemas.openxmlformats.org/drawingml/2006/main">
            <a:r>
              <a:t>Governed evidence refs: A4</a:t>
            </a:r>
          </a:p>
          <a:p xmlns:a="http://schemas.openxmlformats.org/drawingml/2006/main">
            <a:r>
              <a:t>INTERNAL FICTIONAL DEMONSTRATION - HUMAN APPROVAL REQUIRED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A4 [ASSUMPTION]: The principal growth constraint is a broad proposition that gives qualified buyers too little reason to choose FIELDWORK.</a:t>
            </a:r>
          </a:p>
          <a:p xmlns:a="http://schemas.openxmlformats.org/drawingml/2006/main">
            <a:r>
              <a:t>Governed evidence refs: A4</a:t>
            </a:r>
          </a:p>
          <a:p xmlns:a="http://schemas.openxmlformats.org/drawingml/2006/main">
            <a:r>
              <a:t>INTERNAL FICTIONAL DEMONSTRATION - HUMAN APPROVAL REQUIRED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A5 [ASSUMPTION]: FIELDWORK can build an advantage around objects designed for the overlap between work and home life.</a:t>
            </a:r>
          </a:p>
          <a:p xmlns:a="http://schemas.openxmlformats.org/drawingml/2006/main">
            <a:r>
              <a:t>Governed evidence refs: A5</a:t>
            </a:r>
          </a:p>
          <a:p xmlns:a="http://schemas.openxmlformats.org/drawingml/2006/main">
            <a:r>
              <a:t>INTERNAL FICTIONAL DEMONSTRATION - HUMAN APPROVAL REQUIRED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A5 [ASSUMPTION]: FIELDWORK can build an advantage around objects designed for the overlap between work and home life.</a:t>
            </a:r>
          </a:p>
          <a:p xmlns:a="http://schemas.openxmlformats.org/drawingml/2006/main">
            <a:r>
              <a:t>Governed evidence refs: A5</a:t>
            </a:r>
          </a:p>
          <a:p xmlns:a="http://schemas.openxmlformats.org/drawingml/2006/main">
            <a:r>
              <a:t>INTERNAL FICTIONAL DEMONSTRATION - HUMAN APPROVAL REQUIRED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A4 [ASSUMPTION]: The principal growth constraint is a broad proposition that gives qualified buyers too little reason to choose FIELDWORK.</a:t>
            </a:r>
          </a:p>
          <a:p xmlns:a="http://schemas.openxmlformats.org/drawingml/2006/main">
            <a:r>
              <a:t>A5 [ASSUMPTION]: FIELDWORK can build an advantage around objects designed for the overlap between work and home life.</a:t>
            </a:r>
          </a:p>
          <a:p xmlns:a="http://schemas.openxmlformats.org/drawingml/2006/main">
            <a:r>
              <a:t>A6 [ASSUMPTION]: A proposition-led acquisition, conversion and retention programme is operationally feasible.</a:t>
            </a:r>
          </a:p>
          <a:p xmlns:a="http://schemas.openxmlformats.org/drawingml/2006/main">
            <a:r>
              <a:t>C1 [CREATIVE ILLUSTRATION]: Built for the work of living is an illustrative creative territory for FIELDWORK.</a:t>
            </a:r>
          </a:p>
          <a:p xmlns:a="http://schemas.openxmlformats.org/drawingml/2006/main">
            <a:r>
              <a:t>Governed evidence refs: A4, A5, A6, C1</a:t>
            </a:r>
          </a:p>
          <a:p xmlns:a="http://schemas.openxmlformats.org/drawingml/2006/main">
            <a:r>
              <a:t>INTERNAL FICTIONAL DEMONSTRATION - HUMAN APPROVAL REQUIRED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A4 [ASSUMPTION]: The principal growth constraint is a broad proposition that gives qualified buyers too little reason to choose FIELDWORK.</a:t>
            </a:r>
          </a:p>
          <a:p xmlns:a="http://schemas.openxmlformats.org/drawingml/2006/main">
            <a:r>
              <a:t>A5 [ASSUMPTION]: FIELDWORK can build an advantage around objects designed for the overlap between work and home life.</a:t>
            </a:r>
          </a:p>
          <a:p xmlns:a="http://schemas.openxmlformats.org/drawingml/2006/main">
            <a:r>
              <a:t>A6 [ASSUMPTION]: A proposition-led acquisition, conversion and retention programme is operationally feasible.</a:t>
            </a:r>
          </a:p>
          <a:p xmlns:a="http://schemas.openxmlformats.org/drawingml/2006/main">
            <a:r>
              <a:t>C1 [CREATIVE ILLUSTRATION]: Built for the work of living is an illustrative creative territory for FIELDWORK.</a:t>
            </a:r>
          </a:p>
          <a:p xmlns:a="http://schemas.openxmlformats.org/drawingml/2006/main">
            <a:r>
              <a:t>Governed evidence refs: A4, A5, A6, C1</a:t>
            </a:r>
          </a:p>
          <a:p xmlns:a="http://schemas.openxmlformats.org/drawingml/2006/main">
            <a:r>
              <a:t>INTERNAL FICTIONAL DEMONSTRATION - HUMAN APPROVAL REQUIRED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A5 [ASSUMPTION]: FIELDWORK can build an advantage around objects designed for the overlap between work and home life.</a:t>
            </a:r>
          </a:p>
          <a:p xmlns:a="http://schemas.openxmlformats.org/drawingml/2006/main">
            <a:r>
              <a:t>C1 [CREATIVE ILLUSTRATION]: Built for the work of living is an illustrative creative territory for FIELDWORK.</a:t>
            </a:r>
          </a:p>
          <a:p xmlns:a="http://schemas.openxmlformats.org/drawingml/2006/main">
            <a:r>
              <a:t>Governed evidence refs: A5, C1</a:t>
            </a:r>
          </a:p>
          <a:p xmlns:a="http://schemas.openxmlformats.org/drawingml/2006/main">
            <a:r>
              <a:t>INTERNAL FICTIONAL DEMONSTRATION - HUMAN APPROVAL REQUIRED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A5 [ASSUMPTION]: FIELDWORK can build an advantage around objects designed for the overlap between work and home life.</a:t>
            </a:r>
          </a:p>
          <a:p xmlns:a="http://schemas.openxmlformats.org/drawingml/2006/main">
            <a:r>
              <a:t>C1 [CREATIVE ILLUSTRATION]: Built for the work of living is an illustrative creative territory for FIELDWORK.</a:t>
            </a:r>
          </a:p>
          <a:p xmlns:a="http://schemas.openxmlformats.org/drawingml/2006/main">
            <a:r>
              <a:t>Governed evidence refs: A5, C1</a:t>
            </a:r>
          </a:p>
          <a:p xmlns:a="http://schemas.openxmlformats.org/drawingml/2006/main">
            <a:r>
              <a:t>INTERNAL FICTIONAL DEMONSTRATION - HUMAN APPROVAL REQUIRED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A6 [ASSUMPTION]: A proposition-led acquisition, conversion and retention programme is operationally feasible.</a:t>
            </a:r>
          </a:p>
          <a:p xmlns:a="http://schemas.openxmlformats.org/drawingml/2006/main">
            <a:r>
              <a:t>Governed evidence refs: A6</a:t>
            </a:r>
          </a:p>
          <a:p xmlns:a="http://schemas.openxmlformats.org/drawingml/2006/main">
            <a:r>
              <a:t>INTERNAL FICTIONAL DEMONSTRATION - HUMAN APPROVAL REQUIRED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A6 [ASSUMPTION]: A proposition-led acquisition, conversion and retention programme is operationally feasible.</a:t>
            </a:r>
          </a:p>
          <a:p xmlns:a="http://schemas.openxmlformats.org/drawingml/2006/main">
            <a:r>
              <a:t>Governed evidence refs: A6</a:t>
            </a:r>
          </a:p>
          <a:p xmlns:a="http://schemas.openxmlformats.org/drawingml/2006/main">
            <a:r>
              <a:t>INTERNAL FICTIONAL DEMONSTRATION - HUMAN APPROVAL REQUIRED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A4 [ASSUMPTION]: The principal growth constraint is a broad proposition that gives qualified buyers too little reason to choose FIELDWORK.</a:t>
            </a:r>
          </a:p>
          <a:p xmlns:a="http://schemas.openxmlformats.org/drawingml/2006/main">
            <a:r>
              <a:t>A5 [ASSUMPTION]: FIELDWORK can build an advantage around objects designed for the overlap between work and home life.</a:t>
            </a:r>
          </a:p>
          <a:p xmlns:a="http://schemas.openxmlformats.org/drawingml/2006/main">
            <a:r>
              <a:t>A6 [ASSUMPTION]: A proposition-led acquisition, conversion and retention programme is operationally feasible.</a:t>
            </a:r>
          </a:p>
          <a:p xmlns:a="http://schemas.openxmlformats.org/drawingml/2006/main">
            <a:r>
              <a:t>A7 [ASSUMPTION]: A staged 12-month validation programme is affordable and resourced.</a:t>
            </a:r>
          </a:p>
          <a:p xmlns:a="http://schemas.openxmlformats.org/drawingml/2006/main">
            <a:r>
              <a:t>C1 [CREATIVE ILLUSTRATION]: Built for the work of living is an illustrative creative territory for FIELDWORK.</a:t>
            </a:r>
          </a:p>
          <a:p xmlns:a="http://schemas.openxmlformats.org/drawingml/2006/main">
            <a:r>
              <a:t>Governed evidence refs: A4, A5, A6, A7, C1</a:t>
            </a:r>
          </a:p>
          <a:p xmlns:a="http://schemas.openxmlformats.org/drawingml/2006/main">
            <a:r>
              <a:t>INTERNAL FICTIONAL DEMONSTRATION - HUMAN APPROVAL REQUIRED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A1 [ASSUMPTION]: FIELDWORK receives 600,000 ecommerce sessions per year.</a:t>
            </a:r>
          </a:p>
          <a:p xmlns:a="http://schemas.openxmlformats.org/drawingml/2006/main">
            <a:r>
              <a:t>A2 [ASSUMPTION]: FIELDWORK converts 2.0% of ecommerce sessions to orders.</a:t>
            </a:r>
          </a:p>
          <a:p xmlns:a="http://schemas.openxmlformats.org/drawingml/2006/main">
            <a:r>
              <a:t>A3 [ASSUMPTION]: FIELDWORK has a £100 average order value before returns and discounts.</a:t>
            </a:r>
          </a:p>
          <a:p xmlns:a="http://schemas.openxmlformats.org/drawingml/2006/main">
            <a:r>
              <a:t>A4 [ASSUMPTION]: The principal growth constraint is a broad proposition that gives qualified buyers too little reason to choose FIELDWORK.</a:t>
            </a:r>
          </a:p>
          <a:p xmlns:a="http://schemas.openxmlformats.org/drawingml/2006/main">
            <a:r>
              <a:t>A5 [ASSUMPTION]: FIELDWORK can build an advantage around objects designed for the overlap between work and home life.</a:t>
            </a:r>
          </a:p>
          <a:p xmlns:a="http://schemas.openxmlformats.org/drawingml/2006/main">
            <a:r>
              <a:t>A6 [ASSUMPTION]: A proposition-led acquisition, conversion and retention programme is operationally feasible.</a:t>
            </a:r>
          </a:p>
          <a:p xmlns:a="http://schemas.openxmlformats.org/drawingml/2006/main">
            <a:r>
              <a:t>A7 [ASSUMPTION]: A staged 12-month validation programme is affordable and resourced.</a:t>
            </a:r>
          </a:p>
          <a:p xmlns:a="http://schemas.openxmlformats.org/drawingml/2006/main">
            <a:r>
              <a:t>A8 [ASSUMPTION]: Incremental revenue contributes 32% after returns, fulfilment, payment fees and incremental media.</a:t>
            </a:r>
          </a:p>
          <a:p xmlns:a="http://schemas.openxmlformats.org/drawingml/2006/main">
            <a:r>
              <a:t>A9 [ASSUMPTION]: The business realises 35% to 65% of annualised scenario headroom in the first 12 months.</a:t>
            </a:r>
          </a:p>
          <a:p xmlns:a="http://schemas.openxmlformats.org/drawingml/2006/main">
            <a:r>
              <a:t>A10 [ASSUMPTION]: The first 12 months require £85,000 of incremental implementation investment beyond the Growth Blueprint fee.</a:t>
            </a:r>
          </a:p>
          <a:p xmlns:a="http://schemas.openxmlformats.org/drawingml/2006/main">
            <a:r>
              <a:t>C1 [CREATIVE ILLUSTRATION]: Built for the work of living is an illustrative creative territory for FIELDWORK.</a:t>
            </a:r>
          </a:p>
          <a:p xmlns:a="http://schemas.openxmlformats.org/drawingml/2006/main">
            <a:r>
              <a:t>Governed evidence refs: A1, A2, A3, A4, A5, A6, A7, A8, A9, A10, C1</a:t>
            </a:r>
          </a:p>
          <a:p xmlns:a="http://schemas.openxmlformats.org/drawingml/2006/main">
            <a:r>
              <a:t>INTERNAL FICTIONAL DEMONSTRATION - HUMAN APPROVAL REQUIRED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A1 [ASSUMPTION]: FIELDWORK receives 600,000 ecommerce sessions per year.</a:t>
            </a:r>
          </a:p>
          <a:p xmlns:a="http://schemas.openxmlformats.org/drawingml/2006/main">
            <a:r>
              <a:t>A2 [ASSUMPTION]: FIELDWORK converts 2.0% of ecommerce sessions to orders.</a:t>
            </a:r>
          </a:p>
          <a:p xmlns:a="http://schemas.openxmlformats.org/drawingml/2006/main">
            <a:r>
              <a:t>A3 [ASSUMPTION]: FIELDWORK has a £100 average order value before returns and discounts.</a:t>
            </a:r>
          </a:p>
          <a:p xmlns:a="http://schemas.openxmlformats.org/drawingml/2006/main">
            <a:r>
              <a:t>A4 [ASSUMPTION]: The principal growth constraint is a broad proposition that gives qualified buyers too little reason to choose FIELDWORK.</a:t>
            </a:r>
          </a:p>
          <a:p xmlns:a="http://schemas.openxmlformats.org/drawingml/2006/main">
            <a:r>
              <a:t>A5 [ASSUMPTION]: FIELDWORK can build an advantage around objects designed for the overlap between work and home life.</a:t>
            </a:r>
          </a:p>
          <a:p xmlns:a="http://schemas.openxmlformats.org/drawingml/2006/main">
            <a:r>
              <a:t>A6 [ASSUMPTION]: A proposition-led acquisition, conversion and retention programme is operationally feasible.</a:t>
            </a:r>
          </a:p>
          <a:p xmlns:a="http://schemas.openxmlformats.org/drawingml/2006/main">
            <a:r>
              <a:t>A7 [ASSUMPTION]: A staged 12-month validation programme is affordable and resourced.</a:t>
            </a:r>
          </a:p>
          <a:p xmlns:a="http://schemas.openxmlformats.org/drawingml/2006/main">
            <a:r>
              <a:t>A8 [ASSUMPTION]: Incremental revenue contributes 32% after returns, fulfilment, payment fees and incremental media.</a:t>
            </a:r>
          </a:p>
          <a:p xmlns:a="http://schemas.openxmlformats.org/drawingml/2006/main">
            <a:r>
              <a:t>A9 [ASSUMPTION]: The business realises 35% to 65% of annualised scenario headroom in the first 12 months.</a:t>
            </a:r>
          </a:p>
          <a:p xmlns:a="http://schemas.openxmlformats.org/drawingml/2006/main">
            <a:r>
              <a:t>A10 [ASSUMPTION]: The first 12 months require £85,000 of incremental implementation investment beyond the Growth Blueprint fee.</a:t>
            </a:r>
          </a:p>
          <a:p xmlns:a="http://schemas.openxmlformats.org/drawingml/2006/main">
            <a:r>
              <a:t>C1 [CREATIVE ILLUSTRATION]: Built for the work of living is an illustrative creative territory for FIELDWORK.</a:t>
            </a:r>
          </a:p>
          <a:p xmlns:a="http://schemas.openxmlformats.org/drawingml/2006/main">
            <a:r>
              <a:t>Governed evidence refs: A1, A2, A3, A4, A5, A6, A7, A8, A9, A10, C1</a:t>
            </a:r>
          </a:p>
          <a:p xmlns:a="http://schemas.openxmlformats.org/drawingml/2006/main">
            <a:r>
              <a:t>INTERNAL FICTIONAL DEMONSTRATION - HUMAN APPROVAL REQUIRED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af4dbf6abc482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0dcba8d6ee4f4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0f8f1d9f5a453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03f972582a4ec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a6e74ab6e8433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1a4fa9b8aa4af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6AA2F83-07C4-49E4-AB30-6185E9450D6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6DD8522-041B-4A72-807C-865B39EE69B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88B668C-0452-462E-9CE9-01A5CA9360E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5D35BF6-EBBD-4AAF-A47E-95633A104BA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AA30758-F2E3-4BA4-A420-B200D1319EC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B88E653-E47E-4A67-8C6D-30B5462951F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6B5A434-1BB6-49B8-9C18-51686D61998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C68034D-17D4-4E63-A689-82DD72709D0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195A7F7-4005-47B3-8C34-D53C962677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58F983C-9B69-4BB8-A660-11A520E5309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9e4455d1da94541" /><Relationship Type="http://schemas.openxmlformats.org/officeDocument/2006/relationships/slideLayout" Target="/ppt/slideLayouts/slideLayout1.xml" Id="R3d2f6fd806d34247" /><Relationship Type="http://schemas.openxmlformats.org/officeDocument/2006/relationships/slideLayout" Target="/ppt/slideLayouts/slideLayout2.xml" Id="R9d6b26aa741d4349" /><Relationship Type="http://schemas.openxmlformats.org/officeDocument/2006/relationships/slideLayout" Target="/ppt/slideLayouts/slideLayout3.xml" Id="R3dd8390a467849d0" /><Relationship Type="http://schemas.openxmlformats.org/officeDocument/2006/relationships/slideLayout" Target="/ppt/slideLayouts/slideLayout4.xml" Id="R806fd857e4864a00" /><Relationship Type="http://schemas.openxmlformats.org/officeDocument/2006/relationships/slideLayout" Target="/ppt/slideLayouts/slideLayout5.xml" Id="Rca90e71977974bf5" /><Relationship Type="http://schemas.openxmlformats.org/officeDocument/2006/relationships/slideLayout" Target="/ppt/slideLayouts/slideLayout6.xml" Id="Rbaa5262df15548f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d2f6fd806d34247"/>
    <p:sldLayoutId xmlns:r="http://schemas.openxmlformats.org/officeDocument/2006/relationships" id="2147483650" r:id="R9d6b26aa741d4349"/>
    <p:sldLayoutId xmlns:r="http://schemas.openxmlformats.org/officeDocument/2006/relationships" id="2147483651" r:id="R3dd8390a467849d0"/>
    <p:sldLayoutId xmlns:r="http://schemas.openxmlformats.org/officeDocument/2006/relationships" id="2147483652" r:id="R806fd857e4864a00"/>
    <p:sldLayoutId xmlns:r="http://schemas.openxmlformats.org/officeDocument/2006/relationships" id="2147483653" r:id="Rca90e71977974bf5"/>
    <p:sldLayoutId xmlns:r="http://schemas.openxmlformats.org/officeDocument/2006/relationships" id="2147483654" r:id="Rbaa5262df15548f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e4e3b09e097411b" /><Relationship Type="http://schemas.openxmlformats.org/officeDocument/2006/relationships/notesSlide" Target="/ppt/notesSlides/notesSlide1.xml" Id="R90197fd4d57c42f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37fbf3002974e81" /><Relationship Type="http://schemas.openxmlformats.org/officeDocument/2006/relationships/notesSlide" Target="/ppt/notesSlides/notesSlide2.xml" Id="R2f9cefa83705422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af2a0f7803d4855" /><Relationship Type="http://schemas.openxmlformats.org/officeDocument/2006/relationships/notesSlide" Target="/ppt/notesSlides/notesSlide3.xml" Id="R4b1780b4659345b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24deb0a7a0a4cc1" /><Relationship Type="http://schemas.openxmlformats.org/officeDocument/2006/relationships/notesSlide" Target="/ppt/notesSlides/notesSlide4.xml" Id="R33831a69f61a4b8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875a6a56c84fe4" /><Relationship Type="http://schemas.openxmlformats.org/officeDocument/2006/relationships/image" Target="/ppt/media/image.png" Id="R98ec0ec1b0684804" /><Relationship Type="http://schemas.openxmlformats.org/officeDocument/2006/relationships/notesSlide" Target="/ppt/notesSlides/notesSlide5.xml" Id="R0fc0326bd27643d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bf45245ddba4e0a" /><Relationship Type="http://schemas.openxmlformats.org/officeDocument/2006/relationships/notesSlide" Target="/ppt/notesSlides/notesSlide6.xml" Id="Rd2b62b002ce34c3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7dd50709904193" /><Relationship Type="http://schemas.openxmlformats.org/officeDocument/2006/relationships/notesSlide" Target="/ppt/notesSlides/notesSlide7.xml" Id="R37ea8e62864849f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aa7973624944bc" /><Relationship Type="http://schemas.openxmlformats.org/officeDocument/2006/relationships/notesSlide" Target="/ppt/notesSlides/notesSlide8.xml" Id="Rf0d592b0d9ef44c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c3dc21d9d245ca" /><Relationship Type="http://schemas.openxmlformats.org/officeDocument/2006/relationships/notesSlide" Target="/ppt/notesSlides/notesSlide9.xml" Id="R22c7e4b46da4462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bd82c41e7fc4408" /><Relationship Type="http://schemas.openxmlformats.org/officeDocument/2006/relationships/notesSlide" Target="/ppt/notesSlides/notesSlide10.xml" Id="Rc0c649ba5a38402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5ab1f46e3a14ffd" /><Relationship Type="http://schemas.openxmlformats.org/officeDocument/2006/relationships/notesSlide" Target="/ppt/notesSlides/notesSlide11.xml" Id="Re2cbed315d12425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d90d43c9c2e45f0" /><Relationship Type="http://schemas.openxmlformats.org/officeDocument/2006/relationships/notesSlide" Target="/ppt/notesSlides/notesSlide12.xml" Id="R33315dac575b469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76fdcb92a74052" /><Relationship Type="http://schemas.openxmlformats.org/officeDocument/2006/relationships/notesSlide" Target="/ppt/notesSlides/notesSlide13.xml" Id="Rd50bc0d8436b469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4edcf07051c4dd7" /><Relationship Type="http://schemas.openxmlformats.org/officeDocument/2006/relationships/notesSlide" Target="/ppt/notesSlides/notesSlide14.xml" Id="Rd0300797f56041f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5812214f504670" /><Relationship Type="http://schemas.openxmlformats.org/officeDocument/2006/relationships/notesSlide" Target="/ppt/notesSlides/notesSlide15.xml" Id="R4aea0760bfbe41a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fb3210f226442ab" /><Relationship Type="http://schemas.openxmlformats.org/officeDocument/2006/relationships/notesSlide" Target="/ppt/notesSlides/notesSlide16.xml" Id="R07dc1839b72145c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e06b3265cac4d31" /><Relationship Type="http://schemas.openxmlformats.org/officeDocument/2006/relationships/notesSlide" Target="/ppt/notesSlides/notesSlide17.xml" Id="Rb5bf1dc5377d4ea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68e0ad5cac24d8b" /><Relationship Type="http://schemas.openxmlformats.org/officeDocument/2006/relationships/notesSlide" Target="/ppt/notesSlides/notesSlide18.xml" Id="Raf74246827bb42e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9e531d9257943da" /><Relationship Type="http://schemas.openxmlformats.org/officeDocument/2006/relationships/notesSlide" Target="/ppt/notesSlides/notesSlide19.xml" Id="Rb4f7f228cc3249ba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21e6784b9a346dd" /><Relationship Type="http://schemas.openxmlformats.org/officeDocument/2006/relationships/notesSlide" Target="/ppt/notesSlides/notesSlide20.xml" Id="R4102f17cbe11456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512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29EFF9-95AD-45D0-B5BD-C159F51E3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81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21B">
              <a:alpha val="93725"/>
            </a:srgbClr>
          </a:solidFill>
          <a:ln xmlns:a="http://schemas.openxmlformats.org/drawingml/2006/main" w="0">
            <a:solidFill>
              <a:srgbClr val="15121B">
                <a:alpha val="93725"/>
              </a:srgbClr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CE2FA7-02C7-4230-9C90-A87DA6C51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54F"/>
          </a:solidFill>
          <a:ln xmlns:a="http://schemas.openxmlformats.org/drawingml/2006/main" w="0">
            <a:solidFill>
              <a:srgbClr val="FF654F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FA85A1-AAE3-4C29-8445-708BB5295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286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1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125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NARRATIIVE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B2CECB-9D1D-48FE-A07F-A02827E6F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00012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GROWTH BLUEPRINT /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2D6311-700B-4F63-BF3A-75980CCCF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5715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51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51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510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FIELDWORK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027037-603B-4F18-9159-C24799350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38500"/>
            <a:ext cx="609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10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210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2100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Own the mixed-use surface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EFEF8A-7A84-4782-8A23-269E2AC33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24300"/>
            <a:ext cx="590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350" b="0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350" b="0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A conditional route from first object to repeat purchase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1E1D8F-81D3-4456-8D50-E443C53B6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15050"/>
            <a:ext cx="647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INTERNAL FICTIONAL DEMONSTRATION - HUMAN APPROVAL REQUIRED</a:t>
            </a:r>
          </a:p>
        </p:txBody>
      </p:sp>
    </p:spTree>
    <p:extLst>
      <p:ext uri="{BB962C8B-B14F-4D97-AF65-F5344CB8AC3E}">
        <p14:creationId xmlns:p14="http://schemas.microsoft.com/office/powerpoint/2010/main" val="164508958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5FF4AF-ADFD-44A8-AFD2-3183FC808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5715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ACT 1 / THE CASE FOR CHANGE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2731FB-746A-49A7-9084-78C948003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What the commercial opportunity looks like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EED67E-8C07-4977-AF27-7C63D3556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01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D5"/>
          </a:solidFill>
          <a:ln xmlns:a="http://schemas.openxmlformats.org/drawingml/2006/main" w="0">
            <a:solidFill>
              <a:srgbClr val="D9CFD5"/>
            </a:solidFill>
          </a:ln>
        </p:spPr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E7F2BA-522D-483A-9959-A58CA0D5BC63}"/>
              </a:ext>
            </a:extLst>
          </p:cNvPr>
          <p:cNvGraphicFramePr/>
          <p:nvPr/>
        </p:nvGraphicFramePr>
        <p:xfrm>
          <a:off xmlns:a="http://schemas.openxmlformats.org/drawingml/2006/main" x="647700" y="1885950"/>
          <a:ext xmlns:a="http://schemas.openxmlformats.org/drawingml/2006/main" cx="10896600" cy="2524125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179320"/>
                <a:gridCol w="2179320"/>
                <a:gridCol w="2179320"/>
                <a:gridCol w="2179320"/>
                <a:gridCol w="2179320"/>
              </a:tblGrid>
              <a:tr h="631031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DFC"/>
                          </a:solidFill>
                          <a:latin typeface="Helvetica"/>
                          <a:ea typeface="Helvetica"/>
                          <a:cs typeface="Helvetica"/>
                        </a:rPr>
                        <a:t>Scenario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CFD5"/>
                      </a:solidFill>
                      <a:prstDash val="solid"/>
                    </a:lnL>
                    <a:lnR w="9525">
                      <a:solidFill>
                        <a:srgbClr val="D9CFD5"/>
                      </a:solidFill>
                      <a:prstDash val="solid"/>
                    </a:lnR>
                    <a:lnT w="9525">
                      <a:solidFill>
                        <a:srgbClr val="D9CFD5"/>
                      </a:solidFill>
                      <a:prstDash val="solid"/>
                    </a:lnT>
                    <a:lnB w="9525">
                      <a:solidFill>
                        <a:srgbClr val="D9CFD5"/>
                      </a:solidFill>
                      <a:prstDash val="solid"/>
                    </a:lnB>
                    <a:solidFill>
                      <a:srgbClr val="261A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DFC"/>
                          </a:solidFill>
                          <a:latin typeface="Helvetica"/>
                          <a:ea typeface="Helvetica"/>
                          <a:cs typeface="Helvetica"/>
                        </a:rPr>
                        <a:t>Annual revenue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T w="9525">
                      <a:solidFill>
                        <a:srgbClr val="D9CFD5"/>
                      </a:solidFill>
                      <a:prstDash val="solid"/>
                    </a:lnT>
                    <a:lnB w="9525">
                      <a:solidFill>
                        <a:srgbClr val="D9CFD5"/>
                      </a:solidFill>
                      <a:prstDash val="solid"/>
                    </a:lnB>
                    <a:solidFill>
                      <a:srgbClr val="261A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DFC"/>
                          </a:solidFill>
                          <a:latin typeface="Helvetica"/>
                          <a:ea typeface="Helvetica"/>
                          <a:cs typeface="Helvetica"/>
                        </a:rPr>
                        <a:t>Conversion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T w="9525">
                      <a:solidFill>
                        <a:srgbClr val="D9CFD5"/>
                      </a:solidFill>
                      <a:prstDash val="solid"/>
                    </a:lnT>
                    <a:lnB w="9525">
                      <a:solidFill>
                        <a:srgbClr val="D9CFD5"/>
                      </a:solidFill>
                      <a:prstDash val="solid"/>
                    </a:lnB>
                    <a:solidFill>
                      <a:srgbClr val="261A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DFC"/>
                          </a:solidFill>
                          <a:latin typeface="Helvetica"/>
                          <a:ea typeface="Helvetica"/>
                          <a:cs typeface="Helvetica"/>
                        </a:rPr>
                        <a:t>Year 1 contribution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T w="9525">
                      <a:solidFill>
                        <a:srgbClr val="D9CFD5"/>
                      </a:solidFill>
                      <a:prstDash val="solid"/>
                    </a:lnT>
                    <a:lnB w="9525">
                      <a:solidFill>
                        <a:srgbClr val="D9CFD5"/>
                      </a:solidFill>
                      <a:prstDash val="solid"/>
                    </a:lnB>
                    <a:solidFill>
                      <a:srgbClr val="261A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DFC"/>
                          </a:solidFill>
                          <a:latin typeface="Helvetica"/>
                          <a:ea typeface="Helvetica"/>
                          <a:cs typeface="Helvetica"/>
                        </a:rPr>
                        <a:t>Net after investment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T w="9525">
                      <a:solidFill>
                        <a:srgbClr val="D9CFD5"/>
                      </a:solidFill>
                      <a:prstDash val="solid"/>
                    </a:lnT>
                    <a:lnB w="9525">
                      <a:solidFill>
                        <a:srgbClr val="D9CFD5"/>
                      </a:solidFill>
                      <a:prstDash val="solid"/>
                    </a:lnB>
                    <a:solidFill>
                      <a:srgbClr val="261A31"/>
                    </a:solidFill>
                  </a:tcPr>
                </a:tc>
              </a:tr>
              <a:tr h="63103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Downside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CFD5"/>
                      </a:solidFill>
                      <a:prstDash val="solid"/>
                    </a:lnL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£1.35m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2.1%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£17k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654F"/>
                          </a:solidFill>
                          <a:latin typeface="Helvetica"/>
                          <a:ea typeface="Helvetica"/>
                          <a:cs typeface="Helvetica"/>
                        </a:rPr>
                        <a:t>-£68k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</a:tr>
              <a:tr h="63103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Base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CFD5"/>
                      </a:solidFill>
                      <a:prstDash val="solid"/>
                    </a:lnL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£1.89m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2.4%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£121k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£36k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</a:tr>
              <a:tr h="63103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Upside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CFD5"/>
                      </a:solidFill>
                      <a:prstDash val="solid"/>
                    </a:lnL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£2.27m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2.6%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£223k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£138k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D40286-843A-4567-979A-72DA37982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19625"/>
            <a:ext cx="10896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32% CONTRIBUTION, £85k INVESTMENT AND SCENARIO RAMP ARE ASSUMPTIONS. NOT A PROFIT FORECAST.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3EA3A8-E25F-410E-BCFA-57D66EBC0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72125"/>
            <a:ext cx="2095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COMMERCIAL CONSEQUENCE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40E9ED-796C-49E3-B398-CE0B95704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50545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The base scenario adds £690,000 of annualised revenue headroom. The base case produces a £36,440 first-year contribution proxy after £85,000 of assumed investment. Verify every input before committing.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DADD28-580B-4751-8565-9E52104A6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34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SOURCES: A1, A2, A3, A8, A9, A10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D59367-996C-4FF3-A8BD-383DE9F6B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134100"/>
            <a:ext cx="487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rPr>
              <a:t>MODELLED - SCENARIO, NOT FORECAST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199C41-D293-47DD-ABC0-4F18F9937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1714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NARRATIIVE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630F7A-E9C8-4CD8-99C3-3BE3F703E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876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02 / 20</a:t>
            </a:r>
          </a:p>
        </p:txBody>
      </p:sp>
    </p:spTree>
    <p:extLst>
      <p:ext uri="{BB962C8B-B14F-4D97-AF65-F5344CB8AC3E}">
        <p14:creationId xmlns:p14="http://schemas.microsoft.com/office/powerpoint/2010/main" val="113095717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EFC5B1-37AA-40FD-A7FA-01717BCA5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5715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ACT 1 / THE CASE FOR CHANGE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44EAC8-041B-4556-B8C4-87C232059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What currently prevents growth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A14203-54B3-4E44-96EB-64F1BF09B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01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D5"/>
          </a:solidFill>
          <a:ln xmlns:a="http://schemas.openxmlformats.org/drawingml/2006/main" w="0">
            <a:solidFill>
              <a:srgbClr val="D9CFD5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79EDB3-2CA3-4796-A922-640035232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050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CURRENT PATTERN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05A2B5-6601-4C84-8F19-FA0DEA0D2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6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26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2625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Reach before reason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A9F333-84A0-485F-8F14-EBD836F78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95625"/>
            <a:ext cx="4000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5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1575" b="0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A broad catalogue asks paid media to create the distinction.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C7B03D-8D76-4E93-B3B9-E13183932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076450"/>
            <a:ext cx="1562100" cy="1562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54F"/>
          </a:solidFill>
          <a:ln xmlns:a="http://schemas.openxmlformats.org/drawingml/2006/main" w="0">
            <a:solidFill>
              <a:srgbClr val="FF654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78E727-0F92-4ACF-A80C-B07D9BE1C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619375"/>
            <a:ext cx="990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8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ctr">
              <a:defRPr sz="18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80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THE GAP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C912CD-920B-4A3C-B0EB-1BF3F2411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9050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WORKING CONSTRAINT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35977B-B2F2-4CE9-B701-AB893268F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362200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6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26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pPr>
            <a:r>
              <a:rPr sz="2625" b="1" i="0">
                <a:solidFill>
                  <a:srgbClr val="5A2E78"/>
                </a:solidFill>
                <a:latin typeface="Helvetica"/>
                <a:ea typeface="Helvetica"/>
                <a:cs typeface="Helvetica"/>
              </a:rPr>
              <a:t>No proven repeat path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CB5C7D-CC25-4A1E-A670-D9D06F4E3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095625"/>
            <a:ext cx="37147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350" b="0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350" b="0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Working diagnosis only. Falsify it by: Reject this diagnosis if a specific mixed-use proposition does not improve qualified product-page progression and net conversion, or if existing cohorts already show strong second-purchase behaviour.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84374A-43FD-4062-9078-0B60FCA07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72125"/>
            <a:ext cx="2095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COMMERCIAL CONSEQUENCE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2BEF8C-719E-4972-9A2E-EA66D4E87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50545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FIELDWORK is buying attention for a broad design promise before it has proved why a mixed-use household should choose its first object or return for the second.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FB67A8-04A8-4FFE-BAE2-39F20901B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34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SOURCES: A4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1FA404-CD21-42D7-9776-74DDABAB5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134100"/>
            <a:ext cx="487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rPr>
              <a:t>ASSUMPTION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FCF60F-64A2-423A-B349-85F510D02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1714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NARRATIIVE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AD48CF-BD47-43E0-A08F-FD359A47E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876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03 / 20</a:t>
            </a:r>
          </a:p>
        </p:txBody>
      </p:sp>
    </p:spTree>
    <p:extLst>
      <p:ext uri="{BB962C8B-B14F-4D97-AF65-F5344CB8AC3E}">
        <p14:creationId xmlns:p14="http://schemas.microsoft.com/office/powerpoint/2010/main" val="8750164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0B48D7-66F4-452F-8288-B3CEF94A2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5715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ACT 1 / THE CASE FOR CHANGE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064FE2-DB11-42A2-9D1F-AC31C92BA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The strategic moves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F80EDE-3EC4-4DAF-B72C-1EC5DF46A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01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D5"/>
          </a:solidFill>
          <a:ln xmlns:a="http://schemas.openxmlformats.org/drawingml/2006/main" w="0">
            <a:solidFill>
              <a:srgbClr val="D9CFD5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1A5922-D68C-463B-93B7-AED028072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3238500" cy="3000375"/>
          </a:xfrm>
          <a:prstGeom xmlns:a="http://schemas.openxmlformats.org/drawingml/2006/main" prst="roundRect">
            <a:avLst>
              <a:gd name="adj" fmla="val 2540"/>
            </a:avLst>
          </a:prstGeom>
          <a:solidFill xmlns:a="http://schemas.openxmlformats.org/drawingml/2006/main">
            <a:srgbClr val="261A31"/>
          </a:solidFill>
          <a:ln xmlns:a="http://schemas.openxmlformats.org/drawingml/2006/main" w="0">
            <a:solidFill>
              <a:srgbClr val="261A3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0B4A96-1673-4454-BA0D-B0C46E32C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33600"/>
            <a:ext cx="2781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OWN THE MIXED-USE SURFACE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C16F42-AC22-4376-AF84-A4E38E504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47950"/>
            <a:ext cx="2781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0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20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2025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Qualified conversion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D85193-1E15-4DD0-B15F-AEF3CB107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52800"/>
            <a:ext cx="27813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350" b="0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350" b="0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Controlled message and landing-page test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5B3B40-32AB-4AD6-9E05-FA251F33C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857375"/>
            <a:ext cx="3238500" cy="3000375"/>
          </a:xfrm>
          <a:prstGeom xmlns:a="http://schemas.openxmlformats.org/drawingml/2006/main" prst="roundRect">
            <a:avLst>
              <a:gd name="adj" fmla="val 2540"/>
            </a:avLst>
          </a:prstGeom>
          <a:solidFill xmlns:a="http://schemas.openxmlformats.org/drawingml/2006/main">
            <a:srgbClr val="5A2E78"/>
          </a:solidFill>
          <a:ln xmlns:a="http://schemas.openxmlformats.org/drawingml/2006/main" w="0">
            <a:solidFill>
              <a:srgbClr val="5A2E7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7502AE-B0EF-4559-A07A-B783A370A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133600"/>
            <a:ext cx="2781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MAKE USEFULNESS VISIBLE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38E69F-2F67-4BB6-A6EC-047F8D6E0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647950"/>
            <a:ext cx="2781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0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20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2025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Conversion and average order value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7124DF-B6D0-47E0-ACA0-39355DED4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352800"/>
            <a:ext cx="27813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350" b="0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350" b="0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Product-story comprehension and basket test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21452C-6D5F-4A6F-8235-96768E518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857375"/>
            <a:ext cx="3238500" cy="3000375"/>
          </a:xfrm>
          <a:prstGeom xmlns:a="http://schemas.openxmlformats.org/drawingml/2006/main" prst="roundRect">
            <a:avLst>
              <a:gd name="adj" fmla="val 2540"/>
            </a:avLst>
          </a:prstGeom>
          <a:solidFill xmlns:a="http://schemas.openxmlformats.org/drawingml/2006/main">
            <a:srgbClr val="FF654F"/>
          </a:solidFill>
          <a:ln xmlns:a="http://schemas.openxmlformats.org/drawingml/2006/main" w="0">
            <a:solidFill>
              <a:srgbClr val="FF654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02D355-7ECF-456E-BED7-EB80790E4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133600"/>
            <a:ext cx="2781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EARN THE SECOND OBJECT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8ABD12-7EC0-43F5-B138-13EECFBE0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647950"/>
            <a:ext cx="2781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0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20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2025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Second-purchase economics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A2CDD7-347B-4CD2-97A8-DB6413F1D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352800"/>
            <a:ext cx="27813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350" b="0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350" b="0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Cohort retention and referral pilot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8185F9-18F0-473E-B131-105B09FE7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72125"/>
            <a:ext cx="2095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COMMERCIAL CONSEQUENCE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2B1C85-6995-441E-A662-E448E30D4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50545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Own the mixed-use surface, make usefulness visible, then earn the second object before scaling acquisition.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5D8B63-870B-4BC9-8D9D-285A17DED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34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SOURCES: A4, A5, A6, C1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3BC10F-61F4-44C9-8BF4-3C9AA9C59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134100"/>
            <a:ext cx="487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rPr>
              <a:t>ASSUMPTION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F0FD40-D744-4451-9059-9ECA573F5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1714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NARRATIIVE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DA3DB9-A03D-433E-B9A1-B89ABB365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876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04 / 20</a:t>
            </a:r>
          </a:p>
        </p:txBody>
      </p:sp>
    </p:spTree>
    <p:extLst>
      <p:ext uri="{BB962C8B-B14F-4D97-AF65-F5344CB8AC3E}">
        <p14:creationId xmlns:p14="http://schemas.microsoft.com/office/powerpoint/2010/main" val="104321688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512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9F2494-DBFE-49F3-971C-8970E7DAB57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ec0ec1b0684804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9C57C5-A42A-492D-9475-D1CC0F2FB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191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21B">
              <a:alpha val="90980"/>
            </a:srgbClr>
          </a:solidFill>
          <a:ln xmlns:a="http://schemas.openxmlformats.org/drawingml/2006/main" w="0">
            <a:solidFill>
              <a:srgbClr val="15121B">
                <a:alpha val="90980"/>
              </a:srgbClr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07468B-39C5-46A2-B853-51F0019BC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ACT 1 / THE CASE FOR CHANGE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22D753-DA6B-4AFC-94CD-3EEFD759D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2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22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225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What the future could look like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49681E-09EA-4756-ABD2-0D6B79FE3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81200"/>
            <a:ext cx="4857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6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36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360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Built for the work of living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D175C9-B437-4E7F-83F5-2921C16DA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43250"/>
            <a:ext cx="4762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500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1500" b="1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Objects designed for the table where invoices, lunch, school drawings and late calls all happen.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991D95-9721-486D-95DB-BF1991CCB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1487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CREATIVE ILLUSTRATION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7A7809-6C8C-44C5-ADA0-EC42F862E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1015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0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050" b="0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050" b="0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Fictional visual proof. Test relevance, distinctiveness and product comprehension before selection.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83D256-E850-49A5-9805-6C572286D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34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SOURCES: A5, C1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93B5E9-E019-454C-A78D-6E00CE522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134100"/>
            <a:ext cx="487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CREATIVE ILLUSTRATION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2602EC-BD73-4B5D-AD13-A60E2BCA4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1714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NARRATIIVE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5ABFF4-82CD-45CB-800E-BC28A6681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876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675" b="0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675" b="0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675" b="0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05 / 20</a:t>
            </a:r>
          </a:p>
        </p:txBody>
      </p:sp>
    </p:spTree>
    <p:extLst>
      <p:ext uri="{BB962C8B-B14F-4D97-AF65-F5344CB8AC3E}">
        <p14:creationId xmlns:p14="http://schemas.microsoft.com/office/powerpoint/2010/main" val="195448822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03220B-E2BD-4898-8B9C-603C17F18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5715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CHAPTER 1 / THE OPPORTUNITY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7A2E4E-3DCA-4DDF-A690-FCF858627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The Opportunity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DDC0F0-876A-45E9-B388-919BD57E2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01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D5"/>
          </a:solidFill>
          <a:ln xmlns:a="http://schemas.openxmlformats.org/drawingml/2006/main" w="0">
            <a:solidFill>
              <a:srgbClr val="D9CFD5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0CBD46-6CFD-4675-81BE-247A9D6A1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90700"/>
            <a:ext cx="7096125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0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20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2025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The base case produces a £36,440 first-year contribution proxy after £85,000 of assumed investment. Verify every input before committing.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03215E-D3DD-48EF-A036-BB1B86BFC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809750"/>
            <a:ext cx="2667000" cy="26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1A31"/>
          </a:solidFill>
          <a:ln xmlns:a="http://schemas.openxmlformats.org/drawingml/2006/main" w="0">
            <a:solidFill>
              <a:srgbClr val="261A3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DE3334-E1D2-4D26-96C4-327A7A176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419350"/>
            <a:ext cx="1762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8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ctr">
              <a:defRPr sz="18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80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SCENARIO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C53920-787C-4630-A81F-934590D16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981325"/>
            <a:ext cx="1381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54F"/>
          </a:solidFill>
          <a:ln xmlns:a="http://schemas.openxmlformats.org/drawingml/2006/main" w="0">
            <a:solidFill>
              <a:srgbClr val="FF654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5ABD71-9730-43A8-A44F-8D8798D31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3286125"/>
            <a:ext cx="18859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27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ctr">
              <a:defRPr sz="127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1275" b="1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Validate before investment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DCD297-605B-4F44-962D-BEB8035B6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72125"/>
            <a:ext cx="2095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COMMERCIAL CONSEQUENCE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EC3AA3-8D5C-4FDA-B956-FCB807721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50545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FIELDWORK could test an annualised ecommerce revenue scenario of £1,890,000, £690,000 above the assumed baseline.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673D84-FA24-4D5E-A6AE-05CE71798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34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SOURCES: A1, A2, A3, A8, A9, A10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36EB29-6AAA-4CB0-85D0-688792D15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134100"/>
            <a:ext cx="487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rPr>
              <a:t>MODELLED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167A99-E5EF-41CC-BFE9-4D25D5915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1714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NARRATIIVE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71E81B-71D9-4F23-B009-FD60A8CDC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876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06 / 20</a:t>
            </a:r>
          </a:p>
        </p:txBody>
      </p:sp>
    </p:spTree>
    <p:extLst>
      <p:ext uri="{BB962C8B-B14F-4D97-AF65-F5344CB8AC3E}">
        <p14:creationId xmlns:p14="http://schemas.microsoft.com/office/powerpoint/2010/main" val="125689804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A2232A-A846-4150-89E8-E63155CA6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5715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CHAPTER 1 / THE OPPORTUNITY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32F212-3E54-4CE7-AF0B-CC7B78E53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The scenario bridge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64744C-8E30-4A57-99DB-CC266437A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01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D5"/>
          </a:solidFill>
          <a:ln xmlns:a="http://schemas.openxmlformats.org/drawingml/2006/main" w="0">
            <a:solidFill>
              <a:srgbClr val="D9CFD5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736328-2A64-4539-8786-7B2937FB6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4476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654F"/>
          </a:solidFill>
          <a:ln xmlns:a="http://schemas.openxmlformats.org/drawingml/2006/main" w="0">
            <a:solidFill>
              <a:srgbClr val="FF654F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74CD78-CDC9-4769-A0CB-DADEDEE5A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028825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01 CLAIM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F4587F-7916-493C-B50F-03F54E31F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762250"/>
            <a:ext cx="3429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5A2E78"/>
          </a:solidFill>
          <a:ln xmlns:a="http://schemas.openxmlformats.org/drawingml/2006/main" w="0">
            <a:solidFill>
              <a:srgbClr val="5A2E7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D5DE06-86A8-4DB6-BEC4-36F003C0F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29813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02 PROOF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F75675-EDF2-42A8-B2A5-FB68AA282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714750"/>
            <a:ext cx="2381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261A31"/>
          </a:solidFill>
          <a:ln xmlns:a="http://schemas.openxmlformats.org/drawingml/2006/main" w="0">
            <a:solidFill>
              <a:srgbClr val="261A3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CA16CC-88BD-4075-86ED-32512F196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93382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03 METHOD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67EAB6-4BAC-4415-81FA-324E689EE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95500"/>
            <a:ext cx="4000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8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800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The sequential bridge reconciles to £690,000. The attribution order is a modelling convention.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F8BF27-EC01-49EC-9095-12C8038D6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72125"/>
            <a:ext cx="2095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COMMERCIAL CONSEQUENCE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71477E-D6EC-4586-87FF-95086CE63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50545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Traffic and conversion each account for £300,000 of the base case. Higher order value accounts for £90,000.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647F14-46C2-40E2-AD07-31FAC7396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34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SOURCES: A1, A2, A3, A8, A9, A10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AB8B78-E6FD-448F-9C70-EF99089CD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134100"/>
            <a:ext cx="487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rPr>
              <a:t>MODELLED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8B85A8-B869-4156-9C6A-1FA118D35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1714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NARRATIIVE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FC215B-B667-4D08-9BEC-EAF0EE9CF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876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07 / 20</a:t>
            </a:r>
          </a:p>
        </p:txBody>
      </p:sp>
    </p:spTree>
    <p:extLst>
      <p:ext uri="{BB962C8B-B14F-4D97-AF65-F5344CB8AC3E}">
        <p14:creationId xmlns:p14="http://schemas.microsoft.com/office/powerpoint/2010/main" val="95825639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4E2D4F-C8D6-4845-8134-2BEA10DFA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5715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CHAPTER 2 / THE CONSTRAINT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442F20-D127-4A8E-93E9-44FC23B38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The Constraint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741704-C08B-41A2-955F-97AFD2CD7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01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D5"/>
          </a:solidFill>
          <a:ln xmlns:a="http://schemas.openxmlformats.org/drawingml/2006/main" w="0">
            <a:solidFill>
              <a:srgbClr val="D9CFD5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C9BA40-1176-4305-BC8C-5D2502F6B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4476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654F"/>
          </a:solidFill>
          <a:ln xmlns:a="http://schemas.openxmlformats.org/drawingml/2006/main" w="0">
            <a:solidFill>
              <a:srgbClr val="FF654F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54DD96-2C3C-4DC5-9232-B2EF1A738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028825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01 CLAIM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E6E8CF-6AF5-43F3-91E4-48B53EB4C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762250"/>
            <a:ext cx="3429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5A2E78"/>
          </a:solidFill>
          <a:ln xmlns:a="http://schemas.openxmlformats.org/drawingml/2006/main" w="0">
            <a:solidFill>
              <a:srgbClr val="5A2E7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F26CB6-CDA0-4810-9E81-67363F8E6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29813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02 PROOF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28BC6D-CCA2-43C7-A5AE-027B7A58C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714750"/>
            <a:ext cx="2381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261A31"/>
          </a:solidFill>
          <a:ln xmlns:a="http://schemas.openxmlformats.org/drawingml/2006/main" w="0">
            <a:solidFill>
              <a:srgbClr val="261A3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3AB58C-AA1E-4273-ACD8-A904C7DE5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93382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03 METHOD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F3D802-3890-4946-AEA0-C07225B76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95500"/>
            <a:ext cx="4000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8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800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Reject this diagnosis if a specific mixed-use proposition does not improve qualified product-page progression and net conversion, or if existing cohorts already show strong second-purchase behaviour.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3BEDD8-D810-4E0F-87D3-1CBBC7612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72125"/>
            <a:ext cx="2095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COMMERCIAL CONSEQUENCE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00264C-E73F-441A-813A-1DB4130B1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50545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FIELDWORK is buying attention for a broad design promise before it has proved why a mixed-use household should choose its first object or return for the second.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142523-4DD2-4CB8-AD17-5A30A9198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34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SOURCES: A4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432816-8F59-4D5F-9BED-0F4BAF22D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134100"/>
            <a:ext cx="487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rPr>
              <a:t>ASSUMPTION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478421-42F5-4626-8ACF-B57D624A1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1714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NARRATIIVE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3C1237-0DA6-4FF7-B9F5-A6F27C3F4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876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08 / 20</a:t>
            </a:r>
          </a:p>
        </p:txBody>
      </p:sp>
    </p:spTree>
    <p:extLst>
      <p:ext uri="{BB962C8B-B14F-4D97-AF65-F5344CB8AC3E}">
        <p14:creationId xmlns:p14="http://schemas.microsoft.com/office/powerpoint/2010/main" val="172724228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AA8F5F-DC2F-4193-AF39-73EBBDFE4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5715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CHAPTER 2 / THE CONSTRAINT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F028AF-D9EC-49CC-8F0E-3BB8B915C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What would disprove the diagnosis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96B7D6-1B66-4EFB-A7F4-B57BC2C9C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01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D5"/>
          </a:solidFill>
          <a:ln xmlns:a="http://schemas.openxmlformats.org/drawingml/2006/main" w="0">
            <a:solidFill>
              <a:srgbClr val="D9CFD5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878806-7B98-4A0B-8F25-E1C4F169A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38500"/>
            <a:ext cx="9525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2E78"/>
          </a:solidFill>
          <a:ln xmlns:a="http://schemas.openxmlformats.org/drawingml/2006/main" w="0">
            <a:solidFill>
              <a:srgbClr val="5A2E7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28D9DC-F3EA-412E-9467-4812FD69D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14625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1A31"/>
          </a:solidFill>
          <a:ln xmlns:a="http://schemas.openxmlformats.org/drawingml/2006/main" w="0">
            <a:solidFill>
              <a:srgbClr val="261A3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B74C2A-25A3-4E84-ABD7-A9F24BDB8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924175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5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ctr">
              <a:defRPr sz="15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50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B06FF5-738A-4F48-8379-86B62CB0B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048125"/>
            <a:ext cx="1733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900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ctr">
              <a:defRPr sz="900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pPr>
            <a:r>
              <a:rPr sz="900" b="1" i="0">
                <a:solidFill>
                  <a:srgbClr val="5A2E78"/>
                </a:solidFill>
                <a:latin typeface="Helvetica"/>
                <a:ea typeface="Helvetica"/>
                <a:cs typeface="Helvetica"/>
              </a:rPr>
              <a:t>FOUNDER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DD51DB-A739-4923-AB7B-1F75B0668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714625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1A31"/>
          </a:solidFill>
          <a:ln xmlns:a="http://schemas.openxmlformats.org/drawingml/2006/main" w="0">
            <a:solidFill>
              <a:srgbClr val="261A3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9697EF-EEB0-49C8-BF98-CD9BE3A55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924175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5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ctr">
              <a:defRPr sz="15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50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B3D593-E1A9-4190-964D-FFF6CE139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048125"/>
            <a:ext cx="1733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900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ctr">
              <a:defRPr sz="900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pPr>
            <a:r>
              <a:rPr sz="900" b="1" i="0">
                <a:solidFill>
                  <a:srgbClr val="5A2E78"/>
                </a:solidFill>
                <a:latin typeface="Helvetica"/>
                <a:ea typeface="Helvetica"/>
                <a:cs typeface="Helvetica"/>
              </a:rPr>
              <a:t>RETAIL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2BAEDB-2D43-4E63-87B5-73659EA50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14625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54F"/>
          </a:solidFill>
          <a:ln xmlns:a="http://schemas.openxmlformats.org/drawingml/2006/main" w="0">
            <a:solidFill>
              <a:srgbClr val="FF654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2AF5CF-AF1C-4BC4-A712-9EC40265B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924175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5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ctr">
              <a:defRPr sz="15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50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67213A-FA26-495C-8C84-F0466277E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048125"/>
            <a:ext cx="1733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900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ctr">
              <a:defRPr sz="900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pPr>
            <a:r>
              <a:rPr sz="900" b="1" i="0">
                <a:solidFill>
                  <a:srgbClr val="5A2E78"/>
                </a:solidFill>
                <a:latin typeface="Helvetica"/>
                <a:ea typeface="Helvetica"/>
                <a:cs typeface="Helvetica"/>
              </a:rPr>
              <a:t>CRM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8F4F84-EC27-4BB5-858B-1391697F8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809750"/>
            <a:ext cx="723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5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ctr">
              <a:defRPr sz="15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500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Reject this diagnosis if a specific mixed-use proposition does not improve qualified product-page progression and net conversion, or if existing cohorts already show strong second-purchase.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DF5887-F727-4A72-81A4-8C92B2834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72125"/>
            <a:ext cx="2095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COMMERCIAL CONSEQUENCE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04610C-3BAE-49FC-82E9-FB37DC3CD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50545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The diagnosis fails if a specific mixed-use proposition does not improve net conversion or existing cohorts already repeat strongly.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235FED-B8F4-4AA6-ACDA-C8A6F4695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34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SOURCES: A4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195C0C-3536-4DD9-8C69-3E74E49C5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134100"/>
            <a:ext cx="487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rPr>
              <a:t>ASSUMPTION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70541D-637D-4E52-A91F-73791B7E6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1714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NARRATIIVE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8F2395-B1D5-496B-967B-932911CA1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876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09 / 20</a:t>
            </a:r>
          </a:p>
        </p:txBody>
      </p:sp>
    </p:spTree>
    <p:extLst>
      <p:ext uri="{BB962C8B-B14F-4D97-AF65-F5344CB8AC3E}">
        <p14:creationId xmlns:p14="http://schemas.microsoft.com/office/powerpoint/2010/main" val="116145490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D8ABCE6-651F-42D0-8291-1E0E92451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5715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CHAPTER 3 / THE ADVANTAGE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7462AC-C919-4250-878E-ED26B90C0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The Advantage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BF8FE1-C6D7-4506-9278-02183692E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01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D5"/>
          </a:solidFill>
          <a:ln xmlns:a="http://schemas.openxmlformats.org/drawingml/2006/main" w="0">
            <a:solidFill>
              <a:srgbClr val="D9CFD5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A745D0-352A-44CE-8386-678EE0355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62125"/>
            <a:ext cx="723900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0">
            <a:solidFill>
              <a:srgbClr val="FFFDF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4F6F06-4FE8-40BC-9CFA-A51AEAF01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33875"/>
            <a:ext cx="5905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6D7A"/>
          </a:solidFill>
          <a:ln xmlns:a="http://schemas.openxmlformats.org/drawingml/2006/main" w="0">
            <a:solidFill>
              <a:srgbClr val="756D7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940435-0796-43B2-B3FC-000A5DCB8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095500"/>
            <a:ext cx="190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6D7A"/>
          </a:solidFill>
          <a:ln xmlns:a="http://schemas.openxmlformats.org/drawingml/2006/main" w="0">
            <a:solidFill>
              <a:srgbClr val="756D7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811307-709A-47B9-B2CE-0F5292D7D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76750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GENERIC ORGANISATION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7500FF-4B59-421C-B8C9-45347BCBA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4767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MIXED-USE SPECIFIC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15A3DF-24AC-4B91-832B-211B74235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5262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5A2E78"/>
                </a:solidFill>
                <a:latin typeface="Helvetica"/>
                <a:ea typeface="Helvetica"/>
                <a:cs typeface="Helvetica"/>
              </a:rPr>
              <a:t>PROVEN IN USE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61C0BE-4200-4127-8258-7DD9B2AAE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4574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54F"/>
          </a:solidFill>
          <a:ln xmlns:a="http://schemas.openxmlformats.org/drawingml/2006/main" w="0">
            <a:solidFill>
              <a:srgbClr val="FF654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590DA0-CB8F-4EAD-B583-4FDC3A5C5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57175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TEST TERRITORY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4A47E4-CD08-473D-BCA7-9D1B56D10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762125"/>
            <a:ext cx="3114675" cy="3333750"/>
          </a:xfrm>
          <a:prstGeom xmlns:a="http://schemas.openxmlformats.org/drawingml/2006/main" prst="roundRect">
            <a:avLst>
              <a:gd name="adj" fmla="val 2446"/>
            </a:avLst>
          </a:prstGeom>
          <a:solidFill xmlns:a="http://schemas.openxmlformats.org/drawingml/2006/main">
            <a:srgbClr val="261A31"/>
          </a:solidFill>
          <a:ln xmlns:a="http://schemas.openxmlformats.org/drawingml/2006/main" w="0">
            <a:solidFill>
              <a:srgbClr val="261A3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2689C2-3A55-4F8B-9EAE-AA22EC4C3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0025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THE GAP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210DF1-A8F3-48ED-BF9D-EEDF87DE2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295525"/>
            <a:ext cx="2333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4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425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Modular objects for surfaces shared by work and life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31D247-036F-42C3-BAEE-28960D8AF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133725"/>
            <a:ext cx="23336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0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0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00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WHO IT MATTERS TO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622C77-DB47-4749-BA4D-69289AADF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33750"/>
            <a:ext cx="2333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9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90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People whose home workspace disappears and reappears every day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BF5FD2-9294-48B7-8AAA-AB6D75D01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000500"/>
            <a:ext cx="23336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0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0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00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WHY COMPETITORS MISS IT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3B7C0E-2E91-41C2-8899-3AD1FD91D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210050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Validation required. No competitor position is asserted in this fictional fixture.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7CA896-3AFA-4BC0-889F-CABA9F6CC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72125"/>
            <a:ext cx="2095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COMMERCIAL CONSEQUENCE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905B62-2C56-49CE-ADC5-033F6BA3E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50545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FIELDWORK could own the mixed-use surface: modular objects designed for the daily collision of paid work, domestic life and limited space.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D0DF07-C573-4FB0-B569-017183852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34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SOURCES: A5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BB46A0-EA3D-4B84-9CC6-93582DADE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134100"/>
            <a:ext cx="487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rPr>
              <a:t>ASSUMPTION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7C3482-D8D1-4DEF-96CC-A2DFBFF85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1714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NARRATIIVE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1A4BF7-D15A-4AE2-8EB6-ADAEE6B38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876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10 / 20</a:t>
            </a:r>
          </a:p>
        </p:txBody>
      </p:sp>
    </p:spTree>
    <p:extLst>
      <p:ext uri="{BB962C8B-B14F-4D97-AF65-F5344CB8AC3E}">
        <p14:creationId xmlns:p14="http://schemas.microsoft.com/office/powerpoint/2010/main" val="139142345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5887D7A-1C97-4821-ABF1-5947D8AD0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5715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CHAPTER 3 / THE ADVANTAGE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B5F753-13D0-4D31-99CB-CF397CBC2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The advantage needs proof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F752CA-2ECF-472B-88DA-4FA7740F9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01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D5"/>
          </a:solidFill>
          <a:ln xmlns:a="http://schemas.openxmlformats.org/drawingml/2006/main" w="0">
            <a:solidFill>
              <a:srgbClr val="D9CFD5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0EB3E6-4631-4B55-93BB-B46D066C7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5143500" cy="27432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261A31"/>
          </a:solidFill>
          <a:ln xmlns:a="http://schemas.openxmlformats.org/drawingml/2006/main" w="0">
            <a:solidFill>
              <a:srgbClr val="261A3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A60923-4A10-4740-88EC-8834DB229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2405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EVIDENCE TO COLLECT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9F9116-C4B1-4B7A-81BD-894D680A6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81225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00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00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600" b="1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CUSTOMER EVIDENCE REQUIRED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F0C655-0F23-42EE-8B88-56242A524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4795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2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275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Observe how shared surfaces are reset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6856FE-4FE4-4DDC-8DDA-2F3D9CD8A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6230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2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275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Test the mixed-use proposition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E4495A-EA37-4F9B-A0D4-96EEDF1B6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7665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2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275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Measure willingness to pay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972CE2-486C-45CE-9D16-A295E460A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14500"/>
            <a:ext cx="5429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0">
            <a:solidFill>
              <a:srgbClr val="FFFDF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C9E390-EEF1-47C2-BCC3-B2181D578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866900"/>
            <a:ext cx="1428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FOUNDER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088C1A-903C-4563-A149-18A39BFF1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828800"/>
            <a:ext cx="338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97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975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A proposed category to own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624842-621E-485A-BA97-B90F3E6EF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28900"/>
            <a:ext cx="5429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0">
            <a:solidFill>
              <a:srgbClr val="FFFDF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32345F-55F3-4FD4-8727-D8D3F873D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81300"/>
            <a:ext cx="1428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CUSTOMER DATA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AA3C02-3C34-4CE2-B00A-5972D3054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743200"/>
            <a:ext cx="338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97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975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Not yet supplied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F9564B-431E-4EF9-92F7-AB97367CB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43300"/>
            <a:ext cx="5429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0">
            <a:solidFill>
              <a:srgbClr val="FFFDF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015017-FD3F-43B5-B7EE-336527E42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695700"/>
            <a:ext cx="1428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CHOICE TEST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C3F996-2DAC-4F98-98A4-5406DC818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657600"/>
            <a:ext cx="338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97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975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Required before selection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B0B456-4F36-4E39-9FA0-D6C357176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14875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200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ctr">
              <a:defRPr sz="1200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5A2E78"/>
                </a:solidFill>
                <a:latin typeface="Helvetica"/>
                <a:ea typeface="Helvetica"/>
                <a:cs typeface="Helvetica"/>
              </a:rPr>
              <a:t>The territory remains a hypothesis until observed behaviour and customer choice evidence support it.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97EEA4-2311-4FDC-BBF6-D00F9427B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72125"/>
            <a:ext cx="2095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COMMERCIAL CONSEQUENCE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DFEE89-146D-49E6-9518-194F188A8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50545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Founder conviction can frame a hypothesis. Customer choice data must decide whether the advantage is real.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28C54C-6A68-4AA6-AA41-409DA3E1D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34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SOURCES: A5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D986FC-3AE8-4DF9-843F-466C14CC1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134100"/>
            <a:ext cx="487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rPr>
              <a:t>ASSUMPTION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3D1F981-88FC-4052-86C4-2E793EDF6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1714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NARRATIIVE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D9BAA13-3FD9-42B9-BAB8-9A9D6F384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876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11 / 20</a:t>
            </a:r>
          </a:p>
        </p:txBody>
      </p:sp>
    </p:spTree>
    <p:extLst>
      <p:ext uri="{BB962C8B-B14F-4D97-AF65-F5344CB8AC3E}">
        <p14:creationId xmlns:p14="http://schemas.microsoft.com/office/powerpoint/2010/main" val="103823829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53DE05-2669-4C65-91A9-FA5EF9D72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5715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CHAPTER 4 / THE STRATEGY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7CB626-5FE8-4B53-9F19-AC92AF217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The Strategy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4F3D8B-FCC0-4935-855C-ACD513A41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01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D5"/>
          </a:solidFill>
          <a:ln xmlns:a="http://schemas.openxmlformats.org/drawingml/2006/main" w="0">
            <a:solidFill>
              <a:srgbClr val="D9CFD5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A1E5C2-79B0-4DC3-9939-C017C45F8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32004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0">
            <a:solidFill>
              <a:srgbClr val="FFFDF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E4E472-6E73-4E47-9B4A-A417F13DE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717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3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1350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B44C80-2871-4292-8C25-E0A6C3A36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4795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TENSION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FED62E-7D90-41E6-BB25-2FE104DCA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86100"/>
            <a:ext cx="2714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5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500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Broad accessories compete on taste and paid attention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BB6751-BEBA-4EB6-B4F7-AB680522D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52625"/>
            <a:ext cx="32004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654F"/>
          </a:solidFill>
          <a:ln xmlns:a="http://schemas.openxmlformats.org/drawingml/2006/main" w="0">
            <a:solidFill>
              <a:srgbClr val="FF654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783E3D-0CEE-44B4-BDBD-EA163ECC1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1717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3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35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4BF077-91D3-4E51-91E1-63FDADE4A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64795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SHIFT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66F637-7894-4909-926C-B3CBBDD33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086100"/>
            <a:ext cx="2714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5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50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Own the mixed-use surface and show usefulness in context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DEEE91-2DF8-4017-B213-9B1277850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952625"/>
            <a:ext cx="32004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0">
            <a:solidFill>
              <a:srgbClr val="FFFDFC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280F54-0B6F-4972-A937-AB30A42CE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1717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3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1350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63FB50-FD0D-4ADE-AC39-EE9D60B0B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64795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RESOLUTION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79E4AE-4F34-4795-A787-85E3A80C1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086100"/>
            <a:ext cx="2714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5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500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Let the first object earn the second before buying reach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E2B6D6-BE80-46D3-9AA2-A1788C15B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619625"/>
            <a:ext cx="676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217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ctr">
              <a:defRPr sz="217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pPr>
            <a:r>
              <a:rPr sz="2175" b="1" i="0">
                <a:solidFill>
                  <a:srgbClr val="5A2E78"/>
                </a:solidFill>
                <a:latin typeface="Helvetica"/>
                <a:ea typeface="Helvetica"/>
                <a:cs typeface="Helvetica"/>
              </a:rPr>
              <a:t>Turn one useful object into a reason to return.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93D1EA-42A9-473E-8B2B-496D61A1A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72125"/>
            <a:ext cx="2095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COMMERCIAL CONSEQUENCE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6A7BF8-8D5D-4DC8-A47F-5B311302B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50545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Turn the mixed-use surface into a category FIELDWORK can own, then prove that one useful object earns the next purchase before scaling acquisition.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0E8E28-228B-4589-A2FD-91FCACF02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34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SOURCES: A4, A5, A6, C1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BB17A0-F42E-453A-977F-E746F41C6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134100"/>
            <a:ext cx="487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rPr>
              <a:t>ASSUMPTION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D2FB68-A4F8-412E-B041-F84BB1D8C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1714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NARRATIIVE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E73B4F-870F-4554-9241-17C813CEE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876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12 / 20</a:t>
            </a:r>
          </a:p>
        </p:txBody>
      </p:sp>
    </p:spTree>
    <p:extLst>
      <p:ext uri="{BB962C8B-B14F-4D97-AF65-F5344CB8AC3E}">
        <p14:creationId xmlns:p14="http://schemas.microsoft.com/office/powerpoint/2010/main" val="36197323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002F932-9050-459D-BBAD-BE8358C26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5715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CHAPTER 4 / THE STRATEGY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965728-E5F0-41D8-AA8F-96056D4D2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Three moves, three tests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DA52DC-EC75-44E6-9642-27D89CDC3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01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D5"/>
          </a:solidFill>
          <a:ln xmlns:a="http://schemas.openxmlformats.org/drawingml/2006/main" w="0">
            <a:solidFill>
              <a:srgbClr val="D9CFD5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C3B898-3EB3-4B32-9E50-BF00604E3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38300"/>
            <a:ext cx="3333750" cy="240030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CFD5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B54FBF-6C0D-421A-86B9-D37BAE0D0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47850"/>
            <a:ext cx="2914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97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pPr>
            <a:r>
              <a:rPr sz="975" b="1" i="0">
                <a:solidFill>
                  <a:srgbClr val="5A2E78"/>
                </a:solidFill>
                <a:latin typeface="Helvetica"/>
                <a:ea typeface="Helvetica"/>
                <a:cs typeface="Helvetica"/>
              </a:rPr>
              <a:t>01 / OWN THE MIXED-USE SURFACE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EF62A5-A219-4E32-BF84-EECB7BF13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24100"/>
            <a:ext cx="666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ROLE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0F9AF8-9F67-4FB1-8418-4DF407FF7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22860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Qualified conversion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253B60-66BD-404A-9EDD-0D38FEDC7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24150"/>
            <a:ext cx="666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TENSION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9FFB3B-E231-4CD2-9CA5-99B5D95FC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26860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A narrower promise may reduce broad but low-intent traffic.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9B5355-E892-4A3C-A720-34BF0B54C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24200"/>
            <a:ext cx="666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PROOF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3F4DD8-B413-4774-89BF-FD9B4D25E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30861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Controlled message and landing-page test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F21D0E-A686-4D47-9170-38C4DE6FB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24250"/>
            <a:ext cx="666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ASSET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C3DDE9-80FD-4D57-9A4E-8A3F2C862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34861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Strategy Director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29FED8-A52A-460D-B924-4DB2AA650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638300"/>
            <a:ext cx="3333750" cy="240030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261A31"/>
          </a:solidFill>
          <a:ln xmlns:a="http://schemas.openxmlformats.org/drawingml/2006/main" w="0">
            <a:solidFill>
              <a:srgbClr val="261A31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A00C3D-450D-4F2E-A375-F6E75D2FC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847850"/>
            <a:ext cx="2914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9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9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02 / MAKE USEFULNESS VISIBLE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8BE5E4-605C-4164-817F-A88E62B1A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324100"/>
            <a:ext cx="666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ROLE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50FB7E-3E15-468B-9BEE-C11AE63E3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22860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Conversion and average order value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3E98B5-964E-4CC1-90EE-82C2FCBE6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724150"/>
            <a:ext cx="666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TENSION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2D8EF7-5F92-48A4-9DC8-F8A540DE7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26860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More proof requires disciplined production and may expose weak claims.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CDD087-A8D6-48D7-8F75-E69EAFBCA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124200"/>
            <a:ext cx="666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PROOF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90D5E2-C3FC-40D4-91E9-6F4CDF41A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30861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Product-story comprehension and basket test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99FC95-18D0-428F-AFB2-B42961C6D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524250"/>
            <a:ext cx="666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ASSET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B43362-87FC-4AA9-84AC-FD4F151D1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34861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Creative Director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C810F0-15FF-49C7-97F5-AC86377A0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38300"/>
            <a:ext cx="3333750" cy="240030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CFD5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48282E7-1AA6-4995-A1E2-AC0E9B32F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47850"/>
            <a:ext cx="2914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97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pPr>
            <a:r>
              <a:rPr sz="975" b="1" i="0">
                <a:solidFill>
                  <a:srgbClr val="5A2E78"/>
                </a:solidFill>
                <a:latin typeface="Helvetica"/>
                <a:ea typeface="Helvetica"/>
                <a:cs typeface="Helvetica"/>
              </a:rPr>
              <a:t>03 / EARN THE SECOND OBJECT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95B1535-E9CD-409E-859A-5A1C7327D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24100"/>
            <a:ext cx="666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ROLE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486EA54-EF55-479C-B5BA-393B9CF0C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860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Second-purchase economics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E72C03D-FB79-4DC4-AFC3-CC02B8962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724150"/>
            <a:ext cx="666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TENSION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3ECD5E5-4D8F-41B7-AFA0-38B0F03DC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6860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Near-term reach grows more slowly while economics are validated.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B3711B9-E670-40AA-B846-5F424700B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124200"/>
            <a:ext cx="666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PROOF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7DBC4E8-85C4-478E-8CE2-7F27446A3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0861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Cohort retention and referral pilot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3607411-AAAB-41BA-A9AC-90AAD4A1D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524250"/>
            <a:ext cx="666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ASSET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F47F32A-F1FC-44B5-A303-CBF825F2F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4861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Strategy Director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CB0D4ED-6DE1-40B3-8C5E-E588EB0D4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0"/>
            <a:ext cx="3238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0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0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00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VERBAL ASSETS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91618EA-0B5D-43D8-9FF7-97F2EC6EB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14850"/>
            <a:ext cx="323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rPr>
              <a:t>Specific promise • Visible proof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20D9C0F-15BB-4C9D-BFA0-68490C87A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286250"/>
            <a:ext cx="3238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0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0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00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TONE + MOTION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1E91093-8622-4C51-A5D8-1B222F450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514850"/>
            <a:ext cx="323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rPr>
              <a:t>Direct • Useful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EC34E48-EFDB-4818-91F1-2360F871B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86250"/>
            <a:ext cx="3238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0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0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00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RECURRING FORMATS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5F08F2C-144F-4184-A203-775B00D4B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514850"/>
            <a:ext cx="323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rPr>
              <a:t>Claim and proof • Test and result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47A1C05-8CFC-4E62-9FEA-2AE141C58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72125"/>
            <a:ext cx="2095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COMMERCIAL CONSEQUENCE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8A4EA28-6F90-44B0-93D0-99C124FFC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50545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The strategy connects each recommendation to a measurable commercial lever.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FDB8B08-3976-4F54-B394-AADCB51BF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34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SOURCES: A4, A5, A6, C1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041164C-EB43-4889-9ACC-F3AC91A49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134100"/>
            <a:ext cx="487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rPr>
              <a:t>ASSUMPTION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00463A5-D161-4B95-AFB0-B336FA1DF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1714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NARRATIIVE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33A39E9-D18D-435D-B500-F95F0E79C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876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13 / 20</a:t>
            </a:r>
          </a:p>
        </p:txBody>
      </p:sp>
    </p:spTree>
    <p:extLst>
      <p:ext uri="{BB962C8B-B14F-4D97-AF65-F5344CB8AC3E}">
        <p14:creationId xmlns:p14="http://schemas.microsoft.com/office/powerpoint/2010/main" val="196637509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512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0520C8-6C4E-4FD6-8726-AAD2F63C7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5715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CHAPTER 5 / THE CREATIVE FUTURE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7A6245-8F2E-4E7A-BD4B-BDCA7F6C3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3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23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2325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The Creative Future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1104A9-672F-4361-B359-5561A44A1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01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2E78"/>
          </a:solidFill>
          <a:ln xmlns:a="http://schemas.openxmlformats.org/drawingml/2006/main" w="0">
            <a:solidFill>
              <a:srgbClr val="5A2E7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BB75FF-C9CE-4707-B76B-5C082FBE4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476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5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25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255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USEFUL BY DESIGN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0455F3-4AF4-4FDC-B77D-B4B00FF04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19375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0" i="1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500" b="0" i="1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1500" b="0" i="1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meets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6888DA-CF86-48F1-9453-F69CE38BE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95625"/>
            <a:ext cx="4953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5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25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2550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HUMAN IN PRACTICE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447213-624E-41F6-AABF-51DEAFAD6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478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A0B6E1-C192-403E-9A03-4C71C8F3B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84785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OBSERVE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D55311-1159-4B23-972B-3611B4C5A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114550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4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425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Real work leaves traces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140D8D-8DA8-4DEB-A59D-0172809FC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4797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59086A-F725-4AB7-996F-32EAB36CA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847975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PROVE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CF6828-8166-433D-90C4-1C6C70475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114675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4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425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Materials and use stay visible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D45795-5ED8-48AA-B7BA-11C09E8FD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4810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E38A8F-59D5-4FBA-B2C6-EA8C1A0EB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84810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REPEAT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36BF6A-A7F2-425F-8C02-0BF01E21F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114800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4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425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One warm orange work mark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DFF6CE-3D57-46A1-9C42-8C81ED0A7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72125"/>
            <a:ext cx="2095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COMMERCIAL CONSEQUENCE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01E9F5-D3AF-4EF3-BCF1-E52BEE97D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50545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Built for the work of living: Objects designed for the table where invoices, lunch, school drawings and late calls all happen.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FEA2E6-0615-43A0-AAC0-9F82119AA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34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SOURCES: A5, C1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302708-57A7-452B-B7FA-8B7FCFE82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134100"/>
            <a:ext cx="487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CREATIVE ILLUSTRATION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A50621-D2CC-493A-AA81-866CD7A24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1714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NARRATIIVE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E6356B-44C8-4EBE-A867-6090412C8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876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675" b="0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675" b="0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675" b="0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14 / 20</a:t>
            </a:r>
          </a:p>
        </p:txBody>
      </p:sp>
    </p:spTree>
    <p:extLst>
      <p:ext uri="{BB962C8B-B14F-4D97-AF65-F5344CB8AC3E}">
        <p14:creationId xmlns:p14="http://schemas.microsoft.com/office/powerpoint/2010/main" val="103855148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512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DE5BBF-3880-481C-8B47-84B75D5EA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5715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CHAPTER 5 / THE CREATIVE FUTURE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E361E3-F83D-4EF9-BCF6-85D3C5062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3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23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2325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The campaign behaviour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22A5F3-094A-4DC5-AC19-CC3E58F5F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01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2E78"/>
          </a:solidFill>
          <a:ln xmlns:a="http://schemas.openxmlformats.org/drawingml/2006/main" w="0">
            <a:solidFill>
              <a:srgbClr val="5A2E7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06D02B-DE7A-4AB3-9FC5-29295905B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71625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12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1125" b="1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A film keeps the camera on one dining table as invoice, lunch, school drawing and late call replace each other. The FIELDWORK object stays, adapts and gathers the day's essential tools.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5A0E0A-3A33-4573-8152-D51F15E50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3143250" cy="2238375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261A31"/>
          </a:solidFill>
          <a:ln xmlns:a="http://schemas.openxmlformats.org/drawingml/2006/main" w="9525">
            <a:solidFill>
              <a:srgbClr val="FF654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173391-6D25-437A-AC6F-0C6E911AB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2887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9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9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7B35BA-38AB-49EA-9525-82661C32F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05125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8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875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OBSERVE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A970B2-4105-44B6-B8F8-EF5F34570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2900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0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125" b="0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1125" b="0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Real work leaves traces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93FC42-7ED9-4F3D-BB83-D6A270B0A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62200"/>
            <a:ext cx="3143250" cy="2238375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5A2E78"/>
          </a:solidFill>
          <a:ln xmlns:a="http://schemas.openxmlformats.org/drawingml/2006/main" w="9525">
            <a:solidFill>
              <a:srgbClr val="FF654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46489E-8858-4CBC-9918-5AAFEE04E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6003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9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9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9183AE-B55E-451B-A5EA-C96ABE106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076575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8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875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PROVE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97BB46-E904-4507-9C21-986EA452C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60045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0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125" b="0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1125" b="0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Materials and use stay visible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96B40B-72C6-41AC-B47D-9F152233B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33650"/>
            <a:ext cx="3143250" cy="2238375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261A31"/>
          </a:solidFill>
          <a:ln xmlns:a="http://schemas.openxmlformats.org/drawingml/2006/main" w="9525">
            <a:solidFill>
              <a:srgbClr val="FF654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283872-0F04-4A87-83C5-E26F99A77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77177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9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9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29F841-157A-476D-922F-3AF2AB40B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248025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8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875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REPEAT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553718-8A52-4E05-A6FC-91AE9F6B2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77190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0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125" b="0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1125" b="0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One warm orange work mark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6C9D94-5D4A-4EA2-81CC-176A3BD16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72125"/>
            <a:ext cx="2095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COMMERCIAL CONSEQUENCE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66B529-1C43-4586-9300-9E8718A7D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50545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Objects designed for the table where invoices, lunch, school drawings and late calls all happen.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CF4D95-3880-4E8C-8AD9-1966F4E7B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34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SOURCES: A5, C1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94531A-ECAD-4739-8D6B-FFD835114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134100"/>
            <a:ext cx="487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CREATIVE ILLUSTRATION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9FEEBF-A7FD-4473-BF64-DE8CDCADF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1714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NARRATIIVE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C50440-B3A3-4D2E-9121-8D7B03C29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876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675" b="0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675" b="0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675" b="0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15 / 20</a:t>
            </a:r>
          </a:p>
        </p:txBody>
      </p:sp>
    </p:spTree>
    <p:extLst>
      <p:ext uri="{BB962C8B-B14F-4D97-AF65-F5344CB8AC3E}">
        <p14:creationId xmlns:p14="http://schemas.microsoft.com/office/powerpoint/2010/main" val="205143101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6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A0663DE-DA20-4020-9039-A0760902F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5715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CHAPTER 6 / THE GROWTH ENGINE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A49C6E-3F08-4117-BFDE-8F24D68B4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The Growth Engine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8B8305-FCFB-42D7-9409-46DEA1550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01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D5"/>
          </a:solidFill>
          <a:ln xmlns:a="http://schemas.openxmlformats.org/drawingml/2006/main" w="0">
            <a:solidFill>
              <a:srgbClr val="D9CFD5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3E376C-62EA-45BB-8E04-C4CC483AF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14500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Owned site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83308B-BB5D-42F7-8CBC-8CB2A8728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67640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4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425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Prove the proposition and convert qualified demand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6C29D7-8343-438B-9E45-F06AF3ACD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7145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rPr>
              <a:t>Message comprehension and net conversion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4AC405-9F59-4872-A371-4672AFA17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1455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D5"/>
          </a:solidFill>
          <a:ln xmlns:a="http://schemas.openxmlformats.org/drawingml/2006/main" w="0">
            <a:solidFill>
              <a:srgbClr val="D9CFD5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AFD927-8877-4AFA-8187-0A6BF8CAD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62200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CRM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3B1233-01E8-476E-B38C-AD18630BB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32410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4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425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Build repeat, cross-sell and referral evidence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DC57CF-1F53-4201-A7D1-B8032690E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3622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rPr>
              <a:t>Cohort contribution and opt-out guardrail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4F9B4C-34A9-4D1E-81F7-3D99ACE56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6225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D5"/>
          </a:solidFill>
          <a:ln xmlns:a="http://schemas.openxmlformats.org/drawingml/2006/main" w="0">
            <a:solidFill>
              <a:srgbClr val="D9CFD5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981B44-970D-45BE-A5A2-FC442CD86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33700"/>
            <a:ext cx="108966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8D8D2"/>
          </a:solidFill>
          <a:ln xmlns:a="http://schemas.openxmlformats.org/drawingml/2006/main" w="0">
            <a:solidFill>
              <a:srgbClr val="F8D8D2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908832-E3D7-44EF-945D-839838CAC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09900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Paid social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7F373C-F4C8-424D-8EE0-39C6C0369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97180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4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425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Scale tested creative and proposition routes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9ADA0F-D69F-4235-BB59-AF75DCFB1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0099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rPr>
              <a:t>Incremental contribution after creative and media cost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9CD7E8-9C33-41D7-8C5E-36EE211A4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0995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D5"/>
          </a:solidFill>
          <a:ln xmlns:a="http://schemas.openxmlformats.org/drawingml/2006/main" w="0">
            <a:solidFill>
              <a:srgbClr val="D9CFD5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46C541-AF81-4053-8DF1-04C9FE297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57600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Partnerships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4D38AC-B885-4AE6-8D39-47A6398E8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61950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4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425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Reach relevant work and design communities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75D88D-C73D-4ED2-804A-BA2279C84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576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rPr>
              <a:t>Qualified traffic and assisted conversion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C769DE-5614-425E-8764-7B78B8B26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5765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D5"/>
          </a:solidFill>
          <a:ln xmlns:a="http://schemas.openxmlformats.org/drawingml/2006/main" w="0">
            <a:solidFill>
              <a:srgbClr val="D9CFD5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25D407-3B3C-41FF-A901-CA0F1FD2E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72125"/>
            <a:ext cx="2095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COMMERCIAL CONSEQUENCE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432D06-76EC-46B2-93C5-E690ECA60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50545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Use the owned site to prove the mixed-use proposition, then use the first object to earn a second purchase before paid media scales the system.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F72C92F-8176-4946-BAE1-44A7A93EE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34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SOURCES: A6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13381E-05C9-418B-83EE-55A292564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134100"/>
            <a:ext cx="487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rPr>
              <a:t>ASSUMPTION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47CC1F9-283C-49EB-B97D-CEA80B283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1714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NARRATIIVE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41EBD0-580F-43CB-898F-F64123C9F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876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16 / 20</a:t>
            </a:r>
          </a:p>
        </p:txBody>
      </p:sp>
    </p:spTree>
    <p:extLst>
      <p:ext uri="{BB962C8B-B14F-4D97-AF65-F5344CB8AC3E}">
        <p14:creationId xmlns:p14="http://schemas.microsoft.com/office/powerpoint/2010/main" val="180787912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6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FF7E8D-9DCC-42CB-8B58-85E2346D4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5715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CHAPTER 6 / THE GROWTH ENGINE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148C91-A090-478C-A657-9F07A00D6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Measurement before scale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CDB5C6-FE05-4ECF-9B11-187C74306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01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D5"/>
          </a:solidFill>
          <a:ln xmlns:a="http://schemas.openxmlformats.org/drawingml/2006/main" w="0">
            <a:solidFill>
              <a:srgbClr val="D9CFD5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C9481B-A359-4D5D-98BA-F28C1C41D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3238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654F"/>
          </a:solidFill>
          <a:ln xmlns:a="http://schemas.openxmlformats.org/drawingml/2006/main" w="0">
            <a:solidFill>
              <a:srgbClr val="FF654F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770EF3-7D43-4CBA-B759-4840F9F29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76450"/>
            <a:ext cx="2781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LEADING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2E8922-D531-4910-9493-2DF2D62DC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943100"/>
            <a:ext cx="628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5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500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Proposition comprehension, qualified click-through, product-page progression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5F2D43-FE66-41D7-AEDC-71FD1F821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86050"/>
            <a:ext cx="628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D5"/>
          </a:solidFill>
          <a:ln xmlns:a="http://schemas.openxmlformats.org/drawingml/2006/main" w="0">
            <a:solidFill>
              <a:srgbClr val="D9CFD5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A2E684-3358-4414-A443-3A9F5C8C6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76550"/>
            <a:ext cx="3238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261A31"/>
          </a:solidFill>
          <a:ln xmlns:a="http://schemas.openxmlformats.org/drawingml/2006/main" w="0">
            <a:solidFill>
              <a:srgbClr val="261A3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A855C5-A747-4469-8A71-A0A58256D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43250"/>
            <a:ext cx="2781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BEHAVIOURAL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E0016C-1299-4C35-B5F2-1CE5B18DC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09900"/>
            <a:ext cx="628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5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500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Net conversion, average order value, repeat and referral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2EC133-9484-4A68-8B46-6BDB3E6EC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52850"/>
            <a:ext cx="628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D5"/>
          </a:solidFill>
          <a:ln xmlns:a="http://schemas.openxmlformats.org/drawingml/2006/main" w="0">
            <a:solidFill>
              <a:srgbClr val="D9CFD5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0F027C-E270-43D6-ABEE-DCCE7924F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43350"/>
            <a:ext cx="3238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261A31"/>
          </a:solidFill>
          <a:ln xmlns:a="http://schemas.openxmlformats.org/drawingml/2006/main" w="0">
            <a:solidFill>
              <a:srgbClr val="261A3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4F9D78-D708-42A1-A1DF-1D99F555F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10050"/>
            <a:ext cx="2781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COMMERCIAL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9977C4-3F8D-491E-B3E8-C33598A0C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076700"/>
            <a:ext cx="628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5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500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Contribution after returns, fulfilment, media and implementation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94D257-FFFA-41CF-ACEE-5A4F0340B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72125"/>
            <a:ext cx="2095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COMMERCIAL CONSEQUENCE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E917D4-A704-4060-A94F-98164B7F7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50545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Leading indicators must move before the plan releases larger media or inventory commitments.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8DFB86-EB53-4FB7-AAB0-166690971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34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SOURCES: A6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680773-4C7C-43DB-99EC-D7C3E0C90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134100"/>
            <a:ext cx="487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rPr>
              <a:t>ASSUMPTION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CB4B1E-DFBC-41CE-8FC5-696BF01D5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1714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NARRATIIVE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41BE52-2895-45C4-A2F1-FEF317745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876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17 / 20</a:t>
            </a:r>
          </a:p>
        </p:txBody>
      </p:sp>
    </p:spTree>
    <p:extLst>
      <p:ext uri="{BB962C8B-B14F-4D97-AF65-F5344CB8AC3E}">
        <p14:creationId xmlns:p14="http://schemas.microsoft.com/office/powerpoint/2010/main" val="71023887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6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0084BB-5A93-461D-995B-8E99E088D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5715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CHAPTER 7 / THE NEXT 12 MONTHS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FEE474-95AC-4069-8E37-36BCDC15C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The Next 12 Months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93DE73-78B7-49F3-A615-643A0400B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01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D5"/>
          </a:solidFill>
          <a:ln xmlns:a="http://schemas.openxmlformats.org/drawingml/2006/main" w="0">
            <a:solidFill>
              <a:srgbClr val="D9CFD5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3ECBFD-642C-431C-A3D2-1D419553F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3238500" cy="3000375"/>
          </a:xfrm>
          <a:prstGeom xmlns:a="http://schemas.openxmlformats.org/drawingml/2006/main" prst="roundRect">
            <a:avLst>
              <a:gd name="adj" fmla="val 2540"/>
            </a:avLst>
          </a:prstGeom>
          <a:solidFill xmlns:a="http://schemas.openxmlformats.org/drawingml/2006/main">
            <a:srgbClr val="261A31"/>
          </a:solidFill>
          <a:ln xmlns:a="http://schemas.openxmlformats.org/drawingml/2006/main" w="0">
            <a:solidFill>
              <a:srgbClr val="261A3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D321A5-FCE4-42D6-8127-AB8654B48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33600"/>
            <a:ext cx="2781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Months 1-3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24F9AA-2F80-4D7F-BDA6-6338B8494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47950"/>
            <a:ext cx="2781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0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20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2025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Establish the truth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0368EA-504E-4349-B614-934257466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52800"/>
            <a:ext cx="27813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350" b="0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350" b="0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Verify economics, interview customers and test three proposition routes.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8C5A7D-51FC-4EBE-B3AC-B2D64A859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857375"/>
            <a:ext cx="3238500" cy="3000375"/>
          </a:xfrm>
          <a:prstGeom xmlns:a="http://schemas.openxmlformats.org/drawingml/2006/main" prst="roundRect">
            <a:avLst>
              <a:gd name="adj" fmla="val 2540"/>
            </a:avLst>
          </a:prstGeom>
          <a:solidFill xmlns:a="http://schemas.openxmlformats.org/drawingml/2006/main">
            <a:srgbClr val="5A2E78"/>
          </a:solidFill>
          <a:ln xmlns:a="http://schemas.openxmlformats.org/drawingml/2006/main" w="0">
            <a:solidFill>
              <a:srgbClr val="5A2E7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9F1BC1-FA5B-402F-B483-4BEBD7399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133600"/>
            <a:ext cx="2781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Months 4-6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3FE5FE-B1A0-4540-94F0-D65376C95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647950"/>
            <a:ext cx="2781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0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20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2025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Prove the proposition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92B32B-F831-41F6-B632-A072B3A05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352800"/>
            <a:ext cx="27813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350" b="0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350" b="0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Run controlled site, product-story and CRM tests with contribution guardrails.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F367F8-AEEA-441F-82B4-BA5AE015A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857375"/>
            <a:ext cx="3238500" cy="3000375"/>
          </a:xfrm>
          <a:prstGeom xmlns:a="http://schemas.openxmlformats.org/drawingml/2006/main" prst="roundRect">
            <a:avLst>
              <a:gd name="adj" fmla="val 2540"/>
            </a:avLst>
          </a:prstGeom>
          <a:solidFill xmlns:a="http://schemas.openxmlformats.org/drawingml/2006/main">
            <a:srgbClr val="FF654F"/>
          </a:solidFill>
          <a:ln xmlns:a="http://schemas.openxmlformats.org/drawingml/2006/main" w="0">
            <a:solidFill>
              <a:srgbClr val="FF654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15077F-9134-425A-A33B-AC2B62777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133600"/>
            <a:ext cx="2781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Months 7-9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2ED92D-206A-4C3F-AF2B-2A32114D6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647950"/>
            <a:ext cx="2781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0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20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2025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Build the engine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BF5129-BAB4-4AA7-BAC7-AF6616C80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352800"/>
            <a:ext cx="27813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350" b="0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350" b="0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Codify winning creative, CRM and referral mechanics and assess capacity.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C907CB-856E-438C-8E86-677CAA7FE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72125"/>
            <a:ext cx="2095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COMMERCIAL CONSEQUENCE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81236E-207B-4B6C-A5EC-DF4AC6203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50545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A staged validation programme protects cash while the business replaces assumptions with evidence.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2232E0-21C6-40F0-B290-9B44B4061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34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SOURCES: A4, A5, A6, A7, C1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869BD0-4E77-4926-828E-17E5AE033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134100"/>
            <a:ext cx="487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rPr>
              <a:t>ASSUMPTION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485120-4E03-453E-9925-A095B35EF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1714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NARRATIIVE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95EA03-1F63-45B8-9E5C-59371261F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876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18 / 20</a:t>
            </a:r>
          </a:p>
        </p:txBody>
      </p:sp>
    </p:spTree>
    <p:extLst>
      <p:ext uri="{BB962C8B-B14F-4D97-AF65-F5344CB8AC3E}">
        <p14:creationId xmlns:p14="http://schemas.microsoft.com/office/powerpoint/2010/main" val="19378651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6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F86D86-DAE7-4D7E-BEF5-10524FB97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5715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GOVERNANCE /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DCC242-9107-45B3-931A-C96868EC5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Evidence and assumptions ledger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439F49-DD0D-47F8-B5F1-1F419FAA9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01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D5"/>
          </a:solidFill>
          <a:ln xmlns:a="http://schemas.openxmlformats.org/drawingml/2006/main" w="0">
            <a:solidFill>
              <a:srgbClr val="D9CFD5"/>
            </a:solidFill>
          </a:ln>
        </p:spPr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DD9254-4554-4C36-BDCD-5EFA1DFAFD33}"/>
              </a:ext>
            </a:extLst>
          </p:cNvPr>
          <p:cNvGraphicFramePr/>
          <p:nvPr/>
        </p:nvGraphicFramePr>
        <p:xfrm>
          <a:off xmlns:a="http://schemas.openxmlformats.org/drawingml/2006/main" x="647700" y="1752600"/>
          <a:ext xmlns:a="http://schemas.openxmlformats.org/drawingml/2006/main" cx="10896600" cy="33337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552450"/>
                <a:gridCol w="1381125"/>
                <a:gridCol w="4286250"/>
                <a:gridCol w="4676775"/>
              </a:tblGrid>
              <a:tr h="277813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DFC"/>
                          </a:solidFill>
                          <a:latin typeface="Helvetica"/>
                          <a:ea typeface="Helvetica"/>
                          <a:cs typeface="Helvetica"/>
                        </a:rPr>
                        <a:t>ID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CFD5"/>
                      </a:solidFill>
                      <a:prstDash val="solid"/>
                    </a:lnL>
                    <a:lnR w="9525">
                      <a:solidFill>
                        <a:srgbClr val="D9CFD5"/>
                      </a:solidFill>
                      <a:prstDash val="solid"/>
                    </a:lnR>
                    <a:lnT w="9525">
                      <a:solidFill>
                        <a:srgbClr val="D9CFD5"/>
                      </a:solidFill>
                      <a:prstDash val="solid"/>
                    </a:lnT>
                    <a:lnB w="9525">
                      <a:solidFill>
                        <a:srgbClr val="D9CFD5"/>
                      </a:solidFill>
                      <a:prstDash val="solid"/>
                    </a:lnB>
                    <a:solidFill>
                      <a:srgbClr val="261A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DFC"/>
                          </a:solidFill>
                          <a:latin typeface="Helvetica"/>
                          <a:ea typeface="Helvetica"/>
                          <a:cs typeface="Helvetica"/>
                        </a:rPr>
                        <a:t>Class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T w="9525">
                      <a:solidFill>
                        <a:srgbClr val="D9CFD5"/>
                      </a:solidFill>
                      <a:prstDash val="solid"/>
                    </a:lnT>
                    <a:lnB w="9525">
                      <a:solidFill>
                        <a:srgbClr val="D9CFD5"/>
                      </a:solidFill>
                      <a:prstDash val="solid"/>
                    </a:lnB>
                    <a:solidFill>
                      <a:srgbClr val="261A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DFC"/>
                          </a:solidFill>
                          <a:latin typeface="Helvetica"/>
                          <a:ea typeface="Helvetica"/>
                          <a:cs typeface="Helvetica"/>
                        </a:rPr>
                        <a:t>Claim in this Blueprint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T w="9525">
                      <a:solidFill>
                        <a:srgbClr val="D9CFD5"/>
                      </a:solidFill>
                      <a:prstDash val="solid"/>
                    </a:lnT>
                    <a:lnB w="9525">
                      <a:solidFill>
                        <a:srgbClr val="D9CFD5"/>
                      </a:solidFill>
                      <a:prstDash val="solid"/>
                    </a:lnB>
                    <a:solidFill>
                      <a:srgbClr val="261A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DFC"/>
                          </a:solidFill>
                          <a:latin typeface="Helvetica"/>
                          <a:ea typeface="Helvetica"/>
                          <a:cs typeface="Helvetica"/>
                        </a:rPr>
                        <a:t>What would verify it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T w="9525">
                      <a:solidFill>
                        <a:srgbClr val="D9CFD5"/>
                      </a:solidFill>
                      <a:prstDash val="solid"/>
                    </a:lnT>
                    <a:lnB w="9525">
                      <a:solidFill>
                        <a:srgbClr val="D9CFD5"/>
                      </a:solidFill>
                      <a:prstDash val="solid"/>
                    </a:lnB>
                    <a:solidFill>
                      <a:srgbClr val="261A31"/>
                    </a:solidFill>
                  </a:tcPr>
                </a:tc>
              </a:tr>
              <a:tr h="277813">
                <a:tc>
                  <a:txBody>
                    <a:bodyPr/>
                    <a:lstStyle/>
                    <a:p>
                      <a:r>
                        <a:rPr sz="675" b="1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A1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CFD5"/>
                      </a:solidFill>
                      <a:prstDash val="solid"/>
                    </a:lnL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75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ASSUMPTION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75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FIELDWORK receives 600,000 ecommerce sessions per year.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75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Reconcile an authorised GA4 export to ecommerce platform sessions and orders.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</a:tr>
              <a:tr h="277813">
                <a:tc>
                  <a:txBody>
                    <a:bodyPr/>
                    <a:lstStyle/>
                    <a:p>
                      <a:r>
                        <a:rPr sz="675" b="1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A2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CFD5"/>
                      </a:solidFill>
                      <a:prstDash val="solid"/>
                    </a:lnL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75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ASSUMPTION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75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FIELDWORK converts 2.0% of ecommerce sessions to orders.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75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Agree the conversion denominator and reconcile sessions to completed non-refunded orders.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</a:tr>
              <a:tr h="277813">
                <a:tc>
                  <a:txBody>
                    <a:bodyPr/>
                    <a:lstStyle/>
                    <a:p>
                      <a:r>
                        <a:rPr sz="675" b="1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A3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CFD5"/>
                      </a:solidFill>
                      <a:prstDash val="solid"/>
                    </a:lnL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75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ASSUMPTION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75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FIELDWORK has a £100 average order value before returns and discounts.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75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Calculate net realised order value from an authorised transaction export.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</a:tr>
              <a:tr h="277813">
                <a:tc>
                  <a:txBody>
                    <a:bodyPr/>
                    <a:lstStyle/>
                    <a:p>
                      <a:r>
                        <a:rPr sz="675" b="1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A4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CFD5"/>
                      </a:solidFill>
                      <a:prstDash val="solid"/>
                    </a:lnL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75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ASSUMPTION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75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The principal growth constraint is a broad proposition that gives qualified buyers too little reason to choose FIELDWORK.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75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Run founder interviews, proposition testing and a controlled landing-page conversion test.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</a:tr>
              <a:tr h="277813">
                <a:tc>
                  <a:txBody>
                    <a:bodyPr/>
                    <a:lstStyle/>
                    <a:p>
                      <a:r>
                        <a:rPr sz="675" b="1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A5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CFD5"/>
                      </a:solidFill>
                      <a:prstDash val="solid"/>
                    </a:lnL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75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ASSUMPTION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75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FIELDWORK can build an advantage around objects designed for the overlap between work and home life.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75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Test relevance, distinctiveness and willingness to pay with target customers.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</a:tr>
              <a:tr h="277813">
                <a:tc>
                  <a:txBody>
                    <a:bodyPr/>
                    <a:lstStyle/>
                    <a:p>
                      <a:r>
                        <a:rPr sz="675" b="1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A6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CFD5"/>
                      </a:solidFill>
                      <a:prstDash val="solid"/>
                    </a:lnL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75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ASSUMPTION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75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A proposition-led acquisition, conversion and retention programme is operationally feasible.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75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Obtain channel spend, contribution margin, stock capacity and cohort retention before scale.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</a:tr>
              <a:tr h="277813">
                <a:tc>
                  <a:txBody>
                    <a:bodyPr/>
                    <a:lstStyle/>
                    <a:p>
                      <a:r>
                        <a:rPr sz="675" b="1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A7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CFD5"/>
                      </a:solidFill>
                      <a:prstDash val="solid"/>
                    </a:lnL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75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ASSUMPTION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75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A staged 12-month validation programme is affordable and resourced.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75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Scope the work, cost each phase and secure named owner commitments.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</a:tr>
              <a:tr h="277813">
                <a:tc>
                  <a:txBody>
                    <a:bodyPr/>
                    <a:lstStyle/>
                    <a:p>
                      <a:r>
                        <a:rPr sz="675" b="1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A8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CFD5"/>
                      </a:solidFill>
                      <a:prstDash val="solid"/>
                    </a:lnL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75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ASSUMPTION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75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Incremental revenue contributes 32% after returns, fulfilment, payment fees and incremental media.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75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Reconcile order-level net revenue and variable costs by product and channel.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</a:tr>
              <a:tr h="277813">
                <a:tc>
                  <a:txBody>
                    <a:bodyPr/>
                    <a:lstStyle/>
                    <a:p>
                      <a:r>
                        <a:rPr sz="675" b="1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A9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CFD5"/>
                      </a:solidFill>
                      <a:prstDash val="solid"/>
                    </a:lnL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75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ASSUMPTION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75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The business realises 35% to 65% of annualised scenario headroom in the first 12 months.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75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Build a monthly implementation plan with test cadence, seasonality and operational capacity.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</a:tr>
              <a:tr h="277813">
                <a:tc>
                  <a:txBody>
                    <a:bodyPr/>
                    <a:lstStyle/>
                    <a:p>
                      <a:r>
                        <a:rPr sz="675" b="1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A10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CFD5"/>
                      </a:solidFill>
                      <a:prstDash val="solid"/>
                    </a:lnL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75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ASSUMPTION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75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The first 12 months require £85,000 of incremental implementation investment beyond the Growth Blueprint fee.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75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Obtain a costed delivery plan and separate one-off, variable and internal costs.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</a:tr>
              <a:tr h="277813">
                <a:tc>
                  <a:txBody>
                    <a:bodyPr/>
                    <a:lstStyle/>
                    <a:p>
                      <a:r>
                        <a:rPr sz="675" b="1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C1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CFD5"/>
                      </a:solidFill>
                      <a:prstDash val="solid"/>
                    </a:lnL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75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CREATIVE ILLUSTRATION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75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Built for the work of living is an illustrative creative territory for FIELDWORK.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75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Test strategic fit, distinctiveness, comprehension and trademark risk before selection.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E5C796-0095-4226-AAC8-54E08B701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1970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900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900" b="0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No verified client or external evidence appears in this fictional sample. Every claim remains tied to a validation step.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0425C3-AE29-494E-97D2-559F47F84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34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SOURCES: A1, A2, A3, A4, A5, A6, A7, A8, A9, A10, C1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E7C044-4FCC-44B8-8B72-BDB237505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134100"/>
            <a:ext cx="487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rPr>
              <a:t>EVIDENCE REGISTER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42CF09-0F34-40D9-9C1B-749A5EE4F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1714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NARRATIIVE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E66B83-E063-4612-ADA6-D45B75BA5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876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19 / 20</a:t>
            </a:r>
          </a:p>
        </p:txBody>
      </p:sp>
    </p:spTree>
    <p:extLst>
      <p:ext uri="{BB962C8B-B14F-4D97-AF65-F5344CB8AC3E}">
        <p14:creationId xmlns:p14="http://schemas.microsoft.com/office/powerpoint/2010/main" val="184519951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261A3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C6599E-A3EA-478B-AF38-209B26442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5715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DECISION / NEXT COMMITMENT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5FDBBD-9132-4415-9217-F1DFD69CC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3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23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2325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The founder decision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6825BF-CB41-48F1-9F16-4F4A2FEEF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01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2E78"/>
          </a:solidFill>
          <a:ln xmlns:a="http://schemas.openxmlformats.org/drawingml/2006/main" w="0">
            <a:solidFill>
              <a:srgbClr val="5A2E7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819E4F-338B-4CCC-AA60-EA1E025E0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6900"/>
            <a:ext cx="857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4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4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420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Fund proof,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6E25CA-BA51-4912-A4BF-2B4451A72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24150"/>
            <a:ext cx="857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3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3750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not scale.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CB7173-90AE-464C-A537-6A93D9DC2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38550"/>
            <a:ext cx="857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250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2250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2250" b="1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Release investment only as evidence improves.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16AD23-1281-475D-86A0-8370181E5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012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IMMEDIATE NEXT 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73A478-C5E2-4CBC-9B31-7BB020EB4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4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425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Verify the baseline, cost the 12-week proof phase and approve only the first decision gate.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CE88EB-6185-41D1-A4D3-8F8FE216C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34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SOURCES: A1, A2, A3, A4, A5, A6, A7, A8, A9, A10, C1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582415-3946-46C1-A274-BAB2CAB39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134100"/>
            <a:ext cx="487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HUMAN DECISION REQUIRED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4F4301-B8B3-42BC-B7B6-74EB27F96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1714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NARRATIIVE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43DA75-F4CB-4F70-A6F3-3F41CBE8A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876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675" b="0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675" b="0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675" b="0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20 / 20</a:t>
            </a:r>
          </a:p>
        </p:txBody>
      </p:sp>
    </p:spTree>
    <p:extLst>
      <p:ext uri="{BB962C8B-B14F-4D97-AF65-F5344CB8AC3E}">
        <p14:creationId xmlns:p14="http://schemas.microsoft.com/office/powerpoint/2010/main" val="20885670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2026-10-16T14:03:52.2360000Z</dcterms:created>
  <dcterms:modified xsi:type="dcterms:W3CDTF">2026-10-16T14:03:52.2360000Z</dcterms:modified>
</coreProperties>
</file>