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617d7ee2142c0" /><Relationship Type="http://schemas.openxmlformats.org/officeDocument/2006/relationships/extended-properties" Target="/docProps/app.xml" Id="R7805cbfc6bae4825" /><Relationship Type="http://schemas.openxmlformats.org/officeDocument/2006/relationships/officeDocument" Target="/ppt/presentation.xml" Id="Rca176023bf1640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682fdb2b7a4e5a"/>
  </p:sldMasterIdLst>
  <p:notesMasterIdLst>
    <p:notesMasterId xmlns:r="http://schemas.openxmlformats.org/officeDocument/2006/relationships" r:id="R7dd8cd77b51b4579"/>
  </p:notesMasterIdLst>
  <p:sldIdLst>
    <p:sldId xmlns:r="http://schemas.openxmlformats.org/officeDocument/2006/relationships" id="256" r:id="R4888e181b72046bc"/>
    <p:sldId xmlns:r="http://schemas.openxmlformats.org/officeDocument/2006/relationships" id="257" r:id="R4b24258da85d4fb1"/>
    <p:sldId xmlns:r="http://schemas.openxmlformats.org/officeDocument/2006/relationships" id="258" r:id="R01ba1590a33b4992"/>
    <p:sldId xmlns:r="http://schemas.openxmlformats.org/officeDocument/2006/relationships" id="259" r:id="Rd310a274972e4007"/>
    <p:sldId xmlns:r="http://schemas.openxmlformats.org/officeDocument/2006/relationships" id="260" r:id="Rd761655fc4f6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0c981bf7e64d7a" /><Relationship Type="http://schemas.openxmlformats.org/officeDocument/2006/relationships/slideMaster" Target="/ppt/slideMasters/slideMaster1.xml" Id="R1c682fdb2b7a4e5a" /><Relationship Type="http://schemas.openxmlformats.org/officeDocument/2006/relationships/notesMaster" Target="/ppt/notesMasters/notesMaster1.xml" Id="R7dd8cd77b51b4579" /><Relationship Type="http://schemas.openxmlformats.org/officeDocument/2006/relationships/presProps" Target="/ppt/presProps.xml" Id="R864e3a39446d462a" /><Relationship Type="http://schemas.openxmlformats.org/officeDocument/2006/relationships/tableStyles" Target="/ppt/tableStyles.xml" Id="Rc312c903789843e3" /><Relationship Type="http://schemas.openxmlformats.org/officeDocument/2006/relationships/slide" Target="/ppt/slides/slide1.xml" Id="R4888e181b72046bc" /><Relationship Type="http://schemas.openxmlformats.org/officeDocument/2006/relationships/slide" Target="/ppt/slides/slide2.xml" Id="R4b24258da85d4fb1" /><Relationship Type="http://schemas.openxmlformats.org/officeDocument/2006/relationships/slide" Target="/ppt/slides/slide3.xml" Id="R01ba1590a33b4992" /><Relationship Type="http://schemas.openxmlformats.org/officeDocument/2006/relationships/slide" Target="/ppt/slides/slide4.xml" Id="Rd310a274972e4007" /><Relationship Type="http://schemas.openxmlformats.org/officeDocument/2006/relationships/slide" Target="/ppt/slides/slide5.xml" Id="Rd761655fc4f6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5d404ad12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cca9c834454d61" /><Relationship Type="http://schemas.openxmlformats.org/officeDocument/2006/relationships/notesMaster" Target="/ppt/notesMasters/notesMaster1.xml" Id="R0a309a22c8444e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ba02cf59a444d" /><Relationship Type="http://schemas.openxmlformats.org/officeDocument/2006/relationships/notesMaster" Target="/ppt/notesMasters/notesMaster1.xml" Id="R843c92f8799b4c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5fe525e7714b53" /><Relationship Type="http://schemas.openxmlformats.org/officeDocument/2006/relationships/notesMaster" Target="/ppt/notesMasters/notesMaster1.xml" Id="Rddaaa04714c04a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8a29dee85a4b72" /><Relationship Type="http://schemas.openxmlformats.org/officeDocument/2006/relationships/notesMaster" Target="/ppt/notesMasters/notesMaster1.xml" Id="R7c6adfb51a0648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5a4bf691b4ef5" /><Relationship Type="http://schemas.openxmlformats.org/officeDocument/2006/relationships/notesMaster" Target="/ppt/notesMasters/notesMaster1.xml" Id="Rdf9f689f867f42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external: Rave About, Coffee Club, Subscribe &amp; Save, Quiz and Wholesale pages, accessed 17 Oct 2026.</a:t>
            </a:r>
          </a:p>
          <a:p xmlns:a="http://schemas.openxmlformats.org/drawingml/2006/main">
            <a:r>
              <a:t>Open input: revenue, contribution margin, CAC, repeat, churn and channel mix were not supplied.</a:t>
            </a:r>
          </a:p>
          <a:p xmlns:a="http://schemas.openxmlformats.org/drawingml/2006/main">
            <a:r>
              <a:t>No claim is made about Rave's actual growth rate or profitability.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Modelled opportunity equation only; no revenue forecast or investment budget.</a:t>
            </a:r>
          </a:p>
          <a:p xmlns:a="http://schemas.openxmlformats.org/drawingml/2006/main">
            <a:r>
              <a:t>Required baselines: qualified sessions by source, first-order conversion, 90-day repeat, contribution per order and fulfilment/service cost.</a:t>
            </a:r>
          </a:p>
          <a:p xmlns:a="http://schemas.openxmlformats.org/drawingml/2006/main">
            <a:r>
              <a:t>Scenario outputs must remain conditional and sensitivity-based.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external: Rave currently offers quiz, Coffee Club, Subscribe &amp; Save, gifts, pods and wholesale.</a:t>
            </a:r>
          </a:p>
          <a:p xmlns:a="http://schemas.openxmlformats.org/drawingml/2006/main">
            <a:r>
              <a:t>Interpretation: these can form a progression system.</a:t>
            </a:r>
          </a:p>
          <a:p xmlns:a="http://schemas.openxmlformats.org/drawingml/2006/main">
            <a:r>
              <a:t>Hypothesis: progression will improve contribution and repeat; must be tested with Rave cohorts.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priority hypothesis, not a verified segment size or customer truth.</a:t>
            </a:r>
          </a:p>
          <a:p xmlns:a="http://schemas.openxmlformats.org/drawingml/2006/main">
            <a:r>
              <a:t>Directionally supported by archived public review language and current Rave-owned offer architecture.</a:t>
            </a:r>
          </a:p>
          <a:p xmlns:a="http://schemas.openxmlformats.org/drawingml/2006/main">
            <a:r>
              <a:t>Validate with CRM cohorts, search/acquisition source, quiz behaviour, purchase sequence and primary customer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strategic direction for internal review only.</a:t>
            </a:r>
          </a:p>
          <a:p xmlns:a="http://schemas.openxmlformats.org/drawingml/2006/main">
            <a:r>
              <a:t>It builds from currently revalidated Rave-owned claims and a frozen archived research pack; it is not a client-approved position.</a:t>
            </a:r>
          </a:p>
          <a:p xmlns:a="http://schemas.openxmlformats.org/drawingml/2006/main">
            <a:r>
              <a:t>Next gate: Matt reviews the argument and requests evidence upgrades before any full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6c65e777f46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fef2f5e1340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fddcb507143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7778cfda445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45844d15944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21c25445b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D5151B-698A-4A6E-A34A-6C8B49513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20F37B-0721-49D0-9CCD-AF3A394285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D94539-8434-41CF-81FD-430EE237E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23EEA4-1D4D-49DD-B39A-0652F858C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F62E2D-DA09-4DA5-B174-914A4AE92A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0ED1C5-ED6F-41E0-88E4-5B1004338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993B41-2A3D-4F17-8BE4-D2103D6E53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405A96-4CAB-4642-8C7D-4E5C951718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F824C8-5A18-4D76-A4E9-DE6B546D0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3DC561-2336-4769-ADEA-2F2971224E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ff80ba758434a" /><Relationship Type="http://schemas.openxmlformats.org/officeDocument/2006/relationships/slideLayout" Target="/ppt/slideLayouts/slideLayout1.xml" Id="R78c2476a497e4b49" /><Relationship Type="http://schemas.openxmlformats.org/officeDocument/2006/relationships/slideLayout" Target="/ppt/slideLayouts/slideLayout2.xml" Id="R31097909f0de44fa" /><Relationship Type="http://schemas.openxmlformats.org/officeDocument/2006/relationships/slideLayout" Target="/ppt/slideLayouts/slideLayout3.xml" Id="R091bd8c337ef4e71" /><Relationship Type="http://schemas.openxmlformats.org/officeDocument/2006/relationships/slideLayout" Target="/ppt/slideLayouts/slideLayout4.xml" Id="R1af9e830e03d4fdd" /><Relationship Type="http://schemas.openxmlformats.org/officeDocument/2006/relationships/slideLayout" Target="/ppt/slideLayouts/slideLayout5.xml" Id="R6f98d6b49b1f4290" /><Relationship Type="http://schemas.openxmlformats.org/officeDocument/2006/relationships/slideLayout" Target="/ppt/slideLayouts/slideLayout6.xml" Id="Rb31c1ced388c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c2476a497e4b49"/>
    <p:sldLayoutId xmlns:r="http://schemas.openxmlformats.org/officeDocument/2006/relationships" id="2147483650" r:id="R31097909f0de44fa"/>
    <p:sldLayoutId xmlns:r="http://schemas.openxmlformats.org/officeDocument/2006/relationships" id="2147483651" r:id="R091bd8c337ef4e71"/>
    <p:sldLayoutId xmlns:r="http://schemas.openxmlformats.org/officeDocument/2006/relationships" id="2147483652" r:id="R1af9e830e03d4fdd"/>
    <p:sldLayoutId xmlns:r="http://schemas.openxmlformats.org/officeDocument/2006/relationships" id="2147483653" r:id="R6f98d6b49b1f4290"/>
    <p:sldLayoutId xmlns:r="http://schemas.openxmlformats.org/officeDocument/2006/relationships" id="2147483654" r:id="Rb31c1ced388c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05acdc9814748" /><Relationship Type="http://schemas.openxmlformats.org/officeDocument/2006/relationships/image" Target="/ppt/media/image.png" Id="R3640ee11bb074547" /><Relationship Type="http://schemas.openxmlformats.org/officeDocument/2006/relationships/notesSlide" Target="/ppt/notesSlides/notesSlide1.xml" Id="Rd15ef9843ff8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362e4e9944583" /><Relationship Type="http://schemas.openxmlformats.org/officeDocument/2006/relationships/image" Target="/ppt/media/image2.png" Id="Rd03c91d024634193" /><Relationship Type="http://schemas.openxmlformats.org/officeDocument/2006/relationships/notesSlide" Target="/ppt/notesSlides/notesSlide2.xml" Id="Rc2d9732028984a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90d09b4d249d5" /><Relationship Type="http://schemas.openxmlformats.org/officeDocument/2006/relationships/notesSlide" Target="/ppt/notesSlides/notesSlide3.xml" Id="Rd402cc2e0a21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a6629feac4571" /><Relationship Type="http://schemas.openxmlformats.org/officeDocument/2006/relationships/notesSlide" Target="/ppt/notesSlides/notesSlide4.xml" Id="Rc45c8be5ec17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093a86aa64995" /><Relationship Type="http://schemas.openxmlformats.org/officeDocument/2006/relationships/image" Target="/ppt/media/image3.png" Id="Ra101b0ea727d409c" /><Relationship Type="http://schemas.openxmlformats.org/officeDocument/2006/relationships/notesSlide" Target="/ppt/notesSlides/notesSlide5.xml" Id="R8fba9e90fc1946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331AE-C3D0-493A-85B9-7C2E98A86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0ee11bb074547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3EE8-731A-49E0-951E-7554EE7C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3">
              <a:alpha val="9607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582AF-4F9E-45BC-A3A9-281A54A5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01 / THE FOUNDER'S CURRENT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42237-FD81-4881-9EC9-A9DA43BF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Rave has built the pieces.</a:t>
            </a:r>
          </a:p>
          <a:p xmlns:a="http://schemas.openxmlformats.org/drawingml/2006/main">
            <a:pPr algn="l">
              <a:defRPr sz="33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growth system is still hidden.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647FB-C8F0-41C4-9190-9521E1F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public evidence shows range, reach and routes to repeat: an accessible speciality offer, Coffee Club, Subscribe &amp; Save, a quiz, gifts, pods and a national wholesale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8842C-0D80-48F1-8FA9-1F0B32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What it cannot show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6F6BB-87E2-4AF7-88AC-E838111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Which route creates profitable repeat — or where growth currently leaks.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C8830-1C44-4AE0-BC2A-3521717E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COFFEE / INTERNAL UNSOLICITED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864FE-607E-4CF0-B441-B845DA52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VERIFIED EXTERNAL + OPEN INPUT  •  Rave-owned pages revalidated 17 Oct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FDB5A-F1E4-458B-9544-9662A62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30244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48D09-6EF4-47F6-99B9-CFA1422D1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c91d0246341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3ABB9-D26E-4E22-B0F7-672AA24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411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1D656-81C7-4548-98A8-36FB3C1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02 / THE CREDIBLE 12-MONTH 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3E23-5C39-4B51-8F0D-586F4ACE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growth compound — without pretending we know the answer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5AE2A-F141-4C9F-AB84-605D767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QUALIFIED REACH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FE512-01DF-420E-8715-E42F12E0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526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B439-E6CA-45B8-B0CF-F58C6BC1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FIRST-ORDER</a:t>
            </a:r>
          </a:p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B80F-EC23-4792-9211-E7214F6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37BF0-5898-46CA-ACC5-254C0CF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90-DAY</a:t>
            </a:r>
          </a:p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9179F-CD2B-4086-95C3-470A897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526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CD015-66E1-4C04-B831-1D32418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 algn="ctr">
              <a:defRPr sz="127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36908-5DD3-47B6-8A63-25A9E498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=  MORE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00500-27D6-4F1A-A3D3-2844F5C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a lever model, not a forecast. Replace each term with Rave's baseline; test one lever at a time; scale only what improves contribution after fulfilment and retention.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E5695-2028-47E1-BCA6-6A38B348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COFFEE / INTERNAL UNSOLICITED EXERCISE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019EA-87C4-466F-B3C7-BB5F2CB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MODELLED — NO FORECAST  •  Requires Rave baseline metrics before £ sizing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7EF09-B42D-488C-99EE-7F111AF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94444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4DD3F-63A2-424B-B3DD-F437CC5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03 / THE GROWTH LEVERS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7EE7-5571-431F-96CE-DF89A207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Four levers. One order of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A736A-2E55-4813-9396-A2E923F4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C6DA-7D58-4A81-9A97-3826C87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D19D5-8825-4335-9014-D019B92C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Show up at the moment someone decides supermarket coffee is no longer enough.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8040-CCE4-4BC4-9A56-4A98F48C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F7E8A-F799-4978-9155-AB85EE6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476A7-D164-44CC-8273-CB1DC586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Use the quiz and plain-English guidance to remove choice anxiety.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97060-BD8F-4CD3-888B-0350D602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1EE54-6074-4AF3-AFDC-058E41F5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STAY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F0F16-0BD3-4827-99AE-55D577C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Make freshness, delivery and subscription control consistently trustworthy.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EACA4-6BC4-4E31-9034-4CA10846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7CC76-DF0D-434A-8BDF-4B731895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47B79-0DF1-410D-88BB-AB37974E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Move people from an everyday anchor to discovery, gifting and rare coffee.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8B8CE-4703-49E0-B6AA-7609606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GATE BEFORE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45245-BCE6-443D-BABA-D14AECBA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63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20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Proof and reliability first.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DDFFE-8F37-4F39-9B7A-3D4CC708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COFFEE / INTERNAL UNSOLICITED EXERCISE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1B2F6-373C-4886-A270-947B9276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INTERPRETATION + HYPOTHESIS  •  Mechanisms derived from current offer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F11A6-388D-4537-8A27-1345EC1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276950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CA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B48EB-2C75-4F30-A158-92A9690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04 / THE AUDIENCE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2D28C-1BCA-44F6-843C-5434BAE6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Upgrader is the priority hypothesis — not a finished persona.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F7BCA-BA26-459A-BC0E-8E64796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THE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623CB-F74F-4D39-964E-687C318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“My everyday coffee is no longer good enough.”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2EC83-3E6A-42EC-8628-AE7E1CCF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THE BARRIER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1472B-04B1-400C-8BD3-757B5399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955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Too much choice. Too much jargon. Too much risk of getting it wrong.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E3B3D-BE07-40A5-82F3-1EF34E9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WHY RAVE MAY 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FB952-09A1-4030-ADCE-EB572323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Accessible prices, an irreverent voice, human help and a product range that can grow with the customer.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BDE6B-7884-460A-85BE-A8B99555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COFFEE / INTERNAL UNSOLICITED EXERCISE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A70A9-B387-401F-9564-0041B19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HYPOTHESIS — VALIDATE  •  Directionally supported by public review language and Rave's own offer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BB3B1-6F0D-4FDD-A699-EC4D316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1320783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E404F-3FCE-4112-AEDD-81C9AC583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1b0ea727d40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927F-6BBD-49B5-8488-BBC5F91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3">
              <a:alpha val="61961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9EFC-A8B6-4631-8F07-0BDDD47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3">
              <a:alpha val="96078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BCBDC-7CB4-4062-B6C6-5EF8B47C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05 / THE STRATEGIC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437B8-CDA6-47A4-81A9-6B4EFFE9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OWN THE UPGRADE.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8E646-1314-4693-BE42-A80A1DB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742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Make serious coffee easy to enter, easy to choose — and worth staying for.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4BDE7-10FE-4B6C-892E-F145CCD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08D0F-9E39-4DF4-A758-9882202B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242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easiest credible route into better coffee.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F41C8-F15A-4BEC-A512-DC698ADE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2F0D6-0551-4393-8902-3ACF7D4E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671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One progression: everyday anchor → discovery → frontier.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5AD4-6F93-49DB-9A7D-1AA139BA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4A55E-83C4-4A51-9647-DA20A141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01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Freshness, delivery and value made visible — then measured.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8DCAF-18DD-4632-9F86-A9014F7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COFFEE / INTERNAL UNSOLICITED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EF0A-3279-4769-90E3-9AC96C10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PROPOSED DIRECTION — NOT CLIENT APPROVED  •  Founder review required before full FIELDWORK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EF283-D401-4B52-9C3C-5C894D9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155277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2026-10-17T13:14:30.4500000Z</dcterms:created>
  <dcterms:modified xsi:type="dcterms:W3CDTF">2026-10-17T13:14:30.4500000Z</dcterms:modified>
</coreProperties>
</file>