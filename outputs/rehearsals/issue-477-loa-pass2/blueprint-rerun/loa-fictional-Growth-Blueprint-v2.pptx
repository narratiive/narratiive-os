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b656e4684f45d3" /><Relationship Type="http://schemas.openxmlformats.org/officeDocument/2006/relationships/extended-properties" Target="/docProps/app.xml" Id="Rb29dd4ccd1664a92" /><Relationship Type="http://schemas.openxmlformats.org/officeDocument/2006/relationships/officeDocument" Target="/ppt/presentation.xml" Id="R0da1ba6b15b649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fd8515f9d34ae4"/>
  </p:sldMasterIdLst>
  <p:notesMasterIdLst>
    <p:notesMasterId xmlns:r="http://schemas.openxmlformats.org/officeDocument/2006/relationships" r:id="Rf7bb92f3b6304b92"/>
  </p:notesMasterIdLst>
  <p:sldIdLst>
    <p:sldId xmlns:r="http://schemas.openxmlformats.org/officeDocument/2006/relationships" id="256" r:id="Ra845b99771e74860"/>
    <p:sldId xmlns:r="http://schemas.openxmlformats.org/officeDocument/2006/relationships" id="257" r:id="Re64e42d985794fa2"/>
    <p:sldId xmlns:r="http://schemas.openxmlformats.org/officeDocument/2006/relationships" id="258" r:id="R6a95f47693a04ec0"/>
    <p:sldId xmlns:r="http://schemas.openxmlformats.org/officeDocument/2006/relationships" id="259" r:id="R9c7c2861d17c4f07"/>
    <p:sldId xmlns:r="http://schemas.openxmlformats.org/officeDocument/2006/relationships" id="260" r:id="R248011ff06b845b3"/>
    <p:sldId xmlns:r="http://schemas.openxmlformats.org/officeDocument/2006/relationships" id="261" r:id="R9681187177e746cc"/>
    <p:sldId xmlns:r="http://schemas.openxmlformats.org/officeDocument/2006/relationships" id="262" r:id="Re6c4eb89ded94a8a"/>
    <p:sldId xmlns:r="http://schemas.openxmlformats.org/officeDocument/2006/relationships" id="263" r:id="R7d95a3406a4c442b"/>
    <p:sldId xmlns:r="http://schemas.openxmlformats.org/officeDocument/2006/relationships" id="264" r:id="R6ea0c236a64f4b6d"/>
    <p:sldId xmlns:r="http://schemas.openxmlformats.org/officeDocument/2006/relationships" id="265" r:id="R0baf536546c14535"/>
    <p:sldId xmlns:r="http://schemas.openxmlformats.org/officeDocument/2006/relationships" id="266" r:id="R4b01badac8d54f2d"/>
    <p:sldId xmlns:r="http://schemas.openxmlformats.org/officeDocument/2006/relationships" id="267" r:id="R4ee64842cd9d4357"/>
    <p:sldId xmlns:r="http://schemas.openxmlformats.org/officeDocument/2006/relationships" id="268" r:id="R18b1dab7c71344c2"/>
    <p:sldId xmlns:r="http://schemas.openxmlformats.org/officeDocument/2006/relationships" id="269" r:id="Rfe44b8cd33f04e26"/>
    <p:sldId xmlns:r="http://schemas.openxmlformats.org/officeDocument/2006/relationships" id="270" r:id="R7072199a48db4ea5"/>
    <p:sldId xmlns:r="http://schemas.openxmlformats.org/officeDocument/2006/relationships" id="271" r:id="R8ea1406606dc451d"/>
    <p:sldId xmlns:r="http://schemas.openxmlformats.org/officeDocument/2006/relationships" id="272" r:id="R2e1158d5ea2f4918"/>
    <p:sldId xmlns:r="http://schemas.openxmlformats.org/officeDocument/2006/relationships" id="273" r:id="R70abc36e41ea4d62"/>
    <p:sldId xmlns:r="http://schemas.openxmlformats.org/officeDocument/2006/relationships" id="274" r:id="R5c8075dab79d4139"/>
    <p:sldId xmlns:r="http://schemas.openxmlformats.org/officeDocument/2006/relationships" id="275" r:id="Rcfbf9ae45c4944d9"/>
    <p:sldId xmlns:r="http://schemas.openxmlformats.org/officeDocument/2006/relationships" id="276" r:id="Rdeaed66d889f45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031ba567444540" /><Relationship Type="http://schemas.openxmlformats.org/officeDocument/2006/relationships/slideMaster" Target="/ppt/slideMasters/slideMaster1.xml" Id="R21fd8515f9d34ae4" /><Relationship Type="http://schemas.openxmlformats.org/officeDocument/2006/relationships/notesMaster" Target="/ppt/notesMasters/notesMaster1.xml" Id="Rf7bb92f3b6304b92" /><Relationship Type="http://schemas.openxmlformats.org/officeDocument/2006/relationships/presProps" Target="/ppt/presProps.xml" Id="R8743e34ca87b498b" /><Relationship Type="http://schemas.openxmlformats.org/officeDocument/2006/relationships/tableStyles" Target="/ppt/tableStyles.xml" Id="Rd4377d90a97744a3" /><Relationship Type="http://schemas.openxmlformats.org/officeDocument/2006/relationships/slide" Target="/ppt/slides/slide1.xml" Id="Ra845b99771e74860" /><Relationship Type="http://schemas.openxmlformats.org/officeDocument/2006/relationships/slide" Target="/ppt/slides/slide2.xml" Id="Re64e42d985794fa2" /><Relationship Type="http://schemas.openxmlformats.org/officeDocument/2006/relationships/slide" Target="/ppt/slides/slide3.xml" Id="R6a95f47693a04ec0" /><Relationship Type="http://schemas.openxmlformats.org/officeDocument/2006/relationships/slide" Target="/ppt/slides/slide4.xml" Id="R9c7c2861d17c4f07" /><Relationship Type="http://schemas.openxmlformats.org/officeDocument/2006/relationships/slide" Target="/ppt/slides/slide5.xml" Id="R248011ff06b845b3" /><Relationship Type="http://schemas.openxmlformats.org/officeDocument/2006/relationships/slide" Target="/ppt/slides/slide6.xml" Id="R9681187177e746cc" /><Relationship Type="http://schemas.openxmlformats.org/officeDocument/2006/relationships/slide" Target="/ppt/slides/slide7.xml" Id="Re6c4eb89ded94a8a" /><Relationship Type="http://schemas.openxmlformats.org/officeDocument/2006/relationships/slide" Target="/ppt/slides/slide8.xml" Id="R7d95a3406a4c442b" /><Relationship Type="http://schemas.openxmlformats.org/officeDocument/2006/relationships/slide" Target="/ppt/slides/slide9.xml" Id="R6ea0c236a64f4b6d" /><Relationship Type="http://schemas.openxmlformats.org/officeDocument/2006/relationships/slide" Target="/ppt/slides/slide10.xml" Id="R0baf536546c14535" /><Relationship Type="http://schemas.openxmlformats.org/officeDocument/2006/relationships/slide" Target="/ppt/slides/slide11.xml" Id="R4b01badac8d54f2d" /><Relationship Type="http://schemas.openxmlformats.org/officeDocument/2006/relationships/slide" Target="/ppt/slides/slide12.xml" Id="R4ee64842cd9d4357" /><Relationship Type="http://schemas.openxmlformats.org/officeDocument/2006/relationships/slide" Target="/ppt/slides/slide13.xml" Id="R18b1dab7c71344c2" /><Relationship Type="http://schemas.openxmlformats.org/officeDocument/2006/relationships/slide" Target="/ppt/slides/slide14.xml" Id="Rfe44b8cd33f04e26" /><Relationship Type="http://schemas.openxmlformats.org/officeDocument/2006/relationships/slide" Target="/ppt/slides/slide15.xml" Id="R7072199a48db4ea5" /><Relationship Type="http://schemas.openxmlformats.org/officeDocument/2006/relationships/slide" Target="/ppt/slides/slide16.xml" Id="R8ea1406606dc451d" /><Relationship Type="http://schemas.openxmlformats.org/officeDocument/2006/relationships/slide" Target="/ppt/slides/slide17.xml" Id="R2e1158d5ea2f4918" /><Relationship Type="http://schemas.openxmlformats.org/officeDocument/2006/relationships/slide" Target="/ppt/slides/slide18.xml" Id="R70abc36e41ea4d62" /><Relationship Type="http://schemas.openxmlformats.org/officeDocument/2006/relationships/slide" Target="/ppt/slides/slide19.xml" Id="R5c8075dab79d4139" /><Relationship Type="http://schemas.openxmlformats.org/officeDocument/2006/relationships/slide" Target="/ppt/slides/slide20.xml" Id="Rcfbf9ae45c4944d9" /><Relationship Type="http://schemas.openxmlformats.org/officeDocument/2006/relationships/slide" Target="/ppt/slides/slide21.xml" Id="Rdeaed66d889f45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6c9d30790e4f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40f81f23cd43d9" /><Relationship Type="http://schemas.openxmlformats.org/officeDocument/2006/relationships/notesMaster" Target="/ppt/notesMasters/notesMaster1.xml" Id="R0329f8087c0f46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9d8d45e9b64d11" /><Relationship Type="http://schemas.openxmlformats.org/officeDocument/2006/relationships/notesMaster" Target="/ppt/notesMasters/notesMaster1.xml" Id="R79f3c88380274c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63f7f124a3430a" /><Relationship Type="http://schemas.openxmlformats.org/officeDocument/2006/relationships/notesMaster" Target="/ppt/notesMasters/notesMaster1.xml" Id="R205c1d48019646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83be4b6c7a47f4" /><Relationship Type="http://schemas.openxmlformats.org/officeDocument/2006/relationships/notesMaster" Target="/ppt/notesMasters/notesMaster1.xml" Id="R97ebb6f5a37943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59e06c82f840b2" /><Relationship Type="http://schemas.openxmlformats.org/officeDocument/2006/relationships/notesMaster" Target="/ppt/notesMasters/notesMaster1.xml" Id="R67f4628396af4b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d41ef14e724e11" /><Relationship Type="http://schemas.openxmlformats.org/officeDocument/2006/relationships/notesMaster" Target="/ppt/notesMasters/notesMaster1.xml" Id="Rd79735d6b8bc43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6b8541b32f4899" /><Relationship Type="http://schemas.openxmlformats.org/officeDocument/2006/relationships/notesMaster" Target="/ppt/notesMasters/notesMaster1.xml" Id="R2efc079cdf3f43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59149f23944171" /><Relationship Type="http://schemas.openxmlformats.org/officeDocument/2006/relationships/notesMaster" Target="/ppt/notesMasters/notesMaster1.xml" Id="Rf86ee3cc087e40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ebfc09ba844adc" /><Relationship Type="http://schemas.openxmlformats.org/officeDocument/2006/relationships/notesMaster" Target="/ppt/notesMasters/notesMaster1.xml" Id="R18de120ea3e449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95a2c3f2d14972" /><Relationship Type="http://schemas.openxmlformats.org/officeDocument/2006/relationships/notesMaster" Target="/ppt/notesMasters/notesMaster1.xml" Id="R4943ce9d514140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6614a6afd34e51" /><Relationship Type="http://schemas.openxmlformats.org/officeDocument/2006/relationships/notesMaster" Target="/ppt/notesMasters/notesMaster1.xml" Id="R19a52a598c7a4ea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7df731657d4277" /><Relationship Type="http://schemas.openxmlformats.org/officeDocument/2006/relationships/notesMaster" Target="/ppt/notesMasters/notesMaster1.xml" Id="R0c219dbec3f2465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1e23a096fa64ea7" /><Relationship Type="http://schemas.openxmlformats.org/officeDocument/2006/relationships/notesMaster" Target="/ppt/notesMasters/notesMaster1.xml" Id="Rad0b91cf6eef4f1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232cc3cbf3b4fb9" /><Relationship Type="http://schemas.openxmlformats.org/officeDocument/2006/relationships/notesMaster" Target="/ppt/notesMasters/notesMaster1.xml" Id="R4f477d12c155436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4a1c398069d4957" /><Relationship Type="http://schemas.openxmlformats.org/officeDocument/2006/relationships/notesMaster" Target="/ppt/notesMasters/notesMaster1.xml" Id="Rc1cbb60086a8494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bb4c44e2a3f4133" /><Relationship Type="http://schemas.openxmlformats.org/officeDocument/2006/relationships/notesMaster" Target="/ppt/notesMasters/notesMaster1.xml" Id="R79db844ba531472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e429d83855448e3" /><Relationship Type="http://schemas.openxmlformats.org/officeDocument/2006/relationships/notesMaster" Target="/ppt/notesMasters/notesMaster1.xml" Id="R3a0830923e76417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93f7c9e9023407e" /><Relationship Type="http://schemas.openxmlformats.org/officeDocument/2006/relationships/notesMaster" Target="/ppt/notesMasters/notesMaster1.xml" Id="Rb64ecd55ca0f45b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3770fffefb740f3" /><Relationship Type="http://schemas.openxmlformats.org/officeDocument/2006/relationships/notesMaster" Target="/ppt/notesMasters/notesMaster1.xml" Id="Rf6a2b148370549a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9bcc77306f94fd4" /><Relationship Type="http://schemas.openxmlformats.org/officeDocument/2006/relationships/notesMaster" Target="/ppt/notesMasters/notesMaster1.xml" Id="R108d65d8532a439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761dc4e0dc94c9c" /><Relationship Type="http://schemas.openxmlformats.org/officeDocument/2006/relationships/notesMaster" Target="/ppt/notesMasters/notesMaster1.xml" Id="Rb83bb3d9edc643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 [ASSUMPTION]: LOA receives 180,000 ecommerce sessions per year.</a:t>
            </a:r>
          </a:p>
          <a:p xmlns:a="http://schemas.openxmlformats.org/drawingml/2006/main">
            <a:r>
              <a:t>A2 [ASSUMPTION]: LOA converts 1.8% of ecommerce sessions to orders.</a:t>
            </a:r>
          </a:p>
          <a:p xmlns:a="http://schemas.openxmlformats.org/drawingml/2006/main">
            <a:r>
              <a:t>A3 [ASSUMPTION]: LOA has a £32 average ecommerce order value before returns, discounts and VAT treatment.</a:t>
            </a:r>
          </a:p>
          <a:p xmlns:a="http://schemas.openxmlformats.org/drawingml/2006/main">
            <a:r>
              <a:t>A7 [ASSUMPTION]: Incremental ecommerce revenue contributes 30% after product, fulfilment, payment, returns and incremental media costs.</a:t>
            </a:r>
          </a:p>
          <a:p xmlns:a="http://schemas.openxmlformats.org/drawingml/2006/main">
            <a:r>
              <a:t>A8 [ASSUMPTION]: LOA could realise 30% to 60% of annualised ecommerce scenario headroom during the first 12 months.</a:t>
            </a:r>
          </a:p>
          <a:p xmlns:a="http://schemas.openxmlformats.org/drawingml/2006/main">
            <a:r>
              <a:t>A9 [ASSUMPTION]: The first 12 months require £65,000 of incremental implementation investment beyond the £5,000 Growth Blueprint fee.</a:t>
            </a:r>
          </a:p>
          <a:p xmlns:a="http://schemas.openxmlformats.org/drawingml/2006/main">
            <a:r>
              <a:t>Governed evidence refs: A1, A2, A3, A7, A8, A9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 [ASSUMPTION]: LOA receives 180,000 ecommerce sessions per year.</a:t>
            </a:r>
          </a:p>
          <a:p xmlns:a="http://schemas.openxmlformats.org/drawingml/2006/main">
            <a:r>
              <a:t>A2 [ASSUMPTION]: LOA converts 1.8% of ecommerce sessions to orders.</a:t>
            </a:r>
          </a:p>
          <a:p xmlns:a="http://schemas.openxmlformats.org/drawingml/2006/main">
            <a:r>
              <a:t>A3 [ASSUMPTION]: LOA has a £32 average ecommerce order value before returns, discounts and VAT treatment.</a:t>
            </a:r>
          </a:p>
          <a:p xmlns:a="http://schemas.openxmlformats.org/drawingml/2006/main">
            <a:r>
              <a:t>A7 [ASSUMPTION]: Incremental ecommerce revenue contributes 30% after product, fulfilment, payment, returns and incremental media costs.</a:t>
            </a:r>
          </a:p>
          <a:p xmlns:a="http://schemas.openxmlformats.org/drawingml/2006/main">
            <a:r>
              <a:t>A8 [ASSUMPTION]: LOA could realise 30% to 60% of annualised ecommerce scenario headroom during the first 12 months.</a:t>
            </a:r>
          </a:p>
          <a:p xmlns:a="http://schemas.openxmlformats.org/drawingml/2006/main">
            <a:r>
              <a:t>A9 [ASSUMPTION]: The first 12 months require £65,000 of incremental implementation investment beyond the £5,000 Growth Blueprint fee.</a:t>
            </a:r>
          </a:p>
          <a:p xmlns:a="http://schemas.openxmlformats.org/drawingml/2006/main">
            <a:r>
              <a:t>Governed evidence refs: A1, A2, A3, A7, A8, A9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A4 [ASSUMPTION]: LOA's principal growth constraint is an attractive visual identity without a sufficiently specific occasion, proposition or trial-to-repeat system.</a:t>
            </a:r>
          </a:p>
          <a:p xmlns:a="http://schemas.openxmlformats.org/drawingml/2006/main">
            <a:r>
              <a:t>Governed evidence refs: A4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A4 [ASSUMPTION]: LOA's principal growth constraint is an attractive visual identity without a sufficiently specific occasion, proposition or trial-to-repeat system.</a:t>
            </a:r>
          </a:p>
          <a:p xmlns:a="http://schemas.openxmlformats.org/drawingml/2006/main">
            <a:r>
              <a:t>A5 [ASSUMPTION]: LOA could build an advantage by pairing its distinctive bottle with a clear role as the bright adult soft drink for social pauses.</a:t>
            </a:r>
          </a:p>
          <a:p xmlns:a="http://schemas.openxmlformats.org/drawingml/2006/main">
            <a:r>
              <a:t>A6 [ASSUMPTION]: A city-led sampling, selective wholesale, DTC replenishment and CRM growth engine is operationally feasible.</a:t>
            </a:r>
          </a:p>
          <a:p xmlns:a="http://schemas.openxmlformats.org/drawingml/2006/main">
            <a:r>
              <a:t>A7 [ASSUMPTION]: Incremental ecommerce revenue contributes 30% after product, fulfilment, payment, returns and incremental media costs.</a:t>
            </a:r>
          </a:p>
          <a:p xmlns:a="http://schemas.openxmlformats.org/drawingml/2006/main">
            <a:r>
              <a:t>A8 [ASSUMPTION]: LOA could realise 30% to 60% of annualised ecommerce scenario headroom during the first 12 months.</a:t>
            </a:r>
          </a:p>
          <a:p xmlns:a="http://schemas.openxmlformats.org/drawingml/2006/main">
            <a:r>
              <a:t>A9 [ASSUMPTION]: The first 12 months require £65,000 of incremental implementation investment beyond the £5,000 Growth Blueprint fee.</a:t>
            </a:r>
          </a:p>
          <a:p xmlns:a="http://schemas.openxmlformats.org/drawingml/2006/main">
            <a:r>
              <a:t>C1 [CREATIVE ILLUSTRATION]: A Brighter Pour is an illustrative campaign territory for fictional LOA.</a:t>
            </a:r>
          </a:p>
          <a:p xmlns:a="http://schemas.openxmlformats.org/drawingml/2006/main">
            <a:r>
              <a:t>C2 [CREATIVE ILLUSTRATION]: Claude's existing LOA coral bottle hero and convenience-store film are reused as internal creative illustrations.</a:t>
            </a:r>
          </a:p>
          <a:p xmlns:a="http://schemas.openxmlformats.org/drawingml/2006/main">
            <a:r>
              <a:t>E1 [VERIFIED EXTERNAL]: The UK government announced that the lower Soft Drinks Industry Levy sugar threshold will reduce from 5g to 4.5g per 100ml from January 2028.</a:t>
            </a:r>
          </a:p>
          <a:p xmlns:a="http://schemas.openxmlformats.org/drawingml/2006/main">
            <a:r>
              <a:t>E2 [VERIFIED EXTERNAL]: The UK government reported a 46% average reduction in sugar content in in-scope soft drinks between 2015 and 2020.</a:t>
            </a:r>
          </a:p>
          <a:p xmlns:a="http://schemas.openxmlformats.org/drawingml/2006/main">
            <a:r>
              <a:t>Governed evidence refs: A4, A5, A6, A7, A8, A9, C1, C2, E1, E2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A5 [ASSUMPTION]: LOA could build an advantage by pairing its distinctive bottle with a clear role as the bright adult soft drink for social pauses.</a:t>
            </a:r>
          </a:p>
          <a:p xmlns:a="http://schemas.openxmlformats.org/drawingml/2006/main">
            <a:r>
              <a:t>C1 [CREATIVE ILLUSTRATION]: A Brighter Pour is an illustrative campaign territory for fictional LOA.</a:t>
            </a:r>
          </a:p>
          <a:p xmlns:a="http://schemas.openxmlformats.org/drawingml/2006/main">
            <a:r>
              <a:t>C2 [CREATIVE ILLUSTRATION]: Claude's existing LOA coral bottle hero and convenience-store film are reused as internal creative illustrations.</a:t>
            </a:r>
          </a:p>
          <a:p xmlns:a="http://schemas.openxmlformats.org/drawingml/2006/main">
            <a:r>
              <a:t>Governed evidence refs: A5, C1, C2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 [ASSUMPTION]: LOA receives 180,000 ecommerce sessions per year.</a:t>
            </a:r>
          </a:p>
          <a:p xmlns:a="http://schemas.openxmlformats.org/drawingml/2006/main">
            <a:r>
              <a:t>A2 [ASSUMPTION]: LOA converts 1.8% of ecommerce sessions to orders.</a:t>
            </a:r>
          </a:p>
          <a:p xmlns:a="http://schemas.openxmlformats.org/drawingml/2006/main">
            <a:r>
              <a:t>A3 [ASSUMPTION]: LOA has a £32 average ecommerce order value before returns, discounts and VAT treatment.</a:t>
            </a:r>
          </a:p>
          <a:p xmlns:a="http://schemas.openxmlformats.org/drawingml/2006/main">
            <a:r>
              <a:t>A7 [ASSUMPTION]: Incremental ecommerce revenue contributes 30% after product, fulfilment, payment, returns and incremental media costs.</a:t>
            </a:r>
          </a:p>
          <a:p xmlns:a="http://schemas.openxmlformats.org/drawingml/2006/main">
            <a:r>
              <a:t>A8 [ASSUMPTION]: LOA could realise 30% to 60% of annualised ecommerce scenario headroom during the first 12 months.</a:t>
            </a:r>
          </a:p>
          <a:p xmlns:a="http://schemas.openxmlformats.org/drawingml/2006/main">
            <a:r>
              <a:t>A9 [ASSUMPTION]: The first 12 months require £65,000 of incremental implementation investment beyond the £5,000 Growth Blueprint fee.</a:t>
            </a:r>
          </a:p>
          <a:p xmlns:a="http://schemas.openxmlformats.org/drawingml/2006/main">
            <a:r>
              <a:t>Governed evidence refs: A1, A2, A3, A7, A8, A9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 [ASSUMPTION]: LOA receives 180,000 ecommerce sessions per year.</a:t>
            </a:r>
          </a:p>
          <a:p xmlns:a="http://schemas.openxmlformats.org/drawingml/2006/main">
            <a:r>
              <a:t>A2 [ASSUMPTION]: LOA converts 1.8% of ecommerce sessions to orders.</a:t>
            </a:r>
          </a:p>
          <a:p xmlns:a="http://schemas.openxmlformats.org/drawingml/2006/main">
            <a:r>
              <a:t>A3 [ASSUMPTION]: LOA has a £32 average ecommerce order value before returns, discounts and VAT treatment.</a:t>
            </a:r>
          </a:p>
          <a:p xmlns:a="http://schemas.openxmlformats.org/drawingml/2006/main">
            <a:r>
              <a:t>A7 [ASSUMPTION]: Incremental ecommerce revenue contributes 30% after product, fulfilment, payment, returns and incremental media costs.</a:t>
            </a:r>
          </a:p>
          <a:p xmlns:a="http://schemas.openxmlformats.org/drawingml/2006/main">
            <a:r>
              <a:t>A8 [ASSUMPTION]: LOA could realise 30% to 60% of annualised ecommerce scenario headroom during the first 12 months.</a:t>
            </a:r>
          </a:p>
          <a:p xmlns:a="http://schemas.openxmlformats.org/drawingml/2006/main">
            <a:r>
              <a:t>A9 [ASSUMPTION]: The first 12 months require £65,000 of incremental implementation investment beyond the £5,000 Growth Blueprint fee.</a:t>
            </a:r>
          </a:p>
          <a:p xmlns:a="http://schemas.openxmlformats.org/drawingml/2006/main">
            <a:r>
              <a:t>Governed evidence refs: A1, A2, A3, A7, A8, A9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A4 [ASSUMPTION]: LOA's principal growth constraint is an attractive visual identity without a sufficiently specific occasion, proposition or trial-to-repeat system.</a:t>
            </a:r>
          </a:p>
          <a:p xmlns:a="http://schemas.openxmlformats.org/drawingml/2006/main">
            <a:r>
              <a:t>Governed evidence refs: A4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A4 [ASSUMPTION]: LOA's principal growth constraint is an attractive visual identity without a sufficiently specific occasion, proposition or trial-to-repeat system.</a:t>
            </a:r>
          </a:p>
          <a:p xmlns:a="http://schemas.openxmlformats.org/drawingml/2006/main">
            <a:r>
              <a:t>Governed evidence refs: A4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A5 [ASSUMPTION]: LOA could build an advantage by pairing its distinctive bottle with a clear role as the bright adult soft drink for social pauses.</a:t>
            </a:r>
          </a:p>
          <a:p xmlns:a="http://schemas.openxmlformats.org/drawingml/2006/main">
            <a:r>
              <a:t>C2 [CREATIVE ILLUSTRATION]: Claude's existing LOA coral bottle hero and convenience-store film are reused as internal creative illustrations.</a:t>
            </a:r>
          </a:p>
          <a:p xmlns:a="http://schemas.openxmlformats.org/drawingml/2006/main">
            <a:r>
              <a:t>Governed evidence refs: A5, C2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A5 [ASSUMPTION]: LOA could build an advantage by pairing its distinctive bottle with a clear role as the bright adult soft drink for social pauses.</a:t>
            </a:r>
          </a:p>
          <a:p xmlns:a="http://schemas.openxmlformats.org/drawingml/2006/main">
            <a:r>
              <a:t>C2 [CREATIVE ILLUSTRATION]: Claude's existing LOA coral bottle hero and convenience-store film are reused as internal creative illustrations.</a:t>
            </a:r>
          </a:p>
          <a:p xmlns:a="http://schemas.openxmlformats.org/drawingml/2006/main">
            <a:r>
              <a:t>Governed evidence refs: A5, C2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A4 [ASSUMPTION]: LOA's principal growth constraint is an attractive visual identity without a sufficiently specific occasion, proposition or trial-to-repeat system.</a:t>
            </a:r>
          </a:p>
          <a:p xmlns:a="http://schemas.openxmlformats.org/drawingml/2006/main">
            <a:r>
              <a:t>A5 [ASSUMPTION]: LOA could build an advantage by pairing its distinctive bottle with a clear role as the bright adult soft drink for social pauses.</a:t>
            </a:r>
          </a:p>
          <a:p xmlns:a="http://schemas.openxmlformats.org/drawingml/2006/main">
            <a:r>
              <a:t>A6 [ASSUMPTION]: A city-led sampling, selective wholesale, DTC replenishment and CRM growth engine is operationally feasible.</a:t>
            </a:r>
          </a:p>
          <a:p xmlns:a="http://schemas.openxmlformats.org/drawingml/2006/main">
            <a:r>
              <a:t>A7 [ASSUMPTION]: Incremental ecommerce revenue contributes 30% after product, fulfilment, payment, returns and incremental media costs.</a:t>
            </a:r>
          </a:p>
          <a:p xmlns:a="http://schemas.openxmlformats.org/drawingml/2006/main">
            <a:r>
              <a:t>A8 [ASSUMPTION]: LOA could realise 30% to 60% of annualised ecommerce scenario headroom during the first 12 months.</a:t>
            </a:r>
          </a:p>
          <a:p xmlns:a="http://schemas.openxmlformats.org/drawingml/2006/main">
            <a:r>
              <a:t>A9 [ASSUMPTION]: The first 12 months require £65,000 of incremental implementation investment beyond the £5,000 Growth Blueprint fee.</a:t>
            </a:r>
          </a:p>
          <a:p xmlns:a="http://schemas.openxmlformats.org/drawingml/2006/main">
            <a:r>
              <a:t>C1 [CREATIVE ILLUSTRATION]: A Brighter Pour is an illustrative campaign territory for fictional LOA.</a:t>
            </a:r>
          </a:p>
          <a:p xmlns:a="http://schemas.openxmlformats.org/drawingml/2006/main">
            <a:r>
              <a:t>C2 [CREATIVE ILLUSTRATION]: Claude's existing LOA coral bottle hero and convenience-store film are reused as internal creative illustrations.</a:t>
            </a:r>
          </a:p>
          <a:p xmlns:a="http://schemas.openxmlformats.org/drawingml/2006/main">
            <a:r>
              <a:t>E1 [VERIFIED EXTERNAL]: The UK government announced that the lower Soft Drinks Industry Levy sugar threshold will reduce from 5g to 4.5g per 100ml from January 2028.</a:t>
            </a:r>
          </a:p>
          <a:p xmlns:a="http://schemas.openxmlformats.org/drawingml/2006/main">
            <a:r>
              <a:t>E2 [VERIFIED EXTERNAL]: The UK government reported a 46% average reduction in sugar content in in-scope soft drinks between 2015 and 2020.</a:t>
            </a:r>
          </a:p>
          <a:p xmlns:a="http://schemas.openxmlformats.org/drawingml/2006/main">
            <a:r>
              <a:t>Governed evidence refs: A4, A5, A6, A7, A8, A9, C1, C2, E1, E2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A4 [ASSUMPTION]: LOA's principal growth constraint is an attractive visual identity without a sufficiently specific occasion, proposition or trial-to-repeat system.</a:t>
            </a:r>
          </a:p>
          <a:p xmlns:a="http://schemas.openxmlformats.org/drawingml/2006/main">
            <a:r>
              <a:t>A5 [ASSUMPTION]: LOA could build an advantage by pairing its distinctive bottle with a clear role as the bright adult soft drink for social pauses.</a:t>
            </a:r>
          </a:p>
          <a:p xmlns:a="http://schemas.openxmlformats.org/drawingml/2006/main">
            <a:r>
              <a:t>A6 [ASSUMPTION]: A city-led sampling, selective wholesale, DTC replenishment and CRM growth engine is operationally feasible.</a:t>
            </a:r>
          </a:p>
          <a:p xmlns:a="http://schemas.openxmlformats.org/drawingml/2006/main">
            <a:r>
              <a:t>A7 [ASSUMPTION]: Incremental ecommerce revenue contributes 30% after product, fulfilment, payment, returns and incremental media costs.</a:t>
            </a:r>
          </a:p>
          <a:p xmlns:a="http://schemas.openxmlformats.org/drawingml/2006/main">
            <a:r>
              <a:t>A8 [ASSUMPTION]: LOA could realise 30% to 60% of annualised ecommerce scenario headroom during the first 12 months.</a:t>
            </a:r>
          </a:p>
          <a:p xmlns:a="http://schemas.openxmlformats.org/drawingml/2006/main">
            <a:r>
              <a:t>A9 [ASSUMPTION]: The first 12 months require £65,000 of incremental implementation investment beyond the £5,000 Growth Blueprint fee.</a:t>
            </a:r>
          </a:p>
          <a:p xmlns:a="http://schemas.openxmlformats.org/drawingml/2006/main">
            <a:r>
              <a:t>C1 [CREATIVE ILLUSTRATION]: A Brighter Pour is an illustrative campaign territory for fictional LOA.</a:t>
            </a:r>
          </a:p>
          <a:p xmlns:a="http://schemas.openxmlformats.org/drawingml/2006/main">
            <a:r>
              <a:t>C2 [CREATIVE ILLUSTRATION]: Claude's existing LOA coral bottle hero and convenience-store film are reused as internal creative illustrations.</a:t>
            </a:r>
          </a:p>
          <a:p xmlns:a="http://schemas.openxmlformats.org/drawingml/2006/main">
            <a:r>
              <a:t>E1 [VERIFIED EXTERNAL]: The UK government announced that the lower Soft Drinks Industry Levy sugar threshold will reduce from 5g to 4.5g per 100ml from January 2028.</a:t>
            </a:r>
          </a:p>
          <a:p xmlns:a="http://schemas.openxmlformats.org/drawingml/2006/main">
            <a:r>
              <a:t>E2 [VERIFIED EXTERNAL]: The UK government reported a 46% average reduction in sugar content in in-scope soft drinks between 2015 and 2020.</a:t>
            </a:r>
          </a:p>
          <a:p xmlns:a="http://schemas.openxmlformats.org/drawingml/2006/main">
            <a:r>
              <a:t>Governed evidence refs: A4, A5, A6, A7, A8, A9, C1, C2, E1, E2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A5 [ASSUMPTION]: LOA could build an advantage by pairing its distinctive bottle with a clear role as the bright adult soft drink for social pauses.</a:t>
            </a:r>
          </a:p>
          <a:p xmlns:a="http://schemas.openxmlformats.org/drawingml/2006/main">
            <a:r>
              <a:t>C1 [CREATIVE ILLUSTRATION]: A Brighter Pour is an illustrative campaign territory for fictional LOA.</a:t>
            </a:r>
          </a:p>
          <a:p xmlns:a="http://schemas.openxmlformats.org/drawingml/2006/main">
            <a:r>
              <a:t>C2 [CREATIVE ILLUSTRATION]: Claude's existing LOA coral bottle hero and convenience-store film are reused as internal creative illustrations.</a:t>
            </a:r>
          </a:p>
          <a:p xmlns:a="http://schemas.openxmlformats.org/drawingml/2006/main">
            <a:r>
              <a:t>Governed evidence refs: A5, C1, C2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A5 [ASSUMPTION]: LOA could build an advantage by pairing its distinctive bottle with a clear role as the bright adult soft drink for social pauses.</a:t>
            </a:r>
          </a:p>
          <a:p xmlns:a="http://schemas.openxmlformats.org/drawingml/2006/main">
            <a:r>
              <a:t>C1 [CREATIVE ILLUSTRATION]: A Brighter Pour is an illustrative campaign territory for fictional LOA.</a:t>
            </a:r>
          </a:p>
          <a:p xmlns:a="http://schemas.openxmlformats.org/drawingml/2006/main">
            <a:r>
              <a:t>C2 [CREATIVE ILLUSTRATION]: Claude's existing LOA coral bottle hero and convenience-store film are reused as internal creative illustrations.</a:t>
            </a:r>
          </a:p>
          <a:p xmlns:a="http://schemas.openxmlformats.org/drawingml/2006/main">
            <a:r>
              <a:t>Governed evidence refs: A5, C1, C2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A6 [ASSUMPTION]: A city-led sampling, selective wholesale, DTC replenishment and CRM growth engine is operationally feasible.</a:t>
            </a:r>
          </a:p>
          <a:p xmlns:a="http://schemas.openxmlformats.org/drawingml/2006/main">
            <a:r>
              <a:t>A7 [ASSUMPTION]: Incremental ecommerce revenue contributes 30% after product, fulfilment, payment, returns and incremental media costs.</a:t>
            </a:r>
          </a:p>
          <a:p xmlns:a="http://schemas.openxmlformats.org/drawingml/2006/main">
            <a:r>
              <a:t>A8 [ASSUMPTION]: LOA could realise 30% to 60% of annualised ecommerce scenario headroom during the first 12 months.</a:t>
            </a:r>
          </a:p>
          <a:p xmlns:a="http://schemas.openxmlformats.org/drawingml/2006/main">
            <a:r>
              <a:t>A9 [ASSUMPTION]: The first 12 months require £65,000 of incremental implementation investment beyond the £5,000 Growth Blueprint fee.</a:t>
            </a:r>
          </a:p>
          <a:p xmlns:a="http://schemas.openxmlformats.org/drawingml/2006/main">
            <a:r>
              <a:t>Governed evidence refs: A6, A7, A8, A9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A6 [ASSUMPTION]: A city-led sampling, selective wholesale, DTC replenishment and CRM growth engine is operationally feasible.</a:t>
            </a:r>
          </a:p>
          <a:p xmlns:a="http://schemas.openxmlformats.org/drawingml/2006/main">
            <a:r>
              <a:t>A7 [ASSUMPTION]: Incremental ecommerce revenue contributes 30% after product, fulfilment, payment, returns and incremental media costs.</a:t>
            </a:r>
          </a:p>
          <a:p xmlns:a="http://schemas.openxmlformats.org/drawingml/2006/main">
            <a:r>
              <a:t>A8 [ASSUMPTION]: LOA could realise 30% to 60% of annualised ecommerce scenario headroom during the first 12 months.</a:t>
            </a:r>
          </a:p>
          <a:p xmlns:a="http://schemas.openxmlformats.org/drawingml/2006/main">
            <a:r>
              <a:t>A9 [ASSUMPTION]: The first 12 months require £65,000 of incremental implementation investment beyond the £5,000 Growth Blueprint fee.</a:t>
            </a:r>
          </a:p>
          <a:p xmlns:a="http://schemas.openxmlformats.org/drawingml/2006/main">
            <a:r>
              <a:t>Governed evidence refs: A6, A7, A8, A9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A4 [ASSUMPTION]: LOA's principal growth constraint is an attractive visual identity without a sufficiently specific occasion, proposition or trial-to-repeat system.</a:t>
            </a:r>
          </a:p>
          <a:p xmlns:a="http://schemas.openxmlformats.org/drawingml/2006/main">
            <a:r>
              <a:t>A5 [ASSUMPTION]: LOA could build an advantage by pairing its distinctive bottle with a clear role as the bright adult soft drink for social pauses.</a:t>
            </a:r>
          </a:p>
          <a:p xmlns:a="http://schemas.openxmlformats.org/drawingml/2006/main">
            <a:r>
              <a:t>A6 [ASSUMPTION]: A city-led sampling, selective wholesale, DTC replenishment and CRM growth engine is operationally feasible.</a:t>
            </a:r>
          </a:p>
          <a:p xmlns:a="http://schemas.openxmlformats.org/drawingml/2006/main">
            <a:r>
              <a:t>A7 [ASSUMPTION]: Incremental ecommerce revenue contributes 30% after product, fulfilment, payment, returns and incremental media costs.</a:t>
            </a:r>
          </a:p>
          <a:p xmlns:a="http://schemas.openxmlformats.org/drawingml/2006/main">
            <a:r>
              <a:t>A8 [ASSUMPTION]: LOA could realise 30% to 60% of annualised ecommerce scenario headroom during the first 12 months.</a:t>
            </a:r>
          </a:p>
          <a:p xmlns:a="http://schemas.openxmlformats.org/drawingml/2006/main">
            <a:r>
              <a:t>A9 [ASSUMPTION]: The first 12 months require £65,000 of incremental implementation investment beyond the £5,000 Growth Blueprint fee.</a:t>
            </a:r>
          </a:p>
          <a:p xmlns:a="http://schemas.openxmlformats.org/drawingml/2006/main">
            <a:r>
              <a:t>C1 [CREATIVE ILLUSTRATION]: A Brighter Pour is an illustrative campaign territory for fictional LOA.</a:t>
            </a:r>
          </a:p>
          <a:p xmlns:a="http://schemas.openxmlformats.org/drawingml/2006/main">
            <a:r>
              <a:t>C2 [CREATIVE ILLUSTRATION]: Claude's existing LOA coral bottle hero and convenience-store film are reused as internal creative illustrations.</a:t>
            </a:r>
          </a:p>
          <a:p xmlns:a="http://schemas.openxmlformats.org/drawingml/2006/main">
            <a:r>
              <a:t>E1 [VERIFIED EXTERNAL]: The UK government announced that the lower Soft Drinks Industry Levy sugar threshold will reduce from 5g to 4.5g per 100ml from January 2028.</a:t>
            </a:r>
          </a:p>
          <a:p xmlns:a="http://schemas.openxmlformats.org/drawingml/2006/main">
            <a:r>
              <a:t>E2 [VERIFIED EXTERNAL]: The UK government reported a 46% average reduction in sugar content in in-scope soft drinks between 2015 and 2020.</a:t>
            </a:r>
          </a:p>
          <a:p xmlns:a="http://schemas.openxmlformats.org/drawingml/2006/main">
            <a:r>
              <a:t>E3 [VERIFIED EXTERNAL]: The British Soft Drinks Association's 2025 annual report states that more than seven in ten UK soft drinks sold are low or no sugar.</a:t>
            </a:r>
          </a:p>
          <a:p xmlns:a="http://schemas.openxmlformats.org/drawingml/2006/main">
            <a:r>
              <a:t>Governed evidence refs: A4, A5, A6, A7, A8, A9, C1, C2, E1, E2, E3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E1 [VERIFIED EXTERNAL]: The UK government announced that the lower Soft Drinks Industry Levy sugar threshold will reduce from 5g to 4.5g per 100ml from January 2028.</a:t>
            </a:r>
          </a:p>
          <a:p xmlns:a="http://schemas.openxmlformats.org/drawingml/2006/main">
            <a:r>
              <a:t>E2 [VERIFIED EXTERNAL]: The UK government reported a 46% average reduction in sugar content in in-scope soft drinks between 2015 and 2020.</a:t>
            </a:r>
          </a:p>
          <a:p xmlns:a="http://schemas.openxmlformats.org/drawingml/2006/main">
            <a:r>
              <a:t>E3 [VERIFIED EXTERNAL]: The British Soft Drinks Association's 2025 annual report states that more than seven in ten UK soft drinks sold are low or no sugar.</a:t>
            </a:r>
          </a:p>
          <a:p xmlns:a="http://schemas.openxmlformats.org/drawingml/2006/main">
            <a:r>
              <a:t>A1 [ASSUMPTION]: LOA receives 180,000 ecommerce sessions per year.</a:t>
            </a:r>
          </a:p>
          <a:p xmlns:a="http://schemas.openxmlformats.org/drawingml/2006/main">
            <a:r>
              <a:t>A2 [ASSUMPTION]: LOA converts 1.8% of ecommerce sessions to orders.</a:t>
            </a:r>
          </a:p>
          <a:p xmlns:a="http://schemas.openxmlformats.org/drawingml/2006/main">
            <a:r>
              <a:t>A3 [ASSUMPTION]: LOA has a £32 average ecommerce order value before returns, discounts and VAT treatment.</a:t>
            </a:r>
          </a:p>
          <a:p xmlns:a="http://schemas.openxmlformats.org/drawingml/2006/main">
            <a:r>
              <a:t>A4 [ASSUMPTION]: LOA's principal growth constraint is an attractive visual identity without a sufficiently specific occasion, proposition or trial-to-repeat system.</a:t>
            </a:r>
          </a:p>
          <a:p xmlns:a="http://schemas.openxmlformats.org/drawingml/2006/main">
            <a:r>
              <a:t>A5 [ASSUMPTION]: LOA could build an advantage by pairing its distinctive bottle with a clear role as the bright adult soft drink for social pauses.</a:t>
            </a:r>
          </a:p>
          <a:p xmlns:a="http://schemas.openxmlformats.org/drawingml/2006/main">
            <a:r>
              <a:t>Governed evidence refs: E1, E2, E3, A1, A2, A3, A4, A5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A6 [ASSUMPTION]: A city-led sampling, selective wholesale, DTC replenishment and CRM growth engine is operationally feasible.</a:t>
            </a:r>
          </a:p>
          <a:p xmlns:a="http://schemas.openxmlformats.org/drawingml/2006/main">
            <a:r>
              <a:t>A7 [ASSUMPTION]: Incremental ecommerce revenue contributes 30% after product, fulfilment, payment, returns and incremental media costs.</a:t>
            </a:r>
          </a:p>
          <a:p xmlns:a="http://schemas.openxmlformats.org/drawingml/2006/main">
            <a:r>
              <a:t>A8 [ASSUMPTION]: LOA could realise 30% to 60% of annualised ecommerce scenario headroom during the first 12 months.</a:t>
            </a:r>
          </a:p>
          <a:p xmlns:a="http://schemas.openxmlformats.org/drawingml/2006/main">
            <a:r>
              <a:t>A9 [ASSUMPTION]: The first 12 months require £65,000 of incremental implementation investment beyond the £5,000 Growth Blueprint fee.</a:t>
            </a:r>
          </a:p>
          <a:p xmlns:a="http://schemas.openxmlformats.org/drawingml/2006/main">
            <a:r>
              <a:t>C1 [CREATIVE ILLUSTRATION]: A Brighter Pour is an illustrative campaign territory for fictional LOA.</a:t>
            </a:r>
          </a:p>
          <a:p xmlns:a="http://schemas.openxmlformats.org/drawingml/2006/main">
            <a:r>
              <a:t>C2 [CREATIVE ILLUSTRATION]: Claude's existing LOA coral bottle hero and convenience-store film are reused as internal creative illustrations.</a:t>
            </a:r>
          </a:p>
          <a:p xmlns:a="http://schemas.openxmlformats.org/drawingml/2006/main">
            <a:r>
              <a:t>Governed evidence refs: A6, A7, A8, A9, C1, C2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E1 [VERIFIED EXTERNAL]: The UK government announced that the lower Soft Drinks Industry Levy sugar threshold will reduce from 5g to 4.5g per 100ml from January 2028.</a:t>
            </a:r>
          </a:p>
          <a:p xmlns:a="http://schemas.openxmlformats.org/drawingml/2006/main">
            <a:r>
              <a:t>E2 [VERIFIED EXTERNAL]: The UK government reported a 46% average reduction in sugar content in in-scope soft drinks between 2015 and 2020.</a:t>
            </a:r>
          </a:p>
          <a:p xmlns:a="http://schemas.openxmlformats.org/drawingml/2006/main">
            <a:r>
              <a:t>E3 [VERIFIED EXTERNAL]: The British Soft Drinks Association's 2025 annual report states that more than seven in ten UK soft drinks sold are low or no sugar.</a:t>
            </a:r>
          </a:p>
          <a:p xmlns:a="http://schemas.openxmlformats.org/drawingml/2006/main">
            <a:r>
              <a:t>A1 [ASSUMPTION]: LOA receives 180,000 ecommerce sessions per year.</a:t>
            </a:r>
          </a:p>
          <a:p xmlns:a="http://schemas.openxmlformats.org/drawingml/2006/main">
            <a:r>
              <a:t>A2 [ASSUMPTION]: LOA converts 1.8% of ecommerce sessions to orders.</a:t>
            </a:r>
          </a:p>
          <a:p xmlns:a="http://schemas.openxmlformats.org/drawingml/2006/main">
            <a:r>
              <a:t>A3 [ASSUMPTION]: LOA has a £32 average ecommerce order value before returns, discounts and VAT treatment.</a:t>
            </a:r>
          </a:p>
          <a:p xmlns:a="http://schemas.openxmlformats.org/drawingml/2006/main">
            <a:r>
              <a:t>A4 [ASSUMPTION]: LOA's principal growth constraint is an attractive visual identity without a sufficiently specific occasion, proposition or trial-to-repeat system.</a:t>
            </a:r>
          </a:p>
          <a:p xmlns:a="http://schemas.openxmlformats.org/drawingml/2006/main">
            <a:r>
              <a:t>A5 [ASSUMPTION]: LOA could build an advantage by pairing its distinctive bottle with a clear role as the bright adult soft drink for social pauses.</a:t>
            </a:r>
          </a:p>
          <a:p xmlns:a="http://schemas.openxmlformats.org/drawingml/2006/main">
            <a:r>
              <a:t>A6 [ASSUMPTION]: A city-led sampling, selective wholesale, DTC replenishment and CRM growth engine is operationally feasible.</a:t>
            </a:r>
          </a:p>
          <a:p xmlns:a="http://schemas.openxmlformats.org/drawingml/2006/main">
            <a:r>
              <a:t>A7 [ASSUMPTION]: Incremental ecommerce revenue contributes 30% after product, fulfilment, payment, returns and incremental media costs.</a:t>
            </a:r>
          </a:p>
          <a:p xmlns:a="http://schemas.openxmlformats.org/drawingml/2006/main">
            <a:r>
              <a:t>A8 [ASSUMPTION]: LOA could realise 30% to 60% of annualised ecommerce scenario headroom during the first 12 months.</a:t>
            </a:r>
          </a:p>
          <a:p xmlns:a="http://schemas.openxmlformats.org/drawingml/2006/main">
            <a:r>
              <a:t>A9 [ASSUMPTION]: The first 12 months require £65,000 of incremental implementation investment beyond the £5,000 Growth Blueprint fee.</a:t>
            </a:r>
          </a:p>
          <a:p xmlns:a="http://schemas.openxmlformats.org/drawingml/2006/main">
            <a:r>
              <a:t>C1 [CREATIVE ILLUSTRATION]: A Brighter Pour is an illustrative campaign territory for fictional LOA.</a:t>
            </a:r>
          </a:p>
          <a:p xmlns:a="http://schemas.openxmlformats.org/drawingml/2006/main">
            <a:r>
              <a:t>C2 [CREATIVE ILLUSTRATION]: Claude's existing LOA coral bottle hero and convenience-store film are reused as internal creative illustrations.</a:t>
            </a:r>
          </a:p>
          <a:p xmlns:a="http://schemas.openxmlformats.org/drawingml/2006/main">
            <a:r>
              <a:t>Governed evidence refs: E1, E2, E3, A1, A2, A3, A4, A5, A6, A7, A8, A9, C1, C2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1d6f7713d8431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e4ab2135884a3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f76999a814493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314e34031c4a2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068b7d26944ef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ad307d8cf341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B175B0-4C3D-4CD2-B3B6-8B31AE4FEE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3416FC2-AB52-4718-BFB4-1D144A3E414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3231003-5804-4C37-85B7-9033688C8E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56B72B-5875-43A6-9AE7-DA937EA961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642F091-5B5F-46A8-BA82-ED62523E1D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F021B5F-1A06-4FA5-952A-15E017707A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568186-E467-4B88-9735-1EA4ADA133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D5B42B0-EC31-40E2-9053-88619485983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5DAFA4-2096-49E6-93C9-2608CC1A77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5B933A9-822C-4752-AE51-BAA8C25C19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4149dd5a9c47fb" /><Relationship Type="http://schemas.openxmlformats.org/officeDocument/2006/relationships/slideLayout" Target="/ppt/slideLayouts/slideLayout1.xml" Id="R9857b9d5a2354820" /><Relationship Type="http://schemas.openxmlformats.org/officeDocument/2006/relationships/slideLayout" Target="/ppt/slideLayouts/slideLayout2.xml" Id="R45d330c0dce44bf9" /><Relationship Type="http://schemas.openxmlformats.org/officeDocument/2006/relationships/slideLayout" Target="/ppt/slideLayouts/slideLayout3.xml" Id="Rb14a483807574241" /><Relationship Type="http://schemas.openxmlformats.org/officeDocument/2006/relationships/slideLayout" Target="/ppt/slideLayouts/slideLayout4.xml" Id="R94739806173b4ebc" /><Relationship Type="http://schemas.openxmlformats.org/officeDocument/2006/relationships/slideLayout" Target="/ppt/slideLayouts/slideLayout5.xml" Id="Ra1e6ca694dcc4012" /><Relationship Type="http://schemas.openxmlformats.org/officeDocument/2006/relationships/slideLayout" Target="/ppt/slideLayouts/slideLayout6.xml" Id="R11effe662ac548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57b9d5a2354820"/>
    <p:sldLayoutId xmlns:r="http://schemas.openxmlformats.org/officeDocument/2006/relationships" id="2147483650" r:id="R45d330c0dce44bf9"/>
    <p:sldLayoutId xmlns:r="http://schemas.openxmlformats.org/officeDocument/2006/relationships" id="2147483651" r:id="Rb14a483807574241"/>
    <p:sldLayoutId xmlns:r="http://schemas.openxmlformats.org/officeDocument/2006/relationships" id="2147483652" r:id="R94739806173b4ebc"/>
    <p:sldLayoutId xmlns:r="http://schemas.openxmlformats.org/officeDocument/2006/relationships" id="2147483653" r:id="Ra1e6ca694dcc4012"/>
    <p:sldLayoutId xmlns:r="http://schemas.openxmlformats.org/officeDocument/2006/relationships" id="2147483654" r:id="R11effe662ac548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b7c79aaa6542d7" /><Relationship Type="http://schemas.openxmlformats.org/officeDocument/2006/relationships/notesSlide" Target="/ppt/notesSlides/notesSlide1.xml" Id="Ra7e13fd1ecd24f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f1960efd084e82" /><Relationship Type="http://schemas.openxmlformats.org/officeDocument/2006/relationships/notesSlide" Target="/ppt/notesSlides/notesSlide2.xml" Id="R17affb7280274c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56fec05e4549c6" /><Relationship Type="http://schemas.openxmlformats.org/officeDocument/2006/relationships/notesSlide" Target="/ppt/notesSlides/notesSlide3.xml" Id="R7483634e409e44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fba84b85e640a3" /><Relationship Type="http://schemas.openxmlformats.org/officeDocument/2006/relationships/notesSlide" Target="/ppt/notesSlides/notesSlide4.xml" Id="R7d99daf658d641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c7764495bc4420" /><Relationship Type="http://schemas.openxmlformats.org/officeDocument/2006/relationships/image" Target="/ppt/media/image.png" Id="Re6c377a1a9c94ab1" /><Relationship Type="http://schemas.openxmlformats.org/officeDocument/2006/relationships/notesSlide" Target="/ppt/notesSlides/notesSlide5.xml" Id="Rff877b9b4ab74f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9cf877bcaa4ef1" /><Relationship Type="http://schemas.openxmlformats.org/officeDocument/2006/relationships/notesSlide" Target="/ppt/notesSlides/notesSlide6.xml" Id="R5f76d0076e3544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419983814248ce" /><Relationship Type="http://schemas.openxmlformats.org/officeDocument/2006/relationships/notesSlide" Target="/ppt/notesSlides/notesSlide7.xml" Id="R281a43dd7ee243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faa67e1b4d4449" /><Relationship Type="http://schemas.openxmlformats.org/officeDocument/2006/relationships/notesSlide" Target="/ppt/notesSlides/notesSlide8.xml" Id="R5c2edc4cae0543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1a60bec7fd4937" /><Relationship Type="http://schemas.openxmlformats.org/officeDocument/2006/relationships/notesSlide" Target="/ppt/notesSlides/notesSlide9.xml" Id="R09af4c23dfef41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a7a6a7e2844500" /><Relationship Type="http://schemas.openxmlformats.org/officeDocument/2006/relationships/notesSlide" Target="/ppt/notesSlides/notesSlide10.xml" Id="Rc30c2e5885554e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ac6508c47349d3" /><Relationship Type="http://schemas.openxmlformats.org/officeDocument/2006/relationships/notesSlide" Target="/ppt/notesSlides/notesSlide11.xml" Id="Rbe417f758c16429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d1594b775f4427" /><Relationship Type="http://schemas.openxmlformats.org/officeDocument/2006/relationships/notesSlide" Target="/ppt/notesSlides/notesSlide12.xml" Id="R48522fce022b434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0b36f2bdf945ad" /><Relationship Type="http://schemas.openxmlformats.org/officeDocument/2006/relationships/notesSlide" Target="/ppt/notesSlides/notesSlide13.xml" Id="R81d54477c07c40d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5d3988f56e4ca0" /><Relationship Type="http://schemas.openxmlformats.org/officeDocument/2006/relationships/notesSlide" Target="/ppt/notesSlides/notesSlide14.xml" Id="Re07860f63c1349b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1e5af99edf4db4" /><Relationship Type="http://schemas.openxmlformats.org/officeDocument/2006/relationships/notesSlide" Target="/ppt/notesSlides/notesSlide15.xml" Id="R5d1d3c3d16f349a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941095e8414a20" /><Relationship Type="http://schemas.openxmlformats.org/officeDocument/2006/relationships/notesSlide" Target="/ppt/notesSlides/notesSlide16.xml" Id="R5a3d0a4ca3d34d0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4581e7ab644887" /><Relationship Type="http://schemas.openxmlformats.org/officeDocument/2006/relationships/notesSlide" Target="/ppt/notesSlides/notesSlide17.xml" Id="Rc2edf5c9018b452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7ca057d4514587" /><Relationship Type="http://schemas.openxmlformats.org/officeDocument/2006/relationships/notesSlide" Target="/ppt/notesSlides/notesSlide18.xml" Id="R344ec708c258479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3e15ac1d4142ce" /><Relationship Type="http://schemas.openxmlformats.org/officeDocument/2006/relationships/notesSlide" Target="/ppt/notesSlides/notesSlide19.xml" Id="R3b3c58765487461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3ab7600c31492b" /><Relationship Type="http://schemas.openxmlformats.org/officeDocument/2006/relationships/notesSlide" Target="/ppt/notesSlides/notesSlide20.xml" Id="R18e9d5101d3f4cd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af215c39d84e7c" /><Relationship Type="http://schemas.openxmlformats.org/officeDocument/2006/relationships/notesSlide" Target="/ppt/notesSlides/notesSlide21.xml" Id="R3f9b1417d2814b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2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1AA6D0-A1BA-4249-99C4-EAEFBCAF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1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1B">
              <a:alpha val="93725"/>
            </a:srgbClr>
          </a:solidFill>
          <a:ln xmlns:a="http://schemas.openxmlformats.org/drawingml/2006/main" w="0">
            <a:solidFill>
              <a:srgbClr val="15121B">
                <a:alpha val="93725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27AB0-B94C-4E5D-92D0-C174446F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CFEA7-EA95-4A2B-800F-C401A06D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1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1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1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1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1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1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1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1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1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1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3215D-A3EA-4DA7-B480-8EDDBC73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001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GROWTH BLUEPRINT /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F5399-50E3-42BA-836D-6F0CA90B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71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1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51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51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51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51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51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51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51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51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51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51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51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LOA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101227-14CE-40B9-9CDB-0B298FB8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21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21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21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21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21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21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21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21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21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21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Own the brighter pause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C1295-8589-4CF5-88A1-4D8FBB56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A conditional route from distinctive bottle to repeatable demand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7AB6C5-E8DD-44B6-A62E-B1D94185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1505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INTERNAL FICTIONAL DEMONSTRATION - HUMAN APPROVAL REQUIRED</a:t>
            </a:r>
          </a:p>
        </p:txBody>
      </p:sp>
    </p:spTree>
    <p:extLst>
      <p:ext uri="{BB962C8B-B14F-4D97-AF65-F5344CB8AC3E}">
        <p14:creationId xmlns:p14="http://schemas.microsoft.com/office/powerpoint/2010/main" val="15124266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165005-484A-4CE0-86CA-8B989BE8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1 / THE CASE FOR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D27FB-4642-4CDD-828B-FF63FB78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What the commercial opportunity looks like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1A5F8-AA69-449C-843D-6E1828C4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1534F-8A97-47C7-83EB-E1CA45B587B2}"/>
              </a:ext>
            </a:extLst>
          </p:cNvPr>
          <p:cNvGraphicFramePr/>
          <p:nvPr/>
        </p:nvGraphicFramePr>
        <p:xfrm>
          <a:off xmlns:a="http://schemas.openxmlformats.org/drawingml/2006/main" x="647700" y="1885950"/>
          <a:ext xmlns:a="http://schemas.openxmlformats.org/drawingml/2006/main" cx="10896600" cy="25241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79320"/>
                <a:gridCol w="2179320"/>
                <a:gridCol w="2179320"/>
                <a:gridCol w="2179320"/>
                <a:gridCol w="2179320"/>
              </a:tblGrid>
              <a:tr h="63103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Scenario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Annual revenue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Conversion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Year 1 contribution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Net after investment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Downside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£115k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1.8%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£1k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654F"/>
                          </a:solidFill>
                          <a:latin typeface="Helvetica"/>
                          <a:ea typeface="Helvetica"/>
                          <a:cs typeface="Helvetica"/>
                        </a:rPr>
                        <a:t>-£64k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Base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£547k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2.4%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£67k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£2k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Upside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£884k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2.6%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£140k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£75k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4E358-F613-4602-8A79-594D25B1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9625"/>
            <a:ext cx="1089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30% CONTRIBUTION, £65k INVESTMENT AND SCENARIO RAMP ARE ASSUMPTIONS. NOT A PROFIT FORECAST.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AECA47-337B-4ACF-8408-8C6FEF12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4E667-71BE-4979-BB09-A1C217A7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base scenario adds £443,520 of annualised revenue headroom. The base case produces a £1,528 first-year contribution proxy after £65,000 of assumed investment. Verify every input before committing.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DBA458-1D77-4A5D-8F58-637DF8E0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A1, A2, A3, A7, A8, A9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E9942A-1B22-4025-A911-587D18AC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MODELLED - SCENARIO, NOT FORECAST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350A65-8F52-41D4-857D-CB80773D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00DDEB-D578-4E86-8729-22BD192D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02 / 21</a:t>
            </a:r>
          </a:p>
        </p:txBody>
      </p:sp>
    </p:spTree>
    <p:extLst>
      <p:ext uri="{BB962C8B-B14F-4D97-AF65-F5344CB8AC3E}">
        <p14:creationId xmlns:p14="http://schemas.microsoft.com/office/powerpoint/2010/main" val="6778017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86E43B-F378-4110-97FE-51349C09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1 / THE CASE FOR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C22D92-4E7F-41BC-910F-1E2255D5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What currently prevents growth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34925-F320-4520-BEF1-4BAE67DF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A780C-E100-4E50-A555-9140C3C2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CURRENT ASSET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83923-14D8-4314-B21E-F08B1FF9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6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26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26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26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26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26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26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26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26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26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26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6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A bottle people may notice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F5822-FB85-4450-B799-EB20457C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9562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5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5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5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5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5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5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5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5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5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15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Distinctive visual assets are useful, but not proof of demand or repeat.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C5055C-5F9C-4578-B848-730CCD59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764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A3247D-5BE3-4CB8-AAC3-D5AAEEDC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19375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THE GAP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5F68A9-ABAA-4881-BA8B-37BDAB47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05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WORKING CONSTRAINT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98085-D772-4726-A400-54797169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622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6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26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26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26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26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26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26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26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26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26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26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26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No proven repeat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2D0D93-86D1-4516-86C2-4C9309F5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95625"/>
            <a:ext cx="3714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350" b="0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350" b="0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350" b="0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350" b="0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350" b="0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350" b="0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350" b="0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350" b="0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350" b="0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Working diagnosis only. Falsify it by: Reject this diagnosis if founder, customer and cohort evidence already shows a clear occasion, strong unprompted proposition recall and profitable repeat without increased discounting.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F0BD33-DBB2-41AE-8C97-9B18FEFB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9804BF-357D-43FD-BCD9-22DC87A6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LOA may have a memorable bottle, but it has not yet proved the specific occasion, reason to choose or route from first taste to profitable repeat.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DA0E3A-3F7E-4687-A416-3AD96FE1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CF49FD-82BC-4122-9008-5BA7261E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8C87BA-1F5E-4F7E-888C-6AAAAE77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F127D2-1135-4640-A6CE-CD214689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03 / 21</a:t>
            </a:r>
          </a:p>
        </p:txBody>
      </p:sp>
    </p:spTree>
    <p:extLst>
      <p:ext uri="{BB962C8B-B14F-4D97-AF65-F5344CB8AC3E}">
        <p14:creationId xmlns:p14="http://schemas.microsoft.com/office/powerpoint/2010/main" val="21022653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FFDF24-167E-4D24-A8AF-3FCF99A1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1 / THE CASE FOR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3D4DD-C00C-4D6A-B245-91877641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strategic moves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7BAE8-4E14-4EBE-A913-4A18F7F2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D2A60-3224-47BC-B874-6C2780B8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238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682DA-AA3B-48AF-A1EA-FD7DE8A0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OWN THE BRIGHTER PAUSE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8C832B-9F55-4717-A3C1-4E948C28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Qualified demand and conversion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EF36C0-7413-4E6C-B206-EC53E343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2781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Founder interview, occasion research and controlled proposition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F330E-BFEE-43AD-A615-FD4D7612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57375"/>
            <a:ext cx="3238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D5FB3-E8D9-459D-BB6A-BCE284EB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336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MAKE THE POUR THE PROOF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C68CC9-D1C6-4320-B9DA-B207BC4D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4795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Comprehension, trial and memorability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F3D2BD-855D-4DA6-8DB6-983D9382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24250"/>
            <a:ext cx="2781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Creative recognition, comprehension and qualified sample-to-site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871FD6-AFD6-4FB5-8AF9-50DAFAB8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57375"/>
            <a:ext cx="3238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1AD470-EBA4-48AF-90DC-41FFB212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336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TURN TRIAL INTO REPEAT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EECA3D-1E34-4AC2-A813-7F2373C7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4795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Repeat and distribution productivity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C297CD-9FA2-44CC-B81F-13A82D2D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24250"/>
            <a:ext cx="2781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One-city cohort test of repeat and retailer sell-through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6D6F7C-D510-488F-869A-8A376D14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3566FD-3C7C-4E5A-970D-199FADB9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Own the brighter pause, make the pour the proof, then turn concentrated trial into measured repeat.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8E24A6-C220-47F5-B4B7-1FDAD45F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A4, A5, A6, A7, A8, A9, C1, C2, E1, E2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75A366-9DD5-4925-B063-56825536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B7B0C7-691D-431B-B9A7-D8E56237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11CAFF-22B5-4B38-9250-6FC34E73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04 / 21</a:t>
            </a:r>
          </a:p>
        </p:txBody>
      </p:sp>
    </p:spTree>
    <p:extLst>
      <p:ext uri="{BB962C8B-B14F-4D97-AF65-F5344CB8AC3E}">
        <p14:creationId xmlns:p14="http://schemas.microsoft.com/office/powerpoint/2010/main" val="8076034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512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FEA720-292E-403E-8B77-D2F34744D2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c377a1a9c94ab1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CEE86-758A-48C9-A779-A459C491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1B">
              <a:alpha val="90980"/>
            </a:srgbClr>
          </a:solidFill>
          <a:ln xmlns:a="http://schemas.openxmlformats.org/drawingml/2006/main" w="0">
            <a:solidFill>
              <a:srgbClr val="15121B">
                <a:alpha val="9098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14A69-1267-48FC-AF16-E386A74C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1 / THE CASE FOR CHANGE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6528D-CC44-4E12-B4FE-D135F768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22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22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22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22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22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22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22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22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22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2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What the future could look like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95025F-21C3-4885-8898-E819CC19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4857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36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36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36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36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36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36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36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36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36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36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36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A Brighter Pour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EE0DD-72C9-4AB2-86B3-E8BDCA67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476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5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5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5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5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5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5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5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5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5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Turn the small social pause into something vivid: an unmistakable LOA pour, served with food, colour and a little ceremony.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F662BA-3CE8-4983-9F98-40FEC714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CREATIVE ILLUSTRATION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0AF603-D8BC-4BD6-A6EA-E0598AA5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0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0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0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0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0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0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0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0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0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050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Fictional visual proof. Test relevance, distinctiveness and product comprehension before selection.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CD027F-CD85-4197-890C-180554EF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SOURCES: A5, C1, 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1037B-134C-4FC7-88D5-9A471F5B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CREATIVE ILLUSTRATION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406D40-ECDB-49F1-838B-FDAFE300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07CEBC-5795-429A-B1D1-CC2CA841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05 / 21</a:t>
            </a:r>
          </a:p>
        </p:txBody>
      </p:sp>
    </p:spTree>
    <p:extLst>
      <p:ext uri="{BB962C8B-B14F-4D97-AF65-F5344CB8AC3E}">
        <p14:creationId xmlns:p14="http://schemas.microsoft.com/office/powerpoint/2010/main" val="727545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F2919B-8B95-44C2-A651-7151234F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1 / THE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B50F5-2452-4F9A-9F90-2451E189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Opportunity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90BF05-B01C-4147-968A-BBEC9CF6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869B6-EECE-44D7-AB69-A6EA085D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7096125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20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20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20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20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20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20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20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20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20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0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base case produces a £1,528 first-year contribution proxy after £65,000 of assumed investment. Verify every input before committing.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FF3288-39AB-4815-B1CC-7286BCE5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8F049-1622-4FE0-8F83-FF940F42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19350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SCENARIO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9C7F6-968A-45AC-805D-4BFBFE53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81325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AD7F77-891E-46DD-96E6-C290DDB4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286125"/>
            <a:ext cx="1885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  <a:lvl1pPr algn="ctr">
              <a:defRPr sz="12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1pPr>
            <a:lvl2pPr algn="ctr">
              <a:defRPr sz="12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2pPr>
            <a:lvl3pPr algn="ctr">
              <a:defRPr sz="12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3pPr>
            <a:lvl4pPr algn="ctr">
              <a:defRPr sz="12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4pPr>
            <a:lvl5pPr algn="ctr">
              <a:defRPr sz="12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5pPr>
            <a:lvl6pPr algn="ctr">
              <a:defRPr sz="12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6pPr>
            <a:lvl7pPr algn="ctr">
              <a:defRPr sz="12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7pPr>
            <a:lvl8pPr algn="ctr">
              <a:defRPr sz="12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8pPr>
            <a:lvl9pPr algn="ctr">
              <a:defRPr sz="12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ctr">
              <a:defRPr sz="12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Validate before investment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0D5ECF-6444-4400-93D8-E436E5E2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A949B7-3D92-4E37-89D3-9762583C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LOA could test an annualised ecommerce revenue scenario of £547,200, £443,520 above the assumed baseline.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8C63B-5E78-4C64-964B-59320CB5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A1, A2, A3, A7, A8, A9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3F80BC-5591-4017-A71C-E88BA7C6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MODELLED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EB34D3-72CB-4B66-AE7C-0D00670A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15ADA2-B262-4E98-B8E3-6807742B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06 / 21</a:t>
            </a:r>
          </a:p>
        </p:txBody>
      </p:sp>
    </p:spTree>
    <p:extLst>
      <p:ext uri="{BB962C8B-B14F-4D97-AF65-F5344CB8AC3E}">
        <p14:creationId xmlns:p14="http://schemas.microsoft.com/office/powerpoint/2010/main" val="18475933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4B1C5D-06C3-4875-B058-FFA0A053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1 / THE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E8801-76A3-4F16-830A-F4BDF42F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scenario bridge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367BAD-AE4B-42C1-BE36-05080233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AFB60-3B68-40A9-ABE8-43D166CD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4476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8A497-C52C-4D3C-ABA1-B5A4D983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288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01 CLAIM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B7A2C2-3A07-454E-9E0F-6C1438DF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62250"/>
            <a:ext cx="3429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15755B-9681-4415-929C-E2D694B1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9813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02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76223D-9FDA-42F8-9D52-CA41197D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1475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40156E-4FCD-46AA-BE5E-EF39BA06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338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03 METHOD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5E0890-F9DF-4483-A244-B76468C0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400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sequential bridge reconciles to £443,520. The attribution order is a modelling convention.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42170A-A361-4B58-89C3-9A4C326E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0C421-EA8E-4BD8-AA63-58015AC8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Traffic contributes £241,920; Conversion contributes £115,200; Average order value contributes £86,400.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2BA59B-4DCA-4392-B2CB-393037B9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A1, A2, A3, A7, A8, A9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2A6E47-C941-4DCF-BE4F-F4EB996E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MODELLED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461C5C-6B96-408E-9D08-A15B2B8F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CA0932-C489-4C84-9A88-3F579DF4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07 / 21</a:t>
            </a:r>
          </a:p>
        </p:txBody>
      </p:sp>
    </p:spTree>
    <p:extLst>
      <p:ext uri="{BB962C8B-B14F-4D97-AF65-F5344CB8AC3E}">
        <p14:creationId xmlns:p14="http://schemas.microsoft.com/office/powerpoint/2010/main" val="7527410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AC01D8-E7EA-4D02-AFD8-B59A4F21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2 / THE CONSTRAINT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D8F9E8-120F-4E4A-BCC4-84BDEA0A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Constraint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5E527-BD19-4C17-8382-82337505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B4D64-8115-40C7-8A6E-6C99329E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4476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E5C201-0A8E-4536-BD0A-43CFD8BC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288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01 CLAIM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D66C05-7EC0-49B5-BB78-CF461806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62250"/>
            <a:ext cx="3429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12EB0-11D4-4DF3-B6AD-C602215F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9813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02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12F5C-7E59-48D8-9170-DA568AA4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1475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8AAB60-250D-451F-B64A-A0439FD4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338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03 METHOD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75D10B-68E6-487F-A6C2-885BA8F3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400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Reject this diagnosis if founder, customer and cohort evidence already shows a clear occasion, strong unprompted proposition recall and profitable repeat without increased discounting.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F90BD-9C09-4C60-8CC0-66F6F4A0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3E09ED-0D0D-4907-9AD8-2BB860A1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LOA may have a memorable bottle, but it has not yet proved the specific occasion, reason to choose or route from first taste to profitable repeat.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6DCBCB-B36F-4984-9605-7DC8629C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0C2FF1-6038-4182-8354-20830C86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662AFF-FB78-4773-9726-1CA5E213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45DE0-D7DA-44CE-991F-7FCA5ADA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08 / 21</a:t>
            </a:r>
          </a:p>
        </p:txBody>
      </p:sp>
    </p:spTree>
    <p:extLst>
      <p:ext uri="{BB962C8B-B14F-4D97-AF65-F5344CB8AC3E}">
        <p14:creationId xmlns:p14="http://schemas.microsoft.com/office/powerpoint/2010/main" val="17343706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F893D5-253A-4A78-A573-C16D6226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2 / THE CONSTRAINT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7058E-094E-4146-9303-F6E95F6A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What would disprove the diagnosis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7D14AB-053E-4752-B511-C94E09CC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55F8B7-2B0F-42EB-953F-65843722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40086D-2115-4EE8-8E0F-24500C98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1462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218DC-87E0-4C31-8C3C-56B1D9F4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9241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9110AD-6218-4FDA-831B-58842FDF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4812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  <a:lvl1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1pPr>
            <a:lvl2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2pPr>
            <a:lvl3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3pPr>
            <a:lvl4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4pPr>
            <a:lvl5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5pPr>
            <a:lvl6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6pPr>
            <a:lvl7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7pPr>
            <a:lvl8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8pPr>
            <a:lvl9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FOUNDER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417BEE-2BD3-4C3A-9A77-FAF2DB5F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1462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C66F6D-3600-473E-960D-DD1AA0C1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241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B0CD70-AFA2-488F-BFE3-E2DC78B6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4812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  <a:lvl1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1pPr>
            <a:lvl2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2pPr>
            <a:lvl3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3pPr>
            <a:lvl4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4pPr>
            <a:lvl5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5pPr>
            <a:lvl6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6pPr>
            <a:lvl7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7pPr>
            <a:lvl8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8pPr>
            <a:lvl9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RETAIL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880AF5-B9F0-4BF7-A271-4384F3C1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1462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1EBAC-1CE1-4DED-BB82-F59B1045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241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0EFA22-ABED-4BB9-870F-69EE1734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04812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  <a:lvl1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1pPr>
            <a:lvl2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2pPr>
            <a:lvl3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3pPr>
            <a:lvl4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4pPr>
            <a:lvl5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5pPr>
            <a:lvl6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6pPr>
            <a:lvl7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7pPr>
            <a:lvl8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8pPr>
            <a:lvl9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CRM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B42AFC-AB19-465E-989C-10815432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09750"/>
            <a:ext cx="723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ctr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ctr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ctr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ctr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ctr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ctr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ctr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ctr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ctr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ctr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Reject this diagnosis if founder, customer and cohort evidence already shows a clear occasion, strong unprompted proposition recall and profitable repeat without increased discounting.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F73EC1-552C-4152-AC02-4822E0D9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E5B07B-C223-4513-83B8-949E6989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diagnosis fails if LOA already owns a clear occasion and existing cohorts repeat profitably without heavier discounting.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61038A-AD8F-40C5-8021-BC93EA71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6447C1-74AC-4B59-B7A8-377BE07C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E61C50-8BD8-4D47-80F4-BEBCC3A0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5B10AD-83A5-4629-B234-E2E8E4A6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09 / 21</a:t>
            </a:r>
          </a:p>
        </p:txBody>
      </p:sp>
    </p:spTree>
    <p:extLst>
      <p:ext uri="{BB962C8B-B14F-4D97-AF65-F5344CB8AC3E}">
        <p14:creationId xmlns:p14="http://schemas.microsoft.com/office/powerpoint/2010/main" val="19717863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0233FE-73EC-4DF1-8A17-2478D3D6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3 / THE ADVANTAGE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B53C6-981C-41E5-B34E-2C8657CB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Advantage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D10F3-2AF4-4593-99DA-E818F3BD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C4A8E3-DE26-40EB-9878-1DFCE1CD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7239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A8C1E-B636-469D-B6E6-6291C3F0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33875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D7A"/>
          </a:solidFill>
          <a:ln xmlns:a="http://schemas.openxmlformats.org/drawingml/2006/main" w="0">
            <a:solidFill>
              <a:srgbClr val="756D7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D767C-5526-480C-A355-6F89C554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95500"/>
            <a:ext cx="190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D7A"/>
          </a:solidFill>
          <a:ln xmlns:a="http://schemas.openxmlformats.org/drawingml/2006/main" w="0">
            <a:solidFill>
              <a:srgbClr val="756D7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61C26-CC5A-4768-B09E-D67A8613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GENERIC REFRESHMENT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9C86C-C82B-4601-8398-C58191F5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OCCASION SPECIFIC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8BFC52-0B8F-4AC8-8409-B6B4F14A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526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PROVEN RITUAL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8DC1DD-6BF1-40BE-9708-CDC2E6D2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0698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0F08BF-C077-45DA-AED0-7CAE3379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2128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 BRIGHTER POUR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E5AA0C-66CD-4E19-B9F2-58DCDA93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62125"/>
            <a:ext cx="3114675" cy="3333750"/>
          </a:xfrm>
          <a:prstGeom xmlns:a="http://schemas.openxmlformats.org/drawingml/2006/main" prst="roundRect">
            <a:avLst>
              <a:gd name="adj" fmla="val 2446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054240-E779-47EC-98EE-D12D9FA4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THE GAP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47421C-8C39-4883-9608-2DB985E8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95525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A vivid adult soft-drink ritual for everyday social pauses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438BCB-E1B2-45B4-A98A-EB8AFE8E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33725"/>
            <a:ext cx="2333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WHO IT MATTERS 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BBC301-F32B-4144-8733-FCE7F3FE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9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9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9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9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9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9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9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9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9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Adults seeking a grown-up soft option; definition requires research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C0FCA5-5A7E-46C0-9D50-AABDB200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333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WHY COMPETITORS MISS 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421414-3923-4C08-A14A-34B21AAA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10050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No competitor position is asserted until research is completed.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9DCB1B-1017-4005-98D8-06F19A1D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C447DE-DB09-43F3-A3FA-16D93DFC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LOA could turn its coral bottle and optimistic visual language into a recognisable adult soft-drink ritual: a brighter pour for social pauses that deserve more than water and less than alcohol.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7F26EC-9C07-428E-970D-0702E728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A5, C2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F4CC94-68D3-46C9-9901-19CB1E0B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C1C3ED-A0CE-4BC8-BDC5-07C681F9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C6D419-5F01-4B3B-A09A-5B0B010E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10 / 21</a:t>
            </a:r>
          </a:p>
        </p:txBody>
      </p:sp>
    </p:spTree>
    <p:extLst>
      <p:ext uri="{BB962C8B-B14F-4D97-AF65-F5344CB8AC3E}">
        <p14:creationId xmlns:p14="http://schemas.microsoft.com/office/powerpoint/2010/main" val="3848737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9FF990-CC22-4E06-8894-FD3E4D01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3 / THE ADVANTAGE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88404-EE80-4EFD-A005-2EF2849D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advantage needs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81B49-33D0-4F65-BDB0-23B14B48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A6E65-D6B8-42E0-AAAA-1B347887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1435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D04E8C-363C-4F2E-9D87-959411F3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EVIDENCE TO COLLECT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CC1DF-84AA-4411-8E26-7EFAF826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CUSTOMER EVIDENCE REQUIRED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BD8D2F-D62A-4147-BCA8-AFA43127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Map real social pauses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F4E1E-5329-48DE-B31C-15C8F58D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Test the bright-pour proposition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ACB7CB-619A-4596-ABF3-DEEF97AA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Measure trial and repeat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CA45C7-E3A0-4BC6-87CB-4905780E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542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62C376-50B1-46A8-B2B5-50ACB10A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669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BRAND ASSET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5F1067-F77B-4DFF-8EEF-B50EE432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28800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A distinctive bottle illustration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B3A3D-0B5B-424B-BCC7-E5C12C5F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28900"/>
            <a:ext cx="542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348FA1-B54B-44BF-883E-F7BF9A6D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813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CUSTOMER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06A4D6-4672-485F-AB79-048D0765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43200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Not yet supplied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DAA3A1-3DF4-401D-9D26-FF333339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43300"/>
            <a:ext cx="542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2674AC-CE6D-4DB9-BEC8-69587656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957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CHOICE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16FE87-7EB5-4141-87B1-97574B17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57600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Required before selection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D06310-3C66-44BA-AE81-60D50AB1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1487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  <a:lvl1pPr algn="ctr">
              <a:defRPr sz="12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1pPr>
            <a:lvl2pPr algn="ctr">
              <a:defRPr sz="12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2pPr>
            <a:lvl3pPr algn="ctr">
              <a:defRPr sz="12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3pPr>
            <a:lvl4pPr algn="ctr">
              <a:defRPr sz="12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4pPr>
            <a:lvl5pPr algn="ctr">
              <a:defRPr sz="12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5pPr>
            <a:lvl6pPr algn="ctr">
              <a:defRPr sz="12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6pPr>
            <a:lvl7pPr algn="ctr">
              <a:defRPr sz="12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7pPr>
            <a:lvl8pPr algn="ctr">
              <a:defRPr sz="12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8pPr>
            <a:lvl9pPr algn="ctr">
              <a:defRPr sz="12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ctr">
              <a:defRPr sz="12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The territory remains a hypothesis until customer choice and repeat evidence support it.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CFCEE9-BE54-481D-AE70-D945A92E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DD3DC9-19D8-4BFC-8960-7C02C1F1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Founder conviction can frame a hypothesis. Customer choice data must decide whether the advantage is real.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E1306C-A30F-4F6F-9173-1487A404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A5, C2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64A07E-1FF8-49E4-9CE6-FA3B93DF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55A3FD-D131-47A6-83F1-C04502B3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E0D11B-95A2-46F5-9D84-DED209F0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11 / 21</a:t>
            </a:r>
          </a:p>
        </p:txBody>
      </p:sp>
    </p:spTree>
    <p:extLst>
      <p:ext uri="{BB962C8B-B14F-4D97-AF65-F5344CB8AC3E}">
        <p14:creationId xmlns:p14="http://schemas.microsoft.com/office/powerpoint/2010/main" val="841241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7087B8-CD06-47C1-8206-364876E0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4 / THE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730EF-6066-4037-BB97-025080DE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Strategy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8906B-E7E0-43CB-8A1D-08764FB5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4C8F1-257F-46C6-96F7-57DA2F01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32004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164D7-F4B6-42E5-A90C-2E80DC8E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3EC76F-551F-4BC8-BB22-ABDE0F03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TENSION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0C600A-AE0D-4457-9CDD-F9E15E38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A memorable bottle without a proven buying occasion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C9859-1524-4CAB-93C1-C2332A0D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52625"/>
            <a:ext cx="32004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D2AB0A-8647-4BFC-BDF4-FD16502B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71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3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3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3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3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3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3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3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3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3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22778E-3755-460B-AD67-BAE61F4A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479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SHIFT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4E1D49-A765-454E-99A9-8F4D1078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8610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Make the LOA pour the recognisable ritual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3A208D-4E7A-4CE1-8363-A444F02F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52625"/>
            <a:ext cx="32004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2088FD-DE14-418E-84B6-F0A158AE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71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A309F8-2ECE-4D64-B30A-D9009512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479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RESOLUTION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4909D6-2656-4EF9-AF1C-CDA9D98E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8610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Link concentrated trial to measured repeat before reach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6B0744-467D-4ECF-A7A5-E344DEDA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19625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  <a:lvl1pPr algn="ctr">
              <a:defRPr sz="21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1pPr>
            <a:lvl2pPr algn="ctr">
              <a:defRPr sz="21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2pPr>
            <a:lvl3pPr algn="ctr">
              <a:defRPr sz="21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3pPr>
            <a:lvl4pPr algn="ctr">
              <a:defRPr sz="21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4pPr>
            <a:lvl5pPr algn="ctr">
              <a:defRPr sz="21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5pPr>
            <a:lvl6pPr algn="ctr">
              <a:defRPr sz="21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6pPr>
            <a:lvl7pPr algn="ctr">
              <a:defRPr sz="21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7pPr>
            <a:lvl8pPr algn="ctr">
              <a:defRPr sz="21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8pPr>
            <a:lvl9pPr algn="ctr">
              <a:defRPr sz="21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ctr">
              <a:defRPr sz="21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217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Give LOA one social job, then make the pour earn the next purchase.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D0DF27-48E2-46E6-BA2B-BCFD1F20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42F7ED-70B9-4EF2-887F-0440E11D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Give LOA one ownable social job, make the bright-pour ritual unmistakable, then connect selective trial to measured repeat before buying reach.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D93999-D5F9-4791-8751-D17B2EF1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A4, A5, A6, A7, A8, A9, C1, C2, E1, E2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EED39E-7654-4C03-8A7F-56A682AF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FB0217-DFEE-49FB-BB59-355BB34C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A3A5F3-0EC4-435E-91D2-749BEA52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12 / 21</a:t>
            </a:r>
          </a:p>
        </p:txBody>
      </p:sp>
    </p:spTree>
    <p:extLst>
      <p:ext uri="{BB962C8B-B14F-4D97-AF65-F5344CB8AC3E}">
        <p14:creationId xmlns:p14="http://schemas.microsoft.com/office/powerpoint/2010/main" val="10017736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C777A7-02E7-4ECD-B043-19169CDA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4 / THE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30197B-4DF2-41EF-98F7-4E6F9BCD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Three moves, three tests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37470-D977-4941-BE4E-E003D312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F5C1A-06B5-421E-BAD1-BD58B4F3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33337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CFD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B1768-3C79-4C36-A58A-95EB5019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01 / OWN THE BRIGHTER PAUSE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52059-83DE-45FD-8022-7586B98F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89F02-62AC-401D-BF64-452C1BB8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286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Qualified demand and conversion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C4A794-611E-47E6-AE44-2694DBC2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TENSION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1DEF7D-065A-48CE-8525-D73262EA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6860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A sharper occasion excludes generic refreshment traffic and must earn credibility.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28503A-3F1E-404E-834A-E94EC244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49AEF0-5344-4DCF-AA3D-3ED74CA0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0861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Founder interview, occasion research and controlled proposition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1AAA8-3C85-435B-B41A-E6E4C6EE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ASSET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3D9054-7A77-4217-BF39-65A4B916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486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Strategy Director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358173-3BE3-4AC5-A921-A4C910F3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38300"/>
            <a:ext cx="33337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9EC50F-C28A-4E2D-94A1-D7140FFD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478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02 / MAKE THE POUR THE PROOF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E87F5E-1AF9-49F5-8897-72A1F233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2410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ROLE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419B29-4489-4808-85C2-DB5EC504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286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Comprehension, trial and memorability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2639E5-E554-4D5E-972F-7AE240D0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241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TENSION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704692-1A5C-4539-995F-45A41D46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6860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Product-centred work will reveal any weakness in taste, pack, serve or availability.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E9F12B-70AF-439D-A383-872735DF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2420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PROOF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EA18CB-E82E-43C2-87DA-6859D56B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0861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Creative recognition, comprehension and qualified sample-to-site 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EF1245-57A7-4AFB-A20B-8A6FA771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242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ASSET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7D2170-FBA1-4C5E-8697-6FC830B3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486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Creative Director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FB45E8-30BC-432F-AF3D-B5F7CD9F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38300"/>
            <a:ext cx="33337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CFD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279001-6F13-47D1-ACCA-3BECAE92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478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03 / TURN TRIAL INTO REPEAT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EF139D-F14D-4A42-BA31-18BDD307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2410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ROLE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72539A-BAE4-449D-BB97-7689883C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86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Repeat and distribution productivity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5BF980-0B57-4BEF-BE92-1C7C5FE3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TENSION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0BA89C-4B1F-4AA1-9C46-D1DFD1DB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6860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Geographic focus slows broad awareness while protecting cash and learning quality.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79B66E-F644-4BED-B03D-F27B5D2C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2420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PROOF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03294D-B922-406C-B022-D6601DCE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0861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One-city cohort test of repeat and retailer sell-through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C5C1A5-0FCD-4FFB-AB6B-08263939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242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ASSET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C5B90E-782F-4325-8697-E68250E8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486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Growth Strategy Director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3948ED-5186-436C-BBDA-8DA35426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3238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VERBAL ASSETS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2BDA3C-7CEA-4E6E-95F2-5203CC3C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Specific promise • Visible proof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FE96BD-1502-4302-8331-85CB6A84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86250"/>
            <a:ext cx="3238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TONE + MOTION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6A8F44-844E-4CFC-AE22-273A3934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148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Direct • Useful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CE5115-6C08-43F5-8A0E-BE3E8FC3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86250"/>
            <a:ext cx="3238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RECURRING FORMATS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F1FAC1-5386-43B9-83D9-714040D2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148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Claim and proof • Test and result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CF7F03-D74D-4FF5-BE27-BF075F1D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7FFFA3-EFAE-4BE6-9B97-40A0BE72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strategy connects each recommendation to a measurable commercial lever.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6EB423-6F84-4704-B575-256C120A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A4, A5, A6, A7, A8, A9, C1, C2, E1, E2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E168D8-1143-46AA-8181-62E232C1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45B636-6471-450D-A2F5-E7B79325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F8C026-FAE4-4544-8C22-4647F042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13 / 21</a:t>
            </a:r>
          </a:p>
        </p:txBody>
      </p:sp>
    </p:spTree>
    <p:extLst>
      <p:ext uri="{BB962C8B-B14F-4D97-AF65-F5344CB8AC3E}">
        <p14:creationId xmlns:p14="http://schemas.microsoft.com/office/powerpoint/2010/main" val="20990846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512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EEFD6A-039E-4A58-9B45-579D6DA5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5 / THE CREATIVE FUTURE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95FA4F-E24C-4BBC-8469-9239CD08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The Creative Future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78CD6-BF20-4040-BE67-53C2B864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9C3D38-832C-4F7B-8BD0-1ABA5E13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25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25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25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25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25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25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25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25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25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5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POUR BRIGHTER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53900F-659F-4D27-A6A6-524919AE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 i="1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500" b="0" i="1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500" b="0" i="1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500" b="0" i="1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500" b="0" i="1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500" b="0" i="1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500" b="0" i="1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500" b="0" i="1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500" b="0" i="1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500" b="0" i="1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500" b="0" i="1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1500" b="0" i="1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meets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3D044D-4CC2-4258-BE30-459CF11B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95625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25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25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25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25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25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25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25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25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25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25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MAKE THE PAUSE MATTER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6211BB-42FC-4EE9-9836-01BB5806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478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30411D-62CC-4904-B19E-A503E669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847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PRODUCT 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DE977B-2BCE-4DDF-903B-73014323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1145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Bottle, opening and pour are the mnemonic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5D04E3-5FB5-4524-8295-D0DAA3A3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479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2C1F45-5DB6-4FDC-9771-10782938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479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APPETITE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338A3D-6955-4A34-9B7E-F9FB2594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1467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Food, glass, bubbles and condensation stay tactile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A9A5DF-58A1-4020-8789-5F727A16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481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8ADA2F-7731-43D3-9629-EE314460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481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ORDINARY TO VIVID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0CA526-7967-46A4-8678-B59E0BFA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148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Colour arrives through the serve, not visual noise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D91125-5D17-4B02-AD10-261F218B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63C2D5-1C01-4072-9CE4-5F65FC8A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A Brighter Pour: Turn the small social pause into something vivid: an unmistakable LOA pour, served with food, colour and a little ceremony.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889260-B0A6-46F2-ACAB-803BD897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SOURCES: A5, C1, C2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5E0147-B647-4094-B1EC-3593459F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CREATIVE ILLUSTRATION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49BD13-ECE4-4159-B28B-E27851A8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F37814-61C4-4DFB-ACBE-7DD6980E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14 / 21</a:t>
            </a:r>
          </a:p>
        </p:txBody>
      </p:sp>
    </p:spTree>
    <p:extLst>
      <p:ext uri="{BB962C8B-B14F-4D97-AF65-F5344CB8AC3E}">
        <p14:creationId xmlns:p14="http://schemas.microsoft.com/office/powerpoint/2010/main" val="15154181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512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E6F8BF-D5B2-4D24-9455-007056CB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5 / THE CREATIVE FUTURE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80292F-2C10-4521-9D11-F3F8A55D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The campaign behaviour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304C60-3480-42B9-B19F-D8E316DB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253A4-E4B8-4EF8-B707-6744A7DB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1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1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1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1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1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1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1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1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1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11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A six-second film opens on the flat hum of a convenience-store cooler. A coral LOA bottle is lifted, opened and poured beside a late lunch; the scene warms as the bubbles rise.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29AC3-5B54-45DF-9921-F5DEC60F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9525">
            <a:solidFill>
              <a:srgbClr val="FF654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9D129-32B1-4E69-A898-4F85ED6D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288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26AF47-3CA6-459F-8D01-056A322E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0512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PRODUCT FIRST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D56DB-00F5-41DB-8031-0A1282A2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Bottle, opening and pour are the mnemonic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E48014-405C-4C33-A23C-C6E0099B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5A2E78"/>
          </a:solidFill>
          <a:ln xmlns:a="http://schemas.openxmlformats.org/drawingml/2006/main" w="9525">
            <a:solidFill>
              <a:srgbClr val="FF654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DB330F-7FE4-4198-8065-23979F52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003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D3D1BB-1B47-4446-9A6E-91DE1C60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765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APPETITE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3542AD-B04D-4A93-892D-B0EBDA58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004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Food, glass, bubbles and condensation stay tactile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EF02DE-4B7A-461B-9D74-C8FC346E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3365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9525">
            <a:solidFill>
              <a:srgbClr val="FF654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2ECB60-8A6A-4839-B052-F86ED546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717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71EA09-A01F-46D3-BB40-8A9841E2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4802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ORDINARY TO VIVID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09B10F-C8F6-449E-9B37-D4B04763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719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Colour arrives through the serve, not visual noise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448DE2-809F-42D4-B82A-8B12BD68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BA274C-CE01-4AB5-942A-B21B9AE9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Turn the small social pause into something vivid: an unmistakable LOA pour, served with food, colour and a little ceremony.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62CA37-1477-43FE-A6C3-D89D1861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SOURCES: A5, C1, C2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A281E3-DBFC-41ED-9D88-87FE8B61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CREATIVE ILLUSTRATION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D6161B-E6FF-4656-BC0E-563F9EEF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454077-DC59-45C8-AB71-BD878B7F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15 / 21</a:t>
            </a:r>
          </a:p>
        </p:txBody>
      </p:sp>
    </p:spTree>
    <p:extLst>
      <p:ext uri="{BB962C8B-B14F-4D97-AF65-F5344CB8AC3E}">
        <p14:creationId xmlns:p14="http://schemas.microsoft.com/office/powerpoint/2010/main" val="2987618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F9C7FA-FD6C-45CC-AF66-4E836851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6 / THE GROWTH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06E4D-E28E-430F-9AFB-75E203CD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Growth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AE039-9020-4A3E-9669-1EB89F1F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F1F13-D985-47DA-9E31-A3FDE0F2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Selective wholesale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16330-0832-4A2D-A97D-810E45E9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764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Place LOA inside the target occasion and observe sell-through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44B2AC-6C9D-4DEF-86C5-95927DD8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14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Stockist economics, weekly sell-through and reorder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F8231-06AA-447C-9887-1DCED6A1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2920F8-8871-4976-9AE6-941861D3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Sampling and partnerships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504B88-CD96-4419-A8DD-4FB0989D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241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Create qualified first taste around food, design and culture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0B04DF-E837-4771-99C0-080A3C73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62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Permission, sample-to-site capture, cost and product feedback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CE4A99-37CF-4030-BA64-89BE4D66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A51FD5-B4A4-4E2F-ADF4-3AD946E4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10896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D8D2"/>
          </a:solidFill>
          <a:ln xmlns:a="http://schemas.openxmlformats.org/drawingml/2006/main" w="0">
            <a:solidFill>
              <a:srgbClr val="F8D8D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4B40BB-7E90-49A0-B9E0-0A22E134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Owned DTC and CRM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A11843-AE1C-41C4-9E9D-B64956AC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718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Convert mixed-case trial into measured replenishment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05F366-79E8-47C9-8111-CDCEA3EF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099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Net conversion, second purchase, opt-out and contribution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01351E-529C-46DE-A4E8-B3CE7956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99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F3144C-C5AC-47B3-817B-40604193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Paid social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8A80B6-794F-4B82-8DCD-80609EEE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195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Scale only the creative and occasions already linked to repeat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320336-E447-4AF8-A566-0A24F22D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576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Incremental contribution after production and media cost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ACF63E-2706-459B-8AB8-12E23291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576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BC851B-BAE8-477E-BFB2-05A87D61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4BFDCA-332B-4A39-A47B-A69C074F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Use one city and a small number of food-led occasions to connect observed trial, DTC capture, replenishment and retailer sell-through before any national awareness spend.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14A9B6-839E-4EF2-92C2-5ED5C387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A6, A7, A8, A9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AEC4C3-F0E5-4728-99BD-3CA685FB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B56288-93A5-4884-86CC-397BA357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49263B-6C55-4089-9F5D-FC9644AD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16 / 21</a:t>
            </a:r>
          </a:p>
        </p:txBody>
      </p:sp>
    </p:spTree>
    <p:extLst>
      <p:ext uri="{BB962C8B-B14F-4D97-AF65-F5344CB8AC3E}">
        <p14:creationId xmlns:p14="http://schemas.microsoft.com/office/powerpoint/2010/main" val="123487744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F3D50D-8221-4210-A3B7-FE13FE8E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6 / THE GROWTH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A0BF1-8966-4EC7-AD1A-7CA86B16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Measurement before scale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93CD1-92CA-4BE2-9B66-FB65A60D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3B0200-CAC5-4FFA-926C-9A887442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23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48C21-5FBC-4128-BD3F-4A09FDF0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LEADING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8A97A3-1A2E-4DF0-83E9-26388C5E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4310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Brand attribution, occasion comprehension, qualified sample-to-site and retailer availability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6BB04B-45CA-4C01-95F6-E3CD7FE9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86050"/>
            <a:ext cx="628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CDDAE-58AF-4E24-9D1C-5E723238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323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2CF070-75FC-430D-8589-B37B825B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BEHAVIOURAL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B194A8-B2B9-484E-AB2D-B9E8BEAE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990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Net conversion, mixed-case uptake, second purchase, retailer sell-through and reorder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EA98EE-2774-4450-93AF-A7AEA09A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52850"/>
            <a:ext cx="628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92212B-0D16-4B77-BDC8-1710BFB7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323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AA174B-45BC-4A5D-8BD1-5538E398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COMMERCIAL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BF623C-7C23-4BBA-BDBE-7A9AB42A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7670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Contribution after product, fulfilment, sampling, production, media and distribution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3E9BA4-8DF3-4D92-955C-7AC8971F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A8905B-0F83-4C3B-B355-CAC05050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Leading indicators must move before the plan releases larger media or inventory commitments.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309BA4-DF42-4798-A857-54986B6D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A6, A7, A8, A9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ADAEC2-08EF-44DE-BACA-2F555C65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28DED6-26D9-48BE-A0CE-52CD0CD0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8CF08A-6390-4E09-B3FB-6CFD3A12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17 / 21</a:t>
            </a:r>
          </a:p>
        </p:txBody>
      </p:sp>
    </p:spTree>
    <p:extLst>
      <p:ext uri="{BB962C8B-B14F-4D97-AF65-F5344CB8AC3E}">
        <p14:creationId xmlns:p14="http://schemas.microsoft.com/office/powerpoint/2010/main" val="189599796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410C04-83B1-43F7-AEA0-2CCAEA3E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7 / THE NEXT 12 MONTHS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262E15-ACC8-4A26-BB40-B37B2257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Next 12 Months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FEF123-F20B-4C46-97D2-777AECD8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132CF-43F8-42E7-8684-1B97117F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238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CF9E09-9957-4E5A-9149-197ED606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Months 1-3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8FB75-B91D-4C35-A96C-E17368DB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Establish the truth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8A2B9D-262F-4948-B610-2596BB0A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2781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Verify unit economics, formulation and availability; interview founder, customers and trade; test three occasion propositions.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4C475D-4E0C-4704-87EB-08796C66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57375"/>
            <a:ext cx="3238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EA36E8-D6D4-4187-9897-2E432BA1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336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Months 4-6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10AA0E-A4B2-4BDE-8431-043668A9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4795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Prove the brighter pour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88FEE4-A452-43E4-BB00-C6F486EF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24250"/>
            <a:ext cx="2781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Run controlled creative, sampling, DTC capture and one-city wholesale tests using approved claims and assets.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55C47F-E6EF-4038-ABDA-FD82F6F6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57375"/>
            <a:ext cx="3238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5305D-2012-40AF-A9D9-39D17D9A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336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Months 7-9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41ECFB-78CF-4B4A-9441-4179550C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4795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Build the repeat system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F0C328-8BEF-4E98-A1D1-363A6136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24250"/>
            <a:ext cx="2781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Codify winning serve, content, CRM, replenishment and retailer reorder mechanics.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EC7AF8-6234-455D-8B4A-CA867571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EFABEC-CB32-4AA4-99FD-B4384CF1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A staged validation programme protects cash while the business replaces assumptions with evidence.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985954-3AFA-4DD8-AC68-7155545C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A4, A5, A6, A7, A8, A9, C1, C2, E1, E2, E3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1D5226-FAE4-4120-9A55-221D9E9C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E158FC-34C3-439A-B0AC-B19E705D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CD17F4-678A-41C3-9214-D9D2FE23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18 / 21</a:t>
            </a:r>
          </a:p>
        </p:txBody>
      </p:sp>
    </p:spTree>
    <p:extLst>
      <p:ext uri="{BB962C8B-B14F-4D97-AF65-F5344CB8AC3E}">
        <p14:creationId xmlns:p14="http://schemas.microsoft.com/office/powerpoint/2010/main" val="1639537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6F1844-517A-4881-91CB-4BFFB341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GOVERNANCE /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C02FC-71BA-4B01-B58A-387FF80C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Evidence and assumptions ledger (1 of 2)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746BA1-EA99-47EE-A85A-5539A52B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B10806-DAC4-487A-B099-112FA1E60BE3}"/>
              </a:ext>
            </a:extLst>
          </p:cNvPr>
          <p:cNvGraphicFramePr/>
          <p:nvPr/>
        </p:nvGraphicFramePr>
        <p:xfrm>
          <a:off xmlns:a="http://schemas.openxmlformats.org/drawingml/2006/main" x="647700" y="1752600"/>
          <a:ext xmlns:a="http://schemas.openxmlformats.org/drawingml/2006/main" cx="10896600" cy="3333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52450"/>
                <a:gridCol w="1381125"/>
                <a:gridCol w="4286250"/>
                <a:gridCol w="4676775"/>
              </a:tblGrid>
              <a:tr h="370417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ID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Class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Claim in this Blueprint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What would verify it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</a:tr>
              <a:tr h="370417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E1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VERIFIED EXTERNAL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The UK government announced that the lower Soft Drinks Industry Levy sugar threshold will reduce from 5g to 4.5g per 100ml from January 2028.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Confirm the final legislation and verify LOA recipes independently before making any formulation claim.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370417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E2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VERIFIED EXTERNAL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The UK government reported a 46% average reduction in sugar content in in-scope soft drinks between 2015 and 2020.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Use the latest official category data and obtain product-level evidence before commercial use.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370417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E3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VERIFIED EXTERNAL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The British Soft Drinks Association's 2025 annual report states that more than seven in ten UK soft drinks sold are low or no sugar.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Recheck the original report and triangulate with independent retail and customer evidence.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370417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LOA receives 180,000 ecommerce sessions per year.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Reconcile an authorised GA4 export to ecommerce sessions and orders.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370417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LOA converts 1.8% of ecommerce sessions to orders.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Agree the denominator and reconcile sessions to completed non-refunded orders.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370417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LOA has a £32 average ecommerce order value before returns, discounts and VAT treatment.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Calculate realised order value from an authorised transaction export.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370417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LOA's principal growth constraint is an attractive visual identity without a sufficiently specific occasion, proposition or trial-to-repeat system.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Run founder interviews, occasion research, proposition testing and a controlled conversion test.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370417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LOA could build an advantage by pairing its distinctive bottle with a clear role as the bright adult soft drink for social pauses.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Test the territory against category alternatives with target customers and trade buyers.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4D7160-6003-4E5F-973E-7AA09A2B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900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900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900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900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900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900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900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900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900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900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No verified client evidence appears in this fictional sample. Real external market context does not verify fictional company performance.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8621E7-F4D7-4CF8-A034-752E97BE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E1, E2, E3, A1, A2, A3, A4, A5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29EDC-ABD0-4F57-8E03-FB846C30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EVIDENCE REGISTER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D0E808-719D-4A1D-9BD6-E1172C2D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D98625-61A9-4894-AF49-02F8BD74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19 / 21</a:t>
            </a:r>
          </a:p>
        </p:txBody>
      </p:sp>
    </p:spTree>
    <p:extLst>
      <p:ext uri="{BB962C8B-B14F-4D97-AF65-F5344CB8AC3E}">
        <p14:creationId xmlns:p14="http://schemas.microsoft.com/office/powerpoint/2010/main" val="197632999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9F4452-8CD5-4808-87C0-5AE27E93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GOVERNANCE /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478E2D-2C59-4AF4-B54A-758BF52D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Evidence and assumptions ledger (2 of 2)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D1E65-124B-4FC0-8220-E7FA32A4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610F46-CCF2-4447-9991-1C12F6D11D98}"/>
              </a:ext>
            </a:extLst>
          </p:cNvPr>
          <p:cNvGraphicFramePr/>
          <p:nvPr/>
        </p:nvGraphicFramePr>
        <p:xfrm>
          <a:off xmlns:a="http://schemas.openxmlformats.org/drawingml/2006/main" x="647700" y="1752600"/>
          <a:ext xmlns:a="http://schemas.openxmlformats.org/drawingml/2006/main" cx="10896600" cy="3333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52450"/>
                <a:gridCol w="1381125"/>
                <a:gridCol w="4286250"/>
                <a:gridCol w="4676775"/>
              </a:tblGrid>
              <a:tr h="4762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ID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Class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Claim in this Blueprint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What would verify it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 city-led sampling, selective wholesale, DTC replenishment and CRM growth engine is operationally feasible.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Obtain contribution, capacity, distribution and cohort data before any activation.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A7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Incremental ecommerce revenue contributes 30% after product, fulfilment, payment, returns and incremental media costs.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Reconcile order-level net revenue and variable cost by product and channel.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A8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LOA could realise 30% to 60% of annualised ecommerce scenario headroom during the first 12 months.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Build a monthly plan with test velocity, stock capacity and seasonality.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A9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The first 12 months require £65,000 of incremental implementation investment beyond the £5,000 Growth Blueprint fee.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Obtain a costed activation plan before approval.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C1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CREATIVE ILLUSTRATION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 Brighter Pour is an illustrative campaign territory for fictional LOA.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Check strategic fit, distinction, comprehension and legal availability.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C2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CREATIVE ILLUSTRATION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Claude's existing LOA coral bottle hero and convenience-store film are reused as internal creative illustrations.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Matt must confirm source provenance, usage rights, product accuracy and client-facing suitability.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212F70-1C5D-449F-B300-3E7E613B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900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900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900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900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900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900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900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900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900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900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No verified client evidence appears in this fictional sample. Real external market context does not verify fictional company performance.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9551B-EF26-4CE4-B1FE-BC00AFBF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A6, A7, A8, A9, C1, C2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589A4-6750-4A29-AB0F-FE28E7E1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EVIDENCE REGISTER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D61979-BA67-4DA4-87CD-BFF5E496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8A2FDB-3090-4F39-8A95-A448D017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20 / 21</a:t>
            </a:r>
          </a:p>
        </p:txBody>
      </p:sp>
    </p:spTree>
    <p:extLst>
      <p:ext uri="{BB962C8B-B14F-4D97-AF65-F5344CB8AC3E}">
        <p14:creationId xmlns:p14="http://schemas.microsoft.com/office/powerpoint/2010/main" val="199902745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261A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A2CA76-C636-448F-B89C-4D5CDC40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DECISION / NEXT COMMITMENT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AE872-A179-428B-89B3-A184876A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The founder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181B8-4746-4E5F-85E4-60DDFB32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0FF45-A617-497D-BA23-4038D581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4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4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4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4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4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4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4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4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4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4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4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Fund proof,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F06AF-94C5-433A-8801-285FFAA9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3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3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3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3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3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3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3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3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3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3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3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not scale.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DE48C-E1F6-456C-A4E6-C5C8B57A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22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22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22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22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22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22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22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22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22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225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Release investment only as evidence improves.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4D0C0-C680-425F-AD6E-F39F7A7E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IMMEDIATE NEXT 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62295-A0E2-4DDB-B3E7-E5CA8E7C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Verify the baseline, cost the 12-week proof phase and approve only the first decision gate.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BE8E48-684F-4D63-9DE2-3E0819F7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SOURCES: E1, E2, E3, A1, A2, A3, A4, A5, A6, A7, A8, A9, C1, 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B05878-0171-4E0A-BE05-E9B14803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HUMAN DECISION REQUIRED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0B1EB3-B9DE-4766-A96C-8367AC74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  <a:lvl1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1pPr>
            <a:lvl2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2pPr>
            <a:lvl3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3pPr>
            <a:lvl4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4pPr>
            <a:lvl5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5pPr>
            <a:lvl6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6pPr>
            <a:lvl7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7pPr>
            <a:lvl8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8pPr>
            <a:lvl9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9FB44D-E5EF-4410-A270-C7636591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  <a:lvl1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1pPr>
            <a:lvl2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2pPr>
            <a:lvl3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3pPr>
            <a:lvl4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4pPr>
            <a:lvl5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5pPr>
            <a:lvl6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6pPr>
            <a:lvl7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7pPr>
            <a:lvl8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8pPr>
            <a:lvl9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21 / 21</a:t>
            </a:r>
          </a:p>
        </p:txBody>
      </p:sp>
    </p:spTree>
    <p:extLst>
      <p:ext uri="{BB962C8B-B14F-4D97-AF65-F5344CB8AC3E}">
        <p14:creationId xmlns:p14="http://schemas.microsoft.com/office/powerpoint/2010/main" val="11439003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2026-10-16T22:49:17.5000000Z</dcterms:created>
  <dcterms:modified xsi:type="dcterms:W3CDTF">2026-10-16T22:49:17.5000000Z</dcterms:modified>
</coreProperties>
</file>