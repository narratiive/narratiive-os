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c2760761f4ec1" /><Relationship Type="http://schemas.openxmlformats.org/officeDocument/2006/relationships/extended-properties" Target="/docProps/app.xml" Id="R16aef6d3007d494f" /><Relationship Type="http://schemas.openxmlformats.org/officeDocument/2006/relationships/officeDocument" Target="/ppt/presentation.xml" Id="Rce7e4d190fc6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154bdd63894c34"/>
  </p:sldMasterIdLst>
  <p:notesMasterIdLst>
    <p:notesMasterId xmlns:r="http://schemas.openxmlformats.org/officeDocument/2006/relationships" r:id="Re26d50e037ef425f"/>
  </p:notesMasterIdLst>
  <p:sldIdLst>
    <p:sldId xmlns:r="http://schemas.openxmlformats.org/officeDocument/2006/relationships" id="256" r:id="Rabe3ca3b98d94bd7"/>
    <p:sldId xmlns:r="http://schemas.openxmlformats.org/officeDocument/2006/relationships" id="257" r:id="R568e3b111f0a46d3"/>
    <p:sldId xmlns:r="http://schemas.openxmlformats.org/officeDocument/2006/relationships" id="258" r:id="R8ff726bc6aef4450"/>
    <p:sldId xmlns:r="http://schemas.openxmlformats.org/officeDocument/2006/relationships" id="259" r:id="R6b98c8c8f7be4bd2"/>
    <p:sldId xmlns:r="http://schemas.openxmlformats.org/officeDocument/2006/relationships" id="260" r:id="Rab8ef2f6fe5541d4"/>
    <p:sldId xmlns:r="http://schemas.openxmlformats.org/officeDocument/2006/relationships" id="261" r:id="R8ee82ef9314a40d6"/>
    <p:sldId xmlns:r="http://schemas.openxmlformats.org/officeDocument/2006/relationships" id="262" r:id="R1fc04db922104a3a"/>
    <p:sldId xmlns:r="http://schemas.openxmlformats.org/officeDocument/2006/relationships" id="263" r:id="R95bdfbeb7ccc4061"/>
    <p:sldId xmlns:r="http://schemas.openxmlformats.org/officeDocument/2006/relationships" id="264" r:id="R21a7c06c7dd944be"/>
    <p:sldId xmlns:r="http://schemas.openxmlformats.org/officeDocument/2006/relationships" id="265" r:id="R59da63c2c6ab4119"/>
    <p:sldId xmlns:r="http://schemas.openxmlformats.org/officeDocument/2006/relationships" id="266" r:id="R1d106f000bb84622"/>
    <p:sldId xmlns:r="http://schemas.openxmlformats.org/officeDocument/2006/relationships" id="267" r:id="Rf9b7e75c315743c9"/>
    <p:sldId xmlns:r="http://schemas.openxmlformats.org/officeDocument/2006/relationships" id="268" r:id="Re53946df6a6749c3"/>
    <p:sldId xmlns:r="http://schemas.openxmlformats.org/officeDocument/2006/relationships" id="269" r:id="R2d16d34403af448c"/>
    <p:sldId xmlns:r="http://schemas.openxmlformats.org/officeDocument/2006/relationships" id="270" r:id="R2eb32fc564554ff5"/>
    <p:sldId xmlns:r="http://schemas.openxmlformats.org/officeDocument/2006/relationships" id="271" r:id="R7728e5877c5445ea"/>
    <p:sldId xmlns:r="http://schemas.openxmlformats.org/officeDocument/2006/relationships" id="272" r:id="R5c05d0e761fb4c63"/>
    <p:sldId xmlns:r="http://schemas.openxmlformats.org/officeDocument/2006/relationships" id="273" r:id="R06b2e861b2b54777"/>
    <p:sldId xmlns:r="http://schemas.openxmlformats.org/officeDocument/2006/relationships" id="274" r:id="R8d5b906aa47a4b6f"/>
    <p:sldId xmlns:r="http://schemas.openxmlformats.org/officeDocument/2006/relationships" id="275" r:id="Ra20c3ec4fb5545ab"/>
    <p:sldId xmlns:r="http://schemas.openxmlformats.org/officeDocument/2006/relationships" id="276" r:id="Rd18e145778cd42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04b3483884e08" /><Relationship Type="http://schemas.openxmlformats.org/officeDocument/2006/relationships/slideMaster" Target="/ppt/slideMasters/slideMaster1.xml" Id="Rbf154bdd63894c34" /><Relationship Type="http://schemas.openxmlformats.org/officeDocument/2006/relationships/notesMaster" Target="/ppt/notesMasters/notesMaster1.xml" Id="Re26d50e037ef425f" /><Relationship Type="http://schemas.openxmlformats.org/officeDocument/2006/relationships/presProps" Target="/ppt/presProps.xml" Id="R74c929d219a245d0" /><Relationship Type="http://schemas.openxmlformats.org/officeDocument/2006/relationships/tableStyles" Target="/ppt/tableStyles.xml" Id="Rd9441d3bd2584a94" /><Relationship Type="http://schemas.openxmlformats.org/officeDocument/2006/relationships/slide" Target="/ppt/slides/slide1.xml" Id="Rabe3ca3b98d94bd7" /><Relationship Type="http://schemas.openxmlformats.org/officeDocument/2006/relationships/slide" Target="/ppt/slides/slide2.xml" Id="R568e3b111f0a46d3" /><Relationship Type="http://schemas.openxmlformats.org/officeDocument/2006/relationships/slide" Target="/ppt/slides/slide3.xml" Id="R8ff726bc6aef4450" /><Relationship Type="http://schemas.openxmlformats.org/officeDocument/2006/relationships/slide" Target="/ppt/slides/slide4.xml" Id="R6b98c8c8f7be4bd2" /><Relationship Type="http://schemas.openxmlformats.org/officeDocument/2006/relationships/slide" Target="/ppt/slides/slide5.xml" Id="Rab8ef2f6fe5541d4" /><Relationship Type="http://schemas.openxmlformats.org/officeDocument/2006/relationships/slide" Target="/ppt/slides/slide6.xml" Id="R8ee82ef9314a40d6" /><Relationship Type="http://schemas.openxmlformats.org/officeDocument/2006/relationships/slide" Target="/ppt/slides/slide7.xml" Id="R1fc04db922104a3a" /><Relationship Type="http://schemas.openxmlformats.org/officeDocument/2006/relationships/slide" Target="/ppt/slides/slide8.xml" Id="R95bdfbeb7ccc4061" /><Relationship Type="http://schemas.openxmlformats.org/officeDocument/2006/relationships/slide" Target="/ppt/slides/slide9.xml" Id="R21a7c06c7dd944be" /><Relationship Type="http://schemas.openxmlformats.org/officeDocument/2006/relationships/slide" Target="/ppt/slides/slide10.xml" Id="R59da63c2c6ab4119" /><Relationship Type="http://schemas.openxmlformats.org/officeDocument/2006/relationships/slide" Target="/ppt/slides/slide11.xml" Id="R1d106f000bb84622" /><Relationship Type="http://schemas.openxmlformats.org/officeDocument/2006/relationships/slide" Target="/ppt/slides/slide12.xml" Id="Rf9b7e75c315743c9" /><Relationship Type="http://schemas.openxmlformats.org/officeDocument/2006/relationships/slide" Target="/ppt/slides/slide13.xml" Id="Re53946df6a6749c3" /><Relationship Type="http://schemas.openxmlformats.org/officeDocument/2006/relationships/slide" Target="/ppt/slides/slide14.xml" Id="R2d16d34403af448c" /><Relationship Type="http://schemas.openxmlformats.org/officeDocument/2006/relationships/slide" Target="/ppt/slides/slide15.xml" Id="R2eb32fc564554ff5" /><Relationship Type="http://schemas.openxmlformats.org/officeDocument/2006/relationships/slide" Target="/ppt/slides/slide16.xml" Id="R7728e5877c5445ea" /><Relationship Type="http://schemas.openxmlformats.org/officeDocument/2006/relationships/slide" Target="/ppt/slides/slide17.xml" Id="R5c05d0e761fb4c63" /><Relationship Type="http://schemas.openxmlformats.org/officeDocument/2006/relationships/slide" Target="/ppt/slides/slide18.xml" Id="R06b2e861b2b54777" /><Relationship Type="http://schemas.openxmlformats.org/officeDocument/2006/relationships/slide" Target="/ppt/slides/slide19.xml" Id="R8d5b906aa47a4b6f" /><Relationship Type="http://schemas.openxmlformats.org/officeDocument/2006/relationships/slide" Target="/ppt/slides/slide20.xml" Id="Ra20c3ec4fb5545ab" /><Relationship Type="http://schemas.openxmlformats.org/officeDocument/2006/relationships/slide" Target="/ppt/slides/slide21.xml" Id="Rd18e145778cd42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203f7b80846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1aeeaaf96e4c70" /><Relationship Type="http://schemas.openxmlformats.org/officeDocument/2006/relationships/notesMaster" Target="/ppt/notesMasters/notesMaster1.xml" Id="Rab0b836fa59a47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63d7de9014ae4" /><Relationship Type="http://schemas.openxmlformats.org/officeDocument/2006/relationships/notesMaster" Target="/ppt/notesMasters/notesMaster1.xml" Id="Rb1ee817778af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da2bf6dc104cda" /><Relationship Type="http://schemas.openxmlformats.org/officeDocument/2006/relationships/notesMaster" Target="/ppt/notesMasters/notesMaster1.xml" Id="R41f612241012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93c0f200cb4dba" /><Relationship Type="http://schemas.openxmlformats.org/officeDocument/2006/relationships/notesMaster" Target="/ppt/notesMasters/notesMaster1.xml" Id="Rf932013130e7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6f5fb0c014425" /><Relationship Type="http://schemas.openxmlformats.org/officeDocument/2006/relationships/notesMaster" Target="/ppt/notesMasters/notesMaster1.xml" Id="R11934bafb3a14f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e455ace9a34416" /><Relationship Type="http://schemas.openxmlformats.org/officeDocument/2006/relationships/notesMaster" Target="/ppt/notesMasters/notesMaster1.xml" Id="Rb339a9e7db9249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49606da54343d7" /><Relationship Type="http://schemas.openxmlformats.org/officeDocument/2006/relationships/notesMaster" Target="/ppt/notesMasters/notesMaster1.xml" Id="R08bef0ae75904d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f1a4f92b84610" /><Relationship Type="http://schemas.openxmlformats.org/officeDocument/2006/relationships/notesMaster" Target="/ppt/notesMasters/notesMaster1.xml" Id="R5d3ca5d514a84f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84f111d9314c94" /><Relationship Type="http://schemas.openxmlformats.org/officeDocument/2006/relationships/notesMaster" Target="/ppt/notesMasters/notesMaster1.xml" Id="R5d7ef01a883444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511d5077fd4612" /><Relationship Type="http://schemas.openxmlformats.org/officeDocument/2006/relationships/notesMaster" Target="/ppt/notesMasters/notesMaster1.xml" Id="Rbd509fbf8a0649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f7d21bde2c4ad0" /><Relationship Type="http://schemas.openxmlformats.org/officeDocument/2006/relationships/notesMaster" Target="/ppt/notesMasters/notesMaster1.xml" Id="R3117e0e457b44f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1d1147134441e4" /><Relationship Type="http://schemas.openxmlformats.org/officeDocument/2006/relationships/notesMaster" Target="/ppt/notesMasters/notesMaster1.xml" Id="R2b863b0a337b4c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8f4117674f462a" /><Relationship Type="http://schemas.openxmlformats.org/officeDocument/2006/relationships/notesMaster" Target="/ppt/notesMasters/notesMaster1.xml" Id="R95f9cfdc68f740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3060861a9444a1" /><Relationship Type="http://schemas.openxmlformats.org/officeDocument/2006/relationships/notesMaster" Target="/ppt/notesMasters/notesMaster1.xml" Id="R7e78b36a91ba48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60c70ee237402b" /><Relationship Type="http://schemas.openxmlformats.org/officeDocument/2006/relationships/notesMaster" Target="/ppt/notesMasters/notesMaster1.xml" Id="R880f46c00d7140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ca39fbf804325" /><Relationship Type="http://schemas.openxmlformats.org/officeDocument/2006/relationships/notesMaster" Target="/ppt/notesMasters/notesMaster1.xml" Id="Re7a2ea67e18140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c926194a234046" /><Relationship Type="http://schemas.openxmlformats.org/officeDocument/2006/relationships/notesMaster" Target="/ppt/notesMasters/notesMaster1.xml" Id="R451d997e03c546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d7089be28449ac" /><Relationship Type="http://schemas.openxmlformats.org/officeDocument/2006/relationships/notesMaster" Target="/ppt/notesMasters/notesMaster1.xml" Id="Racff3f7ea26f40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b37896dd884add" /><Relationship Type="http://schemas.openxmlformats.org/officeDocument/2006/relationships/notesMaster" Target="/ppt/notesMasters/notesMaster1.xml" Id="R320c1c8e974347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3dafd1ac2444ac" /><Relationship Type="http://schemas.openxmlformats.org/officeDocument/2006/relationships/notesMaster" Target="/ppt/notesMasters/notesMaster1.xml" Id="R633f048425e04c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f2b2042fa84819" /><Relationship Type="http://schemas.openxmlformats.org/officeDocument/2006/relationships/notesMaster" Target="/ppt/notesMasters/notesMaster1.xml" Id="R63dc6353d9e9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Governed evidence refs: A4, A5, A6, A7, A8, A9, C1, C2, E1, E2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A1, A2, A3,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Governed evidence refs: A4, A5, A6, A7, A8, A9, C1, C2, E1, E2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Governed evidence refs: A4, A5, A6, A7, A8, A9, C1, C2, E1, E2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A5,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A6,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Governed evidence refs: A6, A7, A8, A9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E3 [VERIFIED EXTERNAL]: The British Soft Drinks Association's 2025 annual report states that more than seven in ten UK soft drinks sold are low or no sugar.</a:t>
            </a:r>
          </a:p>
          <a:p xmlns:a="http://schemas.openxmlformats.org/drawingml/2006/main">
            <a:r>
              <a:t>Governed evidence refs: A4, A5, A6, A7, A8, A9, C1, C2, E1, E2, E3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E3 [VERIFIED EXTERNAL]: The British Soft Drinks Association's 2025 annual report states that more than seven in ten UK soft drinks sold are low or no sugar.</a:t>
            </a:r>
          </a:p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Governed evidence refs: E1, E2, E3, A1, A2, A3, A4,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A6, A7, A8, A9,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 [VERIFIED EXTERNAL]: The UK government announced that the lower Soft Drinks Industry Levy sugar threshold will reduce from 5g to 4.5g per 100ml from January 2028.</a:t>
            </a:r>
          </a:p>
          <a:p xmlns:a="http://schemas.openxmlformats.org/drawingml/2006/main">
            <a:r>
              <a:t>E2 [VERIFIED EXTERNAL]: The UK government reported a 46% average reduction in sugar content in in-scope soft drinks between 2015 and 2020.</a:t>
            </a:r>
          </a:p>
          <a:p xmlns:a="http://schemas.openxmlformats.org/drawingml/2006/main">
            <a:r>
              <a:t>E3 [VERIFIED EXTERNAL]: The British Soft Drinks Association's 2025 annual report states that more than seven in ten UK soft drinks sold are low or no sugar.</a:t>
            </a:r>
          </a:p>
          <a:p xmlns:a="http://schemas.openxmlformats.org/drawingml/2006/main">
            <a:r>
              <a:t>A1 [ASSUMPTION]: LOA receives 180,000 ecommerce sessions per year.</a:t>
            </a:r>
          </a:p>
          <a:p xmlns:a="http://schemas.openxmlformats.org/drawingml/2006/main">
            <a:r>
              <a:t>A2 [ASSUMPTION]: LOA converts 1.8% of ecommerce sessions to orders.</a:t>
            </a:r>
          </a:p>
          <a:p xmlns:a="http://schemas.openxmlformats.org/drawingml/2006/main">
            <a:r>
              <a:t>A3 [ASSUMPTION]: LOA has a £32 average ecommerce order value before returns, discounts and VAT treatment.</a:t>
            </a:r>
          </a:p>
          <a:p xmlns:a="http://schemas.openxmlformats.org/drawingml/2006/main">
            <a:r>
              <a:t>A4 [ASSUMPTION]: LOA's principal growth constraint is an attractive visual identity without a sufficiently specific occasion, proposition or trial-to-repeat system.</a:t>
            </a:r>
          </a:p>
          <a:p xmlns:a="http://schemas.openxmlformats.org/drawingml/2006/main">
            <a:r>
              <a:t>A5 [ASSUMPTION]: LOA could build an advantage by pairing its distinctive bottle with a clear role as the bright adult soft drink for social pauses.</a:t>
            </a:r>
          </a:p>
          <a:p xmlns:a="http://schemas.openxmlformats.org/drawingml/2006/main">
            <a:r>
              <a:t>A6 [ASSUMPTION]: A city-led sampling, selective wholesale, DTC replenishment and CRM growth engine is operationally feasible.</a:t>
            </a:r>
          </a:p>
          <a:p xmlns:a="http://schemas.openxmlformats.org/drawingml/2006/main">
            <a:r>
              <a:t>A7 [ASSUMPTION]: Incremental ecommerce revenue contributes 30% after product, fulfilment, payment, returns and incremental media costs.</a:t>
            </a:r>
          </a:p>
          <a:p xmlns:a="http://schemas.openxmlformats.org/drawingml/2006/main">
            <a:r>
              <a:t>A8 [ASSUMPTION]: LOA could realise 30% to 60% of annualised ecommerce scenario headroom during the first 12 months.</a:t>
            </a:r>
          </a:p>
          <a:p xmlns:a="http://schemas.openxmlformats.org/drawingml/2006/main">
            <a:r>
              <a:t>A9 [ASSUMPTION]: The first 12 months require £65,000 of incremental implementation investment beyond the £5,000 Growth Blueprint fee.</a:t>
            </a:r>
          </a:p>
          <a:p xmlns:a="http://schemas.openxmlformats.org/drawingml/2006/main">
            <a:r>
              <a:t>C1 [CREATIVE ILLUSTRATION]: A Brighter Pour is an illustrative campaign territory for fictional LOA.</a:t>
            </a:r>
          </a:p>
          <a:p xmlns:a="http://schemas.openxmlformats.org/drawingml/2006/main">
            <a:r>
              <a:t>C2 [CREATIVE ILLUSTRATION]: Paul's existing LOA coral bottle hero and convenience-store film are reused as internal creative illustrations.</a:t>
            </a:r>
          </a:p>
          <a:p xmlns:a="http://schemas.openxmlformats.org/drawingml/2006/main">
            <a:r>
              <a:t>Governed evidence refs: E1, E2, E3, A1, A2, A3, A4, A5, A6, A7, A8, A9, C1, C2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6f824dfa64c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01166d97446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34fea5b0141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3c2c5244e46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24e8275454d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ddbe6fbe49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38064-10DE-4BCA-AFE4-DB0E91B79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8D7A48-C0E3-457E-A357-A38E6C462A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961518-64CF-48FF-822D-C7FD31E40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250C37-E28F-4F8B-AF6A-5BDAF6158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3B845E-70DB-44F1-8906-B84980E8DB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BB3254-8220-4AD2-B52F-A0890E018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3277C8-437F-4A04-B2AC-ADB551909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1DC95C-C3B7-49A0-8377-1727DAB663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A934BB-182C-41A2-93F8-8CDCCB783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6D3B15-6B85-431B-8AC1-2A4EBE3C4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058457c56a417c" /><Relationship Type="http://schemas.openxmlformats.org/officeDocument/2006/relationships/slideLayout" Target="/ppt/slideLayouts/slideLayout1.xml" Id="R2dd55c66801d474a" /><Relationship Type="http://schemas.openxmlformats.org/officeDocument/2006/relationships/slideLayout" Target="/ppt/slideLayouts/slideLayout2.xml" Id="R11e1f0aa917746ce" /><Relationship Type="http://schemas.openxmlformats.org/officeDocument/2006/relationships/slideLayout" Target="/ppt/slideLayouts/slideLayout3.xml" Id="R56ed924455f64ac7" /><Relationship Type="http://schemas.openxmlformats.org/officeDocument/2006/relationships/slideLayout" Target="/ppt/slideLayouts/slideLayout4.xml" Id="R4e8688fdb2384b79" /><Relationship Type="http://schemas.openxmlformats.org/officeDocument/2006/relationships/slideLayout" Target="/ppt/slideLayouts/slideLayout5.xml" Id="Rd4fae47ef6184bd5" /><Relationship Type="http://schemas.openxmlformats.org/officeDocument/2006/relationships/slideLayout" Target="/ppt/slideLayouts/slideLayout6.xml" Id="Re7fcb0a92c3f43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d55c66801d474a"/>
    <p:sldLayoutId xmlns:r="http://schemas.openxmlformats.org/officeDocument/2006/relationships" id="2147483650" r:id="R11e1f0aa917746ce"/>
    <p:sldLayoutId xmlns:r="http://schemas.openxmlformats.org/officeDocument/2006/relationships" id="2147483651" r:id="R56ed924455f64ac7"/>
    <p:sldLayoutId xmlns:r="http://schemas.openxmlformats.org/officeDocument/2006/relationships" id="2147483652" r:id="R4e8688fdb2384b79"/>
    <p:sldLayoutId xmlns:r="http://schemas.openxmlformats.org/officeDocument/2006/relationships" id="2147483653" r:id="Rd4fae47ef6184bd5"/>
    <p:sldLayoutId xmlns:r="http://schemas.openxmlformats.org/officeDocument/2006/relationships" id="2147483654" r:id="Re7fcb0a92c3f43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2171aa2ec428d" /><Relationship Type="http://schemas.openxmlformats.org/officeDocument/2006/relationships/notesSlide" Target="/ppt/notesSlides/notesSlide1.xml" Id="R13b9e273f9984e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263403abe4ebf" /><Relationship Type="http://schemas.openxmlformats.org/officeDocument/2006/relationships/notesSlide" Target="/ppt/notesSlides/notesSlide2.xml" Id="Rcfdd735f3aa4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06adc4e444cf7" /><Relationship Type="http://schemas.openxmlformats.org/officeDocument/2006/relationships/notesSlide" Target="/ppt/notesSlides/notesSlide3.xml" Id="R1460f459dfe144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1db89d53e4af8" /><Relationship Type="http://schemas.openxmlformats.org/officeDocument/2006/relationships/notesSlide" Target="/ppt/notesSlides/notesSlide4.xml" Id="R4473750f5a9b45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cb9e103c849c8" /><Relationship Type="http://schemas.openxmlformats.org/officeDocument/2006/relationships/image" Target="/ppt/media/image.png" Id="Rc27bf25c9e1c4a0c" /><Relationship Type="http://schemas.openxmlformats.org/officeDocument/2006/relationships/notesSlide" Target="/ppt/notesSlides/notesSlide5.xml" Id="Rd06f4ebfc6894b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958ce21484891" /><Relationship Type="http://schemas.openxmlformats.org/officeDocument/2006/relationships/notesSlide" Target="/ppt/notesSlides/notesSlide6.xml" Id="R9f2c561c7aca44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de336a56344a6" /><Relationship Type="http://schemas.openxmlformats.org/officeDocument/2006/relationships/notesSlide" Target="/ppt/notesSlides/notesSlide7.xml" Id="R09498574baf44f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f313bd30a485f" /><Relationship Type="http://schemas.openxmlformats.org/officeDocument/2006/relationships/notesSlide" Target="/ppt/notesSlides/notesSlide8.xml" Id="R9cc69c41122240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b60a410e24ed9" /><Relationship Type="http://schemas.openxmlformats.org/officeDocument/2006/relationships/notesSlide" Target="/ppt/notesSlides/notesSlide9.xml" Id="R5789c17e53604d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96d28a177472f" /><Relationship Type="http://schemas.openxmlformats.org/officeDocument/2006/relationships/notesSlide" Target="/ppt/notesSlides/notesSlide10.xml" Id="Rf39adf9cd55648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fb6bb6ee14833" /><Relationship Type="http://schemas.openxmlformats.org/officeDocument/2006/relationships/notesSlide" Target="/ppt/notesSlides/notesSlide11.xml" Id="Rd69da970ccd649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20008ba014bac" /><Relationship Type="http://schemas.openxmlformats.org/officeDocument/2006/relationships/notesSlide" Target="/ppt/notesSlides/notesSlide12.xml" Id="R572476a5f69744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bfcfe5d5740d4" /><Relationship Type="http://schemas.openxmlformats.org/officeDocument/2006/relationships/notesSlide" Target="/ppt/notesSlides/notesSlide13.xml" Id="R0db6ad028c594b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fe22aa1fa4f44" /><Relationship Type="http://schemas.openxmlformats.org/officeDocument/2006/relationships/notesSlide" Target="/ppt/notesSlides/notesSlide14.xml" Id="R1c944123236946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6c094150e4963" /><Relationship Type="http://schemas.openxmlformats.org/officeDocument/2006/relationships/notesSlide" Target="/ppt/notesSlides/notesSlide15.xml" Id="R25b8d87120b74d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97eca647345eb" /><Relationship Type="http://schemas.openxmlformats.org/officeDocument/2006/relationships/notesSlide" Target="/ppt/notesSlides/notesSlide16.xml" Id="R50629f7dcd4345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457d923c24c2e" /><Relationship Type="http://schemas.openxmlformats.org/officeDocument/2006/relationships/notesSlide" Target="/ppt/notesSlides/notesSlide17.xml" Id="Rf8dbb266bab841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21838690846aa" /><Relationship Type="http://schemas.openxmlformats.org/officeDocument/2006/relationships/notesSlide" Target="/ppt/notesSlides/notesSlide18.xml" Id="R4a7fe769f1fd45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c95ad383e4b33" /><Relationship Type="http://schemas.openxmlformats.org/officeDocument/2006/relationships/notesSlide" Target="/ppt/notesSlides/notesSlide19.xml" Id="R5f5c7069122a40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e402c693b4449" /><Relationship Type="http://schemas.openxmlformats.org/officeDocument/2006/relationships/notesSlide" Target="/ppt/notesSlides/notesSlide20.xml" Id="Rf41c940642c64f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e694b93a8483a" /><Relationship Type="http://schemas.openxmlformats.org/officeDocument/2006/relationships/notesSlide" Target="/ppt/notesSlides/notesSlide21.xml" Id="R2c7992e3ce06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2286D-96C6-4730-B76D-26A0C1D9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725"/>
            </a:srgbClr>
          </a:solidFill>
          <a:ln xmlns:a="http://schemas.openxmlformats.org/drawingml/2006/main" w="0">
            <a:solidFill>
              <a:srgbClr val="15121B">
                <a:alpha val="93725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3A997-0718-4208-854B-281D5EB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0C2EF-F341-4286-9134-6142C8C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B3518-A151-47F7-9566-7AEC8B72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6D32-AAA5-44B0-97E3-2E01981A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LOA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98D09-E4F8-4761-AB2A-0583E6C7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 the brighter pause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E2F11-E2A2-4305-8D2B-0264534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conditional route from distinctive bottle to repeatable 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969AC-B1FF-47F4-A0D0-C1407A30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FICTIONAL DEMONSTRATION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964250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E8322-F698-458D-95AF-561A3FBC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060E0-4D3A-4FC2-B158-6BF9755A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the commercial opportunity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A513E-67E2-450B-ABA6-A0415E32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E113D-8BA3-4A5E-BAE8-637AD63CB878}"/>
              </a:ext>
            </a:extLst>
          </p:cNvPr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Annual revenue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Year 1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Net after investment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Downside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£115k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1.8%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54F"/>
                          </a:solidFill>
                          <a:latin typeface="Helvetica"/>
                          <a:ea typeface="Helvetica"/>
                          <a:cs typeface="Helvetica"/>
                        </a:rPr>
                        <a:t>-£64k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£547k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£67k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Upside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£884k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£140k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£75k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64CD6-0944-4972-AAE1-C891C5E3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30% CONTRIBUTION, £65k INVESTMENT AND SCENARIO RAMP ARE ASSUMPTIONS. NOT A PROFIT FORECAST.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02E7F-F30C-4482-86F7-F28F1CCD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B912A-947C-42A4-B74E-7A4CA723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scenario adds £443,520 of annualised revenue headroom. The base case produces a £1,528 first-year contribution proxy after £65,000 of assumed investment. Verify every input before committing.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CB90F-F27E-4F70-A557-E5C33B03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A7, A8, A9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3A7C5-70D3-48F3-AE1B-0A03AE49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 - SCENARIO, NOT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A496F-8C0D-4DE9-A2D0-C9162221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86411-04F6-4CA2-AAAD-7A6BDA6E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920867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7AAB8-E6CC-4986-A0E4-3F34434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57C0-8C91-4A0B-B5AD-F11B505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currently prevents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E6BB9-84D9-4D47-84DA-77CBAA07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01C21-0872-455D-A068-D6BA03D9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CURRENT ASSET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9F775-6351-47CD-891D-40277B3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bottle people may notice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D9665-2B42-4645-98A6-49AEECAC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Distinctive visual assets are useful, but not proof of demand or repeat.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B2E6A-7C02-4131-94FA-243D2153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90E19-C671-446B-8D38-2C43BBCF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CCDFA-58F8-4BFB-BB31-9B531992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WORKING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D1702-FB5D-482B-B211-EB5130B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No proven repeat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6E1CB-DB8D-4032-9855-7770C7F3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Working diagnosis only. Falsify it by: Reject this diagnosis if founder, customer and cohort evidence already shows a clear occasion, strong unprompted proposition recall and profitable repeat without increased discounting.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80BEF-E219-42A0-B8EE-46605F9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324AC-D7E6-4FF7-AE56-DCF61E8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may have a memorable bottle, but it has not yet proved the specific occasion, reason to choose or route from first taste to profitable repeat.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46D1B-8A31-41BA-993F-06E1B3F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EAC9E-7132-4759-BFBE-D09125F4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50EF7-3215-46D7-B4DE-D0937EF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F4BF6-399A-4EC5-AC6B-D2DC13B9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03 / 21</a:t>
            </a:r>
          </a:p>
        </p:txBody>
      </p:sp>
    </p:spTree>
    <p:extLst>
      <p:ext uri="{BB962C8B-B14F-4D97-AF65-F5344CB8AC3E}">
        <p14:creationId xmlns:p14="http://schemas.microsoft.com/office/powerpoint/2010/main" val="1624510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DDBED-D421-4FA3-903A-294550E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E0868-AD44-44E5-ADDF-EFD4CD10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strategic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BD1BF-61DD-4C96-97D7-F88D26C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C4535-89F1-4134-86FE-6A9951E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35107-1E96-4EC4-B498-51B06B7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BRIGHTER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FB3FE-085C-4C4A-8DCF-8468CCEC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Qualified demand and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1D57-7104-440B-AE55-2CFD6F26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Founder interview, occasion research and controlled proposition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4C452-5D21-4B1A-A736-F592864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EC593-AFBD-4F90-92E5-7982869F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THE POUR THE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25059-D9B5-4C82-849A-267805E0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Comprehension, trial and memorability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AA0D7-F695-43BE-9B9F-DB496CC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recognition, comprehension and qualified sample-to-site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78689-E9F2-4340-86D9-7A3D8456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92699-16D4-498B-A800-00511C1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TURN TRIAL INTO 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BDE8-84FC-440D-9CB8-B288982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 and distribution productivity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87AB9-B37B-4E13-A01F-6A77E2B1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One-city cohort test of repeat and retailer sell-through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BD496-D12B-4BBA-A393-2CE091FF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08D3A-01D0-4202-BE2B-9C628EAB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Own the brighter pause, make the pour the proof, then turn concentrated trial into measured repeat.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18F12-07B0-4B57-BEF6-653A53F9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B3A46-E2C2-4112-9E2E-E59CA2F0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88759-30D9-4792-BD25-E9F5B43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8B6C7-7E5B-4E6C-AA62-698BBA82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04 / 21</a:t>
            </a:r>
          </a:p>
        </p:txBody>
      </p:sp>
    </p:spTree>
    <p:extLst>
      <p:ext uri="{BB962C8B-B14F-4D97-AF65-F5344CB8AC3E}">
        <p14:creationId xmlns:p14="http://schemas.microsoft.com/office/powerpoint/2010/main" val="238755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64818-B7AC-479D-B348-C2405C4B6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bf25c9e1c4a0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4005F-3179-45B8-93F5-AAF2A1A1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0980"/>
            </a:srgbClr>
          </a:solidFill>
          <a:ln xmlns:a="http://schemas.openxmlformats.org/drawingml/2006/main" w="0">
            <a:solidFill>
              <a:srgbClr val="15121B">
                <a:alpha val="9098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B7A33-594E-4C95-88B8-4B11C415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74F42-0BEF-45D9-AC16-1000BAC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What the future could look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07541-13B7-4EEB-B14D-4D937EB7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Brighter Pour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12381-0E0C-4267-85FF-E060C2D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Turn the small social pause into something vivid: an unmistakable LOA pour, served with food, colour and a little ceremony.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A6C54-494D-4136-B51E-1DFE796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AB377-FBD5-4144-8ECE-316D5BD4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Fictional visual proof. Test relevance, distinctiveness and product comprehension before selection.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BA7F7-AA35-4A0E-B668-A887EAD0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C1, 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68E84-9A8F-4010-9051-A0B4F5D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1F5DB-628D-4DFC-95E6-12E522A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EE9F6-BC82-453D-B4BA-B461696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05 / 21</a:t>
            </a:r>
          </a:p>
        </p:txBody>
      </p:sp>
    </p:spTree>
    <p:extLst>
      <p:ext uri="{BB962C8B-B14F-4D97-AF65-F5344CB8AC3E}">
        <p14:creationId xmlns:p14="http://schemas.microsoft.com/office/powerpoint/2010/main" val="137430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5B444-E17D-417D-B597-97DFABFA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F719F-6C85-4EC5-85CF-7D1D89C0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18AE7-9FDF-4D19-9BCC-C2348B21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C676-D924-4C61-8044-0A7D211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case produces a £1,528 first-year contribution proxy after £65,000 of assumed investment. Verify every input before committing.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C35B3-192D-4F19-B7AA-DB1E7AB2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A34B2-C96C-4F7F-A28B-A0C86EDD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C235D-4174-4907-8066-0F42BB5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1503D-9280-495F-894C-F1A1AF4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Validate before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F814E-DC09-4639-A529-E63ED6A7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15AE8-0042-44D5-AF15-B2D7CD3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could test an annualised ecommerce revenue scenario of £547,200, £443,520 above the assumed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D4BBE-DFC0-4F0A-AF8C-0C222F4F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A7, A8, A9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EC043-2CA8-43B6-A062-AEE75A0A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5734E-8158-42AE-BE72-43AAE077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2FDE0-C5EA-4ADC-BBE2-AB324C7A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06 / 21</a:t>
            </a:r>
          </a:p>
        </p:txBody>
      </p:sp>
    </p:spTree>
    <p:extLst>
      <p:ext uri="{BB962C8B-B14F-4D97-AF65-F5344CB8AC3E}">
        <p14:creationId xmlns:p14="http://schemas.microsoft.com/office/powerpoint/2010/main" val="949726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4B443-BA14-4569-BC6C-5316C8E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B511F-91A8-479F-BDFB-1818103E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scenario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F59BD-3467-4E3C-B296-6385866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951DF-6EDF-4253-95E8-9928A28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F7464-5210-475E-A574-8C65A9E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84B55-2471-4C8A-9A25-CC91BA8D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BFA30-5FBD-41C9-A89C-F395D5F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EAD87-B856-4599-BC68-F2B6FB6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B5C6-4CDB-4B07-A909-605287F3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52EC6-FFFB-4E87-A85D-E7F78F3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sequential bridge reconciles to £443,520. The attribution order is a modelling convention.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DC1FA-3302-4E7B-AAD8-1C85557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19218-51F5-4309-98D9-5952540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Traffic contributes £241,920; Conversion contributes £115,200; Average order value contributes £86,400.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6058E-BE06-4CDE-BD12-C2A17112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A7, A8, A9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4CD38-EE0D-4B2C-978A-D52C513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7D59A-81EF-463F-8987-8E835ADC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B8EA5-511F-4584-9996-AA3E726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919557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303A6-2425-4C20-9001-1F9D7B77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98243-B7CC-4033-AA83-9D7F114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51779-74A2-49CA-B2A9-AAEFDE38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8F707-F0FC-4E99-82EE-84293A6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D5B46-4404-4EA8-A299-7EE15DC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F991A-55EA-44E3-8383-E039A01B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244B2-951C-4F70-9839-D29A4F96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B405A-4510-4032-BCBD-1C384672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4A938-4B11-41E4-8357-53FE38EB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F8F5A-8A41-49BB-96B4-B51BD538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founder, customer and cohort evidence already shows a clear occasion, strong unprompted proposition recall and profitable repeat without increased discounting.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C8E64-9EE1-4513-BB25-DF2F872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4AAC4-A326-459F-8931-03E2263B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may have a memorable bottle, but it has not yet proved the specific occasion, reason to choose or route from first taste to profitable repeat.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55024-D8B5-4E61-832C-63AE3618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A4C81-76E3-414A-9467-8882F3A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BA9A0-6ED6-481B-BDC2-D519AB7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90596-AF57-4A17-A337-5636DEB1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08 / 21</a:t>
            </a:r>
          </a:p>
        </p:txBody>
      </p:sp>
    </p:spTree>
    <p:extLst>
      <p:ext uri="{BB962C8B-B14F-4D97-AF65-F5344CB8AC3E}">
        <p14:creationId xmlns:p14="http://schemas.microsoft.com/office/powerpoint/2010/main" val="1900491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943DC-85E9-4AC1-A8C8-6AC479E2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4123-98EC-4467-A642-39AFFD4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would disprove the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ED93C-88E9-44C5-AC9F-F8FC7B40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674E0-C05D-43D2-90E6-77E418E9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AA2F0-E895-4EF7-A6B3-25D416E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7DE55-8FC7-4EA9-BFBD-586B113D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5A6A-3C01-4BA6-8447-1125C925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9D6DC-C649-4D03-802B-7595E04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6CB3A-2385-43DD-9483-ABDBF01A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A6D0C-068D-4F3F-AEDB-00290CDD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B732A-38D1-4037-A2DD-A84685BD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88135-936B-41C3-9C29-2350004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6B712-7AFC-474B-A2F5-42BCF5BB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59D39-E418-4F39-AB7C-BD51C66B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founder, customer and cohort evidence already shows a clear occasion, strong unprompted proposition recall and profitable repeat without increased discounting.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5FEC6-9F57-412C-A492-FDA3A79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21BFC-8043-4B38-A410-4D98622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diagnosis fails if LOA already owns a clear occasion and existing cohorts repeat profitably without heavier discounting.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BAE87-4612-469B-BB02-A67F1219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0811A-90DB-4BA7-92E1-BCCBA740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F5DB3-9A0A-44BC-B06F-55660CF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B5E33-6DFF-467A-878E-BEC50886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09 / 21</a:t>
            </a:r>
          </a:p>
        </p:txBody>
      </p:sp>
    </p:spTree>
    <p:extLst>
      <p:ext uri="{BB962C8B-B14F-4D97-AF65-F5344CB8AC3E}">
        <p14:creationId xmlns:p14="http://schemas.microsoft.com/office/powerpoint/2010/main" val="693125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F5CAF-0BCE-4D36-816B-FEBC80A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6B6E5-D864-42A8-B3D2-091F2B21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26CC0-700F-4065-B9D0-D71B340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2B29E-7F93-4638-92FE-3FE923C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23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B1E1B-5E95-486C-B679-BD90F44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C25C9-06B2-4EFA-B7DC-42C9D157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F4697-612F-4D93-B01B-448839C8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GENERIC REFRESHMENT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5EAF3-2D33-4BEF-A5D6-F98E33B5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OCCASION 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1A974-1F66-4E57-91AA-B8890EBA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PROVEN RITUAL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52C97-9EC2-4E60-A630-D48B8A65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698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820EB-77E1-4EDC-B442-756B081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128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 BRIGHTER POUR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02064-14BF-483D-9D83-AE510F6C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3114675" cy="333375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6245F-345F-4DF8-8A33-24840609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A0BAA-0AF4-451D-8FAB-478A828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vivid adult soft-drink ritual for everyday social pauses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52CE4-8356-486E-A22A-0C76FAD3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WHO IT MATTERS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CC2AE-9C8F-40F7-98FA-1B7CD4C4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Adults seeking a grown-up soft option; definition requires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BA59A-E634-470E-8B98-BE1A6FD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WHY COMPETITORS MISS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FDDBA-F1D8-4B7E-86D2-87CAFF9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No competitor position is asserted until research is completed.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CE355-3ABB-461E-87C1-E69DF9C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CD09A-0DD9-406F-89D3-7B226569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LOA could turn its coral bottle and optimistic visual language into a recognisable adult soft-drink ritual: a brighter pour for social pauses that deserve more than water and less than alcohol.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8AD1C-A306-4B0B-82D0-A29DBFDA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A5, C2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81C65-833C-4158-9E1B-0EF55F28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68F19-C190-4974-9711-5B6DC45B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681B7-E45B-45D3-9673-5713A35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117315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0321C-38F4-4663-96D5-D5C1A6E2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39508-DD47-44A8-8699-616292B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 needs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C1BB7-FFE5-4766-8EE1-0CF6FE61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20C0A-8D9B-48B3-B10A-DE9822C3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4F029-FCD6-4DDD-8B57-C9288617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EVIDENCE TO 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4C49D-E148-49F0-B684-C00EB28B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CUSTOMER EVIDENCE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ECA99-A4F6-44BA-9CCE-B32F178B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Map real social pauses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1D84C-CD45-4B8A-92A2-31B922C4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Test the bright-pour proposition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BE1C5-2576-4FCD-98AF-82C8C86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Measure trial and repeat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CE66D-E01E-43B7-B6D4-E8A372D9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B6694-E9C9-4474-A2E2-95B054D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BRAND ASSET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0EC83-64DD-4A16-AB33-1AD96F0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288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distinctive bottle illustration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C6A52-4CA6-4725-BD05-6B34AC1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51263-5631-49CC-92F4-ED5B4ABC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847ED-010E-43E5-A03A-4D20038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Not yet supplied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CBB5-1288-4268-91EF-2BD90717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DBD96-4AE4-491D-8BAD-9E1F005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CHOICE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FC918-F5AC-4B97-B67B-8D8A5122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Required before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459E2-7882-4957-9DCA-D015268C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territory remains a hypothesis until customer choice and repeat evidence support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94FE4-006B-4FF6-8C0E-4F463F1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E977F-0D14-461B-AC51-CCFBA7CE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conviction can frame a hypothesis. Customer choice data must decide whether the advantage is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B5E55-CA3C-41AE-BCA3-F1509DD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A5, C2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D408A-EF35-49BE-AF8B-F2D54027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40213-BCAF-4FBA-994A-A71A040B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BB71F-AC65-4CFC-B292-07B29414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1960674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E4420-5250-4AD6-A28A-BDEF61E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E76AC-256F-4783-9494-E8D99431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9EDF6-BF89-4BC3-920B-A4CF004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6D023-8726-4E56-A0B7-97C41FFF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929A3-59D6-4D99-81B9-655CB8B1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7DC06-50FA-4482-92C1-C23733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31EEC-7922-4146-9A9C-767FBA72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memorable bottle without a proven buying occasion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C73FB-006D-43A2-97A0-6F223C85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B3F7F-7345-4B7F-9857-9C4F8A6C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94E20-844F-4578-B0AC-75A62E46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9808A-EBD7-459E-989F-F659F66B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the LOA pour the recognisable ritual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4CD7C-D2CC-4809-ABD5-9591861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71930-A5EC-4760-B88C-1FCCC35F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B6670-FD4D-4E75-886A-298998A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CA267-5231-4A55-903D-E69D51C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Link concentrated trial to measured repeat before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39626-CE61-4DA6-A11C-CEDB6754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Give LOA one social job, then make the pour earn the next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8D2AB-03AE-4378-9527-DDBE5542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919C1-BD5C-4A08-86B8-957FBE45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Give LOA one ownable social job, make the bright-pour ritual unmistakable, then connect selective trial to measured repeat before buying reach.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313BC-0DDE-491E-BC80-0E46B37E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7F4B3-E335-40B7-8573-029BD82B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53F39-0D80-45D6-BD5B-BCB63BC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8E1365-10AF-4C7D-8ED1-0B48D6EE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21471613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CCBA40-8314-44BF-9301-0C89EE73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E8ED2-0DF0-4B4E-B2B0-A0BD396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moves, three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8F924-7026-49F5-AFD9-7B28012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B2CBE-E7F5-4420-9776-AF897730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0671A-EC06-44D0-9EB0-A956A2A1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01 / OWN THE BRIGHTER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8886C-8FB6-4C40-BD5B-A64D7C56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A8910-411F-4ACC-BAAC-3FDE8AA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Qualified demand and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79559-1702-47D5-BDC3-F2F0D84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913C2-4802-4FD4-8429-2E9BE94E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sharper occasion excludes generic refreshment traffic and must earn credibility.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01592-A1B7-4133-9E58-F051E2C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0E259-4C5A-486C-B5A6-8334E56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interview, occasion research and controlled proposition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E0229-AB7C-49F6-9469-26F0D7EE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8AB18-3DDD-4B73-8533-83B3C73D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1C037-2F6E-44E1-9C40-FDA92A45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96ED3-F595-4F66-B879-A0A2B4F2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 / MAKE THE POUR THE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A8775-6A6E-4C5E-977E-72194D6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D4ED0-4D3D-4223-A30E-84BCF3B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Comprehension, trial and memorability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E6AA2-43AB-4FAB-B1ED-370CC2E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70100-95DD-4AD5-A557-C104AA1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Product-centred work will reveal any weakness in taste, pack, serve or availability.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DDDFF-6194-4E64-A86E-CD9FEB57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FA26F-E034-406D-8DA5-5CCEFD8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recognition, comprehension and qualified sample-to-site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EEDC7-8E5F-4B13-B1E7-B3D2753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A1946-0303-4514-B3BE-3C79FB07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Director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A237D-3C61-4B91-80D1-9B0379E1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D5ABC-DC49-43B5-978B-BC3F5811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03 / TURN TRIAL INTO REPEAT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43E37-5100-47E6-A6CB-8650C06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897AD0-A776-41D0-BFE3-B9A4027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Repeat and distribution productivity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E98D6-E36A-4928-BF90-1061DED8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C4D4C-254A-4D97-B38E-5DDA56AF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Geographic focus slows broad awareness while protecting cash and learning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6CB91-4F14-4571-848C-4E06E63C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05510-C6EB-4DB4-88BC-49D54CF7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One-city cohort test of repeat and retailer sell-through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1BFE8D-A2B4-4428-ACB7-0173A70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40017-53C9-403C-AE5B-19628B27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Growth Strategy Director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0D96A8-888B-4899-9B41-BE68BDA0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VERBAL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A8326-3F24-4A92-9A8D-5FCF782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Specific promise • Visible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D1331-96DC-40CC-AB00-A2B9D790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TONE + MOTION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CF65B-137F-4C59-A0C3-CE1A4BE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Direct • Useful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11067C-2EF7-4F0B-967F-13C0692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RECURRING FORMATS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C0FEDC-69B5-41F5-BE41-9E680ED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Claim and proof • Test and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9FFAF0-9BA6-401D-BB58-B7003EF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5A15A9-B52E-4F24-B00F-7059BF34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 connects each recommendation to a measurable commercial lever.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446E47-A2C5-4447-8614-FE239900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C640E5-BB55-4CAA-94DA-B1907B74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25EF15-6951-4055-AF1B-9D7B5455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F622F8-576B-484E-9C21-B7AE25B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2019983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BB058-11A5-440D-B0D9-50D401B1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ED730-FA86-4FBE-9A33-28E4B6D8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Creative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3D3BF-274A-4903-A236-B68754B9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E383A-677E-4F86-89DC-76B07F0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POUR BRIGHTER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44F95-F624-4349-AB4C-C74B8236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DEF19-6BCA-4F59-A89F-E9D01EB4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MAKE THE PAUSE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6EB6B-8CDA-479D-870C-FEC143C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9BE98-BB30-4422-A73F-952E2F4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PRODUCT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21E7E-EEF8-4621-BAD6-B93063E8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Bottle, opening and pour are the mnemonic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A5CA2-8425-445D-ADF2-13D2369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B4C29-D026-4BD7-BA8D-972A2703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APPETITE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DA758-6D4A-4C2B-B6C3-A1AE596F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Food, glass, bubbles and condensation stay tactile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EEC65-D234-4EB0-AB4A-8CCD88D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5D59F-086C-4A38-973E-B699506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ORDINARY TO VIVID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92A54-C758-4CE2-9D02-13FAF0DF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Colour arrives through the serve, not visual noise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4B042-BA31-4120-925C-C505D1CE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C49FA-513B-4DEE-BC6D-C96B6F6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Brighter Pour: Turn the small social pause into something vivid: an unmistakable LOA pour, served with food, colour and a little ceremony.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0BA22-BBA7-4CA7-B1CA-B213B5AA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C1, C2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B622C-0028-4C87-9F83-8690419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FB0E8-C3C0-49C1-AA9F-B494E9A7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535F7-E421-43D6-902A-0513DF71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14 / 21</a:t>
            </a:r>
          </a:p>
        </p:txBody>
      </p:sp>
    </p:spTree>
    <p:extLst>
      <p:ext uri="{BB962C8B-B14F-4D97-AF65-F5344CB8AC3E}">
        <p14:creationId xmlns:p14="http://schemas.microsoft.com/office/powerpoint/2010/main" val="13250251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905E4-5CCD-4457-9148-09176B4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BC9DD-F50A-4D9B-BA6B-1FF82827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campaign behaviour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81D51-25A3-4455-A7A3-A40CAEF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A43BB-93EE-40BF-AE94-A0CFE3E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six-second film opens on the flat hum of a convenience-store cooler. A coral LOA bottle is lifted, opened and poured beside a late lunch; the scene warms as the bubbles rise.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013FE-B1E9-4A05-857E-3F688BA9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7870D-1905-495C-9D27-78CEAAE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D8E4C-FF57-456D-8DBA-6D845FF5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E2D93-CF8B-47D7-9EC2-79CCD3DB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Bottle, opening and pour are the mnemonic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C919F-6B96-407A-A805-58A1C871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734C8-248B-46AE-802B-F002476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03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784F6-FDA7-4896-BA65-844455B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76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APPETITE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BFBD1-E139-4F57-A9CD-BBA445F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Food, glass, bubbles and condensation stay tactile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805F6-9298-4CCA-813A-18C3647F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C9C5F-75B6-41EA-ABC9-DD81CBAE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D72EF-9457-4EB5-8FE4-127B7DCA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480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ORDINARY TO VIVID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6A7C0-2CEF-48F0-9A39-9DA35EE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Colour arrives through the serve, not visual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D6F74-596C-4008-8A8F-C220B866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1C8CD-3E05-4756-94DC-1A1B7B4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Turn the small social pause into something vivid: an unmistakable LOA pour, served with food, colour and a little ceremony.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AB556-C086-4762-9327-44298E0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C1, C2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3F79B-6784-40E7-852D-DDD1BFC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AD2F0-391B-4141-85C8-33B604C9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4612A-AC85-4301-87E6-2013A5E5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15 / 21</a:t>
            </a:r>
          </a:p>
        </p:txBody>
      </p:sp>
    </p:spTree>
    <p:extLst>
      <p:ext uri="{BB962C8B-B14F-4D97-AF65-F5344CB8AC3E}">
        <p14:creationId xmlns:p14="http://schemas.microsoft.com/office/powerpoint/2010/main" val="14214422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80226-825A-4FCF-BAC4-6459E6DB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C51E2-C178-42D5-BC4C-2E7EB622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Growth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C232A-EB2C-43F6-B7F6-1E49197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357E8-08B8-483B-B8AB-CC860EC0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Selective wholesale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93063-4D20-4929-9411-2D653F47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Place LOA inside the target occasion and observe sell-through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E4D1B-60E6-46DA-BE61-A4DA44F4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Stockist economics, weekly sell-through and reorder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1AF5-A1F3-4FBA-9B42-1971562F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464E9-9BCF-41C5-8FEB-4311D9BC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Sampling and partnerships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8DA3F-1E26-482F-A4A7-259C9BB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Create qualified first taste around food, design and culture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8F906-057E-4D7B-84EB-AA9083FA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Permission, sample-to-site capture, cost and product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5AC19-5D23-4C57-975B-77950AB8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47C79-DCDA-4E90-9EBF-696233B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BE38-7726-40A1-9707-0EFF3746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Owned DTC and 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C26B1-993F-4D7C-BDAC-5ECBFD8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71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Convert mixed-case trial into measured replenishment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0E47E-E3FE-4B59-9918-91B5A59F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Net conversion, second purchase, opt-out and contribution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232E7-63B6-49AA-AFE3-D0D0AA9C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396DF-069C-4D58-99B6-30E901C8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BC2B2-ADAD-4E08-9623-C684CBE2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only the creative and occasions already linked to 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B6F94-F543-4DE1-85DE-A0A9FBA6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Incremental contribution after production and media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84E7A-F05C-4E37-B2D2-E3A0E1B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E2CFE-D756-4EC9-AABF-4FF892D2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56827-49ED-422D-9175-1B9A2E13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Use one city and a small number of food-led occasions to connect observed trial, DTC capture, replenishment and retailer sell-through before any national awareness spend.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25352-1513-4648-812B-985C54FE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A6, A7, A8, A9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35EE4-3D53-4725-AD53-4BD9B476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48045-A3ED-4B50-A06B-BEBBFDD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3D656-7564-4A9F-9CE8-A101AB9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16 / 21</a:t>
            </a:r>
          </a:p>
        </p:txBody>
      </p:sp>
    </p:spTree>
    <p:extLst>
      <p:ext uri="{BB962C8B-B14F-4D97-AF65-F5344CB8AC3E}">
        <p14:creationId xmlns:p14="http://schemas.microsoft.com/office/powerpoint/2010/main" val="15576113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A30DA-ED1C-431E-9E50-14A4CB5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2E0BD-0E0E-4604-AE6D-307B2404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Measurement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82411-B9F0-49E2-8C09-96DDE2DC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7DC31-3ED7-45C2-9AA6-BB12950B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A23B-1166-46D1-AA54-3E6A7553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6C13F-BD5B-44A3-8B8D-66C79AF3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Brand attribution, occasion comprehension, qualified sample-to-site and retailer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ACAD3-7C64-407C-BB45-0699939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2001C-3322-4B3C-ABA1-B58541B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31CAE-081D-4F1A-A493-F52D7418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BEHAVIOURAL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309A7-9A86-4EA9-8382-5171B91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Net conversion, mixed-case uptake, second purchase, retailer sell-through and reorder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6994C-8EF7-4D01-8EEA-5F5F1F61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B21E1-8F2A-4B0F-8D63-8003F39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27F96-548D-471A-9E83-B84B789A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0152C-B4AD-4F3D-ABD6-B10DCCA2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Contribution after product, fulfilment, sampling, production, media and 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6020D-EFFB-4B4D-AC6C-45B7317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7D17F-FF33-4BAD-BBAC-F54F2EF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Leading indicators must move before the plan releases larger media or inventory commitments.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D6000-D447-4DA9-ACBB-E44F78B9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A6, A7, A8, A9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423C4-7025-4654-9FD9-46215B5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79DED-B787-4ACD-A847-2743B546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980F0-0CE1-4203-918C-7883E77E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17 / 21</a:t>
            </a:r>
          </a:p>
        </p:txBody>
      </p:sp>
    </p:spTree>
    <p:extLst>
      <p:ext uri="{BB962C8B-B14F-4D97-AF65-F5344CB8AC3E}">
        <p14:creationId xmlns:p14="http://schemas.microsoft.com/office/powerpoint/2010/main" val="11008718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EF600-C71E-4D97-A526-49C32B43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7 / THE NEXT 12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09C67-A04E-452D-BD1E-09C3BBA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Next 12 Months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16202-A221-4035-8347-41DC889D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DA5F5-16E8-4E6B-8150-5FE26B1D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A7032-B4A4-41AC-8CD3-4ED3FF0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1-3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76DF7-8089-4C5E-A872-BF285AAC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Establish the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E332-D503-4F78-8E28-E0E1A4CE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unit economics, formulation and availability; interview founder, customers and trade; test three occasion propositions.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BB7AD-A960-4FB8-B038-BF6397F6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58644-7A9A-44B4-917A-6A49950B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4-6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5F8D9-EFAA-4A5F-80C5-B326ED3F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 the brighter pour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9296E-0E7D-4E08-89BE-6C3825EC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Run controlled creative, sampling, DTC capture and one-city wholesale tests using approved claims and assets.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334B6-776D-4236-A38C-9361524D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37072-1B8C-4B31-BA23-F154BAE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7-9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BC11E-3C78-4939-8767-CFB72A20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Build the repeat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0CFC5-FE8E-487B-AD00-23E71A0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Codify winning serve, content, CRM, replenishment and retailer reorder mechanics.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0CBAD-C5B3-4325-A137-C463B52E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F4EEE-3BA3-482D-9934-0A9DB892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staged validation programme protects cash while the business replaces assumptions with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DCA70-3B7B-44B1-99DA-C7C59536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A8, A9, C1, C2, E1, E2, E3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C8CF9-7079-4980-B0A0-6331AF38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F58BF-51E0-4BCC-8EC2-B95CAEA3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08DA7-8F93-4B11-B89C-F31441E0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18 / 21</a:t>
            </a:r>
          </a:p>
        </p:txBody>
      </p:sp>
    </p:spTree>
    <p:extLst>
      <p:ext uri="{BB962C8B-B14F-4D97-AF65-F5344CB8AC3E}">
        <p14:creationId xmlns:p14="http://schemas.microsoft.com/office/powerpoint/2010/main" val="1439891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A05FC-0C03-44EE-A1C3-865766E9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8F5A0-720F-4B5E-8917-6854433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 (1 of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5902C-FFD1-4E6A-B271-BFAD0FBF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7CE41-128E-4A51-9321-DBB29BC30A67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381125"/>
                <a:gridCol w="4286250"/>
                <a:gridCol w="4676775"/>
              </a:tblGrid>
              <a:tr h="37041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Claim in this Blueprint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What would verify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E1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VERIFIED EXTERNAL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UK government announced that the lower Soft Drinks Industry Levy sugar threshold will reduce from 5g to 4.5g per 100ml from January 2028.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Confirm the final legislation and verify LOA recipes independently before making any formulation claim.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E2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VERIFIED EXTERNAL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UK government reported a 46% average reduction in sugar content in in-scope soft drinks between 2015 and 2020.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Use the latest official category data and obtain product-level evidence before commercial use.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E3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VERIFIED EXTERNAL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British Soft Drinks Association's 2025 annual report states that more than seven in ten UK soft drinks sold are low or no sugar.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Recheck the original report and triangulate with independent retail and customer evidence.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receives 180,000 ecommerce sessions per year.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an authorised GA4 export to ecommerce sessions and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converts 1.8% of ecommerce sessions to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Agree the denominator and reconcile sessions to completed non-refunded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has a £32 average ecommerce order value before returns, discounts and VAT treatment.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Calculate realised order value from an authorised transaction export.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LOA's principal growth constraint is an attractive visual identity without a sufficiently specific occasion, proposition or trial-to-repeat system.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Run founder interviews, occasion research, proposition testing and a controlled conversion test.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could build an advantage by pairing its distinctive bottle with a clear role as the bright adult soft drink for social pauses.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 the territory against category alternatives with target customers and trade buyers.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481A7-47DF-4B2A-A3EB-C11727E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No verified client evidence appears in this fictional sample. Real external market context does not verify fictional company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24FB3-539B-4990-8355-368274C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E1, E2, E3, A1, A2, A3, A4, A5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CE22-89B4-4C80-AB9F-E0103939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D94F5-5584-4633-A5DA-8EA43177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6495B-AAD3-4D7C-BED1-DC5F3D32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19 / 21</a:t>
            </a:r>
          </a:p>
        </p:txBody>
      </p:sp>
    </p:spTree>
    <p:extLst>
      <p:ext uri="{BB962C8B-B14F-4D97-AF65-F5344CB8AC3E}">
        <p14:creationId xmlns:p14="http://schemas.microsoft.com/office/powerpoint/2010/main" val="15754558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7EFD3-D708-4F73-BE14-C58BA02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743A3-F8A1-409D-90EE-8871FF8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 (2 of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F982-6680-4506-B5DB-ACA9280B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76783-10EA-4832-886F-75854F119881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381125"/>
                <a:gridCol w="4286250"/>
                <a:gridCol w="4676775"/>
              </a:tblGrid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Claim in this Blueprint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What would verify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city-led sampling, selective wholesale, DTC replenishment and CRM growth engine is operationally feasible.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contribution, capacity, distribution and cohort data before any activation.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Incremental ecommerce revenue contributes 30% after product, fulfilment, payment, returns and incremental media costs.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order-level net revenue and variable cost by product and channel.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LOA could realise 30% to 60% of annualised ecommerce scenario headroom during the first 12 months.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Build a monthly plan with test velocity, stock capacity and seasonality.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first 12 months require £65,000 of incremental implementation investment beyond the £5,000 Growth Blueprint fee.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a costed activation plan before approval.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Brighter Pour is an illustrative campaign territory for fictional LOA.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Check strategic fit, distinction, comprehension and legal availability.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Paul's existing LOA coral bottle hero and convenience-store film are reused as internal creative illustrations.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Paul and Matt must confirm provenance, usage rights, product accuracy and client-facing suitability.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7A1A0-A1FA-40EB-A95C-8DFB81F6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No verified client evidence appears in this fictional sample. Real external market context does not verify fictional company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B4CE0-7BF8-413E-B94A-BC53669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A6, A7, A8, A9, C1,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2A908-AC9C-488F-8ADB-4226AE2A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EE67B-B55C-4076-A9A0-12784F37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26BB3-A67D-4D05-AC4E-06763DB6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20 / 21</a:t>
            </a:r>
          </a:p>
        </p:txBody>
      </p:sp>
    </p:spTree>
    <p:extLst>
      <p:ext uri="{BB962C8B-B14F-4D97-AF65-F5344CB8AC3E}">
        <p14:creationId xmlns:p14="http://schemas.microsoft.com/office/powerpoint/2010/main" val="5844785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6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4507D-2902-4149-AA0B-ED6F2084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DECISION / NEXT COMMITMENT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C898E-9D90-4229-9AE9-D7126C78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founder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4BC37-6FD9-4381-9E16-8C1DC9CE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985FB-7628-48F8-9613-83F6B5F6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Fund proof,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ACB03-55DD-4E75-A295-12DB26E8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not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7D078-95B0-4E3A-9E9B-5DF34A20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Release investment only as evidence improves.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62E5A-F535-4FB3-81EA-B86F3885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B0EA8-8268-4BF1-9FBD-C89C8E6F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the baseline, cost the 12-week proof phase and approve only the first decision gate.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01C77-4E54-4A50-B912-4A7EC109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E1, E2, E3, A1, A2, A3, A4, A5, A6, A7, A8, A9, C1, 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E2BE0-1FB5-42D4-B48B-DB3F2B47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HUMAN DECISION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0771A-7313-47EA-B01E-F89D1E6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CF131-3735-43F2-9581-065FE547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200195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2026-10-16T16:52:41.4340000Z</dcterms:created>
  <dcterms:modified xsi:type="dcterms:W3CDTF">2026-10-16T16:52:41.4340000Z</dcterms:modified>
</coreProperties>
</file>