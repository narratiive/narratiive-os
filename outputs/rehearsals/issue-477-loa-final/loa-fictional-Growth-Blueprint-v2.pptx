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18ce3c93cef4774" /><Relationship Type="http://schemas.openxmlformats.org/officeDocument/2006/relationships/extended-properties" Target="/docProps/app.xml" Id="R0e75413e51934a14" /><Relationship Type="http://schemas.openxmlformats.org/officeDocument/2006/relationships/officeDocument" Target="/ppt/presentation.xml" Id="R667f8f0c711b42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26812ff84ba49d5"/>
  </p:sldMasterIdLst>
  <p:notesMasterIdLst>
    <p:notesMasterId xmlns:r="http://schemas.openxmlformats.org/officeDocument/2006/relationships" r:id="Ra0fa36917ca54401"/>
  </p:notesMasterIdLst>
  <p:sldIdLst>
    <p:sldId xmlns:r="http://schemas.openxmlformats.org/officeDocument/2006/relationships" id="256" r:id="Rc3d4bcbf038b435e"/>
    <p:sldId xmlns:r="http://schemas.openxmlformats.org/officeDocument/2006/relationships" id="257" r:id="R392792085bac4489"/>
    <p:sldId xmlns:r="http://schemas.openxmlformats.org/officeDocument/2006/relationships" id="258" r:id="R55af2d80bf704d92"/>
    <p:sldId xmlns:r="http://schemas.openxmlformats.org/officeDocument/2006/relationships" id="259" r:id="Raec07efe1dc9406d"/>
    <p:sldId xmlns:r="http://schemas.openxmlformats.org/officeDocument/2006/relationships" id="260" r:id="R0205d6b4924d4539"/>
    <p:sldId xmlns:r="http://schemas.openxmlformats.org/officeDocument/2006/relationships" id="261" r:id="R8a432060c9144c9c"/>
    <p:sldId xmlns:r="http://schemas.openxmlformats.org/officeDocument/2006/relationships" id="262" r:id="Rfbe2348408d04174"/>
    <p:sldId xmlns:r="http://schemas.openxmlformats.org/officeDocument/2006/relationships" id="263" r:id="R8cd8e2ae587e40a4"/>
    <p:sldId xmlns:r="http://schemas.openxmlformats.org/officeDocument/2006/relationships" id="264" r:id="Rbd98f863b9c64266"/>
    <p:sldId xmlns:r="http://schemas.openxmlformats.org/officeDocument/2006/relationships" id="265" r:id="R700a2c4bc94d41ce"/>
    <p:sldId xmlns:r="http://schemas.openxmlformats.org/officeDocument/2006/relationships" id="266" r:id="R62e0b9df6b644db6"/>
    <p:sldId xmlns:r="http://schemas.openxmlformats.org/officeDocument/2006/relationships" id="267" r:id="R53e44549494d4e06"/>
    <p:sldId xmlns:r="http://schemas.openxmlformats.org/officeDocument/2006/relationships" id="268" r:id="R4a2fa0b09b744cbe"/>
    <p:sldId xmlns:r="http://schemas.openxmlformats.org/officeDocument/2006/relationships" id="269" r:id="Rd16e608a3b364059"/>
    <p:sldId xmlns:r="http://schemas.openxmlformats.org/officeDocument/2006/relationships" id="270" r:id="R23173d04ca7347d0"/>
    <p:sldId xmlns:r="http://schemas.openxmlformats.org/officeDocument/2006/relationships" id="271" r:id="R785f2819125d4206"/>
    <p:sldId xmlns:r="http://schemas.openxmlformats.org/officeDocument/2006/relationships" id="272" r:id="Rb832d81436824263"/>
    <p:sldId xmlns:r="http://schemas.openxmlformats.org/officeDocument/2006/relationships" id="273" r:id="Rcb8da4bdbdc34e4c"/>
    <p:sldId xmlns:r="http://schemas.openxmlformats.org/officeDocument/2006/relationships" id="274" r:id="Rbc4fbb2e91664f3a"/>
    <p:sldId xmlns:r="http://schemas.openxmlformats.org/officeDocument/2006/relationships" id="275" r:id="Rc0621833a4c94007"/>
    <p:sldId xmlns:r="http://schemas.openxmlformats.org/officeDocument/2006/relationships" id="276" r:id="R34424130e68d4b8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da9a8241594255" /><Relationship Type="http://schemas.openxmlformats.org/officeDocument/2006/relationships/slideMaster" Target="/ppt/slideMasters/slideMaster1.xml" Id="R826812ff84ba49d5" /><Relationship Type="http://schemas.openxmlformats.org/officeDocument/2006/relationships/notesMaster" Target="/ppt/notesMasters/notesMaster1.xml" Id="Ra0fa36917ca54401" /><Relationship Type="http://schemas.openxmlformats.org/officeDocument/2006/relationships/presProps" Target="/ppt/presProps.xml" Id="Ra46094f03c844d3c" /><Relationship Type="http://schemas.openxmlformats.org/officeDocument/2006/relationships/tableStyles" Target="/ppt/tableStyles.xml" Id="R4e932191961a44b0" /><Relationship Type="http://schemas.openxmlformats.org/officeDocument/2006/relationships/slide" Target="/ppt/slides/slide1.xml" Id="Rc3d4bcbf038b435e" /><Relationship Type="http://schemas.openxmlformats.org/officeDocument/2006/relationships/slide" Target="/ppt/slides/slide2.xml" Id="R392792085bac4489" /><Relationship Type="http://schemas.openxmlformats.org/officeDocument/2006/relationships/slide" Target="/ppt/slides/slide3.xml" Id="R55af2d80bf704d92" /><Relationship Type="http://schemas.openxmlformats.org/officeDocument/2006/relationships/slide" Target="/ppt/slides/slide4.xml" Id="Raec07efe1dc9406d" /><Relationship Type="http://schemas.openxmlformats.org/officeDocument/2006/relationships/slide" Target="/ppt/slides/slide5.xml" Id="R0205d6b4924d4539" /><Relationship Type="http://schemas.openxmlformats.org/officeDocument/2006/relationships/slide" Target="/ppt/slides/slide6.xml" Id="R8a432060c9144c9c" /><Relationship Type="http://schemas.openxmlformats.org/officeDocument/2006/relationships/slide" Target="/ppt/slides/slide7.xml" Id="Rfbe2348408d04174" /><Relationship Type="http://schemas.openxmlformats.org/officeDocument/2006/relationships/slide" Target="/ppt/slides/slide8.xml" Id="R8cd8e2ae587e40a4" /><Relationship Type="http://schemas.openxmlformats.org/officeDocument/2006/relationships/slide" Target="/ppt/slides/slide9.xml" Id="Rbd98f863b9c64266" /><Relationship Type="http://schemas.openxmlformats.org/officeDocument/2006/relationships/slide" Target="/ppt/slides/slide10.xml" Id="R700a2c4bc94d41ce" /><Relationship Type="http://schemas.openxmlformats.org/officeDocument/2006/relationships/slide" Target="/ppt/slides/slide11.xml" Id="R62e0b9df6b644db6" /><Relationship Type="http://schemas.openxmlformats.org/officeDocument/2006/relationships/slide" Target="/ppt/slides/slide12.xml" Id="R53e44549494d4e06" /><Relationship Type="http://schemas.openxmlformats.org/officeDocument/2006/relationships/slide" Target="/ppt/slides/slide13.xml" Id="R4a2fa0b09b744cbe" /><Relationship Type="http://schemas.openxmlformats.org/officeDocument/2006/relationships/slide" Target="/ppt/slides/slide14.xml" Id="Rd16e608a3b364059" /><Relationship Type="http://schemas.openxmlformats.org/officeDocument/2006/relationships/slide" Target="/ppt/slides/slide15.xml" Id="R23173d04ca7347d0" /><Relationship Type="http://schemas.openxmlformats.org/officeDocument/2006/relationships/slide" Target="/ppt/slides/slide16.xml" Id="R785f2819125d4206" /><Relationship Type="http://schemas.openxmlformats.org/officeDocument/2006/relationships/slide" Target="/ppt/slides/slide17.xml" Id="Rb832d81436824263" /><Relationship Type="http://schemas.openxmlformats.org/officeDocument/2006/relationships/slide" Target="/ppt/slides/slide18.xml" Id="Rcb8da4bdbdc34e4c" /><Relationship Type="http://schemas.openxmlformats.org/officeDocument/2006/relationships/slide" Target="/ppt/slides/slide19.xml" Id="Rbc4fbb2e91664f3a" /><Relationship Type="http://schemas.openxmlformats.org/officeDocument/2006/relationships/slide" Target="/ppt/slides/slide20.xml" Id="Rc0621833a4c94007" /><Relationship Type="http://schemas.openxmlformats.org/officeDocument/2006/relationships/slide" Target="/ppt/slides/slide21.xml" Id="R34424130e68d4b8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18485e65e7400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d451451d804ba0" /><Relationship Type="http://schemas.openxmlformats.org/officeDocument/2006/relationships/notesMaster" Target="/ppt/notesMasters/notesMaster1.xml" Id="R526f48f7039143a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06065632224af5" /><Relationship Type="http://schemas.openxmlformats.org/officeDocument/2006/relationships/notesMaster" Target="/ppt/notesMasters/notesMaster1.xml" Id="Rc6a4aef06d2549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bde2b8c1b08407f" /><Relationship Type="http://schemas.openxmlformats.org/officeDocument/2006/relationships/notesMaster" Target="/ppt/notesMasters/notesMaster1.xml" Id="Rc0966db8d3e041b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60b424297304757" /><Relationship Type="http://schemas.openxmlformats.org/officeDocument/2006/relationships/notesMaster" Target="/ppt/notesMasters/notesMaster1.xml" Id="R999a4c6bf4f748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78cb88f2564471" /><Relationship Type="http://schemas.openxmlformats.org/officeDocument/2006/relationships/notesMaster" Target="/ppt/notesMasters/notesMaster1.xml" Id="R0fe7103694f543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03136de6204ec9" /><Relationship Type="http://schemas.openxmlformats.org/officeDocument/2006/relationships/notesMaster" Target="/ppt/notesMasters/notesMaster1.xml" Id="Rbb449e9834a1495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f6bbd452c8e46bc" /><Relationship Type="http://schemas.openxmlformats.org/officeDocument/2006/relationships/notesMaster" Target="/ppt/notesMasters/notesMaster1.xml" Id="R03b794120e214e5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8a4ddb697fc4453" /><Relationship Type="http://schemas.openxmlformats.org/officeDocument/2006/relationships/notesMaster" Target="/ppt/notesMasters/notesMaster1.xml" Id="R254ec013b0a9497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2be6b17dd28482c" /><Relationship Type="http://schemas.openxmlformats.org/officeDocument/2006/relationships/notesMaster" Target="/ppt/notesMasters/notesMaster1.xml" Id="Rcd0496309ff94d3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bd2b3f61c045a6" /><Relationship Type="http://schemas.openxmlformats.org/officeDocument/2006/relationships/notesMaster" Target="/ppt/notesMasters/notesMaster1.xml" Id="R3175db8c7bd347f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8febbeed8824212" /><Relationship Type="http://schemas.openxmlformats.org/officeDocument/2006/relationships/notesMaster" Target="/ppt/notesMasters/notesMaster1.xml" Id="Rfd30c871fac1475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b46944daba843a0" /><Relationship Type="http://schemas.openxmlformats.org/officeDocument/2006/relationships/notesMaster" Target="/ppt/notesMasters/notesMaster1.xml" Id="R2747e5e24f6c410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53d50f595334d55" /><Relationship Type="http://schemas.openxmlformats.org/officeDocument/2006/relationships/notesMaster" Target="/ppt/notesMasters/notesMaster1.xml" Id="Rc65ce026e1de4d5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444614bbcfb4dfe" /><Relationship Type="http://schemas.openxmlformats.org/officeDocument/2006/relationships/notesMaster" Target="/ppt/notesMasters/notesMaster1.xml" Id="R3238f0ca441745b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ce4d9cc752d47a3" /><Relationship Type="http://schemas.openxmlformats.org/officeDocument/2006/relationships/notesMaster" Target="/ppt/notesMasters/notesMaster1.xml" Id="Ra99b0df6ac594ce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a724769f3894ab1" /><Relationship Type="http://schemas.openxmlformats.org/officeDocument/2006/relationships/notesMaster" Target="/ppt/notesMasters/notesMaster1.xml" Id="Rf8b0603ed28248b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ffa9f815bb0433a" /><Relationship Type="http://schemas.openxmlformats.org/officeDocument/2006/relationships/notesMaster" Target="/ppt/notesMasters/notesMaster1.xml" Id="R0553eefa317645f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eee27ccf35b460b" /><Relationship Type="http://schemas.openxmlformats.org/officeDocument/2006/relationships/notesMaster" Target="/ppt/notesMasters/notesMaster1.xml" Id="Rbd4aafe69858420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910a8b78b494299" /><Relationship Type="http://schemas.openxmlformats.org/officeDocument/2006/relationships/notesMaster" Target="/ppt/notesMasters/notesMaster1.xml" Id="Rd11d6f088e0f471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3f6331282aa435b" /><Relationship Type="http://schemas.openxmlformats.org/officeDocument/2006/relationships/notesMaster" Target="/ppt/notesMasters/notesMaster1.xml" Id="Rda5469726443471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4153e49616c4788" /><Relationship Type="http://schemas.openxmlformats.org/officeDocument/2006/relationships/notesMaster" Target="/ppt/notesMasters/notesMaster1.xml" Id="Rd67decda6e9a4ee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A1 [ASSUMPTION]: LOA receives 180,000 ecommerce sessions per year.</a:t>
            </a:r>
          </a:p>
          <a:p xmlns:a="http://schemas.openxmlformats.org/drawingml/2006/main">
            <a:r>
              <a:t>A2 [ASSUMPTION]: LOA converts 1.8% of ecommerce sessions to orders.</a:t>
            </a:r>
          </a:p>
          <a:p xmlns:a="http://schemas.openxmlformats.org/drawingml/2006/main">
            <a:r>
              <a:t>A3 [ASSUMPTION]: LOA has a £32 average ecommerce order value before returns, discounts and VAT treatment.</a:t>
            </a:r>
          </a:p>
          <a:p xmlns:a="http://schemas.openxmlformats.org/drawingml/2006/main">
            <a:r>
              <a:t>A7 [ASSUMPTION]: Incremental ecommerce revenue contributes 30% after product, fulfilment, payment, returns and incremental media costs.</a:t>
            </a:r>
          </a:p>
          <a:p xmlns:a="http://schemas.openxmlformats.org/drawingml/2006/main">
            <a:r>
              <a:t>A8 [ASSUMPTION]: LOA could realise 30% to 60% of annualised ecommerce scenario headroom during the first 12 months.</a:t>
            </a:r>
          </a:p>
          <a:p xmlns:a="http://schemas.openxmlformats.org/drawingml/2006/main">
            <a:r>
              <a:t>A9 [ASSUMPTION]: The first 12 months require £65,000 of incremental implementation investment beyond the £5,000 Growth Blueprint fee.</a:t>
            </a:r>
          </a:p>
          <a:p xmlns:a="http://schemas.openxmlformats.org/drawingml/2006/main">
            <a:r>
              <a:t>Governed evidence refs: A1, A2, A3, A7, A8, A9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A1 [ASSUMPTION]: LOA receives 180,000 ecommerce sessions per year.</a:t>
            </a:r>
          </a:p>
          <a:p xmlns:a="http://schemas.openxmlformats.org/drawingml/2006/main">
            <a:r>
              <a:t>A2 [ASSUMPTION]: LOA converts 1.8% of ecommerce sessions to orders.</a:t>
            </a:r>
          </a:p>
          <a:p xmlns:a="http://schemas.openxmlformats.org/drawingml/2006/main">
            <a:r>
              <a:t>A3 [ASSUMPTION]: LOA has a £32 average ecommerce order value before returns, discounts and VAT treatment.</a:t>
            </a:r>
          </a:p>
          <a:p xmlns:a="http://schemas.openxmlformats.org/drawingml/2006/main">
            <a:r>
              <a:t>A7 [ASSUMPTION]: Incremental ecommerce revenue contributes 30% after product, fulfilment, payment, returns and incremental media costs.</a:t>
            </a:r>
          </a:p>
          <a:p xmlns:a="http://schemas.openxmlformats.org/drawingml/2006/main">
            <a:r>
              <a:t>A8 [ASSUMPTION]: LOA could realise 30% to 60% of annualised ecommerce scenario headroom during the first 12 months.</a:t>
            </a:r>
          </a:p>
          <a:p xmlns:a="http://schemas.openxmlformats.org/drawingml/2006/main">
            <a:r>
              <a:t>A9 [ASSUMPTION]: The first 12 months require £65,000 of incremental implementation investment beyond the £5,000 Growth Blueprint fee.</a:t>
            </a:r>
          </a:p>
          <a:p xmlns:a="http://schemas.openxmlformats.org/drawingml/2006/main">
            <a:r>
              <a:t>Governed evidence refs: A1, A2, A3, A7, A8, A9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A4 [ASSUMPTION]: LOA's principal growth constraint is an attractive visual identity without a sufficiently specific occasion, proposition or trial-to-repeat system.</a:t>
            </a:r>
          </a:p>
          <a:p xmlns:a="http://schemas.openxmlformats.org/drawingml/2006/main">
            <a:r>
              <a:t>Governed evidence refs: A4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A4 [ASSUMPTION]: LOA's principal growth constraint is an attractive visual identity without a sufficiently specific occasion, proposition or trial-to-repeat system.</a:t>
            </a:r>
          </a:p>
          <a:p xmlns:a="http://schemas.openxmlformats.org/drawingml/2006/main">
            <a:r>
              <a:t>A5 [ASSUMPTION]: LOA could build an advantage by pairing its distinctive bottle with a clear role as the bright adult soft drink for social pauses.</a:t>
            </a:r>
          </a:p>
          <a:p xmlns:a="http://schemas.openxmlformats.org/drawingml/2006/main">
            <a:r>
              <a:t>A6 [ASSUMPTION]: A city-led sampling, selective wholesale, DTC replenishment and CRM growth engine is operationally feasible.</a:t>
            </a:r>
          </a:p>
          <a:p xmlns:a="http://schemas.openxmlformats.org/drawingml/2006/main">
            <a:r>
              <a:t>A7 [ASSUMPTION]: Incremental ecommerce revenue contributes 30% after product, fulfilment, payment, returns and incremental media costs.</a:t>
            </a:r>
          </a:p>
          <a:p xmlns:a="http://schemas.openxmlformats.org/drawingml/2006/main">
            <a:r>
              <a:t>A8 [ASSUMPTION]: LOA could realise 30% to 60% of annualised ecommerce scenario headroom during the first 12 months.</a:t>
            </a:r>
          </a:p>
          <a:p xmlns:a="http://schemas.openxmlformats.org/drawingml/2006/main">
            <a:r>
              <a:t>A9 [ASSUMPTION]: The first 12 months require £65,000 of incremental implementation investment beyond the £5,000 Growth Blueprint fee.</a:t>
            </a:r>
          </a:p>
          <a:p xmlns:a="http://schemas.openxmlformats.org/drawingml/2006/main">
            <a:r>
              <a:t>C1 [CREATIVE ILLUSTRATION]: A Brighter Pour is an illustrative campaign territory for fictional LOA.</a:t>
            </a:r>
          </a:p>
          <a:p xmlns:a="http://schemas.openxmlformats.org/drawingml/2006/main">
            <a:r>
              <a:t>C2 [CREATIVE ILLUSTRATION]: Claude's existing LOA coral bottle hero and convenience-store film are reused as internal creative illustrations.</a:t>
            </a:r>
          </a:p>
          <a:p xmlns:a="http://schemas.openxmlformats.org/drawingml/2006/main">
            <a:r>
              <a:t>E1 [VERIFIED EXTERNAL]: The UK government announced that the lower Soft Drinks Industry Levy sugar threshold will reduce from 5g to 4.5g per 100ml from January 2028.</a:t>
            </a:r>
          </a:p>
          <a:p xmlns:a="http://schemas.openxmlformats.org/drawingml/2006/main">
            <a:r>
              <a:t>E2 [VERIFIED EXTERNAL]: The UK government reported a 46% average reduction in sugar content in in-scope soft drinks between 2015 and 2020.</a:t>
            </a:r>
          </a:p>
          <a:p xmlns:a="http://schemas.openxmlformats.org/drawingml/2006/main">
            <a:r>
              <a:t>Governed evidence refs: A4, A5, A6, A7, A8, A9, C1, C2, E1, E2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A5 [ASSUMPTION]: LOA could build an advantage by pairing its distinctive bottle with a clear role as the bright adult soft drink for social pauses.</a:t>
            </a:r>
          </a:p>
          <a:p xmlns:a="http://schemas.openxmlformats.org/drawingml/2006/main">
            <a:r>
              <a:t>C1 [CREATIVE ILLUSTRATION]: A Brighter Pour is an illustrative campaign territory for fictional LOA.</a:t>
            </a:r>
          </a:p>
          <a:p xmlns:a="http://schemas.openxmlformats.org/drawingml/2006/main">
            <a:r>
              <a:t>C2 [CREATIVE ILLUSTRATION]: Claude's existing LOA coral bottle hero and convenience-store film are reused as internal creative illustrations.</a:t>
            </a:r>
          </a:p>
          <a:p xmlns:a="http://schemas.openxmlformats.org/drawingml/2006/main">
            <a:r>
              <a:t>Governed evidence refs: A5, C1, C2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A1 [ASSUMPTION]: LOA receives 180,000 ecommerce sessions per year.</a:t>
            </a:r>
          </a:p>
          <a:p xmlns:a="http://schemas.openxmlformats.org/drawingml/2006/main">
            <a:r>
              <a:t>A2 [ASSUMPTION]: LOA converts 1.8% of ecommerce sessions to orders.</a:t>
            </a:r>
          </a:p>
          <a:p xmlns:a="http://schemas.openxmlformats.org/drawingml/2006/main">
            <a:r>
              <a:t>A3 [ASSUMPTION]: LOA has a £32 average ecommerce order value before returns, discounts and VAT treatment.</a:t>
            </a:r>
          </a:p>
          <a:p xmlns:a="http://schemas.openxmlformats.org/drawingml/2006/main">
            <a:r>
              <a:t>A7 [ASSUMPTION]: Incremental ecommerce revenue contributes 30% after product, fulfilment, payment, returns and incremental media costs.</a:t>
            </a:r>
          </a:p>
          <a:p xmlns:a="http://schemas.openxmlformats.org/drawingml/2006/main">
            <a:r>
              <a:t>A8 [ASSUMPTION]: LOA could realise 30% to 60% of annualised ecommerce scenario headroom during the first 12 months.</a:t>
            </a:r>
          </a:p>
          <a:p xmlns:a="http://schemas.openxmlformats.org/drawingml/2006/main">
            <a:r>
              <a:t>A9 [ASSUMPTION]: The first 12 months require £65,000 of incremental implementation investment beyond the £5,000 Growth Blueprint fee.</a:t>
            </a:r>
          </a:p>
          <a:p xmlns:a="http://schemas.openxmlformats.org/drawingml/2006/main">
            <a:r>
              <a:t>Governed evidence refs: A1, A2, A3, A7, A8, A9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A1 [ASSUMPTION]: LOA receives 180,000 ecommerce sessions per year.</a:t>
            </a:r>
          </a:p>
          <a:p xmlns:a="http://schemas.openxmlformats.org/drawingml/2006/main">
            <a:r>
              <a:t>A2 [ASSUMPTION]: LOA converts 1.8% of ecommerce sessions to orders.</a:t>
            </a:r>
          </a:p>
          <a:p xmlns:a="http://schemas.openxmlformats.org/drawingml/2006/main">
            <a:r>
              <a:t>A3 [ASSUMPTION]: LOA has a £32 average ecommerce order value before returns, discounts and VAT treatment.</a:t>
            </a:r>
          </a:p>
          <a:p xmlns:a="http://schemas.openxmlformats.org/drawingml/2006/main">
            <a:r>
              <a:t>A7 [ASSUMPTION]: Incremental ecommerce revenue contributes 30% after product, fulfilment, payment, returns and incremental media costs.</a:t>
            </a:r>
          </a:p>
          <a:p xmlns:a="http://schemas.openxmlformats.org/drawingml/2006/main">
            <a:r>
              <a:t>A8 [ASSUMPTION]: LOA could realise 30% to 60% of annualised ecommerce scenario headroom during the first 12 months.</a:t>
            </a:r>
          </a:p>
          <a:p xmlns:a="http://schemas.openxmlformats.org/drawingml/2006/main">
            <a:r>
              <a:t>A9 [ASSUMPTION]: The first 12 months require £65,000 of incremental implementation investment beyond the £5,000 Growth Blueprint fee.</a:t>
            </a:r>
          </a:p>
          <a:p xmlns:a="http://schemas.openxmlformats.org/drawingml/2006/main">
            <a:r>
              <a:t>Governed evidence refs: A1, A2, A3, A7, A8, A9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A4 [ASSUMPTION]: LOA's principal growth constraint is an attractive visual identity without a sufficiently specific occasion, proposition or trial-to-repeat system.</a:t>
            </a:r>
          </a:p>
          <a:p xmlns:a="http://schemas.openxmlformats.org/drawingml/2006/main">
            <a:r>
              <a:t>Governed evidence refs: A4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A4 [ASSUMPTION]: LOA's principal growth constraint is an attractive visual identity without a sufficiently specific occasion, proposition or trial-to-repeat system.</a:t>
            </a:r>
          </a:p>
          <a:p xmlns:a="http://schemas.openxmlformats.org/drawingml/2006/main">
            <a:r>
              <a:t>Governed evidence refs: A4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A5 [ASSUMPTION]: LOA could build an advantage by pairing its distinctive bottle with a clear role as the bright adult soft drink for social pauses.</a:t>
            </a:r>
          </a:p>
          <a:p xmlns:a="http://schemas.openxmlformats.org/drawingml/2006/main">
            <a:r>
              <a:t>C2 [CREATIVE ILLUSTRATION]: Claude's existing LOA coral bottle hero and convenience-store film are reused as internal creative illustrations.</a:t>
            </a:r>
          </a:p>
          <a:p xmlns:a="http://schemas.openxmlformats.org/drawingml/2006/main">
            <a:r>
              <a:t>Governed evidence refs: A5, C2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A5 [ASSUMPTION]: LOA could build an advantage by pairing its distinctive bottle with a clear role as the bright adult soft drink for social pauses.</a:t>
            </a:r>
          </a:p>
          <a:p xmlns:a="http://schemas.openxmlformats.org/drawingml/2006/main">
            <a:r>
              <a:t>C2 [CREATIVE ILLUSTRATION]: Claude's existing LOA coral bottle hero and convenience-store film are reused as internal creative illustrations.</a:t>
            </a:r>
          </a:p>
          <a:p xmlns:a="http://schemas.openxmlformats.org/drawingml/2006/main">
            <a:r>
              <a:t>Governed evidence refs: A5, C2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A4 [ASSUMPTION]: LOA's principal growth constraint is an attractive visual identity without a sufficiently specific occasion, proposition or trial-to-repeat system.</a:t>
            </a:r>
          </a:p>
          <a:p xmlns:a="http://schemas.openxmlformats.org/drawingml/2006/main">
            <a:r>
              <a:t>A5 [ASSUMPTION]: LOA could build an advantage by pairing its distinctive bottle with a clear role as the bright adult soft drink for social pauses.</a:t>
            </a:r>
          </a:p>
          <a:p xmlns:a="http://schemas.openxmlformats.org/drawingml/2006/main">
            <a:r>
              <a:t>A6 [ASSUMPTION]: A city-led sampling, selective wholesale, DTC replenishment and CRM growth engine is operationally feasible.</a:t>
            </a:r>
          </a:p>
          <a:p xmlns:a="http://schemas.openxmlformats.org/drawingml/2006/main">
            <a:r>
              <a:t>A7 [ASSUMPTION]: Incremental ecommerce revenue contributes 30% after product, fulfilment, payment, returns and incremental media costs.</a:t>
            </a:r>
          </a:p>
          <a:p xmlns:a="http://schemas.openxmlformats.org/drawingml/2006/main">
            <a:r>
              <a:t>A8 [ASSUMPTION]: LOA could realise 30% to 60% of annualised ecommerce scenario headroom during the first 12 months.</a:t>
            </a:r>
          </a:p>
          <a:p xmlns:a="http://schemas.openxmlformats.org/drawingml/2006/main">
            <a:r>
              <a:t>A9 [ASSUMPTION]: The first 12 months require £65,000 of incremental implementation investment beyond the £5,000 Growth Blueprint fee.</a:t>
            </a:r>
          </a:p>
          <a:p xmlns:a="http://schemas.openxmlformats.org/drawingml/2006/main">
            <a:r>
              <a:t>C1 [CREATIVE ILLUSTRATION]: A Brighter Pour is an illustrative campaign territory for fictional LOA.</a:t>
            </a:r>
          </a:p>
          <a:p xmlns:a="http://schemas.openxmlformats.org/drawingml/2006/main">
            <a:r>
              <a:t>C2 [CREATIVE ILLUSTRATION]: Claude's existing LOA coral bottle hero and convenience-store film are reused as internal creative illustrations.</a:t>
            </a:r>
          </a:p>
          <a:p xmlns:a="http://schemas.openxmlformats.org/drawingml/2006/main">
            <a:r>
              <a:t>E1 [VERIFIED EXTERNAL]: The UK government announced that the lower Soft Drinks Industry Levy sugar threshold will reduce from 5g to 4.5g per 100ml from January 2028.</a:t>
            </a:r>
          </a:p>
          <a:p xmlns:a="http://schemas.openxmlformats.org/drawingml/2006/main">
            <a:r>
              <a:t>E2 [VERIFIED EXTERNAL]: The UK government reported a 46% average reduction in sugar content in in-scope soft drinks between 2015 and 2020.</a:t>
            </a:r>
          </a:p>
          <a:p xmlns:a="http://schemas.openxmlformats.org/drawingml/2006/main">
            <a:r>
              <a:t>Governed evidence refs: A4, A5, A6, A7, A8, A9, C1, C2, E1, E2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A4 [ASSUMPTION]: LOA's principal growth constraint is an attractive visual identity without a sufficiently specific occasion, proposition or trial-to-repeat system.</a:t>
            </a:r>
          </a:p>
          <a:p xmlns:a="http://schemas.openxmlformats.org/drawingml/2006/main">
            <a:r>
              <a:t>A5 [ASSUMPTION]: LOA could build an advantage by pairing its distinctive bottle with a clear role as the bright adult soft drink for social pauses.</a:t>
            </a:r>
          </a:p>
          <a:p xmlns:a="http://schemas.openxmlformats.org/drawingml/2006/main">
            <a:r>
              <a:t>A6 [ASSUMPTION]: A city-led sampling, selective wholesale, DTC replenishment and CRM growth engine is operationally feasible.</a:t>
            </a:r>
          </a:p>
          <a:p xmlns:a="http://schemas.openxmlformats.org/drawingml/2006/main">
            <a:r>
              <a:t>A7 [ASSUMPTION]: Incremental ecommerce revenue contributes 30% after product, fulfilment, payment, returns and incremental media costs.</a:t>
            </a:r>
          </a:p>
          <a:p xmlns:a="http://schemas.openxmlformats.org/drawingml/2006/main">
            <a:r>
              <a:t>A8 [ASSUMPTION]: LOA could realise 30% to 60% of annualised ecommerce scenario headroom during the first 12 months.</a:t>
            </a:r>
          </a:p>
          <a:p xmlns:a="http://schemas.openxmlformats.org/drawingml/2006/main">
            <a:r>
              <a:t>A9 [ASSUMPTION]: The first 12 months require £65,000 of incremental implementation investment beyond the £5,000 Growth Blueprint fee.</a:t>
            </a:r>
          </a:p>
          <a:p xmlns:a="http://schemas.openxmlformats.org/drawingml/2006/main">
            <a:r>
              <a:t>C1 [CREATIVE ILLUSTRATION]: A Brighter Pour is an illustrative campaign territory for fictional LOA.</a:t>
            </a:r>
          </a:p>
          <a:p xmlns:a="http://schemas.openxmlformats.org/drawingml/2006/main">
            <a:r>
              <a:t>C2 [CREATIVE ILLUSTRATION]: Claude's existing LOA coral bottle hero and convenience-store film are reused as internal creative illustrations.</a:t>
            </a:r>
          </a:p>
          <a:p xmlns:a="http://schemas.openxmlformats.org/drawingml/2006/main">
            <a:r>
              <a:t>E1 [VERIFIED EXTERNAL]: The UK government announced that the lower Soft Drinks Industry Levy sugar threshold will reduce from 5g to 4.5g per 100ml from January 2028.</a:t>
            </a:r>
          </a:p>
          <a:p xmlns:a="http://schemas.openxmlformats.org/drawingml/2006/main">
            <a:r>
              <a:t>E2 [VERIFIED EXTERNAL]: The UK government reported a 46% average reduction in sugar content in in-scope soft drinks between 2015 and 2020.</a:t>
            </a:r>
          </a:p>
          <a:p xmlns:a="http://schemas.openxmlformats.org/drawingml/2006/main">
            <a:r>
              <a:t>Governed evidence refs: A4, A5, A6, A7, A8, A9, C1, C2, E1, E2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A5 [ASSUMPTION]: LOA could build an advantage by pairing its distinctive bottle with a clear role as the bright adult soft drink for social pauses.</a:t>
            </a:r>
          </a:p>
          <a:p xmlns:a="http://schemas.openxmlformats.org/drawingml/2006/main">
            <a:r>
              <a:t>C1 [CREATIVE ILLUSTRATION]: A Brighter Pour is an illustrative campaign territory for fictional LOA.</a:t>
            </a:r>
          </a:p>
          <a:p xmlns:a="http://schemas.openxmlformats.org/drawingml/2006/main">
            <a:r>
              <a:t>C2 [CREATIVE ILLUSTRATION]: Claude's existing LOA coral bottle hero and convenience-store film are reused as internal creative illustrations.</a:t>
            </a:r>
          </a:p>
          <a:p xmlns:a="http://schemas.openxmlformats.org/drawingml/2006/main">
            <a:r>
              <a:t>Governed evidence refs: A5, C1, C2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A5 [ASSUMPTION]: LOA could build an advantage by pairing its distinctive bottle with a clear role as the bright adult soft drink for social pauses.</a:t>
            </a:r>
          </a:p>
          <a:p xmlns:a="http://schemas.openxmlformats.org/drawingml/2006/main">
            <a:r>
              <a:t>C1 [CREATIVE ILLUSTRATION]: A Brighter Pour is an illustrative campaign territory for fictional LOA.</a:t>
            </a:r>
          </a:p>
          <a:p xmlns:a="http://schemas.openxmlformats.org/drawingml/2006/main">
            <a:r>
              <a:t>C2 [CREATIVE ILLUSTRATION]: Claude's existing LOA coral bottle hero and convenience-store film are reused as internal creative illustrations.</a:t>
            </a:r>
          </a:p>
          <a:p xmlns:a="http://schemas.openxmlformats.org/drawingml/2006/main">
            <a:r>
              <a:t>Governed evidence refs: A5, C1, C2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A6 [ASSUMPTION]: A city-led sampling, selective wholesale, DTC replenishment and CRM growth engine is operationally feasible.</a:t>
            </a:r>
          </a:p>
          <a:p xmlns:a="http://schemas.openxmlformats.org/drawingml/2006/main">
            <a:r>
              <a:t>A7 [ASSUMPTION]: Incremental ecommerce revenue contributes 30% after product, fulfilment, payment, returns and incremental media costs.</a:t>
            </a:r>
          </a:p>
          <a:p xmlns:a="http://schemas.openxmlformats.org/drawingml/2006/main">
            <a:r>
              <a:t>A8 [ASSUMPTION]: LOA could realise 30% to 60% of annualised ecommerce scenario headroom during the first 12 months.</a:t>
            </a:r>
          </a:p>
          <a:p xmlns:a="http://schemas.openxmlformats.org/drawingml/2006/main">
            <a:r>
              <a:t>A9 [ASSUMPTION]: The first 12 months require £65,000 of incremental implementation investment beyond the £5,000 Growth Blueprint fee.</a:t>
            </a:r>
          </a:p>
          <a:p xmlns:a="http://schemas.openxmlformats.org/drawingml/2006/main">
            <a:r>
              <a:t>Governed evidence refs: A6, A7, A8, A9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A6 [ASSUMPTION]: A city-led sampling, selective wholesale, DTC replenishment and CRM growth engine is operationally feasible.</a:t>
            </a:r>
          </a:p>
          <a:p xmlns:a="http://schemas.openxmlformats.org/drawingml/2006/main">
            <a:r>
              <a:t>A7 [ASSUMPTION]: Incremental ecommerce revenue contributes 30% after product, fulfilment, payment, returns and incremental media costs.</a:t>
            </a:r>
          </a:p>
          <a:p xmlns:a="http://schemas.openxmlformats.org/drawingml/2006/main">
            <a:r>
              <a:t>A8 [ASSUMPTION]: LOA could realise 30% to 60% of annualised ecommerce scenario headroom during the first 12 months.</a:t>
            </a:r>
          </a:p>
          <a:p xmlns:a="http://schemas.openxmlformats.org/drawingml/2006/main">
            <a:r>
              <a:t>A9 [ASSUMPTION]: The first 12 months require £65,000 of incremental implementation investment beyond the £5,000 Growth Blueprint fee.</a:t>
            </a:r>
          </a:p>
          <a:p xmlns:a="http://schemas.openxmlformats.org/drawingml/2006/main">
            <a:r>
              <a:t>Governed evidence refs: A6, A7, A8, A9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A4 [ASSUMPTION]: LOA's principal growth constraint is an attractive visual identity without a sufficiently specific occasion, proposition or trial-to-repeat system.</a:t>
            </a:r>
          </a:p>
          <a:p xmlns:a="http://schemas.openxmlformats.org/drawingml/2006/main">
            <a:r>
              <a:t>A5 [ASSUMPTION]: LOA could build an advantage by pairing its distinctive bottle with a clear role as the bright adult soft drink for social pauses.</a:t>
            </a:r>
          </a:p>
          <a:p xmlns:a="http://schemas.openxmlformats.org/drawingml/2006/main">
            <a:r>
              <a:t>A6 [ASSUMPTION]: A city-led sampling, selective wholesale, DTC replenishment and CRM growth engine is operationally feasible.</a:t>
            </a:r>
          </a:p>
          <a:p xmlns:a="http://schemas.openxmlformats.org/drawingml/2006/main">
            <a:r>
              <a:t>A7 [ASSUMPTION]: Incremental ecommerce revenue contributes 30% after product, fulfilment, payment, returns and incremental media costs.</a:t>
            </a:r>
          </a:p>
          <a:p xmlns:a="http://schemas.openxmlformats.org/drawingml/2006/main">
            <a:r>
              <a:t>A8 [ASSUMPTION]: LOA could realise 30% to 60% of annualised ecommerce scenario headroom during the first 12 months.</a:t>
            </a:r>
          </a:p>
          <a:p xmlns:a="http://schemas.openxmlformats.org/drawingml/2006/main">
            <a:r>
              <a:t>A9 [ASSUMPTION]: The first 12 months require £65,000 of incremental implementation investment beyond the £5,000 Growth Blueprint fee.</a:t>
            </a:r>
          </a:p>
          <a:p xmlns:a="http://schemas.openxmlformats.org/drawingml/2006/main">
            <a:r>
              <a:t>C1 [CREATIVE ILLUSTRATION]: A Brighter Pour is an illustrative campaign territory for fictional LOA.</a:t>
            </a:r>
          </a:p>
          <a:p xmlns:a="http://schemas.openxmlformats.org/drawingml/2006/main">
            <a:r>
              <a:t>C2 [CREATIVE ILLUSTRATION]: Claude's existing LOA coral bottle hero and convenience-store film are reused as internal creative illustrations.</a:t>
            </a:r>
          </a:p>
          <a:p xmlns:a="http://schemas.openxmlformats.org/drawingml/2006/main">
            <a:r>
              <a:t>E1 [VERIFIED EXTERNAL]: The UK government announced that the lower Soft Drinks Industry Levy sugar threshold will reduce from 5g to 4.5g per 100ml from January 2028.</a:t>
            </a:r>
          </a:p>
          <a:p xmlns:a="http://schemas.openxmlformats.org/drawingml/2006/main">
            <a:r>
              <a:t>E2 [VERIFIED EXTERNAL]: The UK government reported a 46% average reduction in sugar content in in-scope soft drinks between 2015 and 2020.</a:t>
            </a:r>
          </a:p>
          <a:p xmlns:a="http://schemas.openxmlformats.org/drawingml/2006/main">
            <a:r>
              <a:t>E3 [VERIFIED EXTERNAL]: The British Soft Drinks Association's 2025 annual report states that more than seven in ten UK soft drinks sold are low or no sugar.</a:t>
            </a:r>
          </a:p>
          <a:p xmlns:a="http://schemas.openxmlformats.org/drawingml/2006/main">
            <a:r>
              <a:t>Governed evidence refs: A4, A5, A6, A7, A8, A9, C1, C2, E1, E2, E3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E1 [VERIFIED EXTERNAL]: The UK government announced that the lower Soft Drinks Industry Levy sugar threshold will reduce from 5g to 4.5g per 100ml from January 2028.</a:t>
            </a:r>
          </a:p>
          <a:p xmlns:a="http://schemas.openxmlformats.org/drawingml/2006/main">
            <a:r>
              <a:t>E2 [VERIFIED EXTERNAL]: The UK government reported a 46% average reduction in sugar content in in-scope soft drinks between 2015 and 2020.</a:t>
            </a:r>
          </a:p>
          <a:p xmlns:a="http://schemas.openxmlformats.org/drawingml/2006/main">
            <a:r>
              <a:t>E3 [VERIFIED EXTERNAL]: The British Soft Drinks Association's 2025 annual report states that more than seven in ten UK soft drinks sold are low or no sugar.</a:t>
            </a:r>
          </a:p>
          <a:p xmlns:a="http://schemas.openxmlformats.org/drawingml/2006/main">
            <a:r>
              <a:t>A1 [ASSUMPTION]: LOA receives 180,000 ecommerce sessions per year.</a:t>
            </a:r>
          </a:p>
          <a:p xmlns:a="http://schemas.openxmlformats.org/drawingml/2006/main">
            <a:r>
              <a:t>A2 [ASSUMPTION]: LOA converts 1.8% of ecommerce sessions to orders.</a:t>
            </a:r>
          </a:p>
          <a:p xmlns:a="http://schemas.openxmlformats.org/drawingml/2006/main">
            <a:r>
              <a:t>A3 [ASSUMPTION]: LOA has a £32 average ecommerce order value before returns, discounts and VAT treatment.</a:t>
            </a:r>
          </a:p>
          <a:p xmlns:a="http://schemas.openxmlformats.org/drawingml/2006/main">
            <a:r>
              <a:t>A4 [ASSUMPTION]: LOA's principal growth constraint is an attractive visual identity without a sufficiently specific occasion, proposition or trial-to-repeat system.</a:t>
            </a:r>
          </a:p>
          <a:p xmlns:a="http://schemas.openxmlformats.org/drawingml/2006/main">
            <a:r>
              <a:t>A5 [ASSUMPTION]: LOA could build an advantage by pairing its distinctive bottle with a clear role as the bright adult soft drink for social pauses.</a:t>
            </a:r>
          </a:p>
          <a:p xmlns:a="http://schemas.openxmlformats.org/drawingml/2006/main">
            <a:r>
              <a:t>Governed evidence refs: E1, E2, E3, A1, A2, A3, A4, A5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A6 [ASSUMPTION]: A city-led sampling, selective wholesale, DTC replenishment and CRM growth engine is operationally feasible.</a:t>
            </a:r>
          </a:p>
          <a:p xmlns:a="http://schemas.openxmlformats.org/drawingml/2006/main">
            <a:r>
              <a:t>A7 [ASSUMPTION]: Incremental ecommerce revenue contributes 30% after product, fulfilment, payment, returns and incremental media costs.</a:t>
            </a:r>
          </a:p>
          <a:p xmlns:a="http://schemas.openxmlformats.org/drawingml/2006/main">
            <a:r>
              <a:t>A8 [ASSUMPTION]: LOA could realise 30% to 60% of annualised ecommerce scenario headroom during the first 12 months.</a:t>
            </a:r>
          </a:p>
          <a:p xmlns:a="http://schemas.openxmlformats.org/drawingml/2006/main">
            <a:r>
              <a:t>A9 [ASSUMPTION]: The first 12 months require £65,000 of incremental implementation investment beyond the £5,000 Growth Blueprint fee.</a:t>
            </a:r>
          </a:p>
          <a:p xmlns:a="http://schemas.openxmlformats.org/drawingml/2006/main">
            <a:r>
              <a:t>C1 [CREATIVE ILLUSTRATION]: A Brighter Pour is an illustrative campaign territory for fictional LOA.</a:t>
            </a:r>
          </a:p>
          <a:p xmlns:a="http://schemas.openxmlformats.org/drawingml/2006/main">
            <a:r>
              <a:t>C2 [CREATIVE ILLUSTRATION]: Claude's existing LOA coral bottle hero and convenience-store film are reused as internal creative illustrations.</a:t>
            </a:r>
          </a:p>
          <a:p xmlns:a="http://schemas.openxmlformats.org/drawingml/2006/main">
            <a:r>
              <a:t>Governed evidence refs: A6, A7, A8, A9, C1, C2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E1 [VERIFIED EXTERNAL]: The UK government announced that the lower Soft Drinks Industry Levy sugar threshold will reduce from 5g to 4.5g per 100ml from January 2028.</a:t>
            </a:r>
          </a:p>
          <a:p xmlns:a="http://schemas.openxmlformats.org/drawingml/2006/main">
            <a:r>
              <a:t>E2 [VERIFIED EXTERNAL]: The UK government reported a 46% average reduction in sugar content in in-scope soft drinks between 2015 and 2020.</a:t>
            </a:r>
          </a:p>
          <a:p xmlns:a="http://schemas.openxmlformats.org/drawingml/2006/main">
            <a:r>
              <a:t>E3 [VERIFIED EXTERNAL]: The British Soft Drinks Association's 2025 annual report states that more than seven in ten UK soft drinks sold are low or no sugar.</a:t>
            </a:r>
          </a:p>
          <a:p xmlns:a="http://schemas.openxmlformats.org/drawingml/2006/main">
            <a:r>
              <a:t>A1 [ASSUMPTION]: LOA receives 180,000 ecommerce sessions per year.</a:t>
            </a:r>
          </a:p>
          <a:p xmlns:a="http://schemas.openxmlformats.org/drawingml/2006/main">
            <a:r>
              <a:t>A2 [ASSUMPTION]: LOA converts 1.8% of ecommerce sessions to orders.</a:t>
            </a:r>
          </a:p>
          <a:p xmlns:a="http://schemas.openxmlformats.org/drawingml/2006/main">
            <a:r>
              <a:t>A3 [ASSUMPTION]: LOA has a £32 average ecommerce order value before returns, discounts and VAT treatment.</a:t>
            </a:r>
          </a:p>
          <a:p xmlns:a="http://schemas.openxmlformats.org/drawingml/2006/main">
            <a:r>
              <a:t>A4 [ASSUMPTION]: LOA's principal growth constraint is an attractive visual identity without a sufficiently specific occasion, proposition or trial-to-repeat system.</a:t>
            </a:r>
          </a:p>
          <a:p xmlns:a="http://schemas.openxmlformats.org/drawingml/2006/main">
            <a:r>
              <a:t>A5 [ASSUMPTION]: LOA could build an advantage by pairing its distinctive bottle with a clear role as the bright adult soft drink for social pauses.</a:t>
            </a:r>
          </a:p>
          <a:p xmlns:a="http://schemas.openxmlformats.org/drawingml/2006/main">
            <a:r>
              <a:t>A6 [ASSUMPTION]: A city-led sampling, selective wholesale, DTC replenishment and CRM growth engine is operationally feasible.</a:t>
            </a:r>
          </a:p>
          <a:p xmlns:a="http://schemas.openxmlformats.org/drawingml/2006/main">
            <a:r>
              <a:t>A7 [ASSUMPTION]: Incremental ecommerce revenue contributes 30% after product, fulfilment, payment, returns and incremental media costs.</a:t>
            </a:r>
          </a:p>
          <a:p xmlns:a="http://schemas.openxmlformats.org/drawingml/2006/main">
            <a:r>
              <a:t>A8 [ASSUMPTION]: LOA could realise 30% to 60% of annualised ecommerce scenario headroom during the first 12 months.</a:t>
            </a:r>
          </a:p>
          <a:p xmlns:a="http://schemas.openxmlformats.org/drawingml/2006/main">
            <a:r>
              <a:t>A9 [ASSUMPTION]: The first 12 months require £65,000 of incremental implementation investment beyond the £5,000 Growth Blueprint fee.</a:t>
            </a:r>
          </a:p>
          <a:p xmlns:a="http://schemas.openxmlformats.org/drawingml/2006/main">
            <a:r>
              <a:t>C1 [CREATIVE ILLUSTRATION]: A Brighter Pour is an illustrative campaign territory for fictional LOA.</a:t>
            </a:r>
          </a:p>
          <a:p xmlns:a="http://schemas.openxmlformats.org/drawingml/2006/main">
            <a:r>
              <a:t>C2 [CREATIVE ILLUSTRATION]: Claude's existing LOA coral bottle hero and convenience-store film are reused as internal creative illustrations.</a:t>
            </a:r>
          </a:p>
          <a:p xmlns:a="http://schemas.openxmlformats.org/drawingml/2006/main">
            <a:r>
              <a:t>Governed evidence refs: E1, E2, E3, A1, A2, A3, A4, A5, A6, A7, A8, A9, C1, C2</a:t>
            </a:r>
          </a:p>
          <a:p xmlns:a="http://schemas.openxmlformats.org/drawingml/2006/main">
            <a:r>
              <a:t>INTERNAL FICTIONAL DEMONSTRATION - HUMAN APPROVAL REQUIRED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db429df2a6445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42cb093fec45c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c2724a92db45e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be1019476a456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db34938f70444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e7a6b6654247a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2066E7F-8ED7-4919-93BF-9216A9697D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9D14C4-8A60-4567-B17E-A31145E5AB1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95128EF-2B14-4A2A-8D10-2FCF1E0A8C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BD99AF5-E8FE-4DAA-B4D8-27F8F4C166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D189B05-EDDB-438E-A92F-D939C8E878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3D69B22-117A-4F3B-BEA2-25CBA410AD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73B855A-1B45-4110-BF5C-6CB94E5B1E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AA50079-C64D-44CF-A5CE-A2D762AE749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A8A8DF-B8B3-45C8-B7CF-700E478AAD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B9788F5-8C6E-4993-BE94-B8836196CA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3842ffd9d24ec3" /><Relationship Type="http://schemas.openxmlformats.org/officeDocument/2006/relationships/slideLayout" Target="/ppt/slideLayouts/slideLayout1.xml" Id="R74ecae8f14904ea2" /><Relationship Type="http://schemas.openxmlformats.org/officeDocument/2006/relationships/slideLayout" Target="/ppt/slideLayouts/slideLayout2.xml" Id="R889aa4720ebe46c4" /><Relationship Type="http://schemas.openxmlformats.org/officeDocument/2006/relationships/slideLayout" Target="/ppt/slideLayouts/slideLayout3.xml" Id="Rb503b021966547fc" /><Relationship Type="http://schemas.openxmlformats.org/officeDocument/2006/relationships/slideLayout" Target="/ppt/slideLayouts/slideLayout4.xml" Id="R29985a33ee964a31" /><Relationship Type="http://schemas.openxmlformats.org/officeDocument/2006/relationships/slideLayout" Target="/ppt/slideLayouts/slideLayout5.xml" Id="R02b7a25bb6fd4050" /><Relationship Type="http://schemas.openxmlformats.org/officeDocument/2006/relationships/slideLayout" Target="/ppt/slideLayouts/slideLayout6.xml" Id="Rc98474f496894f9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ecae8f14904ea2"/>
    <p:sldLayoutId xmlns:r="http://schemas.openxmlformats.org/officeDocument/2006/relationships" id="2147483650" r:id="R889aa4720ebe46c4"/>
    <p:sldLayoutId xmlns:r="http://schemas.openxmlformats.org/officeDocument/2006/relationships" id="2147483651" r:id="Rb503b021966547fc"/>
    <p:sldLayoutId xmlns:r="http://schemas.openxmlformats.org/officeDocument/2006/relationships" id="2147483652" r:id="R29985a33ee964a31"/>
    <p:sldLayoutId xmlns:r="http://schemas.openxmlformats.org/officeDocument/2006/relationships" id="2147483653" r:id="R02b7a25bb6fd4050"/>
    <p:sldLayoutId xmlns:r="http://schemas.openxmlformats.org/officeDocument/2006/relationships" id="2147483654" r:id="Rc98474f496894f9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3cc61658be476f" /><Relationship Type="http://schemas.openxmlformats.org/officeDocument/2006/relationships/notesSlide" Target="/ppt/notesSlides/notesSlide1.xml" Id="R5acd326a02d949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3abd0a4ef04212" /><Relationship Type="http://schemas.openxmlformats.org/officeDocument/2006/relationships/notesSlide" Target="/ppt/notesSlides/notesSlide2.xml" Id="R60cc6305abb8459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dc414edc8944b2" /><Relationship Type="http://schemas.openxmlformats.org/officeDocument/2006/relationships/notesSlide" Target="/ppt/notesSlides/notesSlide3.xml" Id="R306b444793ba43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30c7074606456c" /><Relationship Type="http://schemas.openxmlformats.org/officeDocument/2006/relationships/notesSlide" Target="/ppt/notesSlides/notesSlide4.xml" Id="R4b7378f0e6c842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8f52f6974f4f80" /><Relationship Type="http://schemas.openxmlformats.org/officeDocument/2006/relationships/image" Target="/ppt/media/image.png" Id="R9ae23a8437574f65" /><Relationship Type="http://schemas.openxmlformats.org/officeDocument/2006/relationships/notesSlide" Target="/ppt/notesSlides/notesSlide5.xml" Id="R51859f97bf6a40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af2232080f4455" /><Relationship Type="http://schemas.openxmlformats.org/officeDocument/2006/relationships/notesSlide" Target="/ppt/notesSlides/notesSlide6.xml" Id="R322e25e505ee4f4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1cd3489df24cf9" /><Relationship Type="http://schemas.openxmlformats.org/officeDocument/2006/relationships/notesSlide" Target="/ppt/notesSlides/notesSlide7.xml" Id="R4a4afd339f4c4a1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1e511389fc48ea" /><Relationship Type="http://schemas.openxmlformats.org/officeDocument/2006/relationships/notesSlide" Target="/ppt/notesSlides/notesSlide8.xml" Id="R0685c909082246e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587f3a17554b9e" /><Relationship Type="http://schemas.openxmlformats.org/officeDocument/2006/relationships/notesSlide" Target="/ppt/notesSlides/notesSlide9.xml" Id="R9cb2839e711946a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a3dcf5d91e4237" /><Relationship Type="http://schemas.openxmlformats.org/officeDocument/2006/relationships/notesSlide" Target="/ppt/notesSlides/notesSlide10.xml" Id="R3cc3d1df62bc4d0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5591d172c143f0" /><Relationship Type="http://schemas.openxmlformats.org/officeDocument/2006/relationships/notesSlide" Target="/ppt/notesSlides/notesSlide11.xml" Id="R90e590dd5609419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75f648da0214bbe" /><Relationship Type="http://schemas.openxmlformats.org/officeDocument/2006/relationships/notesSlide" Target="/ppt/notesSlides/notesSlide12.xml" Id="R02b0593cd624451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32420bae9a4c33" /><Relationship Type="http://schemas.openxmlformats.org/officeDocument/2006/relationships/notesSlide" Target="/ppt/notesSlides/notesSlide13.xml" Id="R452a4495dbfe473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e1be90960c4eb0" /><Relationship Type="http://schemas.openxmlformats.org/officeDocument/2006/relationships/notesSlide" Target="/ppt/notesSlides/notesSlide14.xml" Id="Rc01168ae423a4ec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3e396470c84750" /><Relationship Type="http://schemas.openxmlformats.org/officeDocument/2006/relationships/notesSlide" Target="/ppt/notesSlides/notesSlide15.xml" Id="R25bf71e2462744b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8a5b6b134d49fb" /><Relationship Type="http://schemas.openxmlformats.org/officeDocument/2006/relationships/notesSlide" Target="/ppt/notesSlides/notesSlide16.xml" Id="R90ba0b80b2c049d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ad48e6964945b3" /><Relationship Type="http://schemas.openxmlformats.org/officeDocument/2006/relationships/notesSlide" Target="/ppt/notesSlides/notesSlide17.xml" Id="R8113367411e84b3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3499541cbe4594" /><Relationship Type="http://schemas.openxmlformats.org/officeDocument/2006/relationships/notesSlide" Target="/ppt/notesSlides/notesSlide18.xml" Id="R0dd07df41aa8476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0320995c58430e" /><Relationship Type="http://schemas.openxmlformats.org/officeDocument/2006/relationships/notesSlide" Target="/ppt/notesSlides/notesSlide19.xml" Id="Rf50527f456e543e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79cf3460fa46e8" /><Relationship Type="http://schemas.openxmlformats.org/officeDocument/2006/relationships/notesSlide" Target="/ppt/notesSlides/notesSlide20.xml" Id="R71d31b723bac4bf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8de9b975564ed6" /><Relationship Type="http://schemas.openxmlformats.org/officeDocument/2006/relationships/notesSlide" Target="/ppt/notesSlides/notesSlide21.xml" Id="R0dc6259c0baa472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6538D1-3451-41EE-96FF-2D6A0FCD2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81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1B">
              <a:alpha val="93725"/>
            </a:srgbClr>
          </a:solidFill>
          <a:ln xmlns:a="http://schemas.openxmlformats.org/drawingml/2006/main" w="0">
            <a:solidFill>
              <a:srgbClr val="15121B">
                <a:alpha val="93725"/>
              </a:srgbClr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12F949-2FD4-44A4-9DA7-31A28A1E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E4E155-A975-4098-808F-3B846C77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1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164C20-6C15-438A-AC06-A8E5C1C6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001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GROWTH BLUEPRINT / 2026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3CCC81-9A36-4E77-AC70-8CCD2E7D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571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1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1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51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LOA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17B11A-BB84-4AFD-A277-B55B1E59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38500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1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1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210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Own the brighter pause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6905CD-7C7D-42E8-81FA-B54C2BD7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2430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350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 conditional route from distinctive bottle to repeatable demand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EC78CC-9AC5-493A-9445-9C02596C4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15050"/>
            <a:ext cx="647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INTERNAL FICTIONAL DEMONSTRATION - HUMAN APPROVAL REQUIRED</a:t>
            </a:r>
          </a:p>
        </p:txBody>
      </p:sp>
    </p:spTree>
    <p:extLst>
      <p:ext uri="{BB962C8B-B14F-4D97-AF65-F5344CB8AC3E}">
        <p14:creationId xmlns:p14="http://schemas.microsoft.com/office/powerpoint/2010/main" val="4498289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733E5F-516B-4769-A9F5-1D68756F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1 / THE CASE FOR CHANGE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457D8B-084D-4DB1-B4FC-DADD981B9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What the commercial opportunity looks like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0F0B38-5ED0-44BC-A5D8-D20AD564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66B3DE-6F00-4942-BEF6-72E2C49ACB57}"/>
              </a:ext>
            </a:extLst>
          </p:cNvPr>
          <p:cNvGraphicFramePr/>
          <p:nvPr/>
        </p:nvGraphicFramePr>
        <p:xfrm>
          <a:off xmlns:a="http://schemas.openxmlformats.org/drawingml/2006/main" x="647700" y="1885950"/>
          <a:ext xmlns:a="http://schemas.openxmlformats.org/drawingml/2006/main" cx="10896600" cy="2524125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179320"/>
                <a:gridCol w="2179320"/>
                <a:gridCol w="2179320"/>
                <a:gridCol w="2179320"/>
                <a:gridCol w="2179320"/>
              </a:tblGrid>
              <a:tr h="631031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Scenario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Annual revenue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Conversion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Year 1 contribution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Net after investment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Downside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£115k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1.8%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£1k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654F"/>
                          </a:solidFill>
                          <a:latin typeface="Helvetica"/>
                          <a:ea typeface="Helvetica"/>
                          <a:cs typeface="Helvetica"/>
                        </a:rPr>
                        <a:t>-£64k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Base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£547k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2.4%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£67k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£2k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63103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Upside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£884k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2.6%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£140k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£75k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1DE485-F285-4BCA-9EB8-BDD006C4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19625"/>
            <a:ext cx="10896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30% CONTRIBUTION, £65k INVESTMENT AND SCENARIO RAMP ARE ASSUMPTIONS. NOT A PROFIT FORECAST.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8B5E4A-E7FB-4E55-BA6A-6DEF35B4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4BDA0C-F257-4CA4-8125-43FFB9AC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base scenario adds £443,520 of annualised revenue headroom. The base case produces a £1,528 first-year contribution proxy after £65,000 of assumed investment. Verify every input before committing.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364635-42F2-4D09-95BC-EDBC8252E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A1, A2, A3, A7, A8, A9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D4F512-CE70-47BE-BEB8-E8430031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MODELLED - SCENARIO, NOT FORECAST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6212BD-B96C-4D39-B917-1F612783C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28B98A-D4F6-4BAF-AF22-400FF406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02 / 21</a:t>
            </a:r>
          </a:p>
        </p:txBody>
      </p:sp>
    </p:spTree>
    <p:extLst>
      <p:ext uri="{BB962C8B-B14F-4D97-AF65-F5344CB8AC3E}">
        <p14:creationId xmlns:p14="http://schemas.microsoft.com/office/powerpoint/2010/main" val="2005591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252F7D-1E17-45B7-BC67-2D004105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1 / THE CASE FOR CHANGE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16EF66-9FDE-476C-8C41-CFCDAEC9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What currently prevents growth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565C07-61A9-4034-9371-39743318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36645E-08F7-4660-B960-5AC92C67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05000"/>
            <a:ext cx="342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CURRENT ASSET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513F9D-DD6D-4465-87EB-42A93CD39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6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6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6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A bottle people may notice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7F6AF0-9D94-4481-824D-23AE1DD6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95625"/>
            <a:ext cx="4000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15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Distinctive visual assets are useful, but not proof of demand or repeat.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35E8A3-EF82-4C22-B57C-9B996853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076450"/>
            <a:ext cx="1562100" cy="1562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A1CA73-C118-42F1-8632-10DAEA837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619375"/>
            <a:ext cx="990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GAP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DCF6C1-CF2D-4921-97C5-F989DCEE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905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WORKING CONSTRAINT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A3B907-194B-4832-B3E0-68F8DB50B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3622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6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6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26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No proven repeat path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85C9B5-6AFA-46C3-AB83-83CE0D14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095625"/>
            <a:ext cx="3714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0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0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350" b="0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Working diagnosis only. Falsify it by: Reject this diagnosis if founder, customer and cohort evidence already shows a clear occasion, strong unprompted proposition recall and profitable repeat without increased discounting.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084D6A-A72D-4C14-BA3E-9A309D5C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CFB87E-F678-4B4D-BE04-AD6B4EBF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LOA may have a memorable bottle, but it has not yet proved the specific occasion, reason to choose or route from first taste to profitable repeat.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1F916F-8DE3-441B-8BDE-4D1AA8ED6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A4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9EECD8-D3E3-4474-8E02-19C9866C1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ASSUMPTION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D33B55-989A-4DCD-B309-3EFA2AB09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9DD53D-3895-4B9A-8334-DFE67931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03 / 21</a:t>
            </a:r>
          </a:p>
        </p:txBody>
      </p:sp>
    </p:spTree>
    <p:extLst>
      <p:ext uri="{BB962C8B-B14F-4D97-AF65-F5344CB8AC3E}">
        <p14:creationId xmlns:p14="http://schemas.microsoft.com/office/powerpoint/2010/main" val="9992310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C32EA1-37C7-4E25-AC6A-D8CFA13B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1 / THE CASE FOR CHANGE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5A2A60-6AFB-497B-8078-B8F2DF44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strategic moves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41E5E7-E667-4EB6-8A35-87032851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20CF2D-EB3D-4484-BAA6-E2768F57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3238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60426A-F567-478D-A2F3-18232314D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OWN THE BRIGHTER PAUSE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44737B-40C6-495A-8094-2AF91682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78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Qualified demand and conversion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5267A2-ACE3-41BE-B830-CF11DEB6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2781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Founder interview, occasion research and controlled proposition 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DFDC23-3A0E-4F8C-B677-96988910D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57375"/>
            <a:ext cx="3238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3DA28E-AD14-460B-B4CF-6993145A0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33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MAKE THE POUR THE PROOF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C0B54F-FD84-40B1-9D5E-AA8B78D6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47950"/>
            <a:ext cx="278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Comprehension, trial and memorability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1382D3-4F93-46B9-AC88-EF07D5DF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524250"/>
            <a:ext cx="2781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Creative recognition, comprehension and qualified sample-to-site 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35928C-7656-4076-A587-AE730E98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57375"/>
            <a:ext cx="3238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C91BBF-7BD0-444A-B508-1B845696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33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TURN TRIAL INTO REPEAT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D443AB-76B0-43CB-B2E5-1D48C568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47950"/>
            <a:ext cx="278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Repeat and distribution productivity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F37151-C18B-4F79-A81D-B7464078A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524250"/>
            <a:ext cx="2781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One-city cohort test of repeat and retailer sell-through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1558CC-7D23-4321-B00E-F534E536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D110F8-BDD2-47A6-BAE0-72BCD9E0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Own the brighter pause, make the pour the proof, then turn concentrated trial into measured repeat.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8C5FC4-E849-4EC1-816A-883C8D73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A4, A5, A6, A7, A8, A9, C1, C2, E1, E2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9FB535-B721-4D90-9824-FF53BC00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ASSUMPTION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688E43-B19D-42D6-BFAF-9B67AF0B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FFB57A-C06D-4FB1-A696-B6C53149F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04 / 21</a:t>
            </a:r>
          </a:p>
        </p:txBody>
      </p:sp>
    </p:spTree>
    <p:extLst>
      <p:ext uri="{BB962C8B-B14F-4D97-AF65-F5344CB8AC3E}">
        <p14:creationId xmlns:p14="http://schemas.microsoft.com/office/powerpoint/2010/main" val="14854012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78822F-2731-48DB-AA81-FEF842F6BC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e23a8437574f65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49F5BB-8E55-4E06-BEC3-EB8E1D6EB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191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21B">
              <a:alpha val="90980"/>
            </a:srgbClr>
          </a:solidFill>
          <a:ln xmlns:a="http://schemas.openxmlformats.org/drawingml/2006/main" w="0">
            <a:solidFill>
              <a:srgbClr val="15121B">
                <a:alpha val="90980"/>
              </a:srgbClr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579680-7F4B-435A-9193-9EAF4C3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ACT 1 / THE CASE FOR CHANGE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38EABC-B71A-48DE-BC3A-957EB480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81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2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2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What the future could look like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50B7CF-C96D-4FD3-93CC-F7B0E1D9B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981200"/>
            <a:ext cx="4857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6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36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36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 Brighter Pour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FFBB51-698E-4043-A342-C6CCAD91E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43250"/>
            <a:ext cx="4762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Turn the small social pause into something vivid: an unmistakable LOA pour, served with food, colour and a little ceremony.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0AF29E-D886-4152-9998-B99B9BBC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14875"/>
            <a:ext cx="2857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CREATIVE ILLUSTRATION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5FC484-B7DA-447A-94AE-A4BA4800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101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0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050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050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Fictional visual proof. Test relevance, distinctiveness and product comprehension before selection.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64CC66-9740-400D-AE67-042986AAA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A5, C1, C2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5E30A0-2F4B-4762-9CD7-E3E533D9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CREATIVE ILLUSTRATION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8336E7-D5B2-4877-BE6F-2C40BEA9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4D2865-35F2-4F34-851E-2B47B5B3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05 / 21</a:t>
            </a:r>
          </a:p>
        </p:txBody>
      </p:sp>
    </p:spTree>
    <p:extLst>
      <p:ext uri="{BB962C8B-B14F-4D97-AF65-F5344CB8AC3E}">
        <p14:creationId xmlns:p14="http://schemas.microsoft.com/office/powerpoint/2010/main" val="21173833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7D9CAF-054E-4BA0-BC59-5B0491B4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CHAPTER 1 / THE OPPORTUNITY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9CC1D6-BB80-48C9-BA36-27A6E9B7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Opportunity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B16E84-7BCA-4A04-A686-A60A5A04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388B70-BC2D-4958-8D74-F036FAE6D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7096125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0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base case produces a £1,528 first-year contribution proxy after £65,000 of assumed investment. Verify every input before committing.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013292-73AB-4C96-B532-4F8C5528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09750"/>
            <a:ext cx="2667000" cy="2667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03F12F-DE32-4200-BA3C-FDF7874A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419350"/>
            <a:ext cx="1762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SCENARIO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A7941F-D6BB-41E0-8065-B424AAE7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981325"/>
            <a:ext cx="13811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F6CC62-5D5A-4FA4-9BDD-8879344CF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286125"/>
            <a:ext cx="1885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Validate before investment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BC8D2D-D3A8-48CF-A91C-CC9E07CA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9BEBFA-F363-4B5A-B103-09FC4213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LOA could test an annualised ecommerce revenue scenario of £547,200, £443,520 above the assumed baseline.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83E29B-FD79-4E72-AF10-007E2E80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A1, A2, A3, A7, A8, A9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2F5ED2-0839-49CD-B824-2DE4578B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MODELLED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129F51-C353-4636-8E6D-BC9C99FF6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D537DB-CA0A-4DA0-A24F-CC7BCA3E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06 / 21</a:t>
            </a:r>
          </a:p>
        </p:txBody>
      </p:sp>
    </p:spTree>
    <p:extLst>
      <p:ext uri="{BB962C8B-B14F-4D97-AF65-F5344CB8AC3E}">
        <p14:creationId xmlns:p14="http://schemas.microsoft.com/office/powerpoint/2010/main" val="17796790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ECF509-85CE-49D3-AA1B-5C8AF78F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CHAPTER 1 / THE OPPORTUNITY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0937E3-F27C-4BA2-837A-031E7C1C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scenario bridge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4B8B93-C18D-483F-8F2D-9C10BA212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74BD8B-78C1-4BDD-8E19-5D17C43D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4476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82A58-8783-4100-AE86-42350418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28825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01 CLAIM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F186A2-CA11-4248-97E1-3A80FA979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62250"/>
            <a:ext cx="3429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BEEE37-EA59-4E65-ABD4-699461845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813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02 PROOF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28CE53-947B-46BF-8D27-9EFA0BC82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714750"/>
            <a:ext cx="2381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99B323-B231-49E4-8D76-FC16A952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338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03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E31F57-5C27-4AB8-9991-6B3F995DD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95500"/>
            <a:ext cx="4000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sequential bridge reconciles to £443,520. The attribution order is a modelling convention.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63020E-4D6E-4DAF-BA51-100D645C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36140C-678C-4D45-8F62-C1F88635B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Traffic contributes £241,920; Conversion contributes £115,200; Average order value contributes £86,400.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D2C133-834F-4DE7-A887-C68A9BFD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A1, A2, A3, A7, A8, A9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33D2A4-BC16-46A1-8AA1-9ED2E785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MODELLED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25E713-F51E-4F96-976B-A9F16EEB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E59A1A-F600-42F5-A421-AFDAF936C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07 / 21</a:t>
            </a:r>
          </a:p>
        </p:txBody>
      </p:sp>
    </p:spTree>
    <p:extLst>
      <p:ext uri="{BB962C8B-B14F-4D97-AF65-F5344CB8AC3E}">
        <p14:creationId xmlns:p14="http://schemas.microsoft.com/office/powerpoint/2010/main" val="14449091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45BFEE-3B70-4A81-B4E9-C2C921ED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CHAPTER 2 / THE CONSTRAINT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F47A1A-52A7-4185-84B8-8E4A6144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Constraint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5A944D-B7C7-46DB-A20E-661B3006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40B46D-508D-4E54-9EE9-CF3D37B3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4476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E949F8-DB9B-42FD-9684-F5CC6BB18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028825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01 CLAIM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CD9B7E-3755-4E8D-99FA-5D6B365A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762250"/>
            <a:ext cx="34290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667AC6-2AD3-42DB-851D-76A9372D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813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02 PROOF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1DF113-39A7-494B-8AD2-878F73F2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714750"/>
            <a:ext cx="2381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32FCE9-D3AD-4C44-8157-C75185C6D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338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03 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03DD99-67D8-4A8A-B0D8-71C9537D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95500"/>
            <a:ext cx="4000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8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Reject this diagnosis if founder, customer and cohort evidence already shows a clear occasion, strong unprompted proposition recall and profitable repeat without increased discounting.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34EC94-5129-48B6-B6C5-3B4921CA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989D63-03B0-4B23-905C-1E6E5BF1B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LOA may have a memorable bottle, but it has not yet proved the specific occasion, reason to choose or route from first taste to profitable repeat.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134526-9876-4DDA-AEC1-B1C12585C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A4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DB8183-4AFC-400D-9CE3-8F9C15CD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ASSUMPTION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1F16-EC4C-41A6-8FD4-DB779C3D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1D3F88-1999-441A-86BB-F1A4CE0BB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08 / 21</a:t>
            </a:r>
          </a:p>
        </p:txBody>
      </p:sp>
    </p:spTree>
    <p:extLst>
      <p:ext uri="{BB962C8B-B14F-4D97-AF65-F5344CB8AC3E}">
        <p14:creationId xmlns:p14="http://schemas.microsoft.com/office/powerpoint/2010/main" val="42059501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51AF54-A394-4240-9528-5BD02BD1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CHAPTER 2 / THE CONSTRAINT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E51520-6541-443E-9C30-B5C6B410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What would disprove the diagnosis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AEE80B-393B-49FF-978C-D9BF4B92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4A6244-C0A6-4B6D-8086-4B7869964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38500"/>
            <a:ext cx="9525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67042E-22BD-44C8-B544-14AAC100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714625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CABBDE-AD19-4D61-AB3E-94044C2C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9241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4AA7B2-F541-45C2-A954-3EF40338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173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FOUNDER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25EE4F-90ED-4802-AB10-8D8770828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14625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626A72-EC10-4113-B379-8CF681A4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241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47040-F0AB-43AA-8FB9-B254AA551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048125"/>
            <a:ext cx="173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RETAIL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2E17F5-89A4-4EB7-BF2D-08BD67A6F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14625"/>
            <a:ext cx="1066800" cy="1066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F8EB93-B3FA-40F2-BF2C-267C92BAE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24175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8B6809-20FB-43B0-A622-1CA192C6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048125"/>
            <a:ext cx="173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CRM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C51447-552F-4943-AF50-5320E831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809750"/>
            <a:ext cx="723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Reject this diagnosis if founder, customer and cohort evidence already shows a clear occasion, strong unprompted proposition recall and profitable repeat without increased discounting.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E8B241-8B9F-4FDC-B5B6-338FB3452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C6B24E-4371-4561-B353-B53047AD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diagnosis fails if LOA already owns a clear occasion and existing cohorts repeat profitably without heavier discounting.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4AF9BF-CF32-40D7-9511-014DDBAC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A4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D8BA2A-4953-4407-91BB-F7D923A7E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ASSUMPTION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A54558-999E-4EF5-BA62-814A718DA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EF2B1D-5CE8-4FF7-9F3B-0D610509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09 / 21</a:t>
            </a:r>
          </a:p>
        </p:txBody>
      </p:sp>
    </p:spTree>
    <p:extLst>
      <p:ext uri="{BB962C8B-B14F-4D97-AF65-F5344CB8AC3E}">
        <p14:creationId xmlns:p14="http://schemas.microsoft.com/office/powerpoint/2010/main" val="18733686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4DE38E-D867-40FE-8542-E9550812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CHAPTER 3 / THE ADVANTAGE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827ACD-2D1E-429E-BF2E-299F1CD4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Advantage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A415BF-5D0C-4BEA-A67F-8DC9F4589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363EA2-919A-40DB-803A-678AD4271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62125"/>
            <a:ext cx="7239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5E2CE6-AD12-4679-9F8E-7B2D5D7C5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33875"/>
            <a:ext cx="590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D7A"/>
          </a:solidFill>
          <a:ln xmlns:a="http://schemas.openxmlformats.org/drawingml/2006/main" w="0">
            <a:solidFill>
              <a:srgbClr val="756D7A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C6EFCE-761F-427B-A60D-D0729B00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95500"/>
            <a:ext cx="190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6D7A"/>
          </a:solidFill>
          <a:ln xmlns:a="http://schemas.openxmlformats.org/drawingml/2006/main" w="0">
            <a:solidFill>
              <a:srgbClr val="756D7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CE02D0-E53F-43D4-9F3E-8033D9E2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GENERIC REFRESHMENT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FD80ED-206A-4A1A-8FDB-772536B1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4767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OCCASION SPECIFIC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1DF4BB-0CE5-4EC9-A33E-1431FD35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526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PROVEN RITUAL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C6503F-52E1-4593-96F3-D693C295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50698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C52F01-B426-4AD6-BB9E-1BF167342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2128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 BRIGHTER POUR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993098-5391-482D-A97E-68758867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762125"/>
            <a:ext cx="3114675" cy="3333750"/>
          </a:xfrm>
          <a:prstGeom xmlns:a="http://schemas.openxmlformats.org/drawingml/2006/main" prst="roundRect">
            <a:avLst>
              <a:gd name="adj" fmla="val 2446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0B08A-D298-4EF0-9A82-50FAA60B9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THE GAP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94DBA0-C0B4-489D-93B2-4F82FEDEF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95525"/>
            <a:ext cx="2333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 vivid adult soft-drink ritual for everyday social pauses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57041E-2A6A-49B0-9E4D-06F91A5A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33725"/>
            <a:ext cx="23336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WHO IT MATTERS 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2A7BF6-A7CE-4A1B-B55E-E215AA6D3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33750"/>
            <a:ext cx="2333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9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Adults seeking a grown-up soft option; definition requires research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86A177-EC4F-4ED1-AD2A-94B9D18F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00500"/>
            <a:ext cx="233362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WHY COMPETITORS MISS 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6FD31C-3A98-442A-A9C2-584657AEA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210050"/>
            <a:ext cx="23336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No competitor position is asserted until research is completed.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C22413-75E9-4BDA-BA80-BEA0664B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2E47CC6-AAC4-42F4-8873-423715176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LOA could turn its coral bottle and optimistic visual language into a recognisable adult soft-drink ritual: a brighter pour for social pauses that deserve more than water and less than alcohol.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043D9A-DF67-4378-A696-AE5D0656A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A5, C2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D744DD-D219-44D6-A110-57A3617A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ASSUMPTION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AF0C7D-4EF0-4095-99BE-73180BF5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8F1945A-6074-4345-A345-7A0E94A23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10 / 21</a:t>
            </a:r>
          </a:p>
        </p:txBody>
      </p:sp>
    </p:spTree>
    <p:extLst>
      <p:ext uri="{BB962C8B-B14F-4D97-AF65-F5344CB8AC3E}">
        <p14:creationId xmlns:p14="http://schemas.microsoft.com/office/powerpoint/2010/main" val="20532267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DBDFD9-12C6-4A67-BE12-4F15C337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CHAPTER 3 / THE ADVANTAGE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3B8A10-5E67-46E8-B0DB-8C004A3D5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advantage needs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C21F19-949E-43EC-BCD8-77A5F7C7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F888B3-3384-4C45-ADCA-0CF0FCBB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5143500" cy="27432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39FFF1-4445-4720-A5BF-31FEB0650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2405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EVIDENCE TO COLLECT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9D28E8-F031-4620-BA03-E19B5B649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81225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0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0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CUSTOMER EVIDENCE REQUIRED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697287-8EA2-479B-BF68-F8D3DEEF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Map real social pauses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839A60-BEC4-4E72-8902-D41ACCCA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623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Test the bright-pour proposition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99C8CB-D907-4CFB-B7A8-D7CF0995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Measure trial and repeat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A6BFB2-9154-49AC-9CF8-D27A5595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14500"/>
            <a:ext cx="5429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680BF8-C8B8-4DFF-8718-8AD36A65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866900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BRAND ASSET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8191DA-17F4-4E44-B93B-F4F2B6E9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8288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A distinctive bottle illustration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E3D563-CFA7-43E1-8D0C-B546D1DB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28900"/>
            <a:ext cx="5429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342C9A-2F94-4716-9EFB-8E65224A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81300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CUSTOMER 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FF5051-C3B9-4C63-8A92-00E984F0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7432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Not yet supplied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C7A999-1CCD-40D5-91E0-B2774923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43300"/>
            <a:ext cx="5429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E01CF4-66E8-48EF-BE61-A525DB602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95700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CHOICE 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7598E9-03A3-4083-9B99-A57EE68A0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657600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Required before selection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89BCB4-0337-42A5-9EA9-A6CF37A8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1487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12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1200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The territory remains a hypothesis until customer choice and repeat evidence support it.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EE12B-879B-4C04-AD16-83E682FA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8C9C88-0BEB-4E60-8D67-0F2959BBF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Founder conviction can frame a hypothesis. Customer choice data must decide whether the advantage is real.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C8B4C9-B36F-4771-93F8-563E58350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A5, C2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7A473AC-86D3-49BA-A9C1-20155AC7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ASSUMPTION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EACB5A-F90F-4B6F-8DD9-D8F00DB8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D67900-C8CF-429E-90DC-7ECBA2D4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11 / 21</a:t>
            </a:r>
          </a:p>
        </p:txBody>
      </p:sp>
    </p:spTree>
    <p:extLst>
      <p:ext uri="{BB962C8B-B14F-4D97-AF65-F5344CB8AC3E}">
        <p14:creationId xmlns:p14="http://schemas.microsoft.com/office/powerpoint/2010/main" val="132827563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DE7FF0-600E-4397-A666-9F6DE2019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CHAPTER 4 / THE STRATEGY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82B744-47AF-4BA8-AC25-4ACFEE9F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853F3D-211E-4357-9322-B9A5EC9C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6E2489-16BF-4BD2-A113-DEA1DAE78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32004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7AC608-9018-4960-A96A-EBCD2715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F4EF2-0C0F-4939-ADE4-BC43966F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TENSION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4C1B06-403A-4A1F-8407-228B008F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61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A memorable bottle without a proven buying occasion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7229AF-F636-4CBC-8B53-C3B7FA27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52625"/>
            <a:ext cx="32004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9C4B10-FB00-4FF3-9023-DF8B7F43F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71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BE47D1-47D6-410E-9190-D25582840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479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SHIFT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063459-6DDC-4083-83AC-1B62275F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861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Make the LOA pour the recognisable ritual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5B6F2E-C43A-4F45-8C1C-43E09CDE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52625"/>
            <a:ext cx="32004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0">
            <a:solidFill>
              <a:srgbClr val="FFFDFC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807592-7A38-42C5-A021-B8A503FA8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717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13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EEFE62-2DB8-45C7-B09E-5D2DA27A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4795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RESOLUTION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168808-4231-486D-84B6-AE2FD2C7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86100"/>
            <a:ext cx="2714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Link concentrated trial to measured repeat before reach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8E96EB-3F34-4B75-A662-3D85CABA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4619625"/>
            <a:ext cx="676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ctr">
              <a:defRPr sz="21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ctr">
              <a:defRPr sz="21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217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Give LOA one social job, then make the pour earn the next purchase.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37CB65-0248-4759-9EE7-35C768E8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1C2763-6AE8-4C26-BDA7-4C285B901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Give LOA one ownable social job, make the bright-pour ritual unmistakable, then connect selective trial to measured repeat before buying reach.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FF8DC1-AB4E-40D3-8C1C-651C2DC9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A4, A5, A6, A7, A8, A9, C1, C2, E1, E2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10B58D-87FE-4FD1-BB69-6CE923D3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ASSUMPTION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A8BA64-8263-4751-9B99-CDE13B8AB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2CB026-835A-48C7-8EF5-63CE67107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12 / 21</a:t>
            </a:r>
          </a:p>
        </p:txBody>
      </p:sp>
    </p:spTree>
    <p:extLst>
      <p:ext uri="{BB962C8B-B14F-4D97-AF65-F5344CB8AC3E}">
        <p14:creationId xmlns:p14="http://schemas.microsoft.com/office/powerpoint/2010/main" val="118113635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EF1CE13-2A37-4E6A-9475-9322A2D7C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CHAPTER 4 / THE STRATEGY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07D4CF-FDB8-4820-A50C-E2AE09B4A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Three moves, three tests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3F5743-06B9-427A-84EB-A2DE2EAAA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BC2387-B31D-4E80-8286-E9C44645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3333750" cy="24003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FD5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AFC0C2-EA5E-47F5-BFB9-A7C9DE1B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478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01 / OWN THE BRIGHTER PAUSE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4EEA63-76E9-4CBB-ABB8-B577A264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2410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ROLE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AECEBF-2D82-4091-AD01-9B6F3F2E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286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Qualified demand and conversion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CDFB54-0712-4C22-801C-3D2CFC706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241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TENSION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14142C-C4E8-4B0D-8F87-EA93FB9E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26860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A sharper occasion excludes generic refreshment traffic and must earn credibility.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E16F72-CD7B-4A4C-80FC-4B8FFA715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PROOF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7087C0-70CD-497D-B8EA-829F1B7CC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861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Founder interview, occasion research and controlled proposition 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C19F1F-E02A-4C36-87D8-3D65E707F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ASSET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347EFD-D66C-433C-8DFF-DA002D2E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486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Strategy Director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C6B51A-7FEA-4908-98C4-60FEB6BA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38300"/>
            <a:ext cx="3333750" cy="24003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237192-6983-4382-AF23-4AFAAE5C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478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02 / MAKE THE POUR THE PROOF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238BF7-7DF2-4FB9-8A72-A9E0D7D9C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2410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ROLE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C00CD8-0077-42E2-915E-7C1CD496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286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Comprehension, trial and memorability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94E2AE-67B6-44B6-B2AF-6ADCEF2E2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7241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TENSION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CA80D7-5441-40E4-B527-ABB7BAC8C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6860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Product-centred work will reveal any weakness in taste, pack, serve or availability.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D99BB5-3144-480A-AB25-289B1DDD1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12420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PROOF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E03A62-C8F4-4FF4-8B86-9F5E7D15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0861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Creative recognition, comprehension and qualified sample-to-site 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4F3533-7C79-4734-B0EE-6D89F2FF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24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ASSET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53FA2A-F604-4287-9C82-53EFA4C1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3486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Creative Director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05A084-6695-478C-9038-93BE4D60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38300"/>
            <a:ext cx="3333750" cy="24003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FD5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2448E7-3D31-42DB-9A78-97EAD0DA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47850"/>
            <a:ext cx="2914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03 / TURN TRIAL INTO REPEAT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F4BB2E-937F-4982-AEC5-7D46B34E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2410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ROLE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366F4E-2440-49BC-A23E-F6F6519A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286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Repeat and distribution productivity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EA47A4-FF01-4C7C-B1C1-DA1212E8C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241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TENSION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7D8FD6-6B42-40A9-A18A-58A2A3A47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6860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Geographic focus slows broad awareness while protecting cash and learning quality.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D42168-CEB2-4C20-A2B3-900FCB57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2420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PROOF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0BDCEC-C29A-4DF6-92CD-88E15937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0861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One-city cohort test of repeat and retailer sell-through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2BF24FB-EB79-4B7F-B61A-F0E909EA9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24250"/>
            <a:ext cx="6667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5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ASSET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D6AA9E6-BF8C-448C-BD90-FAF96687A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486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Growth Strategy Director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95599B-D9A5-4FFE-9AB2-3E2EE8E0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3238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VERBAL ASSETS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856982E-3AFF-4BB7-B8BE-837A9F7EA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1485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Specific promise • Visible proof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8DEE43-2A7A-4CE1-B60D-E62DC99AB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86250"/>
            <a:ext cx="3238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TONE + MOTION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5D4DF70-B3E9-4D1D-8036-8E68CAC0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51485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Direct • Useful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E5D629-3EB6-4867-BC44-927CC41B7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86250"/>
            <a:ext cx="3238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0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RECURRING FORMATS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F28D0B8-C9E7-4B9A-A7F5-9FF3D6163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51485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Claim and proof • Test and result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65548B8-912B-4303-A244-D70B5D0B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F819ECD-1142-457A-882C-313B33612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strategy connects each recommendation to a measurable commercial lever.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EC21E6C-81C9-4025-8D2D-FF4E944F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A4, A5, A6, A7, A8, A9, C1, C2, E1, E2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C08DD55-6717-4B08-91A0-3D5156E9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ASSUMPTION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F38C1F4-A780-4C46-87DB-FE82CCD0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4A94A65-AABC-45A4-A01F-C4090673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13 / 21</a:t>
            </a:r>
          </a:p>
        </p:txBody>
      </p:sp>
    </p:spTree>
    <p:extLst>
      <p:ext uri="{BB962C8B-B14F-4D97-AF65-F5344CB8AC3E}">
        <p14:creationId xmlns:p14="http://schemas.microsoft.com/office/powerpoint/2010/main" val="11599742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B67D0C-D0C4-44FF-ADCB-0FFE742C6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CHAPTER 5 / THE CREATIVE FUTURE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C4FC72-8A30-4272-BDC6-C68F3947E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Creative Future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23B80C-3625-497E-8A09-E39F6213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CC9E1F-7F51-4D86-BD82-631D80B7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5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POUR BRIGHTER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8B6864-0FD8-44AB-8555-2B4F599B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19375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0" i="1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0" i="1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500" b="0" i="1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meets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6C5152-C03F-4875-98F5-A0A18B04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95625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5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5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25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MAKE THE PAUSE MATTER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884A06-53AF-49D9-9489-AD8D937E4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4785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4CD5E7-B2E8-4571-87A0-FE9917C0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84785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PRODUCT FIRST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9B2842-ABBA-4A5C-B638-922AB8EC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1145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Bottle, opening and pour are the mnemonic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277C12-A6EC-4769-9C7C-42A9080A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479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7D1C62-3886-44FB-8C56-479E0149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84797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APPETITE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390130-ED49-4A7A-8D67-19FDC844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14675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Food, glass, bubbles and condensation stay tactile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074F48-570F-44E8-911F-29766551D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481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03AA6A-F835-4DFC-BAFF-FAC92680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8481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ORDINARY TO VIVID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197549-DE75-40D2-9107-73998F17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11480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Colour arrives through the serve, not visual noise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54FA61-5936-441D-A630-774063BF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41C4C2-DB10-498D-AF23-F516ED4E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 Brighter Pour: Turn the small social pause into something vivid: an unmistakable LOA pour, served with food, colour and a little ceremony.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22A69A-E3C8-475E-97F7-DD95F134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A5, C1, C2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FB3E04-E712-4541-A7FA-F3E44BEBB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CREATIVE ILLUSTRATION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5CA06D-8250-41E1-81D8-7A33752E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E76484-832C-46F0-859A-2118E2E6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14 / 21</a:t>
            </a:r>
          </a:p>
        </p:txBody>
      </p:sp>
    </p:spTree>
    <p:extLst>
      <p:ext uri="{BB962C8B-B14F-4D97-AF65-F5344CB8AC3E}">
        <p14:creationId xmlns:p14="http://schemas.microsoft.com/office/powerpoint/2010/main" val="137902531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512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E79185-32D5-4F42-9C53-A919BCDB3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CHAPTER 5 / THE CREATIVE FUTURE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28AF36-D224-4AEA-B1E8-414C9427D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campaign behaviour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BD01EB-A284-404D-B2BF-ED2775066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5084AB-E6D2-4C17-BCB4-CFC8BCE2E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1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1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A six-second film opens on the flat hum of a convenience-store cooler. A coral LOA bottle is lifted, opened and poured beside a late lunch; the scene warms as the bubbles rise.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65B930-FE41-41F7-B4DD-EE6126AE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9525">
            <a:solidFill>
              <a:srgbClr val="FF654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D105FC-5681-4F4A-8269-3463FB0C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288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F1B4B5-1AF4-4D7E-8B0C-F8F824DF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051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PRODUCT FIRST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6AB0FF-7329-4B13-B91A-AB00E936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290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Bottle, opening and pour are the mnemonic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7E41CB-3AF5-46C3-8F20-44D7EEB7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6220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9525">
            <a:solidFill>
              <a:srgbClr val="FF654F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7CABF4-243F-4F60-8547-9BA3C89D9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60032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10E93-561C-4914-BFBF-21B3FE9D7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7657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APPETITE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54A60B-B1B9-4354-8D13-0DC7860A4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004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Food, glass, bubbles and condensation stay tactile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963398-B67A-4114-845B-83E87B81B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33650"/>
            <a:ext cx="314325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9525">
            <a:solidFill>
              <a:srgbClr val="FF654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443858-E0DA-4FA4-99A6-444365630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717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9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719E3B-5DF5-419D-9E0A-0784475B8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4802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ORDINARY TO VIVID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D146BF-076C-4B4C-973D-8E54D791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7190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112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Colour arrives through the serve, not visual noise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465170-3B4F-4001-BAAF-DCDAA39F1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8E0D07-4A33-4765-B72E-59DED21F8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Turn the small social pause into something vivid: an unmistakable LOA pour, served with food, colour and a little ceremony.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F95057-8C73-4C53-8F93-219DB1DD5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A5, C1, C2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939714-C3D3-4E76-AAF0-ABEED98E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CREATIVE ILLUSTRATION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A3BA50-A99A-4A97-934F-8D8BDA21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CFB0CD-A763-47FA-AB02-C5ACB16D1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15 / 21</a:t>
            </a:r>
          </a:p>
        </p:txBody>
      </p:sp>
    </p:spTree>
    <p:extLst>
      <p:ext uri="{BB962C8B-B14F-4D97-AF65-F5344CB8AC3E}">
        <p14:creationId xmlns:p14="http://schemas.microsoft.com/office/powerpoint/2010/main" val="41044431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DC0AA1-BE7D-4C79-9630-AD5B9C6D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CHAPTER 6 / THE GROWTH ENGINE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901DF2-5074-49D3-BAA7-CB135CE4E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Growth Engine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967F57-B6A7-4472-BC03-1A0AB63EA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7EC0FF-6634-436A-8522-10A8687FF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Selective wholesale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B6852B-E5B4-403B-A288-EA9EEDF3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Place LOA inside the target occasion and observe sell-through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0DB11C-B935-4DD1-965D-FDE3A2051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145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Stockist economics, weekly sell-through and reorder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CD6D2-DA1D-4F02-A434-CB4090C9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145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960926-9EC4-429C-A052-E07392B05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Sampling and partnerships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C277ED-60DE-4F70-BD3D-BF7E6FCE2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3241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Create qualified first taste around food, design and culture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D88DCC-C0D0-4FCC-B3E6-E21CDA280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622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Permission, sample-to-site capture, cost and product feedback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26A89F-8523-46E5-ABB4-E715791DB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08E0FB-33B1-4BF9-B5B3-ADE75BD90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108966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8D8D2"/>
          </a:solidFill>
          <a:ln xmlns:a="http://schemas.openxmlformats.org/drawingml/2006/main" w="0">
            <a:solidFill>
              <a:srgbClr val="F8D8D2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55C497-05AD-4AE9-AEAB-CC1426FBD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099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Owned DTC and CRM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0C86CC-000B-4FDF-BA47-31C1C101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9718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Convert mixed-case trial into measured replenishment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BBF29E-7C7D-4C49-8565-91DF3B002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099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Net conversion, second purchase, opt-out and contribution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F7C55E-ADD7-4230-9BBF-7B2905B7E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099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9A250B-1E6D-4E64-9F6E-81C21FD1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57600"/>
            <a:ext cx="200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Paid social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E57579-3CB6-4456-BBBA-B99BFABE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6195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Scale only the creative and occasions already linked to repeat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25FB82-2611-4F08-B78D-9FF7BD76D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5760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Incremental contribution after production and media cost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1EBA78-BD10-4883-A49B-2F5EBDF7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576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377665-1470-41D1-8D40-F9E32E574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41F348-9BD7-4093-BCBA-842D8BBD9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Use one city and a small number of food-led occasions to connect observed trial, DTC capture, replenishment and retailer sell-through before any national awareness spend.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F064BF-C3BB-4808-A6FE-4521A04E5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A6, A7, A8, A9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22605E-9E60-40E3-BCFA-DF0041F4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ASSUMPTION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4CAB56-A521-447F-8E5B-BD6B6C4A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709761-E4B6-40AE-9C4A-B589FA806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16 / 21</a:t>
            </a:r>
          </a:p>
        </p:txBody>
      </p:sp>
    </p:spTree>
    <p:extLst>
      <p:ext uri="{BB962C8B-B14F-4D97-AF65-F5344CB8AC3E}">
        <p14:creationId xmlns:p14="http://schemas.microsoft.com/office/powerpoint/2010/main" val="75872640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29F222-8872-42C6-B9E7-1F0033869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CHAPTER 6 / THE GROWTH ENGINE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345953-E5A7-410F-8EB1-22E21699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Measurement before scale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1F182-7DA8-4673-A10F-0287DBB6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F7179-263A-4922-90A1-08E1AB447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3238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DFF604-5EE4-4FC7-A332-B5B4C1629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7645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LEADING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31D1FF-7698-4927-8DB1-76957CB3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431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Brand attribution, occasion comprehension, qualified sample-to-site and retailer availability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98AD8A-35A8-4A3A-A383-2218F066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86050"/>
            <a:ext cx="628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8D3E45-9F71-4A14-A7CF-D55856CD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3238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C5EA68-2DE6-4EF6-A8F5-09D5503C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BEHAVIOURAL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7E6C64-5521-4761-A3A4-07EF69CA9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099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Net conversion, mixed-case uptake, second purchase, retailer sell-through and reorder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DA2985-7266-470D-9765-17EB442D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52850"/>
            <a:ext cx="628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AC2130-E5D1-442C-BC8F-6BC8BAE7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43350"/>
            <a:ext cx="3238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CFB017-13DE-4792-AF57-EB479924B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1005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COMMERCIAL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39DE69-95D1-4312-96E1-DDB1292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0767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5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Contribution after product, fulfilment, sampling, production, media and distribution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A32601-CE09-442C-A8CB-CFE374C7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2D545D-988A-43BE-A788-B8F7B7401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Leading indicators must move before the plan releases larger media or inventory commitments.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A812D2-9C30-4CD9-9E74-37301EE4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A6, A7, A8, A9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584A9F-B415-488C-887E-DABAEE886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ASSUMPTION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788A69-5FC5-4C76-8852-B7BF0808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5A9A07-6515-4EBC-A950-D4AEE0A5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17 / 21</a:t>
            </a:r>
          </a:p>
        </p:txBody>
      </p:sp>
    </p:spTree>
    <p:extLst>
      <p:ext uri="{BB962C8B-B14F-4D97-AF65-F5344CB8AC3E}">
        <p14:creationId xmlns:p14="http://schemas.microsoft.com/office/powerpoint/2010/main" val="153202870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E59A89-B563-4E8B-B84A-7F178F082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CHAPTER 7 / THE NEXT 12 MONTHS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9F8995-09FE-43E5-B56F-83DEE8A5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The Next 12 Months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A10C4E-6462-4F2F-A969-349E1705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877E48-03AC-4A0A-A187-9619FB61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3238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261A31"/>
          </a:solidFill>
          <a:ln xmlns:a="http://schemas.openxmlformats.org/drawingml/2006/main" w="0">
            <a:solidFill>
              <a:srgbClr val="261A3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7A73DE-138C-4573-A19F-AE597A76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33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Months 1-3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8FF419-7BF8-4904-AAA4-C1FC6C2A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78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Establish the truth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42E43F-2F81-4425-9701-FD4A9EA1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2781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Verify unit economics, formulation and availability; interview founder, customers and trade; test three occasion propositions.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C237F9-3D2B-4465-A53D-9BB80EFB7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57375"/>
            <a:ext cx="3238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4F1427-669D-42FE-A871-8CABF3818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33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Months 4-6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B83BB5-46D6-45F9-8A62-865D3F474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47950"/>
            <a:ext cx="278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Prove the brighter pour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0C4919-2CAB-491B-9209-015BAE2D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524250"/>
            <a:ext cx="2781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Run controlled creative, sampling, DTC capture and one-city wholesale tests using approved claims and assets.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E0A5AA-8EB6-48CA-AF4F-4C14CC82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57375"/>
            <a:ext cx="3238500" cy="3000375"/>
          </a:xfrm>
          <a:prstGeom xmlns:a="http://schemas.openxmlformats.org/drawingml/2006/main" prst="roundRect">
            <a:avLst>
              <a:gd name="adj" fmla="val 2540"/>
            </a:avLst>
          </a:prstGeom>
          <a:solidFill xmlns:a="http://schemas.openxmlformats.org/drawingml/2006/main">
            <a:srgbClr val="FF654F"/>
          </a:solidFill>
          <a:ln xmlns:a="http://schemas.openxmlformats.org/drawingml/2006/main" w="0">
            <a:solidFill>
              <a:srgbClr val="FF654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8634B5-0F80-493F-A500-CC4F5EE25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33600"/>
            <a:ext cx="2781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Months 7-9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1FD0FC-D39B-4A7D-A9D5-7143F740A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647950"/>
            <a:ext cx="278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87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Build the repeat system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1E4EEA-D788-4187-B701-293D791F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524250"/>
            <a:ext cx="27813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275" b="0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Codify winning serve, content, CRM, replenishment and retailer reorder mechanics.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026362-3C8A-478B-99E2-A80717ACE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72125"/>
            <a:ext cx="2095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COMMERCIAL CONSEQUENCE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DF252E-B03B-4314-BD2A-0F8E71891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5505450"/>
            <a:ext cx="838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1200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A staged validation programme protects cash while the business replaces assumptions with evidence.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CE2EA5-D69B-428B-B837-B9916051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A4, A5, A6, A7, A8, A9, C1, C2, E1, E2, E3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6E9B69-C9DB-4772-A769-60095DD7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ASSUMPTION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8D2125-25B1-4C8A-A051-83CDF5128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047F3A-5C34-42B5-8D43-32A6C537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18 / 21</a:t>
            </a:r>
          </a:p>
        </p:txBody>
      </p:sp>
    </p:spTree>
    <p:extLst>
      <p:ext uri="{BB962C8B-B14F-4D97-AF65-F5344CB8AC3E}">
        <p14:creationId xmlns:p14="http://schemas.microsoft.com/office/powerpoint/2010/main" val="194352359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5D9FB9-D724-4D6F-8435-940E360F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GOVERNANCE /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242FD5-FE47-413A-A6F4-650182E2F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Evidence and assumptions ledger (1 of 2)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47CAC-6E90-4E94-A310-63FBBA04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782FD4-FC2F-434E-9C7B-85CFA6879FE8}"/>
              </a:ext>
            </a:extLst>
          </p:cNvPr>
          <p:cNvGraphicFramePr/>
          <p:nvPr/>
        </p:nvGraphicFramePr>
        <p:xfrm>
          <a:off xmlns:a="http://schemas.openxmlformats.org/drawingml/2006/main" x="647700" y="1752600"/>
          <a:ext xmlns:a="http://schemas.openxmlformats.org/drawingml/2006/main" cx="10896600" cy="3333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552450"/>
                <a:gridCol w="1381125"/>
                <a:gridCol w="4286250"/>
                <a:gridCol w="4676775"/>
              </a:tblGrid>
              <a:tr h="370417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Class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Claim in this Blueprint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What would verify 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</a:tr>
              <a:tr h="370417">
                <a:tc>
                  <a:txBody>
                    <a:bodyPr/>
                    <a:lstStyle/>
                    <a:p>
                      <a:r>
                        <a:rPr sz="675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E1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VERIFIED EXTERNAL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The UK government announced that the lower Soft Drinks Industry Levy sugar threshold will reduce from 5g to 4.5g per 100ml from January 2028.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Confirm the final legislation and verify LOA recipes independently before making any formulation claim.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370417">
                <a:tc>
                  <a:txBody>
                    <a:bodyPr/>
                    <a:lstStyle/>
                    <a:p>
                      <a:r>
                        <a:rPr sz="675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E2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VERIFIED EXTERNAL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The UK government reported a 46% average reduction in sugar content in in-scope soft drinks between 2015 and 2020.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Use the latest official category data and obtain product-level evidence before commercial use.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370417">
                <a:tc>
                  <a:txBody>
                    <a:bodyPr/>
                    <a:lstStyle/>
                    <a:p>
                      <a:r>
                        <a:rPr sz="675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E3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VERIFIED EXTERNAL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The British Soft Drinks Association's 2025 annual report states that more than seven in ten UK soft drinks sold are low or no sugar.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Recheck the original report and triangulate with independent retail and customer evidence.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370417">
                <a:tc>
                  <a:txBody>
                    <a:bodyPr/>
                    <a:lstStyle/>
                    <a:p>
                      <a:r>
                        <a:rPr sz="675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ASSUMPTION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LOA receives 180,000 ecommerce sessions per year.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Reconcile an authorised GA4 export to ecommerce sessions and orders.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370417">
                <a:tc>
                  <a:txBody>
                    <a:bodyPr/>
                    <a:lstStyle/>
                    <a:p>
                      <a:r>
                        <a:rPr sz="675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ASSUMPTION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LOA converts 1.8% of ecommerce sessions to orders.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Agree the denominator and reconcile sessions to completed non-refunded orders.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370417">
                <a:tc>
                  <a:txBody>
                    <a:bodyPr/>
                    <a:lstStyle/>
                    <a:p>
                      <a:r>
                        <a:rPr sz="675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A3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ASSUMPTION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LOA has a £32 average ecommerce order value before returns, discounts and VAT treatment.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Calculate realised order value from an authorised transaction export.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370417">
                <a:tc>
                  <a:txBody>
                    <a:bodyPr/>
                    <a:lstStyle/>
                    <a:p>
                      <a:r>
                        <a:rPr sz="675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A4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ASSUMPTION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LOA's principal growth constraint is an attractive visual identity without a sufficiently specific occasion, proposition or trial-to-repeat system.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Run founder interviews, occasion research, proposition testing and a controlled conversion test.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370417">
                <a:tc>
                  <a:txBody>
                    <a:bodyPr/>
                    <a:lstStyle/>
                    <a:p>
                      <a:r>
                        <a:rPr sz="675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A5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ASSUMPTION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LOA could build an advantage by pairing its distinctive bottle with a clear role as the bright adult soft drink for social pauses.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Test the territory against category alternatives with target customers and trade buyers.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DF7A2A-9845-4FF1-9F03-CE1D4950A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No verified client evidence appears in this fictional sample. Real external market context does not verify fictional company performance.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D068A5-2B6E-430C-8C31-B87EFD2A0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E1, E2, E3, A1, A2, A3, A4, A5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AF1EB-06AA-49E3-B4B3-4E5D54B5E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EVIDENCE REGISTER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F532CC-753A-47B7-B36F-BAAD853B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B045A5-07FB-4ECA-939A-0D6BACF4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19 / 21</a:t>
            </a:r>
          </a:p>
        </p:txBody>
      </p:sp>
    </p:spTree>
    <p:extLst>
      <p:ext uri="{BB962C8B-B14F-4D97-AF65-F5344CB8AC3E}">
        <p14:creationId xmlns:p14="http://schemas.microsoft.com/office/powerpoint/2010/main" val="172522025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91C9C9-2176-4DC0-B2EA-41C4988F7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GOVERNANCE /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CAE57-CB9E-43F0-8795-F042A2A2E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15121B"/>
                </a:solidFill>
                <a:latin typeface="Helvetica"/>
                <a:ea typeface="Helvetica"/>
                <a:cs typeface="Helvetica"/>
              </a:rPr>
              <a:t>Evidence and assumptions ledger (2 of 2)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DB3983-8270-4B32-A56C-23BAD483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CFD5"/>
          </a:solidFill>
          <a:ln xmlns:a="http://schemas.openxmlformats.org/drawingml/2006/main" w="0">
            <a:solidFill>
              <a:srgbClr val="D9CFD5"/>
            </a:solidFill>
          </a:ln>
        </p:spPr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C19624-600A-4AF6-B7D1-7DF32D34C1FA}"/>
              </a:ext>
            </a:extLst>
          </p:cNvPr>
          <p:cNvGraphicFramePr/>
          <p:nvPr/>
        </p:nvGraphicFramePr>
        <p:xfrm>
          <a:off xmlns:a="http://schemas.openxmlformats.org/drawingml/2006/main" x="647700" y="1752600"/>
          <a:ext xmlns:a="http://schemas.openxmlformats.org/drawingml/2006/main" cx="10896600" cy="333375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552450"/>
                <a:gridCol w="1381125"/>
                <a:gridCol w="4286250"/>
                <a:gridCol w="4676775"/>
              </a:tblGrid>
              <a:tr h="47625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Class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Claim in this Blueprint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DFC"/>
                          </a:solidFill>
                          <a:latin typeface="Helvetica"/>
                          <a:ea typeface="Helvetica"/>
                          <a:cs typeface="Helvetica"/>
                        </a:rPr>
                        <a:t>What would verify it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T w="9525">
                      <a:solidFill>
                        <a:srgbClr val="D9CFD5"/>
                      </a:solidFill>
                      <a:prstDash val="solid"/>
                    </a:lnT>
                    <a:lnB w="9525">
                      <a:solidFill>
                        <a:srgbClr val="D9CFD5"/>
                      </a:solidFill>
                      <a:prstDash val="solid"/>
                    </a:lnB>
                    <a:solidFill>
                      <a:srgbClr val="261A31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675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A6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ASSUMPTION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 city-led sampling, selective wholesale, DTC replenishment and CRM growth engine is operationally feasible.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Obtain contribution, capacity, distribution and cohort data before any activation.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675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A7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ASSUMPTION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Incremental ecommerce revenue contributes 30% after product, fulfilment, payment, returns and incremental media costs.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Reconcile order-level net revenue and variable cost by product and channel.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675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A8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ASSUMPTION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LOA could realise 30% to 60% of annualised ecommerce scenario headroom during the first 12 months.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Build a monthly plan with test velocity, stock capacity and seasonality.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675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A9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ASSUMPTION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The first 12 months require £65,000 of incremental implementation investment beyond the £5,000 Growth Blueprint fee.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Obtain a costed activation plan before approval.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675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C1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CREATIVE ILLUSTRATION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A Brighter Pour is an illustrative campaign territory for fictional LOA.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Check strategic fit, distinction, comprehension and legal availability.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675" b="1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C2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CFD5"/>
                      </a:solidFill>
                      <a:prstDash val="solid"/>
                    </a:lnL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CREATIVE ILLUSTRATION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Claude's existing LOA coral bottle hero and convenience-store film are reused as internal creative illustrations.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75" b="0">
                          <a:solidFill>
                            <a:srgbClr val="15121B"/>
                          </a:solidFill>
                          <a:latin typeface="Helvetica"/>
                          <a:ea typeface="Helvetica"/>
                          <a:cs typeface="Helvetica"/>
                        </a:rPr>
                        <a:t>Matt must confirm source provenance, usage rights, product accuracy and client-facing suitability.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CFD5"/>
                      </a:solidFill>
                      <a:prstDash val="solid"/>
                    </a:lnR>
                    <a:lnB w="9525">
                      <a:solidFill>
                        <a:srgbClr val="D9CFD5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EE5B11-607D-4D88-8728-31C6FA36E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900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No verified client evidence appears in this fictional sample. Real external market context does not verify fictional company performance.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A3DE7B-A9E5-44D0-8237-7F0C4C51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SOURCES: A6, A7, A8, A9, C1, C2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CC5DDD-A90A-452F-AF34-52DC38C0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5A2E78"/>
                </a:solidFill>
                <a:latin typeface="Helvetica"/>
                <a:ea typeface="Helvetica"/>
                <a:cs typeface="Helvetica"/>
              </a:rPr>
              <a:t>EVIDENCE REGISTER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CD8D20-BE80-4237-AF8C-36BD0DAE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F3BCF8-F9C0-474F-A8D2-8C6AB1CD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756D7A"/>
                </a:solidFill>
                <a:latin typeface="Helvetica"/>
                <a:ea typeface="Helvetica"/>
                <a:cs typeface="Helvetica"/>
              </a:rPr>
              <a:t>20 / 21</a:t>
            </a:r>
          </a:p>
        </p:txBody>
      </p:sp>
    </p:spTree>
    <p:extLst>
      <p:ext uri="{BB962C8B-B14F-4D97-AF65-F5344CB8AC3E}">
        <p14:creationId xmlns:p14="http://schemas.microsoft.com/office/powerpoint/2010/main" val="119769104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261A3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197F67-98B9-4E6A-9447-828821CF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3375"/>
            <a:ext cx="57150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DECISION / NEXT COMMITMENT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DAF34-5FB8-4CA1-850E-4C6D9BA1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23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The founder 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582829-3FD0-4AE5-A264-4829F2B0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00175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A2E78"/>
          </a:solidFill>
          <a:ln xmlns:a="http://schemas.openxmlformats.org/drawingml/2006/main" w="0">
            <a:solidFill>
              <a:srgbClr val="5A2E78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364A15-A589-46D9-A520-F32F806FE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857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4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4200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4200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Fund proof,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5D82E5-50EA-4C0E-81D6-1A69DA59B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857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3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3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3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not scale.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033FE6-B3B4-4E5A-AD01-11C94E76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22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2250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2250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Release investment only as evidence improves.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9198BC-667A-4907-AD9A-11146885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defRPr>
            </a:pPr>
            <a:r>
              <a:rPr sz="750" b="1" i="0">
                <a:solidFill>
                  <a:srgbClr val="FF654F"/>
                </a:solidFill>
                <a:latin typeface="Helvetica"/>
                <a:ea typeface="Helvetica"/>
                <a:cs typeface="Helvetica"/>
              </a:rPr>
              <a:t>IMMEDIATE NEXT STEP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3BA623-8AD9-49D1-8A08-A0D079AF1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defRPr>
            </a:pPr>
            <a:r>
              <a:rPr sz="1425" b="1" i="0">
                <a:solidFill>
                  <a:srgbClr val="FFFDFC"/>
                </a:solidFill>
                <a:latin typeface="Helvetica"/>
                <a:ea typeface="Helvetica"/>
                <a:cs typeface="Helvetica"/>
              </a:rPr>
              <a:t>Verify the baseline, cost the 12-week proof phase and approve only the first decision gate.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6C0D06-EB85-4C9C-8260-7C9CD932E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3410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SOURCES: E1, E2, E3, A1, A2, A3, A4, A5, A6, A7, A8, A9, C1, C2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6E038-69B5-4991-9252-7F5B21A34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6134100"/>
            <a:ext cx="487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82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HUMAN DECISION REQUIRED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F74A69-5193-492E-B17F-CCEBD85E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515100"/>
            <a:ext cx="17145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l">
              <a:def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1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NARRATIIVE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7D8B6F-2DCE-4E96-9D35-BB232503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8763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defPPr>
          </a:lstStyle>
          <a:p xmlns:a="http://schemas.openxmlformats.org/drawingml/2006/main">
            <a:pPr algn="r">
              <a:def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defRPr>
            </a:pPr>
            <a:r>
              <a:rPr sz="675" b="0" i="0">
                <a:solidFill>
                  <a:srgbClr val="C8B7E8"/>
                </a:solidFill>
                <a:latin typeface="Helvetica"/>
                <a:ea typeface="Helvetica"/>
                <a:cs typeface="Helvetica"/>
              </a:rPr>
              <a:t>21 / 21</a:t>
            </a:r>
          </a:p>
        </p:txBody>
      </p:sp>
    </p:spTree>
    <p:extLst>
      <p:ext uri="{BB962C8B-B14F-4D97-AF65-F5344CB8AC3E}">
        <p14:creationId xmlns:p14="http://schemas.microsoft.com/office/powerpoint/2010/main" val="10407020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2026-10-16T17:01:56.1000000Z</dcterms:created>
  <dcterms:modified xsi:type="dcterms:W3CDTF">2026-10-16T17:01:56.1000000Z</dcterms:modified>
</coreProperties>
</file>