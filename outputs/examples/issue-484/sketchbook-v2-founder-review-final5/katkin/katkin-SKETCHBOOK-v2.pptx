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e07295853e428b" /><Relationship Type="http://schemas.openxmlformats.org/officeDocument/2006/relationships/extended-properties" Target="/docProps/app.xml" Id="R0a6cf46cb50d4501" /><Relationship Type="http://schemas.openxmlformats.org/officeDocument/2006/relationships/officeDocument" Target="/ppt/presentation.xml" Id="R5e5bf2bf3aaf4a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9bf403339d415e"/>
  </p:sldMasterIdLst>
  <p:notesMasterIdLst>
    <p:notesMasterId xmlns:r="http://schemas.openxmlformats.org/officeDocument/2006/relationships" r:id="R30cd6a606ba84048"/>
  </p:notesMasterIdLst>
  <p:sldIdLst>
    <p:sldId xmlns:r="http://schemas.openxmlformats.org/officeDocument/2006/relationships" id="256" r:id="Rb3e63931705d451d"/>
    <p:sldId xmlns:r="http://schemas.openxmlformats.org/officeDocument/2006/relationships" id="257" r:id="R332a29f8ba364eca"/>
    <p:sldId xmlns:r="http://schemas.openxmlformats.org/officeDocument/2006/relationships" id="258" r:id="Rc3cc1ee7a7704506"/>
    <p:sldId xmlns:r="http://schemas.openxmlformats.org/officeDocument/2006/relationships" id="259" r:id="R16c38371fb9349a0"/>
    <p:sldId xmlns:r="http://schemas.openxmlformats.org/officeDocument/2006/relationships" id="260" r:id="R50acea4740c241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8fba16faa3475c" /><Relationship Type="http://schemas.openxmlformats.org/officeDocument/2006/relationships/slideMaster" Target="/ppt/slideMasters/slideMaster1.xml" Id="R6b9bf403339d415e" /><Relationship Type="http://schemas.openxmlformats.org/officeDocument/2006/relationships/notesMaster" Target="/ppt/notesMasters/notesMaster1.xml" Id="R30cd6a606ba84048" /><Relationship Type="http://schemas.openxmlformats.org/officeDocument/2006/relationships/presProps" Target="/ppt/presProps.xml" Id="Rc2c865b3548349b6" /><Relationship Type="http://schemas.openxmlformats.org/officeDocument/2006/relationships/tableStyles" Target="/ppt/tableStyles.xml" Id="Rbf30c4f4d8624c5e" /><Relationship Type="http://schemas.openxmlformats.org/officeDocument/2006/relationships/slide" Target="/ppt/slides/slide1.xml" Id="Rb3e63931705d451d" /><Relationship Type="http://schemas.openxmlformats.org/officeDocument/2006/relationships/slide" Target="/ppt/slides/slide2.xml" Id="R332a29f8ba364eca" /><Relationship Type="http://schemas.openxmlformats.org/officeDocument/2006/relationships/slide" Target="/ppt/slides/slide3.xml" Id="Rc3cc1ee7a7704506" /><Relationship Type="http://schemas.openxmlformats.org/officeDocument/2006/relationships/slide" Target="/ppt/slides/slide4.xml" Id="R16c38371fb9349a0" /><Relationship Type="http://schemas.openxmlformats.org/officeDocument/2006/relationships/slide" Target="/ppt/slides/slide5.xml" Id="R50acea4740c241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b2b1be27eb4f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e0157198834464" /><Relationship Type="http://schemas.openxmlformats.org/officeDocument/2006/relationships/notesMaster" Target="/ppt/notesMasters/notesMaster1.xml" Id="R7b610e697c454c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907f076cc648e8" /><Relationship Type="http://schemas.openxmlformats.org/officeDocument/2006/relationships/notesMaster" Target="/ppt/notesMasters/notesMaster1.xml" Id="R4a87e00e9a3141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21935893864e56" /><Relationship Type="http://schemas.openxmlformats.org/officeDocument/2006/relationships/notesMaster" Target="/ppt/notesMasters/notesMaster1.xml" Id="R0b3986fe815b42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c796c4b13f4f36" /><Relationship Type="http://schemas.openxmlformats.org/officeDocument/2006/relationships/notesMaster" Target="/ppt/notesMasters/notesMaster1.xml" Id="R0b41e74050294c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173e5afab14637" /><Relationship Type="http://schemas.openxmlformats.org/officeDocument/2006/relationships/notesMaster" Target="/ppt/notesMasters/notesMaster1.xml" Id="R7d3473c9eb8548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FIELDWORK: katkin-fieldwork-v4-founder-review @ 7afbf42cdbdeae92a725d56ced07fc8a0b1a39aad18a3c1675d03b3c19ffd725</a:t>
            </a:r>
          </a:p>
          <a:p xmlns:a="http://schemas.openxmlformats.org/drawingml/2006/main">
            <a:r>
              <a:t>Evidence status: creative concept</a:t>
            </a:r>
          </a:p>
          <a:p xmlns:a="http://schemas.openxmlformats.org/drawingml/2006/main">
            <a:r>
              <a:t>Rights: AI-generated internal creative illustration</a:t>
            </a:r>
          </a:p>
          <a:p xmlns:a="http://schemas.openxmlformats.org/drawingml/2006/main">
            <a:r>
              <a:t>INTERNAL /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FIELDWORK: katkin-fieldwork-v4-founder-review @ 7afbf42cdbdeae92a725d56ced07fc8a0b1a39aad18a3c1675d03b3c19ffd725</a:t>
            </a:r>
          </a:p>
          <a:p xmlns:a="http://schemas.openxmlformats.org/drawingml/2006/main">
            <a:r>
              <a:t>Evidence status: SOURCE HYPOTHESIS / VALIDATE WITH FIRST-PARTY RESEARCH</a:t>
            </a:r>
          </a:p>
          <a:p xmlns:a="http://schemas.openxmlformats.org/drawingml/2006/main">
            <a:r>
              <a:t>Rights: AI-generated internal creative illustration</a:t>
            </a:r>
          </a:p>
          <a:p xmlns:a="http://schemas.openxmlformats.org/drawingml/2006/main">
            <a:r>
              <a:t>INTERNAL /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FIELDWORK: katkin-fieldwork-v4-founder-review @ 7afbf42cdbdeae92a725d56ced07fc8a0b1a39aad18a3c1675d03b3c19ffd725</a:t>
            </a:r>
          </a:p>
          <a:p xmlns:a="http://schemas.openxmlformats.org/drawingml/2006/main">
            <a:r>
              <a:t>Evidence status: creative concept</a:t>
            </a:r>
          </a:p>
          <a:p xmlns:a="http://schemas.openxmlformats.org/drawingml/2006/main">
            <a:r>
              <a:t>Rights: AI-generated internal creative illustration</a:t>
            </a:r>
          </a:p>
          <a:p xmlns:a="http://schemas.openxmlformats.org/drawingml/2006/main">
            <a:r>
              <a:t>INTERNAL /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FIELDWORK: katkin-fieldwork-v4-founder-review @ 7afbf42cdbdeae92a725d56ced07fc8a0b1a39aad18a3c1675d03b3c19ffd725</a:t>
            </a:r>
          </a:p>
          <a:p xmlns:a="http://schemas.openxmlformats.org/drawingml/2006/main">
            <a:r>
              <a:t>Evidence status: ILLUSTRATIVE CONCEPT / NOT APPROVED</a:t>
            </a:r>
          </a:p>
          <a:p xmlns:a="http://schemas.openxmlformats.org/drawingml/2006/main">
            <a:r>
              <a:t>Rights: AI-generated internal creative illustration</a:t>
            </a:r>
          </a:p>
          <a:p xmlns:a="http://schemas.openxmlformats.org/drawingml/2006/main">
            <a:r>
              <a:t>INTERNAL /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FIELDWORK: katkin-fieldwork-v4-founder-review @ 7afbf42cdbdeae92a725d56ced07fc8a0b1a39aad18a3c1675d03b3c19ffd725</a:t>
            </a:r>
          </a:p>
          <a:p xmlns:a="http://schemas.openxmlformats.org/drawingml/2006/main">
            <a:r>
              <a:t>Evidence status: CREATIVE ILLUSTRATION / NO LIVE MEDIA</a:t>
            </a:r>
          </a:p>
          <a:p xmlns:a="http://schemas.openxmlformats.org/drawingml/2006/main">
            <a:r>
              <a:t>Rights: AI-generated internal creative illustration</a:t>
            </a:r>
          </a:p>
          <a:p xmlns:a="http://schemas.openxmlformats.org/drawingml/2006/main">
            <a:r>
              <a:t>INTERNAL /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7f8815243c44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c7a8b86d884d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b5e1ae2bb43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1fb55ac9045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35b9fbb1d4b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9345213554f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5FE7B2-F25D-4B45-93F8-0E1D71C89C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F040B2-D32D-4F08-831C-1465A710DD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C234E8-47F2-4B41-A1AC-235F12E0A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B134AA-4B0F-42AB-8B60-9871355384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E3ECF3-585F-4F4D-AED0-0F8729EDFB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B7C858-D173-4FC7-844F-85A8FE9DF9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065A79-E6CF-4350-949F-8DDCA0795A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EC05FF-86AF-4736-A227-1F2CA299C4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5EE925-7C4C-4851-A32B-2957BC7058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EC4FC5-E4B7-45E3-B57B-72BC17603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1ad10b01b24c4c" /><Relationship Type="http://schemas.openxmlformats.org/officeDocument/2006/relationships/slideLayout" Target="/ppt/slideLayouts/slideLayout1.xml" Id="R884fd6ef11f04b30" /><Relationship Type="http://schemas.openxmlformats.org/officeDocument/2006/relationships/slideLayout" Target="/ppt/slideLayouts/slideLayout2.xml" Id="Rc0a8cbbe63144fb5" /><Relationship Type="http://schemas.openxmlformats.org/officeDocument/2006/relationships/slideLayout" Target="/ppt/slideLayouts/slideLayout3.xml" Id="R50358527483446c1" /><Relationship Type="http://schemas.openxmlformats.org/officeDocument/2006/relationships/slideLayout" Target="/ppt/slideLayouts/slideLayout4.xml" Id="R1c2b56f11aea43c7" /><Relationship Type="http://schemas.openxmlformats.org/officeDocument/2006/relationships/slideLayout" Target="/ppt/slideLayouts/slideLayout5.xml" Id="R1df0c7ae1ea445fb" /><Relationship Type="http://schemas.openxmlformats.org/officeDocument/2006/relationships/slideLayout" Target="/ppt/slideLayouts/slideLayout6.xml" Id="Re65b1c6a106846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4fd6ef11f04b30"/>
    <p:sldLayoutId xmlns:r="http://schemas.openxmlformats.org/officeDocument/2006/relationships" id="2147483650" r:id="Rc0a8cbbe63144fb5"/>
    <p:sldLayoutId xmlns:r="http://schemas.openxmlformats.org/officeDocument/2006/relationships" id="2147483651" r:id="R50358527483446c1"/>
    <p:sldLayoutId xmlns:r="http://schemas.openxmlformats.org/officeDocument/2006/relationships" id="2147483652" r:id="R1c2b56f11aea43c7"/>
    <p:sldLayoutId xmlns:r="http://schemas.openxmlformats.org/officeDocument/2006/relationships" id="2147483653" r:id="R1df0c7ae1ea445fb"/>
    <p:sldLayoutId xmlns:r="http://schemas.openxmlformats.org/officeDocument/2006/relationships" id="2147483654" r:id="Re65b1c6a106846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74e501b6dc4806" /><Relationship Type="http://schemas.openxmlformats.org/officeDocument/2006/relationships/image" Target="/ppt/media/image.png" Id="R77026f7e3a594494" /><Relationship Type="http://schemas.openxmlformats.org/officeDocument/2006/relationships/notesSlide" Target="/ppt/notesSlides/notesSlide1.xml" Id="R9cc63e101d3641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6551d07ca4e84" /><Relationship Type="http://schemas.openxmlformats.org/officeDocument/2006/relationships/image" Target="/ppt/media/image2.png" Id="R0ccda12bea044171" /><Relationship Type="http://schemas.openxmlformats.org/officeDocument/2006/relationships/notesSlide" Target="/ppt/notesSlides/notesSlide2.xml" Id="R9c2e08da3efb46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324e57df34a4d" /><Relationship Type="http://schemas.openxmlformats.org/officeDocument/2006/relationships/image" Target="/ppt/media/image3.png" Id="R4d8ec126add6432a" /><Relationship Type="http://schemas.openxmlformats.org/officeDocument/2006/relationships/notesSlide" Target="/ppt/notesSlides/notesSlide3.xml" Id="R848a45634ce14d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8ba3148164884" /><Relationship Type="http://schemas.openxmlformats.org/officeDocument/2006/relationships/notesSlide" Target="/ppt/notesSlides/notesSlide4.xml" Id="R96a850eee4c54b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2112b2477c4fb1" /><Relationship Type="http://schemas.openxmlformats.org/officeDocument/2006/relationships/notesSlide" Target="/ppt/notesSlides/notesSlide5.xml" Id="Raccae6f5a5664b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BD5B4-8B78-4403-B53E-C300274CF3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26f7e3a59449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A0F-20E4-4BD2-A8CE-5FFF0D4D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1E">
              <a:alpha val="93333"/>
            </a:srgbClr>
          </a:solidFill>
          <a:ln xmlns:a="http://schemas.openxmlformats.org/drawingml/2006/main" w="0">
            <a:solidFill>
              <a:srgbClr val="17131E">
                <a:alpha val="93333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AEDD5-C3FD-41A3-8624-AD6C7C8A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6854"/>
                </a:solidFill>
                <a:latin typeface="Arial"/>
                <a:ea typeface="Arial"/>
                <a:cs typeface="Arial"/>
              </a:rPr>
              <a:t>SKETCHBOOK / KATKIN 01 / CREATIVE PROPOSITION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34C21-83D0-44C1-AD3A-C102C060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5810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1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defPPr>
            <a:lvl1pPr algn="l">
              <a:defRPr sz="51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1pPr>
            <a:lvl2pPr algn="l">
              <a:defRPr sz="51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2pPr>
            <a:lvl3pPr algn="l">
              <a:defRPr sz="51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3pPr>
            <a:lvl4pPr algn="l">
              <a:defRPr sz="51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4pPr>
            <a:lvl5pPr algn="l">
              <a:defRPr sz="51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5pPr>
            <a:lvl6pPr algn="l">
              <a:defRPr sz="51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6pPr>
            <a:lvl7pPr algn="l">
              <a:defRPr sz="51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7pPr>
            <a:lvl8pPr algn="l">
              <a:defRPr sz="51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8pPr>
            <a:lvl9pPr algn="l">
              <a:defRPr sz="51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1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DECIDE WITH</a:t>
            </a:r>
          </a:p>
          <a:p xmlns:a="http://schemas.openxmlformats.org/drawingml/2006/main">
            <a:pPr algn="l">
              <a:defRPr sz="51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F72BE-C223-4F6C-93DC-4308E0B5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54"/>
          </a:solidFill>
          <a:ln xmlns:a="http://schemas.openxmlformats.org/drawingml/2006/main" w="0">
            <a:solidFill>
              <a:srgbClr val="FF68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D9806-8EB6-4CDD-8600-5E9C6D0B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581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Then feed with confidence - turning proof into a useful transition, not another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0C373-0BC6-4DB5-BBD2-24FE9093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INTERNAL / NOT CLIENT APPROVED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CA3D8-4174-4C56-96F3-880F0C5E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15100"/>
            <a:ext cx="495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APPROVED STRATEGY / ILLUSTRATIVE CREATIVE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3A679-8575-4A08-92DC-CF82282F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13583059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E1A09-9327-4C6E-994F-94F720EBE6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da12bea044171"/>
          <a:srcRect xmlns:a="http://schemas.openxmlformats.org/drawingml/2006/main" l="27723" t="0" r="277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424DA-1F5B-4B98-ACC6-4A6031DF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>
              <a:alpha val="95686"/>
            </a:srgbClr>
          </a:solidFill>
          <a:ln xmlns:a="http://schemas.openxmlformats.org/drawingml/2006/main" w="0">
            <a:solidFill>
              <a:srgbClr val="F7F1E9">
                <a:alpha val="95686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F39FD-BBF6-4863-BBFD-C68651E3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44579"/>
                </a:solidFill>
                <a:latin typeface="Arial"/>
                <a:ea typeface="Arial"/>
                <a:cs typeface="Arial"/>
              </a:rPr>
              <a:t>SKETCHBOOK / KATKIN 02 / AUDIENCE PORTRAIT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84952-6C2B-493C-ABDD-309BFE0B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17131E"/>
                </a:solidFill>
                <a:latin typeface="Arial"/>
                <a:ea typeface="Arial"/>
                <a:cs typeface="Arial"/>
              </a:rPr>
              <a:t>THE CAREFUL SWITCHER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D87D9-FD64-42BE-AB90-642C154F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644579"/>
                </a:solidFill>
                <a:latin typeface="Arial"/>
                <a:ea typeface="Arial"/>
                <a:cs typeface="Arial"/>
              </a:rPr>
              <a:t>She wants confidence in the change, not another category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854EB-F895-4217-BBDB-AADE9379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44579"/>
                </a:solidFill>
                <a:latin typeface="Arial"/>
                <a:ea typeface="Arial"/>
                <a:cs typeface="Arial"/>
              </a:rPr>
              <a:t>WANTS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7054D-1C32-49DA-8DBE-C2B91876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5625"/>
            <a:ext cx="443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131E"/>
                </a:solidFill>
                <a:latin typeface="Arial"/>
                <a:ea typeface="Arial"/>
                <a:cs typeface="Arial"/>
              </a:rPr>
              <a:t>A clear reason to choose and continue fresh feeding.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81BBE-6855-4CE7-B295-8F9E0C4B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44579"/>
                </a:solidFill>
                <a:latin typeface="Arial"/>
                <a:ea typeface="Arial"/>
                <a:cs typeface="Arial"/>
              </a:rPr>
              <a:t>HESITATES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41884-E52A-40EF-A99C-DA6B3834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10025"/>
            <a:ext cx="443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131E"/>
                </a:solidFill>
                <a:latin typeface="Arial"/>
                <a:ea typeface="Arial"/>
                <a:cs typeface="Arial"/>
              </a:rPr>
              <a:t>Price, freezer space, routine change and uncertain proof.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B2C2D-A22B-4E34-92B9-9E22D973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44579"/>
                </a:solidFill>
                <a:latin typeface="Arial"/>
                <a:ea typeface="Arial"/>
                <a:cs typeface="Arial"/>
              </a:rPr>
              <a:t>MOVES WHEN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E6764-BA12-42E2-97D4-1235A849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24425"/>
            <a:ext cx="443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131E"/>
                </a:solidFill>
                <a:latin typeface="Arial"/>
                <a:ea typeface="Arial"/>
                <a:cs typeface="Arial"/>
              </a:rPr>
              <a:t>Evidence answers the decision and the transition feels manageable.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96C6C-0203-43B7-9DA4-EFF788F1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29250"/>
            <a:ext cx="2895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54"/>
          </a:solidFill>
          <a:ln xmlns:a="http://schemas.openxmlformats.org/drawingml/2006/main" w="0">
            <a:solidFill>
              <a:srgbClr val="FF685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AF55A-0336-4504-963C-188E9EBE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197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131E"/>
                </a:solidFill>
                <a:latin typeface="Arial"/>
                <a:ea typeface="Arial"/>
                <a:cs typeface="Arial"/>
              </a:rPr>
              <a:t>SOURCE HYPOTHESIS / VALIDATE WITH FIRST-PARTY 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39DC8-037C-4BE9-8B1D-F9E331E4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INTERNAL / NOT CLIENT APPROVED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645BF-C80B-4E21-9F54-F9A9A446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15100"/>
            <a:ext cx="495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AUDIENCE HYPOTHESIS / VALIDATION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7A13E-AAC3-4484-BF2F-A3A7ADE1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02 / 05</a:t>
            </a:r>
          </a:p>
        </p:txBody>
      </p:sp>
    </p:spTree>
    <p:extLst>
      <p:ext uri="{BB962C8B-B14F-4D97-AF65-F5344CB8AC3E}">
        <p14:creationId xmlns:p14="http://schemas.microsoft.com/office/powerpoint/2010/main" val="920028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8C27D-38D4-4034-81DB-1E72323E06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ec126add6432a"/>
          <a:srcRect xmlns:a="http://schemas.openxmlformats.org/drawingml/2006/main" l="0" t="18073" r="0" b="180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4381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79131-7D83-4035-83CB-ACECA2EC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1E">
              <a:alpha val="85098"/>
            </a:srgbClr>
          </a:solidFill>
          <a:ln xmlns:a="http://schemas.openxmlformats.org/drawingml/2006/main" w="0">
            <a:solidFill>
              <a:srgbClr val="17131E">
                <a:alpha val="85098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21FE1-3CD9-487D-BA9A-29588EE2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6854"/>
                </a:solidFill>
                <a:latin typeface="Arial"/>
                <a:ea typeface="Arial"/>
                <a:cs typeface="Arial"/>
              </a:rPr>
              <a:t>SKETCHBOOK / KATKIN 03 / VISUAL WORLD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5529C-6A44-4633-B28C-8CAE3F67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PROGRESS, MADE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5859B-310D-4864-8BB2-E2371D15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1E"/>
          </a:solidFill>
          <a:ln xmlns:a="http://schemas.openxmlformats.org/drawingml/2006/main" w="0">
            <a:solidFill>
              <a:srgbClr val="17131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29262-6F7F-4743-88D9-15D59DDC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6854"/>
                </a:solidFill>
                <a:latin typeface="Arial"/>
                <a:ea typeface="Arial"/>
                <a:cs typeface="Arial"/>
              </a:rPr>
              <a:t>SETTING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9ED3A-6304-4F35-9865-8CB54677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Real homes. Morning routines. The cat present as an active participant.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FE798-B17C-48A0-A74A-358224D9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19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6854"/>
                </a:solidFill>
                <a:latin typeface="Arial"/>
                <a:ea typeface="Arial"/>
                <a:cs typeface="Arial"/>
              </a:rPr>
              <a:t>LEGIBILITY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151EA-B6B1-4C5B-81A4-C695AC6B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6255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One decision, one proof signal and one next step in every frame.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F3B39-19D1-4F66-8A5C-5605152B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6854"/>
                </a:solidFill>
                <a:latin typeface="Arial"/>
                <a:ea typeface="Arial"/>
                <a:cs typeface="Arial"/>
              </a:rPr>
              <a:t>NEVER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3BB22-81CD-4FCF-B96C-4A6F71EB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clinical theatre. miracle claims. generic pet joy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9709A-E46E-424A-A15D-0E811745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INTERNAL / NOT CLIENT APPROVED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B8D39-C264-4EE8-9565-8B7E8391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15100"/>
            <a:ext cx="495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CLIENT MANIFEST / CREATIVE ILLUSTRATION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4E5FE-3B47-4FC3-B1BA-CCBECAE5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03 / 05</a:t>
            </a:r>
          </a:p>
        </p:txBody>
      </p:sp>
    </p:spTree>
    <p:extLst>
      <p:ext uri="{BB962C8B-B14F-4D97-AF65-F5344CB8AC3E}">
        <p14:creationId xmlns:p14="http://schemas.microsoft.com/office/powerpoint/2010/main" val="87595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6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BA1BB-0710-4939-8C10-A3237CA4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7131E"/>
                </a:solidFill>
                <a:latin typeface="Arial"/>
                <a:ea typeface="Arial"/>
                <a:cs typeface="Arial"/>
              </a:rPr>
              <a:t>SKETCHBOOK / KATKIN 04 / CAMPAIGN TERRITORY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6BF46-42B1-46F2-8E00-12B2C120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04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131E"/>
                </a:solidFill>
                <a:latin typeface="Arial"/>
                <a:ea typeface="Arial"/>
                <a:cs typeface="Arial"/>
              </a:rPr>
              <a:t>THE DECISION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3F065-BC28-4A37-A45A-E574988B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1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131E"/>
                </a:solidFill>
                <a:latin typeface="Arial"/>
                <a:ea typeface="Arial"/>
                <a:cs typeface="Arial"/>
              </a:rPr>
              <a:t>Turn science into a calm, useful guide at the moment commitment can lapse.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6EC48-9D31-4A26-9F1A-B6EC9380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70675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1E"/>
          </a:solidFill>
          <a:ln xmlns:a="http://schemas.openxmlformats.org/drawingml/2006/main" w="28575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0A463-5A68-498C-8462-C71F8EB8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628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WHAT DO WE KNOW?</a:t>
            </a:r>
          </a:p>
          <a:p xmlns:a="http://schemas.openxmlformats.org/drawingml/2006/main">
            <a:pPr algn="l">
              <a:defRPr sz="315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WHAT DO WE DO NEXT?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5CD03-5B8B-4691-96E2-FB73E508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44579"/>
                </a:solidFill>
                <a:latin typeface="Arial"/>
                <a:ea typeface="Arial"/>
                <a:cs typeface="Arial"/>
              </a:rPr>
              <a:t>THE REPEATABLE CONSTRUCTION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48565-C3C8-4B3E-8A78-8BC670D0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3105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31E"/>
                </a:solidFill>
                <a:latin typeface="Arial"/>
                <a:ea typeface="Arial"/>
                <a:cs typeface="Arial"/>
              </a:rPr>
              <a:t>1. Name the decision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31E"/>
                </a:solidFill>
                <a:latin typeface="Arial"/>
                <a:ea typeface="Arial"/>
                <a:cs typeface="Arial"/>
              </a:rPr>
              <a:t>2. Show the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31E"/>
                </a:solidFill>
                <a:latin typeface="Arial"/>
                <a:ea typeface="Arial"/>
                <a:cs typeface="Arial"/>
              </a:rPr>
              <a:t>3. Make the next step observable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8FEBE-11B6-43CC-8E51-ABD66C68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4579"/>
                </a:solidFill>
                <a:latin typeface="Arial"/>
                <a:ea typeface="Arial"/>
                <a:cs typeface="Arial"/>
              </a:rPr>
              <a:t>Support trial-to-subscription conversion without claiming a result.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9C1E0-78FE-43E0-962D-7160508D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INTERNAL / NOT CLIENT APPROVED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552B8-AD93-4961-BF92-C893415C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15100"/>
            <a:ext cx="495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ILLUSTRATIVE CONCEPT / NOT APPROVED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A5E36-DBB0-4399-B542-7147A91A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04 / 05</a:t>
            </a:r>
          </a:p>
        </p:txBody>
      </p:sp>
    </p:spTree>
    <p:extLst>
      <p:ext uri="{BB962C8B-B14F-4D97-AF65-F5344CB8AC3E}">
        <p14:creationId xmlns:p14="http://schemas.microsoft.com/office/powerpoint/2010/main" val="15073952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A1598-DC9C-453E-BFE0-FAA13109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572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44579"/>
                </a:solidFill>
                <a:latin typeface="Arial"/>
                <a:ea typeface="Arial"/>
                <a:cs typeface="Arial"/>
              </a:rPr>
              <a:t>SKETCHBOOK / KATKIN 05 / EXECUTIONS + APPLICATIONS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1F07F-7751-47B4-9D7B-BFCD517A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131E"/>
                </a:solidFill>
                <a:latin typeface="Arial"/>
                <a:ea typeface="Arial"/>
                <a:cs typeface="Arial"/>
              </a:rPr>
              <a:t>ONE SYSTEM. THREE DECISION MOMENTS.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40D1C-253D-460C-A173-B3C408E8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44579"/>
                </a:solidFill>
                <a:latin typeface="Arial"/>
                <a:ea typeface="Arial"/>
                <a:cs typeface="Arial"/>
              </a:rPr>
              <a:t>Each application answers a real question, marks the next step and preserves the evidence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35E0C-28C4-4957-8180-DC4A2731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TRIAL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A797A-F46A-40D4-959D-3EC87720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28575">
            <a:solidFill>
              <a:srgbClr val="D9CE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6F4B4-2749-4AED-B7F8-0C18CA84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171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54"/>
          </a:solidFill>
          <a:ln xmlns:a="http://schemas.openxmlformats.org/drawingml/2006/main" w="0">
            <a:solidFill>
              <a:srgbClr val="FF685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DF2E6-453A-457E-ADAF-C12D40BB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362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131E"/>
                </a:solidFill>
                <a:latin typeface="Arial"/>
                <a:ea typeface="Arial"/>
                <a:cs typeface="Arial"/>
              </a:rPr>
              <a:t>IS FRESH FEEDING RIGHT FOR MY CAT?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8E7B9-9D01-469D-AED5-16DE66B7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44579"/>
                </a:solidFill>
                <a:latin typeface="Arial"/>
                <a:ea typeface="Arial"/>
                <a:cs typeface="Arial"/>
              </a:rPr>
              <a:t>A sourced proof ladder before first purchase.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BD3C4-01EC-4122-8B1E-60407DB2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ILLUSTRATIVE / NOT 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7D6D9-353F-4E6F-9A64-4948836D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ONBOARDING CRM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65A78-0C28-4D65-8A7E-5B6F1BBA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1E"/>
          </a:solidFill>
          <a:ln xmlns:a="http://schemas.openxmlformats.org/drawingml/2006/main" w="28575">
            <a:solidFill>
              <a:srgbClr val="D9CE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95A29-7029-4975-9DF5-C443F9FB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52750"/>
            <a:ext cx="2362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DAY 4: WHAT PROGRESS CAN LOOK LIKE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5D76D-ED71-4813-BD09-549C50A1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210050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Observable transition guidance, not a promised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A87EB-9356-49F0-BEBC-A5398BE5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054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FF6854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F6854"/>
                </a:solidFill>
                <a:latin typeface="Arial"/>
                <a:ea typeface="Arial"/>
                <a:cs typeface="Arial"/>
              </a:rPr>
              <a:t>ILLUSTRATIVE / NOT SENT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9AADD-2F92-4B48-87C8-31EA5549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43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ACCOUNT + RETAIL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C6C16-9C59-49A0-890D-B3D56029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289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28575">
            <a:solidFill>
              <a:srgbClr val="D9CED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DC157-52D3-4A0F-BCB2-49223CB3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52750"/>
            <a:ext cx="4267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17131E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131E"/>
                </a:solidFill>
                <a:latin typeface="Arial"/>
                <a:ea typeface="Arial"/>
                <a:cs typeface="Arial"/>
              </a:rPr>
              <a:t>YOUR NEXT USEFUL STEP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8FB8F-3912-4888-8BB8-3E1BCF6C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4267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64457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44579"/>
                </a:solidFill>
                <a:latin typeface="Arial"/>
                <a:ea typeface="Arial"/>
                <a:cs typeface="Arial"/>
              </a:rPr>
              <a:t>A consistent decision aid across owned and retail moments.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6BE4B-7525-4E59-B851-5A06C9E0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05400"/>
            <a:ext cx="426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ILLUSTRATIVE / NOT BUILT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94657-20EB-4334-94F6-B7EF94D5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INTERNAL / NOT CLIENT APPROVED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B984D-BA56-4FC9-B4D0-AA7DE4D0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15100"/>
            <a:ext cx="495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5" b="1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CREATIVE ILLUSTRATION / NO LIVE MEDIA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0951B-BADD-4B94-BCAD-D8861624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0" i="0">
                <a:solidFill>
                  <a:srgbClr val="7A707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7A707D"/>
                </a:solidFill>
                <a:latin typeface="Arial"/>
                <a:ea typeface="Arial"/>
                <a:cs typeface="Arial"/>
              </a:rPr>
              <a:t>05 / 05</a:t>
            </a:r>
          </a:p>
        </p:txBody>
      </p:sp>
    </p:spTree>
    <p:extLst>
      <p:ext uri="{BB962C8B-B14F-4D97-AF65-F5344CB8AC3E}">
        <p14:creationId xmlns:p14="http://schemas.microsoft.com/office/powerpoint/2010/main" val="1091689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2026-10-21T14:21:27.7850000Z</dcterms:created>
  <dcterms:modified xsi:type="dcterms:W3CDTF">2026-10-21T14:21:27.7850000Z</dcterms:modified>
</coreProperties>
</file>