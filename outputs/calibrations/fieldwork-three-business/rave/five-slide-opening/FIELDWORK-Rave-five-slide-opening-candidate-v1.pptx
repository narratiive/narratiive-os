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fd456bbc0f4a94" /><Relationship Type="http://schemas.openxmlformats.org/officeDocument/2006/relationships/extended-properties" Target="/docProps/app.xml" Id="R4a9a64c0aa9b4173" /><Relationship Type="http://schemas.openxmlformats.org/officeDocument/2006/relationships/officeDocument" Target="/ppt/presentation.xml" Id="R1ca33ff8ed004681" /></Relationships>
</file>

<file path=ppt/presentation.xml><?xml version="1.0" encoding="utf-8"?>
<p:presentation xmlns:p="http://schemas.openxmlformats.org/presentationml/2006/main">
  <p:sldMasterIdLst>
    <p:sldMasterId xmlns:r="http://schemas.openxmlformats.org/officeDocument/2006/relationships" id="2147483648" r:id="Rb07336487b184dce"/>
  </p:sldMasterIdLst>
  <p:notesMasterIdLst>
    <p:notesMasterId xmlns:r="http://schemas.openxmlformats.org/officeDocument/2006/relationships" r:id="R55f49a45069d42ef"/>
  </p:notesMasterIdLst>
  <p:sldIdLst>
    <p:sldId xmlns:r="http://schemas.openxmlformats.org/officeDocument/2006/relationships" id="256" r:id="Redc434a210a64432"/>
    <p:sldId xmlns:r="http://schemas.openxmlformats.org/officeDocument/2006/relationships" id="257" r:id="R0bc4477201054d08"/>
    <p:sldId xmlns:r="http://schemas.openxmlformats.org/officeDocument/2006/relationships" id="258" r:id="R47264d28cd414da2"/>
    <p:sldId xmlns:r="http://schemas.openxmlformats.org/officeDocument/2006/relationships" id="259" r:id="R6073a0e038224a62"/>
    <p:sldId xmlns:r="http://schemas.openxmlformats.org/officeDocument/2006/relationships" id="260" r:id="R76c9bce3ea1d47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ef548b36bb43e9" /><Relationship Type="http://schemas.openxmlformats.org/officeDocument/2006/relationships/slideMaster" Target="/ppt/slideMasters/slideMaster1.xml" Id="Rb07336487b184dce" /><Relationship Type="http://schemas.openxmlformats.org/officeDocument/2006/relationships/notesMaster" Target="/ppt/notesMasters/notesMaster1.xml" Id="R55f49a45069d42ef" /><Relationship Type="http://schemas.openxmlformats.org/officeDocument/2006/relationships/presProps" Target="/ppt/presProps.xml" Id="R28fe919a536743fd" /><Relationship Type="http://schemas.openxmlformats.org/officeDocument/2006/relationships/tableStyles" Target="/ppt/tableStyles.xml" Id="R71a7c107e8204ea2" /><Relationship Type="http://schemas.openxmlformats.org/officeDocument/2006/relationships/slide" Target="/ppt/slides/slide1.xml" Id="Redc434a210a64432" /><Relationship Type="http://schemas.openxmlformats.org/officeDocument/2006/relationships/slide" Target="/ppt/slides/slide2.xml" Id="R0bc4477201054d08" /><Relationship Type="http://schemas.openxmlformats.org/officeDocument/2006/relationships/slide" Target="/ppt/slides/slide3.xml" Id="R47264d28cd414da2" /><Relationship Type="http://schemas.openxmlformats.org/officeDocument/2006/relationships/slide" Target="/ppt/slides/slide4.xml" Id="R6073a0e038224a62" /><Relationship Type="http://schemas.openxmlformats.org/officeDocument/2006/relationships/slide" Target="/ppt/slides/slide5.xml" Id="R76c9bce3ea1d47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38040cd914d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c24e7fe77b44b2" /><Relationship Type="http://schemas.openxmlformats.org/officeDocument/2006/relationships/notesMaster" Target="/ppt/notesMasters/notesMaster1.xml" Id="Rcbd8e99908a243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7fd6d4cf3a464b" /><Relationship Type="http://schemas.openxmlformats.org/officeDocument/2006/relationships/notesMaster" Target="/ppt/notesMasters/notesMaster1.xml" Id="Re7ca5750444842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2662b17ed8463d" /><Relationship Type="http://schemas.openxmlformats.org/officeDocument/2006/relationships/notesMaster" Target="/ppt/notesMasters/notesMaster1.xml" Id="Ree6411a1254e42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5cabd4efea4792" /><Relationship Type="http://schemas.openxmlformats.org/officeDocument/2006/relationships/notesMaster" Target="/ppt/notesMasters/notesMaster1.xml" Id="Rda17f212c2dc42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ae6124f69f47b5" /><Relationship Type="http://schemas.openxmlformats.org/officeDocument/2006/relationships/notesMaster" Target="/ppt/notesMasters/notesMaster1.xml" Id="R66531530f81c4a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msg_011CgAPgTC7bhHffZS1e61yy.</a:t>
            </a:r>
          </a:p>
          <a:p xmlns:a="http://schemas.openxmlformats.org/drawingml/2006/main">
            <a:r>
              <a:t>Evidence references:</a:t>
            </a:r>
          </a:p>
          <a:p xmlns:a="http://schemas.openxmlformats.org/drawingml/2006/main">
            <a:r>
              <a:t>R2 [VERIFIED EXTERNAL]: Rave's current Coffee Club page offers Traditional, Discovery and mixed subscriptions from £9.95 with tracked delivery, education and monthly coffee selection. This verifies proposition and price at capture, not subscriptions, retention or margin. Sources: https://ravecoffee.co.uk/pages/coffee-subscription</a:t>
            </a:r>
          </a:p>
          <a:p xmlns:a="http://schemas.openxmlformats.org/drawingml/2006/main">
            <a:r>
              <a:t>R3 [VERIFIED EXTERNAL]: Rave also offers Subscribe and Save with a 10% recurring discount across familiar blends and formats. Its public range includes blends, single origins, rare releases, pods, gifts, equipment, wholesale and cold brew. Product breadth is visible, but demand and progression between products are unavailable. Sources: https://ravecoffee.co.uk/collections/subscribe-save-10, https://ravecoffee.co.uk/collections/all-roasted</a:t>
            </a:r>
          </a:p>
          <a:p xmlns:a="http://schemas.openxmlformats.org/drawingml/2006/main">
            <a:r>
              <a:t>R4 [VERIFIED EXTERNAL]: Rave Wholesale currently combines roasted coffee with machines, installation, training, servicing and ongoing support for offices and hospitality. This verifies an embedded service proposition, not wholesale economics, retention or service capacity. Sources: https://wholesale.ravecoffee.co.uk/</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msg_011CgAPgTC7bhHffZS1e61yy.</a:t>
            </a:r>
          </a:p>
          <a:p xmlns:a="http://schemas.openxmlformats.org/drawingml/2006/main">
            <a:r>
              <a:t>Evidence references:</a:t>
            </a:r>
          </a:p>
          <a:p xmlns:a="http://schemas.openxmlformats.org/drawingml/2006/main">
            <a:r>
              <a:t>R2 [VERIFIED EXTERNAL]: Rave's current Coffee Club page offers Traditional, Discovery and mixed subscriptions from £9.95 with tracked delivery, education and monthly coffee selection. This verifies proposition and price at capture, not subscriptions, retention or margin. Sources: https://ravecoffee.co.uk/pages/coffee-subscription</a:t>
            </a:r>
          </a:p>
          <a:p xmlns:a="http://schemas.openxmlformats.org/drawingml/2006/main">
            <a:r>
              <a:t>R3 [VERIFIED EXTERNAL]: Rave also offers Subscribe and Save with a 10% recurring discount across familiar blends and formats. Its public range includes blends, single origins, rare releases, pods, gifts, equipment, wholesale and cold brew. Product breadth is visible, but demand and progression between products are unavailable. Sources: https://ravecoffee.co.uk/collections/subscribe-save-10, https://ravecoffee.co.uk/collections/all-roasted</a:t>
            </a:r>
          </a:p>
          <a:p xmlns:a="http://schemas.openxmlformats.org/drawingml/2006/main">
            <a:r>
              <a:t>R6 [VERIFIED EXTERNAL]: Pact currently frames subscription around a House, Select and Micro-Lot ladder priced at £7.95, £8.95 and £10.95 per 250g before temporary offers, with coffee ratings and direct farmer sourcing. This makes guided progression and sourcing proof visible competitor choices. Sources: https://www.pactcoffee.com/subscribe-and-save-p</a:t>
            </a:r>
          </a:p>
          <a:p xmlns:a="http://schemas.openxmlformats.org/drawingml/2006/main">
            <a:r>
              <a:t>R7 [VERIFIED EXTERNAL]: Grind currently spans pods, beans, ground coffee and cans, using a free tin, subscription discount and lifestyle visibility. Origin's Feature subscription is £12.95 and foregrounds provenance and awards. Union's £18.95 Discovery plan foregrounds direct trade, quality scores and monthly exploration. Prices are snapshots with different pack sizes and must not be treated as a like-for-like index. Sources: https://grind.co.uk/pages/coffee-subscription-50, https://www.origincoffee.co.uk/pages/coffee-subscriptions, https://unionroasted.com/collections/coffee-subscriptions/products/discovery-coffee-subscription</a:t>
            </a:r>
          </a:p>
          <a:p xmlns:a="http://schemas.openxmlformats.org/drawingml/2006/main">
            <a:r>
              <a:t>R10 [ASSUMPTION]: A guided progression from dependable first choice to repeat and discovery could improve customer value. No first-party baseline exists for qualified traffic, first-order conversion, 90-day repeat, contribution, wholesale retention or product progression, so this remains a mechanism rather than a forecast. Sources: R2, R3, R4, R6, R7</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msg_011CgAPgTC7bhHffZS1e61yy.</a:t>
            </a:r>
          </a:p>
          <a:p xmlns:a="http://schemas.openxmlformats.org/drawingml/2006/main">
            <a:r>
              <a:t>Evidence references:</a:t>
            </a:r>
          </a:p>
          <a:p xmlns:a="http://schemas.openxmlformats.org/drawingml/2006/main">
            <a:r>
              <a:t>R9 [ASSUMPTION]: The most promising audience is a capable home-coffee upgrader who wants better coffee without specialist intimidation. Public pages and market data make this reasonable to test, but Rave has supplied no first-party segment, conversion or cohort evidence. Sources: R2, R3, R5</a:t>
            </a:r>
          </a:p>
          <a:p xmlns:a="http://schemas.openxmlformats.org/drawingml/2006/main">
            <a:r>
              <a:t>R10 [ASSUMPTION]: A guided progression from dependable first choice to repeat and discovery could improve customer value. No first-party baseline exists for qualified traffic, first-order conversion, 90-day repeat, contribution, wholesale retention or product progression, so this remains a mechanism rather than a forecast. Sources: R2, R3, R4, R6, R7</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msg_011CgAPgTC7bhHffZS1e61yy.</a:t>
            </a:r>
          </a:p>
          <a:p xmlns:a="http://schemas.openxmlformats.org/drawingml/2006/main">
            <a:r>
              <a:t>Evidence references:</a:t>
            </a:r>
          </a:p>
          <a:p xmlns:a="http://schemas.openxmlformats.org/drawingml/2006/main">
            <a:r>
              <a:t>R5 [VERIFIED EXTERNAL]: CBI's August 2026 UK coffee study says consumption value is growing mainly through premiumisation, calls the UK Europe's largest speciality coffee market and notes growing ground and single-serve use. The British Coffee Association reports 103 million cups consumed daily and faster growth among 18 to 34 year olds. These are market-level indicators, not Rave demand evidence. Sources: https://www.cbi.eu/market-information/coffee/united-kingdom/market-potential, https://britishcoffeeassociation.org/media-centre/</a:t>
            </a:r>
          </a:p>
          <a:p xmlns:a="http://schemas.openxmlformats.org/drawingml/2006/main">
            <a:r>
              <a:t>R9 [ASSUMPTION]: The most promising audience is a capable home-coffee upgrader who wants better coffee without specialist intimidation. Public pages and market data make this reasonable to test, but Rave has supplied no first-party segment, conversion or cohort evidence. Sources: R2, R3, R5</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msg_011CgAPgTC7bhHffZS1e61yy.</a:t>
            </a:r>
          </a:p>
          <a:p xmlns:a="http://schemas.openxmlformats.org/drawingml/2006/main">
            <a:r>
              <a:t>Evidence references:</a:t>
            </a:r>
          </a:p>
          <a:p xmlns:a="http://schemas.openxmlformats.org/drawingml/2006/main">
            <a:r>
              <a:t>R6 [VERIFIED EXTERNAL]: Pact currently frames subscription around a House, Select and Micro-Lot ladder priced at £7.95, £8.95 and £10.95 per 250g before temporary offers, with coffee ratings and direct farmer sourcing. This makes guided progression and sourcing proof visible competitor choices. Sources: https://www.pactcoffee.com/subscribe-and-save-p</a:t>
            </a:r>
          </a:p>
          <a:p xmlns:a="http://schemas.openxmlformats.org/drawingml/2006/main">
            <a:r>
              <a:t>R7 [VERIFIED EXTERNAL]: Grind currently spans pods, beans, ground coffee and cans, using a free tin, subscription discount and lifestyle visibility. Origin's Feature subscription is £12.95 and foregrounds provenance and awards. Union's £18.95 Discovery plan foregrounds direct trade, quality scores and monthly exploration. Prices are snapshots with different pack sizes and must not be treated as a like-for-like index. Sources: https://grind.co.uk/pages/coffee-subscription-50, https://www.origincoffee.co.uk/pages/coffee-subscriptions, https://unionroasted.com/collections/coffee-subscriptions/products/discovery-coffee-subscription</a:t>
            </a:r>
          </a:p>
          <a:p xmlns:a="http://schemas.openxmlformats.org/drawingml/2006/main">
            <a:r>
              <a:t>R9 [ASSUMPTION]: The most promising audience is a capable home-coffee upgrader who wants better coffee without specialist intimidation. Public pages and market data make this reasonable to test, but Rave has supplied no first-party segment, conversion or cohort evidence. Sources: R2, R3, R5</a:t>
            </a:r>
          </a:p>
          <a:p xmlns:a="http://schemas.openxmlformats.org/drawingml/2006/main">
            <a:r>
              <a:t>R10 [ASSUMPTION]: A guided progression from dependable first choice to repeat and discovery could improve customer value. No first-party baseline exists for qualified traffic, first-order conversion, 90-day repeat, contribution, wholesale retention or product progression, so this remains a mechanism rather than a forecast. Sources: R2, R3, R4, R6, R7</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6b2b8317243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688030e9fd43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3af06cca8a42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a37b905f7b43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4cf10897b641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c7f5d6a2fb4a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626887-D6DB-402B-A6CA-22E28C1DF7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947022-34B3-423F-9808-7803124455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F4FB28-3448-4C27-B3D2-C9D9D565E3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714498-D361-4592-A2E6-ACBAA66326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1023E7-FAAA-4FF7-86DF-1D8501D30B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EEE214-C9B3-45B0-A18D-711318B88A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C3DD9F-DB89-48FB-8928-3452F35FD5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475BFE-844C-4784-AAF2-FFB27977A8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125DCC-A389-405E-BD6B-C10597AAF1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362BEA-AE07-45CF-A372-E6B660A4D2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271065d6fc4677" /><Relationship Type="http://schemas.openxmlformats.org/officeDocument/2006/relationships/slideLayout" Target="/ppt/slideLayouts/slideLayout1.xml" Id="R99132cf6067a4198" /><Relationship Type="http://schemas.openxmlformats.org/officeDocument/2006/relationships/slideLayout" Target="/ppt/slideLayouts/slideLayout2.xml" Id="R9d35b677cba649de" /><Relationship Type="http://schemas.openxmlformats.org/officeDocument/2006/relationships/slideLayout" Target="/ppt/slideLayouts/slideLayout3.xml" Id="R462b50ccc6fd4bdc" /><Relationship Type="http://schemas.openxmlformats.org/officeDocument/2006/relationships/slideLayout" Target="/ppt/slideLayouts/slideLayout4.xml" Id="R94076cd33bdb459b" /><Relationship Type="http://schemas.openxmlformats.org/officeDocument/2006/relationships/slideLayout" Target="/ppt/slideLayouts/slideLayout5.xml" Id="R331d929a4f434e1b" /><Relationship Type="http://schemas.openxmlformats.org/officeDocument/2006/relationships/slideLayout" Target="/ppt/slideLayouts/slideLayout6.xml" Id="R6fa42d7aafc44d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132cf6067a4198"/>
    <p:sldLayoutId xmlns:r="http://schemas.openxmlformats.org/officeDocument/2006/relationships" id="2147483650" r:id="R9d35b677cba649de"/>
    <p:sldLayoutId xmlns:r="http://schemas.openxmlformats.org/officeDocument/2006/relationships" id="2147483651" r:id="R462b50ccc6fd4bdc"/>
    <p:sldLayoutId xmlns:r="http://schemas.openxmlformats.org/officeDocument/2006/relationships" id="2147483652" r:id="R94076cd33bdb459b"/>
    <p:sldLayoutId xmlns:r="http://schemas.openxmlformats.org/officeDocument/2006/relationships" id="2147483653" r:id="R331d929a4f434e1b"/>
    <p:sldLayoutId xmlns:r="http://schemas.openxmlformats.org/officeDocument/2006/relationships" id="2147483654" r:id="R6fa42d7aafc44d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fb4067dc3e4a16" /><Relationship Type="http://schemas.openxmlformats.org/officeDocument/2006/relationships/image" Target="/ppt/media/image.png" Id="R2cc94fb8219c46b7" /><Relationship Type="http://schemas.openxmlformats.org/officeDocument/2006/relationships/notesSlide" Target="/ppt/notesSlides/notesSlide1.xml" Id="Rc22801ff5f2740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91c38647a347e7" /><Relationship Type="http://schemas.openxmlformats.org/officeDocument/2006/relationships/image" Target="/ppt/media/image2.png" Id="Rb57056c0139e4b6f" /><Relationship Type="http://schemas.openxmlformats.org/officeDocument/2006/relationships/notesSlide" Target="/ppt/notesSlides/notesSlide2.xml" Id="R62c30a58e97249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e10d6d9c76487e" /><Relationship Type="http://schemas.openxmlformats.org/officeDocument/2006/relationships/notesSlide" Target="/ppt/notesSlides/notesSlide3.xml" Id="R90f7b2f8d5b44e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ebce15697e4710" /><Relationship Type="http://schemas.openxmlformats.org/officeDocument/2006/relationships/notesSlide" Target="/ppt/notesSlides/notesSlide4.xml" Id="R7ae51f5441a549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0956ec0c2c4162" /><Relationship Type="http://schemas.openxmlformats.org/officeDocument/2006/relationships/image" Target="/ppt/media/image3.png" Id="R8a7fa62df6024015" /><Relationship Type="http://schemas.openxmlformats.org/officeDocument/2006/relationships/notesSlide" Target="/ppt/notesSlides/notesSlide5.xml" Id="Rddfcccee36db476c" /></Relationships>
</file>

<file path=ppt/slides/slide1.xml><?xml version="1.0" encoding="utf-8"?>
<p:sld xmlns:p="http://schemas.openxmlformats.org/presentationml/2006/main">
  <p:cSld>
    <p:bg>
      <p:bgPr>
        <a:solidFill xmlns:a="http://schemas.openxmlformats.org/drawingml/2006/main">
          <a:srgbClr val="F5EFE3"/>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478D890-4617-43E6-BB31-C64382A3EED5}"/>
              </a:ext>
            </a:extLst>
          </p:cNvPr>
          <p:cNvPicPr>
            <a:picLocks xmlns:a="http://schemas.openxmlformats.org/drawingml/2006/main" noChangeAspect="1"/>
          </p:cNvPicPr>
          <p:nvPr/>
        </p:nvPicPr>
        <p:blipFill>
          <a:blip xmlns:r="http://schemas.openxmlformats.org/officeDocument/2006/relationships" xmlns:a="http://schemas.openxmlformats.org/drawingml/2006/main" r:embed="R2cc94fb8219c46b7"/>
          <a:srcRect xmlns:a="http://schemas.openxmlformats.org/drawingml/2006/main" l="26941" t="0" r="2694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9125EF-1DC8-444D-B301-8C540958A471}"/>
              </a:ext>
            </a:extLst>
          </p:cNvPr>
          <p:cNvSpPr>
            <a:spLocks xmlns:a="http://schemas.openxmlformats.org/drawingml/2006/main" noGrp="1"/>
          </p:cNvSpPr>
          <p:nvPr/>
        </p:nvSpPr>
        <p:spPr>
          <a:xfrm xmlns:a="http://schemas.openxmlformats.org/drawingml/2006/main">
            <a:off x="0" y="0"/>
            <a:ext cx="7810500" cy="6858000"/>
          </a:xfrm>
          <a:prstGeom xmlns:a="http://schemas.openxmlformats.org/drawingml/2006/main" prst="rect">
            <a:avLst/>
          </a:prstGeom>
          <a:solidFill xmlns:a="http://schemas.openxmlformats.org/drawingml/2006/main">
            <a:srgbClr val="F5EFE3">
              <a:alpha val="9607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6D512B-D1B6-44A6-8666-7A4B4F5E9378}"/>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01 / THE FOUNDER'S CURRENT POSITION</a:t>
            </a:r>
          </a:p>
        </p:txBody>
      </p:sp>
      <p:sp>
        <p:nvSpPr>
          <p:cNvPr id="4" name="">
            <a:extLst xmlns:a="http://schemas.openxmlformats.org/drawingml/2006/main">
              <a:ext uri="{FF2B5EF4-FFF2-40B4-BE49-F238E27FC236}">
                <a16:creationId xmlns:a16="http://schemas.microsoft.com/office/drawing/2014/main" id="{613200EC-1A08-44F7-BD76-DF8AFCED59FA}"/>
              </a:ext>
            </a:extLst>
          </p:cNvPr>
          <p:cNvSpPr>
            <a:spLocks xmlns:a="http://schemas.openxmlformats.org/drawingml/2006/main" noGrp="1"/>
          </p:cNvSpPr>
          <p:nvPr/>
        </p:nvSpPr>
        <p:spPr>
          <a:xfrm xmlns:a="http://schemas.openxmlformats.org/drawingml/2006/main">
            <a:off x="590550" y="10668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7130F"/>
                </a:solidFill>
                <a:latin typeface="Arial"/>
                <a:ea typeface="Arial"/>
                <a:cs typeface="Arial"/>
              </a:defRPr>
            </a:defPPr>
            <a:lvl1pPr algn="l">
              <a:defRPr sz="3525" b="1" i="0">
                <a:solidFill>
                  <a:srgbClr val="17130F"/>
                </a:solidFill>
                <a:latin typeface="Arial"/>
                <a:ea typeface="Arial"/>
                <a:cs typeface="Arial"/>
              </a:defRPr>
            </a:lvl1pPr>
            <a:lvl2pPr algn="l">
              <a:defRPr sz="3525" b="1" i="0">
                <a:solidFill>
                  <a:srgbClr val="17130F"/>
                </a:solidFill>
                <a:latin typeface="Arial"/>
                <a:ea typeface="Arial"/>
                <a:cs typeface="Arial"/>
              </a:defRPr>
            </a:lvl2pPr>
            <a:lvl3pPr algn="l">
              <a:defRPr sz="3525" b="1" i="0">
                <a:solidFill>
                  <a:srgbClr val="17130F"/>
                </a:solidFill>
                <a:latin typeface="Arial"/>
                <a:ea typeface="Arial"/>
                <a:cs typeface="Arial"/>
              </a:defRPr>
            </a:lvl3pPr>
            <a:lvl4pPr algn="l">
              <a:defRPr sz="3525" b="1" i="0">
                <a:solidFill>
                  <a:srgbClr val="17130F"/>
                </a:solidFill>
                <a:latin typeface="Arial"/>
                <a:ea typeface="Arial"/>
                <a:cs typeface="Arial"/>
              </a:defRPr>
            </a:lvl4pPr>
            <a:lvl5pPr algn="l">
              <a:defRPr sz="3525" b="1" i="0">
                <a:solidFill>
                  <a:srgbClr val="17130F"/>
                </a:solidFill>
                <a:latin typeface="Arial"/>
                <a:ea typeface="Arial"/>
                <a:cs typeface="Arial"/>
              </a:defRPr>
            </a:lvl5pPr>
            <a:lvl6pPr algn="l">
              <a:defRPr sz="3525" b="1" i="0">
                <a:solidFill>
                  <a:srgbClr val="17130F"/>
                </a:solidFill>
                <a:latin typeface="Arial"/>
                <a:ea typeface="Arial"/>
                <a:cs typeface="Arial"/>
              </a:defRPr>
            </a:lvl6pPr>
            <a:lvl7pPr algn="l">
              <a:defRPr sz="3525" b="1" i="0">
                <a:solidFill>
                  <a:srgbClr val="17130F"/>
                </a:solidFill>
                <a:latin typeface="Arial"/>
                <a:ea typeface="Arial"/>
                <a:cs typeface="Arial"/>
              </a:defRPr>
            </a:lvl7pPr>
            <a:lvl8pPr algn="l">
              <a:defRPr sz="3525" b="1" i="0">
                <a:solidFill>
                  <a:srgbClr val="17130F"/>
                </a:solidFill>
                <a:latin typeface="Arial"/>
                <a:ea typeface="Arial"/>
                <a:cs typeface="Arial"/>
              </a:defRPr>
            </a:lvl8pPr>
            <a:lvl9pPr algn="l">
              <a:defRPr sz="3525" b="1" i="0">
                <a:solidFill>
                  <a:srgbClr val="17130F"/>
                </a:solidFill>
                <a:latin typeface="Arial"/>
                <a:ea typeface="Arial"/>
                <a:cs typeface="Arial"/>
              </a:defRPr>
            </a:lvl9pPr>
          </a:lstStyle>
          <a:p xmlns:a="http://schemas.openxmlformats.org/drawingml/2006/main">
            <a:pPr algn="l">
              <a:defRPr sz="3525" b="1" i="0">
                <a:solidFill>
                  <a:srgbClr val="17130F"/>
                </a:solidFill>
                <a:latin typeface="Arial"/>
                <a:ea typeface="Arial"/>
                <a:cs typeface="Arial"/>
              </a:defRPr>
            </a:pPr>
            <a:r>
              <a:rPr sz="3525" b="1" i="0">
                <a:solidFill>
                  <a:srgbClr val="17130F"/>
                </a:solidFill>
                <a:latin typeface="Arial"/>
                <a:ea typeface="Arial"/>
                <a:cs typeface="Arial"/>
              </a:rPr>
              <a:t>Breadth is proven.</a:t>
            </a:r>
          </a:p>
        </p:txBody>
      </p:sp>
      <p:sp>
        <p:nvSpPr>
          <p:cNvPr id="5" name="">
            <a:extLst xmlns:a="http://schemas.openxmlformats.org/drawingml/2006/main">
              <a:ext uri="{FF2B5EF4-FFF2-40B4-BE49-F238E27FC236}">
                <a16:creationId xmlns:a16="http://schemas.microsoft.com/office/drawing/2014/main" id="{03492EAE-D7A2-4CF3-9FB4-71FC1A5BC93B}"/>
              </a:ext>
            </a:extLst>
          </p:cNvPr>
          <p:cNvSpPr>
            <a:spLocks xmlns:a="http://schemas.openxmlformats.org/drawingml/2006/main" noGrp="1"/>
          </p:cNvSpPr>
          <p:nvPr/>
        </p:nvSpPr>
        <p:spPr>
          <a:xfrm xmlns:a="http://schemas.openxmlformats.org/drawingml/2006/main">
            <a:off x="590550" y="17526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738A3"/>
                </a:solidFill>
                <a:latin typeface="Arial"/>
                <a:ea typeface="Arial"/>
                <a:cs typeface="Arial"/>
              </a:defRPr>
            </a:defPPr>
            <a:lvl1pPr algn="l">
              <a:defRPr sz="3525" b="1" i="0">
                <a:solidFill>
                  <a:srgbClr val="1738A3"/>
                </a:solidFill>
                <a:latin typeface="Arial"/>
                <a:ea typeface="Arial"/>
                <a:cs typeface="Arial"/>
              </a:defRPr>
            </a:lvl1pPr>
            <a:lvl2pPr algn="l">
              <a:defRPr sz="3525" b="1" i="0">
                <a:solidFill>
                  <a:srgbClr val="1738A3"/>
                </a:solidFill>
                <a:latin typeface="Arial"/>
                <a:ea typeface="Arial"/>
                <a:cs typeface="Arial"/>
              </a:defRPr>
            </a:lvl2pPr>
            <a:lvl3pPr algn="l">
              <a:defRPr sz="3525" b="1" i="0">
                <a:solidFill>
                  <a:srgbClr val="1738A3"/>
                </a:solidFill>
                <a:latin typeface="Arial"/>
                <a:ea typeface="Arial"/>
                <a:cs typeface="Arial"/>
              </a:defRPr>
            </a:lvl3pPr>
            <a:lvl4pPr algn="l">
              <a:defRPr sz="3525" b="1" i="0">
                <a:solidFill>
                  <a:srgbClr val="1738A3"/>
                </a:solidFill>
                <a:latin typeface="Arial"/>
                <a:ea typeface="Arial"/>
                <a:cs typeface="Arial"/>
              </a:defRPr>
            </a:lvl4pPr>
            <a:lvl5pPr algn="l">
              <a:defRPr sz="3525" b="1" i="0">
                <a:solidFill>
                  <a:srgbClr val="1738A3"/>
                </a:solidFill>
                <a:latin typeface="Arial"/>
                <a:ea typeface="Arial"/>
                <a:cs typeface="Arial"/>
              </a:defRPr>
            </a:lvl5pPr>
            <a:lvl6pPr algn="l">
              <a:defRPr sz="3525" b="1" i="0">
                <a:solidFill>
                  <a:srgbClr val="1738A3"/>
                </a:solidFill>
                <a:latin typeface="Arial"/>
                <a:ea typeface="Arial"/>
                <a:cs typeface="Arial"/>
              </a:defRPr>
            </a:lvl6pPr>
            <a:lvl7pPr algn="l">
              <a:defRPr sz="3525" b="1" i="0">
                <a:solidFill>
                  <a:srgbClr val="1738A3"/>
                </a:solidFill>
                <a:latin typeface="Arial"/>
                <a:ea typeface="Arial"/>
                <a:cs typeface="Arial"/>
              </a:defRPr>
            </a:lvl7pPr>
            <a:lvl8pPr algn="l">
              <a:defRPr sz="3525" b="1" i="0">
                <a:solidFill>
                  <a:srgbClr val="1738A3"/>
                </a:solidFill>
                <a:latin typeface="Arial"/>
                <a:ea typeface="Arial"/>
                <a:cs typeface="Arial"/>
              </a:defRPr>
            </a:lvl8pPr>
            <a:lvl9pPr algn="l">
              <a:defRPr sz="3525" b="1" i="0">
                <a:solidFill>
                  <a:srgbClr val="1738A3"/>
                </a:solidFill>
                <a:latin typeface="Arial"/>
                <a:ea typeface="Arial"/>
                <a:cs typeface="Arial"/>
              </a:defRPr>
            </a:lvl9pPr>
          </a:lstStyle>
          <a:p xmlns:a="http://schemas.openxmlformats.org/drawingml/2006/main">
            <a:pPr algn="l">
              <a:defRPr sz="3525" b="1" i="0">
                <a:solidFill>
                  <a:srgbClr val="1738A3"/>
                </a:solidFill>
                <a:latin typeface="Arial"/>
                <a:ea typeface="Arial"/>
                <a:cs typeface="Arial"/>
              </a:defRPr>
            </a:pPr>
            <a:r>
              <a:rPr sz="3525" b="1" i="0">
                <a:solidFill>
                  <a:srgbClr val="1738A3"/>
                </a:solidFill>
                <a:latin typeface="Arial"/>
                <a:ea typeface="Arial"/>
                <a:cs typeface="Arial"/>
              </a:rPr>
              <a:t>Progression is not.</a:t>
            </a:r>
          </a:p>
        </p:txBody>
      </p:sp>
      <p:sp>
        <p:nvSpPr>
          <p:cNvPr id="6" name="">
            <a:extLst xmlns:a="http://schemas.openxmlformats.org/drawingml/2006/main">
              <a:ext uri="{FF2B5EF4-FFF2-40B4-BE49-F238E27FC236}">
                <a16:creationId xmlns:a16="http://schemas.microsoft.com/office/drawing/2014/main" id="{8FAAF7CA-AF4B-445F-B398-9DD9E197B7A0}"/>
              </a:ext>
            </a:extLst>
          </p:cNvPr>
          <p:cNvSpPr>
            <a:spLocks xmlns:a="http://schemas.openxmlformats.org/drawingml/2006/main" noGrp="1"/>
          </p:cNvSpPr>
          <p:nvPr/>
        </p:nvSpPr>
        <p:spPr>
          <a:xfrm xmlns:a="http://schemas.openxmlformats.org/drawingml/2006/main">
            <a:off x="590550" y="3009900"/>
            <a:ext cx="619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7130F"/>
                </a:solidFill>
                <a:latin typeface="Arial"/>
                <a:ea typeface="Arial"/>
                <a:cs typeface="Arial"/>
              </a:defRPr>
            </a:defPPr>
            <a:lvl1pPr algn="l">
              <a:defRPr sz="1725" b="0" i="0">
                <a:solidFill>
                  <a:srgbClr val="17130F"/>
                </a:solidFill>
                <a:latin typeface="Arial"/>
                <a:ea typeface="Arial"/>
                <a:cs typeface="Arial"/>
              </a:defRPr>
            </a:lvl1pPr>
            <a:lvl2pPr algn="l">
              <a:defRPr sz="1725" b="0" i="0">
                <a:solidFill>
                  <a:srgbClr val="17130F"/>
                </a:solidFill>
                <a:latin typeface="Arial"/>
                <a:ea typeface="Arial"/>
                <a:cs typeface="Arial"/>
              </a:defRPr>
            </a:lvl2pPr>
            <a:lvl3pPr algn="l">
              <a:defRPr sz="1725" b="0" i="0">
                <a:solidFill>
                  <a:srgbClr val="17130F"/>
                </a:solidFill>
                <a:latin typeface="Arial"/>
                <a:ea typeface="Arial"/>
                <a:cs typeface="Arial"/>
              </a:defRPr>
            </a:lvl3pPr>
            <a:lvl4pPr algn="l">
              <a:defRPr sz="1725" b="0" i="0">
                <a:solidFill>
                  <a:srgbClr val="17130F"/>
                </a:solidFill>
                <a:latin typeface="Arial"/>
                <a:ea typeface="Arial"/>
                <a:cs typeface="Arial"/>
              </a:defRPr>
            </a:lvl4pPr>
            <a:lvl5pPr algn="l">
              <a:defRPr sz="1725" b="0" i="0">
                <a:solidFill>
                  <a:srgbClr val="17130F"/>
                </a:solidFill>
                <a:latin typeface="Arial"/>
                <a:ea typeface="Arial"/>
                <a:cs typeface="Arial"/>
              </a:defRPr>
            </a:lvl5pPr>
            <a:lvl6pPr algn="l">
              <a:defRPr sz="1725" b="0" i="0">
                <a:solidFill>
                  <a:srgbClr val="17130F"/>
                </a:solidFill>
                <a:latin typeface="Arial"/>
                <a:ea typeface="Arial"/>
                <a:cs typeface="Arial"/>
              </a:defRPr>
            </a:lvl6pPr>
            <a:lvl7pPr algn="l">
              <a:defRPr sz="1725" b="0" i="0">
                <a:solidFill>
                  <a:srgbClr val="17130F"/>
                </a:solidFill>
                <a:latin typeface="Arial"/>
                <a:ea typeface="Arial"/>
                <a:cs typeface="Arial"/>
              </a:defRPr>
            </a:lvl7pPr>
            <a:lvl8pPr algn="l">
              <a:defRPr sz="1725" b="0" i="0">
                <a:solidFill>
                  <a:srgbClr val="17130F"/>
                </a:solidFill>
                <a:latin typeface="Arial"/>
                <a:ea typeface="Arial"/>
                <a:cs typeface="Arial"/>
              </a:defRPr>
            </a:lvl8pPr>
            <a:lvl9pPr algn="l">
              <a:defRPr sz="1725" b="0" i="0">
                <a:solidFill>
                  <a:srgbClr val="17130F"/>
                </a:solidFill>
                <a:latin typeface="Arial"/>
                <a:ea typeface="Arial"/>
                <a:cs typeface="Arial"/>
              </a:defRPr>
            </a:lvl9pPr>
          </a:lstStyle>
          <a:p xmlns:a="http://schemas.openxmlformats.org/drawingml/2006/main">
            <a:pPr algn="l">
              <a:defRPr sz="1725" b="0" i="0">
                <a:solidFill>
                  <a:srgbClr val="17130F"/>
                </a:solidFill>
                <a:latin typeface="Arial"/>
                <a:ea typeface="Arial"/>
                <a:cs typeface="Arial"/>
              </a:defRPr>
            </a:pPr>
            <a:r>
              <a:rPr sz="1725" b="0" i="0">
                <a:solidFill>
                  <a:srgbClr val="17130F"/>
                </a:solidFill>
                <a:latin typeface="Arial"/>
                <a:ea typeface="Arial"/>
                <a:cs typeface="Arial"/>
              </a:rPr>
              <a:t>Rave already has the products, subscriptions, education and service infrastructure. What public evidence cannot show is which entry route turns a new buyer into valuable repeat.</a:t>
            </a:r>
          </a:p>
        </p:txBody>
      </p:sp>
      <p:sp>
        <p:nvSpPr>
          <p:cNvPr id="7" name="">
            <a:extLst xmlns:a="http://schemas.openxmlformats.org/drawingml/2006/main">
              <a:ext uri="{FF2B5EF4-FFF2-40B4-BE49-F238E27FC236}">
                <a16:creationId xmlns:a16="http://schemas.microsoft.com/office/drawing/2014/main" id="{ECCEA6CB-8FCA-4062-8085-3B2C49E474CA}"/>
              </a:ext>
            </a:extLst>
          </p:cNvPr>
          <p:cNvSpPr>
            <a:spLocks xmlns:a="http://schemas.openxmlformats.org/drawingml/2006/main" noGrp="1"/>
          </p:cNvSpPr>
          <p:nvPr/>
        </p:nvSpPr>
        <p:spPr>
          <a:xfrm xmlns:a="http://schemas.openxmlformats.org/drawingml/2006/main">
            <a:off x="590550" y="47625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FOUNDER DECISION</a:t>
            </a:r>
          </a:p>
        </p:txBody>
      </p:sp>
      <p:sp>
        <p:nvSpPr>
          <p:cNvPr id="8" name="">
            <a:extLst xmlns:a="http://schemas.openxmlformats.org/drawingml/2006/main">
              <a:ext uri="{FF2B5EF4-FFF2-40B4-BE49-F238E27FC236}">
                <a16:creationId xmlns:a16="http://schemas.microsoft.com/office/drawing/2014/main" id="{4877B4B8-FF6D-48FB-85FC-3D95194DDD98}"/>
              </a:ext>
            </a:extLst>
          </p:cNvPr>
          <p:cNvSpPr>
            <a:spLocks xmlns:a="http://schemas.openxmlformats.org/drawingml/2006/main" noGrp="1"/>
          </p:cNvSpPr>
          <p:nvPr/>
        </p:nvSpPr>
        <p:spPr>
          <a:xfrm xmlns:a="http://schemas.openxmlformats.org/drawingml/2006/main">
            <a:off x="590550" y="51054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650" b="1" i="0">
                <a:solidFill>
                  <a:srgbClr val="17130F"/>
                </a:solidFill>
                <a:latin typeface="Arial"/>
                <a:ea typeface="Arial"/>
                <a:cs typeface="Arial"/>
              </a:defRPr>
            </a:defPPr>
            <a:lvl1pPr algn="l">
              <a:defRPr sz="1650" b="1" i="0">
                <a:solidFill>
                  <a:srgbClr val="17130F"/>
                </a:solidFill>
                <a:latin typeface="Arial"/>
                <a:ea typeface="Arial"/>
                <a:cs typeface="Arial"/>
              </a:defRPr>
            </a:lvl1pPr>
            <a:lvl2pPr algn="l">
              <a:defRPr sz="1650" b="1" i="0">
                <a:solidFill>
                  <a:srgbClr val="17130F"/>
                </a:solidFill>
                <a:latin typeface="Arial"/>
                <a:ea typeface="Arial"/>
                <a:cs typeface="Arial"/>
              </a:defRPr>
            </a:lvl2pPr>
            <a:lvl3pPr algn="l">
              <a:defRPr sz="1650" b="1" i="0">
                <a:solidFill>
                  <a:srgbClr val="17130F"/>
                </a:solidFill>
                <a:latin typeface="Arial"/>
                <a:ea typeface="Arial"/>
                <a:cs typeface="Arial"/>
              </a:defRPr>
            </a:lvl3pPr>
            <a:lvl4pPr algn="l">
              <a:defRPr sz="1650" b="1" i="0">
                <a:solidFill>
                  <a:srgbClr val="17130F"/>
                </a:solidFill>
                <a:latin typeface="Arial"/>
                <a:ea typeface="Arial"/>
                <a:cs typeface="Arial"/>
              </a:defRPr>
            </a:lvl4pPr>
            <a:lvl5pPr algn="l">
              <a:defRPr sz="1650" b="1" i="0">
                <a:solidFill>
                  <a:srgbClr val="17130F"/>
                </a:solidFill>
                <a:latin typeface="Arial"/>
                <a:ea typeface="Arial"/>
                <a:cs typeface="Arial"/>
              </a:defRPr>
            </a:lvl5pPr>
            <a:lvl6pPr algn="l">
              <a:defRPr sz="1650" b="1" i="0">
                <a:solidFill>
                  <a:srgbClr val="17130F"/>
                </a:solidFill>
                <a:latin typeface="Arial"/>
                <a:ea typeface="Arial"/>
                <a:cs typeface="Arial"/>
              </a:defRPr>
            </a:lvl6pPr>
            <a:lvl7pPr algn="l">
              <a:defRPr sz="1650" b="1" i="0">
                <a:solidFill>
                  <a:srgbClr val="17130F"/>
                </a:solidFill>
                <a:latin typeface="Arial"/>
                <a:ea typeface="Arial"/>
                <a:cs typeface="Arial"/>
              </a:defRPr>
            </a:lvl7pPr>
            <a:lvl8pPr algn="l">
              <a:defRPr sz="1650" b="1" i="0">
                <a:solidFill>
                  <a:srgbClr val="17130F"/>
                </a:solidFill>
                <a:latin typeface="Arial"/>
                <a:ea typeface="Arial"/>
                <a:cs typeface="Arial"/>
              </a:defRPr>
            </a:lvl8pPr>
            <a:lvl9pPr algn="l">
              <a:defRPr sz="1650" b="1" i="0">
                <a:solidFill>
                  <a:srgbClr val="17130F"/>
                </a:solidFill>
                <a:latin typeface="Arial"/>
                <a:ea typeface="Arial"/>
                <a:cs typeface="Arial"/>
              </a:defRPr>
            </a:lvl9pPr>
          </a:lstStyle>
          <a:p xmlns:a="http://schemas.openxmlformats.org/drawingml/2006/main">
            <a:pPr algn="l">
              <a:defRPr sz="1650" b="1" i="0">
                <a:solidFill>
                  <a:srgbClr val="17130F"/>
                </a:solidFill>
                <a:latin typeface="Arial"/>
                <a:ea typeface="Arial"/>
                <a:cs typeface="Arial"/>
              </a:defRPr>
            </a:pPr>
            <a:r>
              <a:rPr sz="1650" b="1" i="0">
                <a:solidFill>
                  <a:srgbClr val="17130F"/>
                </a:solidFill>
                <a:latin typeface="Arial"/>
                <a:ea typeface="Arial"/>
                <a:cs typeface="Arial"/>
              </a:rPr>
              <a:t>Confirm whether Rave currently tracks how customers move between entry products.</a:t>
            </a:r>
          </a:p>
        </p:txBody>
      </p:sp>
      <p:sp>
        <p:nvSpPr>
          <p:cNvPr id="9" name="">
            <a:extLst xmlns:a="http://schemas.openxmlformats.org/drawingml/2006/main">
              <a:ext uri="{FF2B5EF4-FFF2-40B4-BE49-F238E27FC236}">
                <a16:creationId xmlns:a16="http://schemas.microsoft.com/office/drawing/2014/main" id="{608B74D5-5483-4112-B900-494FB9D08E91}"/>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E665D"/>
                </a:solidFill>
                <a:latin typeface="Arial"/>
                <a:ea typeface="Arial"/>
                <a:cs typeface="Arial"/>
              </a:defRPr>
            </a:defPPr>
            <a:lvl1pPr algn="l">
              <a:defRPr sz="675" b="1" i="0">
                <a:solidFill>
                  <a:srgbClr val="6E665D"/>
                </a:solidFill>
                <a:latin typeface="Arial"/>
                <a:ea typeface="Arial"/>
                <a:cs typeface="Arial"/>
              </a:defRPr>
            </a:lvl1pPr>
            <a:lvl2pPr algn="l">
              <a:defRPr sz="675" b="1" i="0">
                <a:solidFill>
                  <a:srgbClr val="6E665D"/>
                </a:solidFill>
                <a:latin typeface="Arial"/>
                <a:ea typeface="Arial"/>
                <a:cs typeface="Arial"/>
              </a:defRPr>
            </a:lvl2pPr>
            <a:lvl3pPr algn="l">
              <a:defRPr sz="675" b="1" i="0">
                <a:solidFill>
                  <a:srgbClr val="6E665D"/>
                </a:solidFill>
                <a:latin typeface="Arial"/>
                <a:ea typeface="Arial"/>
                <a:cs typeface="Arial"/>
              </a:defRPr>
            </a:lvl3pPr>
            <a:lvl4pPr algn="l">
              <a:defRPr sz="675" b="1" i="0">
                <a:solidFill>
                  <a:srgbClr val="6E665D"/>
                </a:solidFill>
                <a:latin typeface="Arial"/>
                <a:ea typeface="Arial"/>
                <a:cs typeface="Arial"/>
              </a:defRPr>
            </a:lvl4pPr>
            <a:lvl5pPr algn="l">
              <a:defRPr sz="675" b="1" i="0">
                <a:solidFill>
                  <a:srgbClr val="6E665D"/>
                </a:solidFill>
                <a:latin typeface="Arial"/>
                <a:ea typeface="Arial"/>
                <a:cs typeface="Arial"/>
              </a:defRPr>
            </a:lvl5pPr>
            <a:lvl6pPr algn="l">
              <a:defRPr sz="675" b="1" i="0">
                <a:solidFill>
                  <a:srgbClr val="6E665D"/>
                </a:solidFill>
                <a:latin typeface="Arial"/>
                <a:ea typeface="Arial"/>
                <a:cs typeface="Arial"/>
              </a:defRPr>
            </a:lvl6pPr>
            <a:lvl7pPr algn="l">
              <a:defRPr sz="675" b="1" i="0">
                <a:solidFill>
                  <a:srgbClr val="6E665D"/>
                </a:solidFill>
                <a:latin typeface="Arial"/>
                <a:ea typeface="Arial"/>
                <a:cs typeface="Arial"/>
              </a:defRPr>
            </a:lvl7pPr>
            <a:lvl8pPr algn="l">
              <a:defRPr sz="675" b="1" i="0">
                <a:solidFill>
                  <a:srgbClr val="6E665D"/>
                </a:solidFill>
                <a:latin typeface="Arial"/>
                <a:ea typeface="Arial"/>
                <a:cs typeface="Arial"/>
              </a:defRPr>
            </a:lvl8pPr>
            <a:lvl9pPr algn="l">
              <a:defRPr sz="675" b="1" i="0">
                <a:solidFill>
                  <a:srgbClr val="6E665D"/>
                </a:solidFill>
                <a:latin typeface="Arial"/>
                <a:ea typeface="Arial"/>
                <a:cs typeface="Arial"/>
              </a:defRPr>
            </a:lvl9pPr>
          </a:lstStyle>
          <a:p xmlns:a="http://schemas.openxmlformats.org/drawingml/2006/main">
            <a:pPr algn="l">
              <a:defRPr sz="675" b="1" i="0">
                <a:solidFill>
                  <a:srgbClr val="6E665D"/>
                </a:solidFill>
                <a:latin typeface="Arial"/>
                <a:ea typeface="Arial"/>
                <a:cs typeface="Arial"/>
              </a:defRPr>
            </a:pPr>
            <a:r>
              <a:rPr sz="675" b="1" i="0">
                <a:solidFill>
                  <a:srgbClr val="6E665D"/>
                </a:solidFill>
                <a:latin typeface="Arial"/>
                <a:ea typeface="Arial"/>
                <a:cs typeface="Arial"/>
              </a:rPr>
              <a:t>FIELDWORK / RAVE COFFEE / INTERNAL CALIBRATION</a:t>
            </a:r>
          </a:p>
        </p:txBody>
      </p:sp>
      <p:sp>
        <p:nvSpPr>
          <p:cNvPr id="10" name="">
            <a:extLst xmlns:a="http://schemas.openxmlformats.org/drawingml/2006/main">
              <a:ext uri="{FF2B5EF4-FFF2-40B4-BE49-F238E27FC236}">
                <a16:creationId xmlns:a16="http://schemas.microsoft.com/office/drawing/2014/main" id="{50E11183-0CCE-4F7E-AE86-29628D7A9F91}"/>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PUBLIC EVIDENCE + OPEN FIRST-PARTY INPUTS</a:t>
            </a:r>
          </a:p>
        </p:txBody>
      </p:sp>
      <p:sp>
        <p:nvSpPr>
          <p:cNvPr id="11" name="">
            <a:extLst xmlns:a="http://schemas.openxmlformats.org/drawingml/2006/main">
              <a:ext uri="{FF2B5EF4-FFF2-40B4-BE49-F238E27FC236}">
                <a16:creationId xmlns:a16="http://schemas.microsoft.com/office/drawing/2014/main" id="{75CF4063-CDBE-419F-99DB-F2BE6A43B81D}"/>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01 / 05</a:t>
            </a:r>
          </a:p>
        </p:txBody>
      </p:sp>
    </p:spTree>
    <p:extLst>
      <p:ext uri="{BB962C8B-B14F-4D97-AF65-F5344CB8AC3E}">
        <p14:creationId xmlns:p14="http://schemas.microsoft.com/office/powerpoint/2010/main" val="2111082391"/>
      </p:ext>
    </p:extLst>
  </p:cSld>
</p:sld>
</file>

<file path=ppt/slides/slide2.xml><?xml version="1.0" encoding="utf-8"?>
<p:sld xmlns:p="http://schemas.openxmlformats.org/presentationml/2006/main">
  <p:cSld>
    <p:bg>
      <p:bgPr>
        <a:solidFill xmlns:a="http://schemas.openxmlformats.org/drawingml/2006/main">
          <a:srgbClr val="17130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C75F1632-FF07-4F66-BF77-3402D310DD93}"/>
              </a:ext>
            </a:extLst>
          </p:cNvPr>
          <p:cNvPicPr>
            <a:picLocks xmlns:a="http://schemas.openxmlformats.org/drawingml/2006/main" noChangeAspect="1"/>
          </p:cNvPicPr>
          <p:nvPr/>
        </p:nvPicPr>
        <p:blipFill>
          <a:blip xmlns:r="http://schemas.openxmlformats.org/officeDocument/2006/relationships" xmlns:a="http://schemas.openxmlformats.org/drawingml/2006/main" r:embed="Rb57056c0139e4b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52EB19-5860-4AE5-B002-4B19579364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30F">
              <a:alpha val="92157"/>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2A2BE1-F248-4C3B-AE5A-5763D1D7FAC2}"/>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CA05"/>
                </a:solidFill>
                <a:latin typeface="Arial"/>
                <a:ea typeface="Arial"/>
                <a:cs typeface="Arial"/>
              </a:defRPr>
            </a:defPPr>
            <a:lvl1pPr algn="l">
              <a:defRPr sz="825" b="1" i="0">
                <a:solidFill>
                  <a:srgbClr val="FFCA05"/>
                </a:solidFill>
                <a:latin typeface="Arial"/>
                <a:ea typeface="Arial"/>
                <a:cs typeface="Arial"/>
              </a:defRPr>
            </a:lvl1pPr>
            <a:lvl2pPr algn="l">
              <a:defRPr sz="825" b="1" i="0">
                <a:solidFill>
                  <a:srgbClr val="FFCA05"/>
                </a:solidFill>
                <a:latin typeface="Arial"/>
                <a:ea typeface="Arial"/>
                <a:cs typeface="Arial"/>
              </a:defRPr>
            </a:lvl2pPr>
            <a:lvl3pPr algn="l">
              <a:defRPr sz="825" b="1" i="0">
                <a:solidFill>
                  <a:srgbClr val="FFCA05"/>
                </a:solidFill>
                <a:latin typeface="Arial"/>
                <a:ea typeface="Arial"/>
                <a:cs typeface="Arial"/>
              </a:defRPr>
            </a:lvl3pPr>
            <a:lvl4pPr algn="l">
              <a:defRPr sz="825" b="1" i="0">
                <a:solidFill>
                  <a:srgbClr val="FFCA05"/>
                </a:solidFill>
                <a:latin typeface="Arial"/>
                <a:ea typeface="Arial"/>
                <a:cs typeface="Arial"/>
              </a:defRPr>
            </a:lvl4pPr>
            <a:lvl5pPr algn="l">
              <a:defRPr sz="825" b="1" i="0">
                <a:solidFill>
                  <a:srgbClr val="FFCA05"/>
                </a:solidFill>
                <a:latin typeface="Arial"/>
                <a:ea typeface="Arial"/>
                <a:cs typeface="Arial"/>
              </a:defRPr>
            </a:lvl5pPr>
            <a:lvl6pPr algn="l">
              <a:defRPr sz="825" b="1" i="0">
                <a:solidFill>
                  <a:srgbClr val="FFCA05"/>
                </a:solidFill>
                <a:latin typeface="Arial"/>
                <a:ea typeface="Arial"/>
                <a:cs typeface="Arial"/>
              </a:defRPr>
            </a:lvl6pPr>
            <a:lvl7pPr algn="l">
              <a:defRPr sz="825" b="1" i="0">
                <a:solidFill>
                  <a:srgbClr val="FFCA05"/>
                </a:solidFill>
                <a:latin typeface="Arial"/>
                <a:ea typeface="Arial"/>
                <a:cs typeface="Arial"/>
              </a:defRPr>
            </a:lvl7pPr>
            <a:lvl8pPr algn="l">
              <a:defRPr sz="825" b="1" i="0">
                <a:solidFill>
                  <a:srgbClr val="FFCA05"/>
                </a:solidFill>
                <a:latin typeface="Arial"/>
                <a:ea typeface="Arial"/>
                <a:cs typeface="Arial"/>
              </a:defRPr>
            </a:lvl8pPr>
            <a:lvl9pPr algn="l">
              <a:defRPr sz="825" b="1" i="0">
                <a:solidFill>
                  <a:srgbClr val="FFCA05"/>
                </a:solidFill>
                <a:latin typeface="Arial"/>
                <a:ea typeface="Arial"/>
                <a:cs typeface="Arial"/>
              </a:defRPr>
            </a:lvl9pPr>
          </a:lstStyle>
          <a:p xmlns:a="http://schemas.openxmlformats.org/drawingml/2006/main">
            <a:pPr algn="l">
              <a:defRPr sz="825" b="1" i="0">
                <a:solidFill>
                  <a:srgbClr val="FFCA05"/>
                </a:solidFill>
                <a:latin typeface="Arial"/>
                <a:ea typeface="Arial"/>
                <a:cs typeface="Arial"/>
              </a:defRPr>
            </a:pPr>
            <a:r>
              <a:rPr sz="825" b="1" i="0">
                <a:solidFill>
                  <a:srgbClr val="FFCA05"/>
                </a:solidFill>
                <a:latin typeface="Arial"/>
                <a:ea typeface="Arial"/>
                <a:cs typeface="Arial"/>
              </a:rPr>
              <a:t>02 / THE COMMERCIAL OPPORTUNITY</a:t>
            </a:r>
          </a:p>
        </p:txBody>
      </p:sp>
      <p:sp>
        <p:nvSpPr>
          <p:cNvPr id="4" name="">
            <a:extLst xmlns:a="http://schemas.openxmlformats.org/drawingml/2006/main">
              <a:ext uri="{FF2B5EF4-FFF2-40B4-BE49-F238E27FC236}">
                <a16:creationId xmlns:a16="http://schemas.microsoft.com/office/drawing/2014/main" id="{3B0ED56E-7968-4C97-B1AE-D8D488DA33CE}"/>
              </a:ext>
            </a:extLst>
          </p:cNvPr>
          <p:cNvSpPr>
            <a:spLocks xmlns:a="http://schemas.openxmlformats.org/drawingml/2006/main" noGrp="1"/>
          </p:cNvSpPr>
          <p:nvPr/>
        </p:nvSpPr>
        <p:spPr>
          <a:xfrm xmlns:a="http://schemas.openxmlformats.org/drawingml/2006/main">
            <a:off x="590550" y="9334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i="0">
                <a:solidFill>
                  <a:srgbClr val="FFFFFF"/>
                </a:solidFill>
                <a:latin typeface="Arial"/>
                <a:ea typeface="Arial"/>
                <a:cs typeface="Arial"/>
              </a:defRPr>
            </a:defPPr>
            <a:lvl1pPr algn="l">
              <a:defRPr sz="3150" b="1" i="0">
                <a:solidFill>
                  <a:srgbClr val="FFFFFF"/>
                </a:solidFill>
                <a:latin typeface="Arial"/>
                <a:ea typeface="Arial"/>
                <a:cs typeface="Arial"/>
              </a:defRPr>
            </a:lvl1pPr>
            <a:lvl2pPr algn="l">
              <a:defRPr sz="3150" b="1" i="0">
                <a:solidFill>
                  <a:srgbClr val="FFFFFF"/>
                </a:solidFill>
                <a:latin typeface="Arial"/>
                <a:ea typeface="Arial"/>
                <a:cs typeface="Arial"/>
              </a:defRPr>
            </a:lvl2pPr>
            <a:lvl3pPr algn="l">
              <a:defRPr sz="3150" b="1" i="0">
                <a:solidFill>
                  <a:srgbClr val="FFFFFF"/>
                </a:solidFill>
                <a:latin typeface="Arial"/>
                <a:ea typeface="Arial"/>
                <a:cs typeface="Arial"/>
              </a:defRPr>
            </a:lvl3pPr>
            <a:lvl4pPr algn="l">
              <a:defRPr sz="3150" b="1" i="0">
                <a:solidFill>
                  <a:srgbClr val="FFFFFF"/>
                </a:solidFill>
                <a:latin typeface="Arial"/>
                <a:ea typeface="Arial"/>
                <a:cs typeface="Arial"/>
              </a:defRPr>
            </a:lvl4pPr>
            <a:lvl5pPr algn="l">
              <a:defRPr sz="3150" b="1" i="0">
                <a:solidFill>
                  <a:srgbClr val="FFFFFF"/>
                </a:solidFill>
                <a:latin typeface="Arial"/>
                <a:ea typeface="Arial"/>
                <a:cs typeface="Arial"/>
              </a:defRPr>
            </a:lvl5pPr>
            <a:lvl6pPr algn="l">
              <a:defRPr sz="3150" b="1" i="0">
                <a:solidFill>
                  <a:srgbClr val="FFFFFF"/>
                </a:solidFill>
                <a:latin typeface="Arial"/>
                <a:ea typeface="Arial"/>
                <a:cs typeface="Arial"/>
              </a:defRPr>
            </a:lvl6pPr>
            <a:lvl7pPr algn="l">
              <a:defRPr sz="3150" b="1" i="0">
                <a:solidFill>
                  <a:srgbClr val="FFFFFF"/>
                </a:solidFill>
                <a:latin typeface="Arial"/>
                <a:ea typeface="Arial"/>
                <a:cs typeface="Arial"/>
              </a:defRPr>
            </a:lvl7pPr>
            <a:lvl8pPr algn="l">
              <a:defRPr sz="3150" b="1" i="0">
                <a:solidFill>
                  <a:srgbClr val="FFFFFF"/>
                </a:solidFill>
                <a:latin typeface="Arial"/>
                <a:ea typeface="Arial"/>
                <a:cs typeface="Arial"/>
              </a:defRPr>
            </a:lvl8pPr>
            <a:lvl9pPr algn="l">
              <a:defRPr sz="3150" b="1" i="0">
                <a:solidFill>
                  <a:srgbClr val="FFFFFF"/>
                </a:solidFill>
                <a:latin typeface="Arial"/>
                <a:ea typeface="Arial"/>
                <a:cs typeface="Arial"/>
              </a:defRPr>
            </a:lvl9pPr>
          </a:lstStyle>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Make one customer progression visible — then prove it compounds.</a:t>
            </a:r>
          </a:p>
        </p:txBody>
      </p:sp>
      <p:sp>
        <p:nvSpPr>
          <p:cNvPr id="5" name="">
            <a:extLst xmlns:a="http://schemas.openxmlformats.org/drawingml/2006/main">
              <a:ext uri="{FF2B5EF4-FFF2-40B4-BE49-F238E27FC236}">
                <a16:creationId xmlns:a16="http://schemas.microsoft.com/office/drawing/2014/main" id="{E1C27001-4550-4856-899E-3C712AEB19BF}"/>
              </a:ext>
            </a:extLst>
          </p:cNvPr>
          <p:cNvSpPr>
            <a:spLocks xmlns:a="http://schemas.openxmlformats.org/drawingml/2006/main" noGrp="1"/>
          </p:cNvSpPr>
          <p:nvPr/>
        </p:nvSpPr>
        <p:spPr>
          <a:xfrm xmlns:a="http://schemas.openxmlformats.org/drawingml/2006/main">
            <a:off x="6286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CA05"/>
                </a:solidFill>
                <a:latin typeface="Arial"/>
                <a:ea typeface="Arial"/>
                <a:cs typeface="Arial"/>
              </a:defRPr>
            </a:defPPr>
            <a:lvl1pPr algn="ctr">
              <a:defRPr sz="1275" b="1" i="0">
                <a:solidFill>
                  <a:srgbClr val="FFCA05"/>
                </a:solidFill>
                <a:latin typeface="Arial"/>
                <a:ea typeface="Arial"/>
                <a:cs typeface="Arial"/>
              </a:defRPr>
            </a:lvl1pPr>
            <a:lvl2pPr algn="ctr">
              <a:defRPr sz="1275" b="1" i="0">
                <a:solidFill>
                  <a:srgbClr val="FFCA05"/>
                </a:solidFill>
                <a:latin typeface="Arial"/>
                <a:ea typeface="Arial"/>
                <a:cs typeface="Arial"/>
              </a:defRPr>
            </a:lvl2pPr>
            <a:lvl3pPr algn="ctr">
              <a:defRPr sz="1275" b="1" i="0">
                <a:solidFill>
                  <a:srgbClr val="FFCA05"/>
                </a:solidFill>
                <a:latin typeface="Arial"/>
                <a:ea typeface="Arial"/>
                <a:cs typeface="Arial"/>
              </a:defRPr>
            </a:lvl3pPr>
            <a:lvl4pPr algn="ctr">
              <a:defRPr sz="1275" b="1" i="0">
                <a:solidFill>
                  <a:srgbClr val="FFCA05"/>
                </a:solidFill>
                <a:latin typeface="Arial"/>
                <a:ea typeface="Arial"/>
                <a:cs typeface="Arial"/>
              </a:defRPr>
            </a:lvl4pPr>
            <a:lvl5pPr algn="ctr">
              <a:defRPr sz="1275" b="1" i="0">
                <a:solidFill>
                  <a:srgbClr val="FFCA05"/>
                </a:solidFill>
                <a:latin typeface="Arial"/>
                <a:ea typeface="Arial"/>
                <a:cs typeface="Arial"/>
              </a:defRPr>
            </a:lvl5pPr>
            <a:lvl6pPr algn="ctr">
              <a:defRPr sz="1275" b="1" i="0">
                <a:solidFill>
                  <a:srgbClr val="FFCA05"/>
                </a:solidFill>
                <a:latin typeface="Arial"/>
                <a:ea typeface="Arial"/>
                <a:cs typeface="Arial"/>
              </a:defRPr>
            </a:lvl6pPr>
            <a:lvl7pPr algn="ctr">
              <a:defRPr sz="1275" b="1" i="0">
                <a:solidFill>
                  <a:srgbClr val="FFCA05"/>
                </a:solidFill>
                <a:latin typeface="Arial"/>
                <a:ea typeface="Arial"/>
                <a:cs typeface="Arial"/>
              </a:defRPr>
            </a:lvl7pPr>
            <a:lvl8pPr algn="ctr">
              <a:defRPr sz="1275" b="1" i="0">
                <a:solidFill>
                  <a:srgbClr val="FFCA05"/>
                </a:solidFill>
                <a:latin typeface="Arial"/>
                <a:ea typeface="Arial"/>
                <a:cs typeface="Arial"/>
              </a:defRPr>
            </a:lvl8pPr>
            <a:lvl9pPr algn="ctr">
              <a:defRPr sz="1275" b="1" i="0">
                <a:solidFill>
                  <a:srgbClr val="FFCA05"/>
                </a:solidFill>
                <a:latin typeface="Arial"/>
                <a:ea typeface="Arial"/>
                <a:cs typeface="Arial"/>
              </a:defRPr>
            </a:lvl9pPr>
          </a:lstStyle>
          <a:p xmlns:a="http://schemas.openxmlformats.org/drawingml/2006/main">
            <a:pPr algn="ctr">
              <a:defRPr sz="1275" b="1" i="0">
                <a:solidFill>
                  <a:srgbClr val="FFCA05"/>
                </a:solidFill>
                <a:latin typeface="Arial"/>
                <a:ea typeface="Arial"/>
                <a:cs typeface="Arial"/>
              </a:defRPr>
            </a:pPr>
            <a:r>
              <a:rPr sz="1275" b="1" i="0">
                <a:solidFill>
                  <a:srgbClr val="FFCA05"/>
                </a:solidFill>
                <a:latin typeface="Arial"/>
                <a:ea typeface="Arial"/>
                <a:cs typeface="Arial"/>
              </a:rPr>
              <a:t>QUALIFIED ENTRY</a:t>
            </a:r>
          </a:p>
        </p:txBody>
      </p:sp>
      <p:sp>
        <p:nvSpPr>
          <p:cNvPr id="6" name="">
            <a:extLst xmlns:a="http://schemas.openxmlformats.org/drawingml/2006/main">
              <a:ext uri="{FF2B5EF4-FFF2-40B4-BE49-F238E27FC236}">
                <a16:creationId xmlns:a16="http://schemas.microsoft.com/office/drawing/2014/main" id="{D8917199-C1FD-407C-9317-AF97E03939DD}"/>
              </a:ext>
            </a:extLst>
          </p:cNvPr>
          <p:cNvSpPr>
            <a:spLocks xmlns:a="http://schemas.openxmlformats.org/drawingml/2006/main" noGrp="1"/>
          </p:cNvSpPr>
          <p:nvPr/>
        </p:nvSpPr>
        <p:spPr>
          <a:xfrm xmlns:a="http://schemas.openxmlformats.org/drawingml/2006/main">
            <a:off x="29908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E7F22EB1-6A47-429E-AF89-13260C36C954}"/>
              </a:ext>
            </a:extLst>
          </p:cNvPr>
          <p:cNvSpPr>
            <a:spLocks xmlns:a="http://schemas.openxmlformats.org/drawingml/2006/main" noGrp="1"/>
          </p:cNvSpPr>
          <p:nvPr/>
        </p:nvSpPr>
        <p:spPr>
          <a:xfrm xmlns:a="http://schemas.openxmlformats.org/drawingml/2006/main">
            <a:off x="33528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CA05"/>
                </a:solidFill>
                <a:latin typeface="Arial"/>
                <a:ea typeface="Arial"/>
                <a:cs typeface="Arial"/>
              </a:defRPr>
            </a:defPPr>
            <a:lvl1pPr algn="ctr">
              <a:defRPr sz="1275" b="1" i="0">
                <a:solidFill>
                  <a:srgbClr val="FFCA05"/>
                </a:solidFill>
                <a:latin typeface="Arial"/>
                <a:ea typeface="Arial"/>
                <a:cs typeface="Arial"/>
              </a:defRPr>
            </a:lvl1pPr>
            <a:lvl2pPr algn="ctr">
              <a:defRPr sz="1275" b="1" i="0">
                <a:solidFill>
                  <a:srgbClr val="FFCA05"/>
                </a:solidFill>
                <a:latin typeface="Arial"/>
                <a:ea typeface="Arial"/>
                <a:cs typeface="Arial"/>
              </a:defRPr>
            </a:lvl2pPr>
            <a:lvl3pPr algn="ctr">
              <a:defRPr sz="1275" b="1" i="0">
                <a:solidFill>
                  <a:srgbClr val="FFCA05"/>
                </a:solidFill>
                <a:latin typeface="Arial"/>
                <a:ea typeface="Arial"/>
                <a:cs typeface="Arial"/>
              </a:defRPr>
            </a:lvl3pPr>
            <a:lvl4pPr algn="ctr">
              <a:defRPr sz="1275" b="1" i="0">
                <a:solidFill>
                  <a:srgbClr val="FFCA05"/>
                </a:solidFill>
                <a:latin typeface="Arial"/>
                <a:ea typeface="Arial"/>
                <a:cs typeface="Arial"/>
              </a:defRPr>
            </a:lvl4pPr>
            <a:lvl5pPr algn="ctr">
              <a:defRPr sz="1275" b="1" i="0">
                <a:solidFill>
                  <a:srgbClr val="FFCA05"/>
                </a:solidFill>
                <a:latin typeface="Arial"/>
                <a:ea typeface="Arial"/>
                <a:cs typeface="Arial"/>
              </a:defRPr>
            </a:lvl5pPr>
            <a:lvl6pPr algn="ctr">
              <a:defRPr sz="1275" b="1" i="0">
                <a:solidFill>
                  <a:srgbClr val="FFCA05"/>
                </a:solidFill>
                <a:latin typeface="Arial"/>
                <a:ea typeface="Arial"/>
                <a:cs typeface="Arial"/>
              </a:defRPr>
            </a:lvl6pPr>
            <a:lvl7pPr algn="ctr">
              <a:defRPr sz="1275" b="1" i="0">
                <a:solidFill>
                  <a:srgbClr val="FFCA05"/>
                </a:solidFill>
                <a:latin typeface="Arial"/>
                <a:ea typeface="Arial"/>
                <a:cs typeface="Arial"/>
              </a:defRPr>
            </a:lvl7pPr>
            <a:lvl8pPr algn="ctr">
              <a:defRPr sz="1275" b="1" i="0">
                <a:solidFill>
                  <a:srgbClr val="FFCA05"/>
                </a:solidFill>
                <a:latin typeface="Arial"/>
                <a:ea typeface="Arial"/>
                <a:cs typeface="Arial"/>
              </a:defRPr>
            </a:lvl8pPr>
            <a:lvl9pPr algn="ctr">
              <a:defRPr sz="1275" b="1" i="0">
                <a:solidFill>
                  <a:srgbClr val="FFCA05"/>
                </a:solidFill>
                <a:latin typeface="Arial"/>
                <a:ea typeface="Arial"/>
                <a:cs typeface="Arial"/>
              </a:defRPr>
            </a:lvl9pPr>
          </a:lstStyle>
          <a:p xmlns:a="http://schemas.openxmlformats.org/drawingml/2006/main">
            <a:pPr algn="ctr">
              <a:defRPr sz="1275" b="1" i="0">
                <a:solidFill>
                  <a:srgbClr val="FFCA05"/>
                </a:solidFill>
                <a:latin typeface="Arial"/>
                <a:ea typeface="Arial"/>
                <a:cs typeface="Arial"/>
              </a:defRPr>
            </a:pPr>
            <a:r>
              <a:rPr sz="1275" b="1" i="0">
                <a:solidFill>
                  <a:srgbClr val="FFCA05"/>
                </a:solidFill>
                <a:latin typeface="Arial"/>
                <a:ea typeface="Arial"/>
                <a:cs typeface="Arial"/>
              </a:rPr>
              <a:t>FIRST CHOICE</a:t>
            </a:r>
          </a:p>
        </p:txBody>
      </p:sp>
      <p:sp>
        <p:nvSpPr>
          <p:cNvPr id="8" name="">
            <a:extLst xmlns:a="http://schemas.openxmlformats.org/drawingml/2006/main">
              <a:ext uri="{FF2B5EF4-FFF2-40B4-BE49-F238E27FC236}">
                <a16:creationId xmlns:a16="http://schemas.microsoft.com/office/drawing/2014/main" id="{77DCF485-A92E-4896-8C41-2190ADB43EA2}"/>
              </a:ext>
            </a:extLst>
          </p:cNvPr>
          <p:cNvSpPr>
            <a:spLocks xmlns:a="http://schemas.openxmlformats.org/drawingml/2006/main" noGrp="1"/>
          </p:cNvSpPr>
          <p:nvPr/>
        </p:nvSpPr>
        <p:spPr>
          <a:xfrm xmlns:a="http://schemas.openxmlformats.org/drawingml/2006/main">
            <a:off x="571500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963799D3-DF0F-44B7-AFAC-FEB11C797BFE}"/>
              </a:ext>
            </a:extLst>
          </p:cNvPr>
          <p:cNvSpPr>
            <a:spLocks xmlns:a="http://schemas.openxmlformats.org/drawingml/2006/main" noGrp="1"/>
          </p:cNvSpPr>
          <p:nvPr/>
        </p:nvSpPr>
        <p:spPr>
          <a:xfrm xmlns:a="http://schemas.openxmlformats.org/drawingml/2006/main">
            <a:off x="60769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CA05"/>
                </a:solidFill>
                <a:latin typeface="Arial"/>
                <a:ea typeface="Arial"/>
                <a:cs typeface="Arial"/>
              </a:defRPr>
            </a:defPPr>
            <a:lvl1pPr algn="ctr">
              <a:defRPr sz="1275" b="1" i="0">
                <a:solidFill>
                  <a:srgbClr val="FFCA05"/>
                </a:solidFill>
                <a:latin typeface="Arial"/>
                <a:ea typeface="Arial"/>
                <a:cs typeface="Arial"/>
              </a:defRPr>
            </a:lvl1pPr>
            <a:lvl2pPr algn="ctr">
              <a:defRPr sz="1275" b="1" i="0">
                <a:solidFill>
                  <a:srgbClr val="FFCA05"/>
                </a:solidFill>
                <a:latin typeface="Arial"/>
                <a:ea typeface="Arial"/>
                <a:cs typeface="Arial"/>
              </a:defRPr>
            </a:lvl2pPr>
            <a:lvl3pPr algn="ctr">
              <a:defRPr sz="1275" b="1" i="0">
                <a:solidFill>
                  <a:srgbClr val="FFCA05"/>
                </a:solidFill>
                <a:latin typeface="Arial"/>
                <a:ea typeface="Arial"/>
                <a:cs typeface="Arial"/>
              </a:defRPr>
            </a:lvl3pPr>
            <a:lvl4pPr algn="ctr">
              <a:defRPr sz="1275" b="1" i="0">
                <a:solidFill>
                  <a:srgbClr val="FFCA05"/>
                </a:solidFill>
                <a:latin typeface="Arial"/>
                <a:ea typeface="Arial"/>
                <a:cs typeface="Arial"/>
              </a:defRPr>
            </a:lvl4pPr>
            <a:lvl5pPr algn="ctr">
              <a:defRPr sz="1275" b="1" i="0">
                <a:solidFill>
                  <a:srgbClr val="FFCA05"/>
                </a:solidFill>
                <a:latin typeface="Arial"/>
                <a:ea typeface="Arial"/>
                <a:cs typeface="Arial"/>
              </a:defRPr>
            </a:lvl5pPr>
            <a:lvl6pPr algn="ctr">
              <a:defRPr sz="1275" b="1" i="0">
                <a:solidFill>
                  <a:srgbClr val="FFCA05"/>
                </a:solidFill>
                <a:latin typeface="Arial"/>
                <a:ea typeface="Arial"/>
                <a:cs typeface="Arial"/>
              </a:defRPr>
            </a:lvl6pPr>
            <a:lvl7pPr algn="ctr">
              <a:defRPr sz="1275" b="1" i="0">
                <a:solidFill>
                  <a:srgbClr val="FFCA05"/>
                </a:solidFill>
                <a:latin typeface="Arial"/>
                <a:ea typeface="Arial"/>
                <a:cs typeface="Arial"/>
              </a:defRPr>
            </a:lvl7pPr>
            <a:lvl8pPr algn="ctr">
              <a:defRPr sz="1275" b="1" i="0">
                <a:solidFill>
                  <a:srgbClr val="FFCA05"/>
                </a:solidFill>
                <a:latin typeface="Arial"/>
                <a:ea typeface="Arial"/>
                <a:cs typeface="Arial"/>
              </a:defRPr>
            </a:lvl8pPr>
            <a:lvl9pPr algn="ctr">
              <a:defRPr sz="1275" b="1" i="0">
                <a:solidFill>
                  <a:srgbClr val="FFCA05"/>
                </a:solidFill>
                <a:latin typeface="Arial"/>
                <a:ea typeface="Arial"/>
                <a:cs typeface="Arial"/>
              </a:defRPr>
            </a:lvl9pPr>
          </a:lstStyle>
          <a:p xmlns:a="http://schemas.openxmlformats.org/drawingml/2006/main">
            <a:pPr algn="ctr">
              <a:defRPr sz="1275" b="1" i="0">
                <a:solidFill>
                  <a:srgbClr val="FFCA05"/>
                </a:solidFill>
                <a:latin typeface="Arial"/>
                <a:ea typeface="Arial"/>
                <a:cs typeface="Arial"/>
              </a:defRPr>
            </a:pPr>
            <a:r>
              <a:rPr sz="1275" b="1" i="0">
                <a:solidFill>
                  <a:srgbClr val="FFCA05"/>
                </a:solidFill>
                <a:latin typeface="Arial"/>
                <a:ea typeface="Arial"/>
                <a:cs typeface="Arial"/>
              </a:rPr>
              <a:t>90-DAY REPEAT</a:t>
            </a:r>
          </a:p>
        </p:txBody>
      </p:sp>
      <p:sp>
        <p:nvSpPr>
          <p:cNvPr id="10" name="">
            <a:extLst xmlns:a="http://schemas.openxmlformats.org/drawingml/2006/main">
              <a:ext uri="{FF2B5EF4-FFF2-40B4-BE49-F238E27FC236}">
                <a16:creationId xmlns:a16="http://schemas.microsoft.com/office/drawing/2014/main" id="{A381FBE3-E5E5-40AD-8CBD-4ED435CA85B7}"/>
              </a:ext>
            </a:extLst>
          </p:cNvPr>
          <p:cNvSpPr>
            <a:spLocks xmlns:a="http://schemas.openxmlformats.org/drawingml/2006/main" noGrp="1"/>
          </p:cNvSpPr>
          <p:nvPr/>
        </p:nvSpPr>
        <p:spPr>
          <a:xfrm xmlns:a="http://schemas.openxmlformats.org/drawingml/2006/main">
            <a:off x="84391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BFEA4E8-5F12-4F19-AB2F-04FB393A9932}"/>
              </a:ext>
            </a:extLst>
          </p:cNvPr>
          <p:cNvSpPr>
            <a:spLocks xmlns:a="http://schemas.openxmlformats.org/drawingml/2006/main" noGrp="1"/>
          </p:cNvSpPr>
          <p:nvPr/>
        </p:nvSpPr>
        <p:spPr>
          <a:xfrm xmlns:a="http://schemas.openxmlformats.org/drawingml/2006/main">
            <a:off x="88011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CA05"/>
                </a:solidFill>
                <a:latin typeface="Arial"/>
                <a:ea typeface="Arial"/>
                <a:cs typeface="Arial"/>
              </a:defRPr>
            </a:defPPr>
            <a:lvl1pPr algn="ctr">
              <a:defRPr sz="1275" b="1" i="0">
                <a:solidFill>
                  <a:srgbClr val="FFCA05"/>
                </a:solidFill>
                <a:latin typeface="Arial"/>
                <a:ea typeface="Arial"/>
                <a:cs typeface="Arial"/>
              </a:defRPr>
            </a:lvl1pPr>
            <a:lvl2pPr algn="ctr">
              <a:defRPr sz="1275" b="1" i="0">
                <a:solidFill>
                  <a:srgbClr val="FFCA05"/>
                </a:solidFill>
                <a:latin typeface="Arial"/>
                <a:ea typeface="Arial"/>
                <a:cs typeface="Arial"/>
              </a:defRPr>
            </a:lvl2pPr>
            <a:lvl3pPr algn="ctr">
              <a:defRPr sz="1275" b="1" i="0">
                <a:solidFill>
                  <a:srgbClr val="FFCA05"/>
                </a:solidFill>
                <a:latin typeface="Arial"/>
                <a:ea typeface="Arial"/>
                <a:cs typeface="Arial"/>
              </a:defRPr>
            </a:lvl3pPr>
            <a:lvl4pPr algn="ctr">
              <a:defRPr sz="1275" b="1" i="0">
                <a:solidFill>
                  <a:srgbClr val="FFCA05"/>
                </a:solidFill>
                <a:latin typeface="Arial"/>
                <a:ea typeface="Arial"/>
                <a:cs typeface="Arial"/>
              </a:defRPr>
            </a:lvl4pPr>
            <a:lvl5pPr algn="ctr">
              <a:defRPr sz="1275" b="1" i="0">
                <a:solidFill>
                  <a:srgbClr val="FFCA05"/>
                </a:solidFill>
                <a:latin typeface="Arial"/>
                <a:ea typeface="Arial"/>
                <a:cs typeface="Arial"/>
              </a:defRPr>
            </a:lvl5pPr>
            <a:lvl6pPr algn="ctr">
              <a:defRPr sz="1275" b="1" i="0">
                <a:solidFill>
                  <a:srgbClr val="FFCA05"/>
                </a:solidFill>
                <a:latin typeface="Arial"/>
                <a:ea typeface="Arial"/>
                <a:cs typeface="Arial"/>
              </a:defRPr>
            </a:lvl6pPr>
            <a:lvl7pPr algn="ctr">
              <a:defRPr sz="1275" b="1" i="0">
                <a:solidFill>
                  <a:srgbClr val="FFCA05"/>
                </a:solidFill>
                <a:latin typeface="Arial"/>
                <a:ea typeface="Arial"/>
                <a:cs typeface="Arial"/>
              </a:defRPr>
            </a:lvl7pPr>
            <a:lvl8pPr algn="ctr">
              <a:defRPr sz="1275" b="1" i="0">
                <a:solidFill>
                  <a:srgbClr val="FFCA05"/>
                </a:solidFill>
                <a:latin typeface="Arial"/>
                <a:ea typeface="Arial"/>
                <a:cs typeface="Arial"/>
              </a:defRPr>
            </a:lvl8pPr>
            <a:lvl9pPr algn="ctr">
              <a:defRPr sz="1275" b="1" i="0">
                <a:solidFill>
                  <a:srgbClr val="FFCA05"/>
                </a:solidFill>
                <a:latin typeface="Arial"/>
                <a:ea typeface="Arial"/>
                <a:cs typeface="Arial"/>
              </a:defRPr>
            </a:lvl9pPr>
          </a:lstStyle>
          <a:p xmlns:a="http://schemas.openxmlformats.org/drawingml/2006/main">
            <a:pPr algn="ctr">
              <a:defRPr sz="1275" b="1" i="0">
                <a:solidFill>
                  <a:srgbClr val="FFCA05"/>
                </a:solidFill>
                <a:latin typeface="Arial"/>
                <a:ea typeface="Arial"/>
                <a:cs typeface="Arial"/>
              </a:defRPr>
            </a:pPr>
            <a:r>
              <a:rPr sz="1275" b="1" i="0">
                <a:solidFill>
                  <a:srgbClr val="FFCA05"/>
                </a:solidFill>
                <a:latin typeface="Arial"/>
                <a:ea typeface="Arial"/>
                <a:cs typeface="Arial"/>
              </a:rPr>
              <a:t>PROGRESSION</a:t>
            </a:r>
          </a:p>
        </p:txBody>
      </p:sp>
      <p:sp>
        <p:nvSpPr>
          <p:cNvPr id="12" name="">
            <a:extLst xmlns:a="http://schemas.openxmlformats.org/drawingml/2006/main">
              <a:ext uri="{FF2B5EF4-FFF2-40B4-BE49-F238E27FC236}">
                <a16:creationId xmlns:a16="http://schemas.microsoft.com/office/drawing/2014/main" id="{CDCAFA95-D59D-4C23-9833-F1284A78A9EA}"/>
              </a:ext>
            </a:extLst>
          </p:cNvPr>
          <p:cNvSpPr>
            <a:spLocks xmlns:a="http://schemas.openxmlformats.org/drawingml/2006/main" noGrp="1"/>
          </p:cNvSpPr>
          <p:nvPr/>
        </p:nvSpPr>
        <p:spPr>
          <a:xfrm xmlns:a="http://schemas.openxmlformats.org/drawingml/2006/main">
            <a:off x="628650" y="3619500"/>
            <a:ext cx="10287000" cy="66675"/>
          </a:xfrm>
          <a:prstGeom xmlns:a="http://schemas.openxmlformats.org/drawingml/2006/main" prst="rect">
            <a:avLst/>
          </a:prstGeom>
          <a:solidFill xmlns:a="http://schemas.openxmlformats.org/drawingml/2006/main">
            <a:srgbClr val="FFCA05">
              <a:alpha val="100000"/>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247E710-C49F-4722-957E-C48B1DFF8867}"/>
              </a:ext>
            </a:extLst>
          </p:cNvPr>
          <p:cNvSpPr>
            <a:spLocks xmlns:a="http://schemas.openxmlformats.org/drawingml/2006/main" noGrp="1"/>
          </p:cNvSpPr>
          <p:nvPr/>
        </p:nvSpPr>
        <p:spPr>
          <a:xfrm xmlns:a="http://schemas.openxmlformats.org/drawingml/2006/main">
            <a:off x="628650" y="40957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FFFFFF"/>
                </a:solidFill>
                <a:latin typeface="Arial"/>
                <a:ea typeface="Arial"/>
                <a:cs typeface="Arial"/>
              </a:defRPr>
            </a:defPPr>
            <a:lvl1pPr algn="l">
              <a:defRPr sz="2250" b="1" i="0">
                <a:solidFill>
                  <a:srgbClr val="FFFFFF"/>
                </a:solidFill>
                <a:latin typeface="Arial"/>
                <a:ea typeface="Arial"/>
                <a:cs typeface="Arial"/>
              </a:defRPr>
            </a:lvl1pPr>
            <a:lvl2pPr algn="l">
              <a:defRPr sz="2250" b="1" i="0">
                <a:solidFill>
                  <a:srgbClr val="FFFFFF"/>
                </a:solidFill>
                <a:latin typeface="Arial"/>
                <a:ea typeface="Arial"/>
                <a:cs typeface="Arial"/>
              </a:defRPr>
            </a:lvl2pPr>
            <a:lvl3pPr algn="l">
              <a:defRPr sz="2250" b="1" i="0">
                <a:solidFill>
                  <a:srgbClr val="FFFFFF"/>
                </a:solidFill>
                <a:latin typeface="Arial"/>
                <a:ea typeface="Arial"/>
                <a:cs typeface="Arial"/>
              </a:defRPr>
            </a:lvl3pPr>
            <a:lvl4pPr algn="l">
              <a:defRPr sz="2250" b="1" i="0">
                <a:solidFill>
                  <a:srgbClr val="FFFFFF"/>
                </a:solidFill>
                <a:latin typeface="Arial"/>
                <a:ea typeface="Arial"/>
                <a:cs typeface="Arial"/>
              </a:defRPr>
            </a:lvl4pPr>
            <a:lvl5pPr algn="l">
              <a:defRPr sz="2250" b="1" i="0">
                <a:solidFill>
                  <a:srgbClr val="FFFFFF"/>
                </a:solidFill>
                <a:latin typeface="Arial"/>
                <a:ea typeface="Arial"/>
                <a:cs typeface="Arial"/>
              </a:defRPr>
            </a:lvl5pPr>
            <a:lvl6pPr algn="l">
              <a:defRPr sz="2250" b="1" i="0">
                <a:solidFill>
                  <a:srgbClr val="FFFFFF"/>
                </a:solidFill>
                <a:latin typeface="Arial"/>
                <a:ea typeface="Arial"/>
                <a:cs typeface="Arial"/>
              </a:defRPr>
            </a:lvl6pPr>
            <a:lvl7pPr algn="l">
              <a:defRPr sz="2250" b="1" i="0">
                <a:solidFill>
                  <a:srgbClr val="FFFFFF"/>
                </a:solidFill>
                <a:latin typeface="Arial"/>
                <a:ea typeface="Arial"/>
                <a:cs typeface="Arial"/>
              </a:defRPr>
            </a:lvl7pPr>
            <a:lvl8pPr algn="l">
              <a:defRPr sz="2250" b="1" i="0">
                <a:solidFill>
                  <a:srgbClr val="FFFFFF"/>
                </a:solidFill>
                <a:latin typeface="Arial"/>
                <a:ea typeface="Arial"/>
                <a:cs typeface="Arial"/>
              </a:defRPr>
            </a:lvl8pPr>
            <a:lvl9pPr algn="l">
              <a:defRPr sz="2250" b="1" i="0">
                <a:solidFill>
                  <a:srgbClr val="FFFFFF"/>
                </a:solidFill>
                <a:latin typeface="Arial"/>
                <a:ea typeface="Arial"/>
                <a:cs typeface="Arial"/>
              </a:defRPr>
            </a:lvl9pPr>
          </a:lstStyle>
          <a:p xmlns:a="http://schemas.openxmlformats.org/drawingml/2006/main">
            <a:pPr algn="l">
              <a:defRPr sz="2250" b="1" i="0">
                <a:solidFill>
                  <a:srgbClr val="FFFFFF"/>
                </a:solidFill>
                <a:latin typeface="Arial"/>
                <a:ea typeface="Arial"/>
                <a:cs typeface="Arial"/>
              </a:defRPr>
            </a:pPr>
            <a:r>
              <a:rPr sz="2250" b="1" i="0">
                <a:solidFill>
                  <a:srgbClr val="FFFFFF"/>
                </a:solidFill>
                <a:latin typeface="Arial"/>
                <a:ea typeface="Arial"/>
                <a:cs typeface="Arial"/>
              </a:rPr>
              <a:t>A measurable growth relationship — not a financial forecast.</a:t>
            </a:r>
          </a:p>
        </p:txBody>
      </p:sp>
      <p:sp>
        <p:nvSpPr>
          <p:cNvPr id="14" name="">
            <a:extLst xmlns:a="http://schemas.openxmlformats.org/drawingml/2006/main">
              <a:ext uri="{FF2B5EF4-FFF2-40B4-BE49-F238E27FC236}">
                <a16:creationId xmlns:a16="http://schemas.microsoft.com/office/drawing/2014/main" id="{5DD6F981-DF2D-4AB4-A690-BBD6D76F4E78}"/>
              </a:ext>
            </a:extLst>
          </p:cNvPr>
          <p:cNvSpPr>
            <a:spLocks xmlns:a="http://schemas.openxmlformats.org/drawingml/2006/main" noGrp="1"/>
          </p:cNvSpPr>
          <p:nvPr/>
        </p:nvSpPr>
        <p:spPr>
          <a:xfrm xmlns:a="http://schemas.openxmlformats.org/drawingml/2006/main">
            <a:off x="628650" y="49530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FFFFFF"/>
                </a:solidFill>
                <a:latin typeface="Arial"/>
                <a:ea typeface="Arial"/>
                <a:cs typeface="Arial"/>
              </a:defRPr>
            </a:defPPr>
            <a:lvl1pPr algn="l">
              <a:defRPr sz="1575" b="0" i="0">
                <a:solidFill>
                  <a:srgbClr val="FFFFFF"/>
                </a:solidFill>
                <a:latin typeface="Arial"/>
                <a:ea typeface="Arial"/>
                <a:cs typeface="Arial"/>
              </a:defRPr>
            </a:lvl1pPr>
            <a:lvl2pPr algn="l">
              <a:defRPr sz="1575" b="0" i="0">
                <a:solidFill>
                  <a:srgbClr val="FFFFFF"/>
                </a:solidFill>
                <a:latin typeface="Arial"/>
                <a:ea typeface="Arial"/>
                <a:cs typeface="Arial"/>
              </a:defRPr>
            </a:lvl2pPr>
            <a:lvl3pPr algn="l">
              <a:defRPr sz="1575" b="0" i="0">
                <a:solidFill>
                  <a:srgbClr val="FFFFFF"/>
                </a:solidFill>
                <a:latin typeface="Arial"/>
                <a:ea typeface="Arial"/>
                <a:cs typeface="Arial"/>
              </a:defRPr>
            </a:lvl3pPr>
            <a:lvl4pPr algn="l">
              <a:defRPr sz="1575" b="0" i="0">
                <a:solidFill>
                  <a:srgbClr val="FFFFFF"/>
                </a:solidFill>
                <a:latin typeface="Arial"/>
                <a:ea typeface="Arial"/>
                <a:cs typeface="Arial"/>
              </a:defRPr>
            </a:lvl4pPr>
            <a:lvl5pPr algn="l">
              <a:defRPr sz="1575" b="0" i="0">
                <a:solidFill>
                  <a:srgbClr val="FFFFFF"/>
                </a:solidFill>
                <a:latin typeface="Arial"/>
                <a:ea typeface="Arial"/>
                <a:cs typeface="Arial"/>
              </a:defRPr>
            </a:lvl5pPr>
            <a:lvl6pPr algn="l">
              <a:defRPr sz="1575" b="0" i="0">
                <a:solidFill>
                  <a:srgbClr val="FFFFFF"/>
                </a:solidFill>
                <a:latin typeface="Arial"/>
                <a:ea typeface="Arial"/>
                <a:cs typeface="Arial"/>
              </a:defRPr>
            </a:lvl6pPr>
            <a:lvl7pPr algn="l">
              <a:defRPr sz="1575" b="0" i="0">
                <a:solidFill>
                  <a:srgbClr val="FFFFFF"/>
                </a:solidFill>
                <a:latin typeface="Arial"/>
                <a:ea typeface="Arial"/>
                <a:cs typeface="Arial"/>
              </a:defRPr>
            </a:lvl7pPr>
            <a:lvl8pPr algn="l">
              <a:defRPr sz="1575" b="0" i="0">
                <a:solidFill>
                  <a:srgbClr val="FFFFFF"/>
                </a:solidFill>
                <a:latin typeface="Arial"/>
                <a:ea typeface="Arial"/>
                <a:cs typeface="Arial"/>
              </a:defRPr>
            </a:lvl8pPr>
            <a:lvl9pPr algn="l">
              <a:defRPr sz="1575" b="0" i="0">
                <a:solidFill>
                  <a:srgbClr val="FFFFFF"/>
                </a:solidFill>
                <a:latin typeface="Arial"/>
                <a:ea typeface="Arial"/>
                <a:cs typeface="Arial"/>
              </a:defRPr>
            </a:lvl9pPr>
          </a:lstStyle>
          <a:p xmlns:a="http://schemas.openxmlformats.org/drawingml/2006/main">
            <a:pPr algn="l">
              <a:defRPr sz="1575" b="0" i="0">
                <a:solidFill>
                  <a:srgbClr val="FFFFFF"/>
                </a:solidFill>
                <a:latin typeface="Arial"/>
                <a:ea typeface="Arial"/>
                <a:cs typeface="Arial"/>
              </a:defRPr>
            </a:pPr>
            <a:r>
              <a:rPr sz="1575" b="0" i="0">
                <a:solidFill>
                  <a:srgbClr val="FFFFFF"/>
                </a:solidFill>
                <a:latin typeface="Arial"/>
                <a:ea typeface="Arial"/>
                <a:cs typeface="Arial"/>
              </a:rPr>
              <a:t>Replace every term with first-party baselines; test the sequence; scale only what improves durable customer value.</a:t>
            </a:r>
          </a:p>
        </p:txBody>
      </p:sp>
      <p:sp>
        <p:nvSpPr>
          <p:cNvPr id="15" name="">
            <a:extLst xmlns:a="http://schemas.openxmlformats.org/drawingml/2006/main">
              <a:ext uri="{FF2B5EF4-FFF2-40B4-BE49-F238E27FC236}">
                <a16:creationId xmlns:a16="http://schemas.microsoft.com/office/drawing/2014/main" id="{37420247-B9B5-480E-BC1D-677D787C53ED}"/>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E665D"/>
                </a:solidFill>
                <a:latin typeface="Arial"/>
                <a:ea typeface="Arial"/>
                <a:cs typeface="Arial"/>
              </a:defRPr>
            </a:defPPr>
            <a:lvl1pPr algn="l">
              <a:defRPr sz="675" b="1" i="0">
                <a:solidFill>
                  <a:srgbClr val="6E665D"/>
                </a:solidFill>
                <a:latin typeface="Arial"/>
                <a:ea typeface="Arial"/>
                <a:cs typeface="Arial"/>
              </a:defRPr>
            </a:lvl1pPr>
            <a:lvl2pPr algn="l">
              <a:defRPr sz="675" b="1" i="0">
                <a:solidFill>
                  <a:srgbClr val="6E665D"/>
                </a:solidFill>
                <a:latin typeface="Arial"/>
                <a:ea typeface="Arial"/>
                <a:cs typeface="Arial"/>
              </a:defRPr>
            </a:lvl2pPr>
            <a:lvl3pPr algn="l">
              <a:defRPr sz="675" b="1" i="0">
                <a:solidFill>
                  <a:srgbClr val="6E665D"/>
                </a:solidFill>
                <a:latin typeface="Arial"/>
                <a:ea typeface="Arial"/>
                <a:cs typeface="Arial"/>
              </a:defRPr>
            </a:lvl3pPr>
            <a:lvl4pPr algn="l">
              <a:defRPr sz="675" b="1" i="0">
                <a:solidFill>
                  <a:srgbClr val="6E665D"/>
                </a:solidFill>
                <a:latin typeface="Arial"/>
                <a:ea typeface="Arial"/>
                <a:cs typeface="Arial"/>
              </a:defRPr>
            </a:lvl4pPr>
            <a:lvl5pPr algn="l">
              <a:defRPr sz="675" b="1" i="0">
                <a:solidFill>
                  <a:srgbClr val="6E665D"/>
                </a:solidFill>
                <a:latin typeface="Arial"/>
                <a:ea typeface="Arial"/>
                <a:cs typeface="Arial"/>
              </a:defRPr>
            </a:lvl5pPr>
            <a:lvl6pPr algn="l">
              <a:defRPr sz="675" b="1" i="0">
                <a:solidFill>
                  <a:srgbClr val="6E665D"/>
                </a:solidFill>
                <a:latin typeface="Arial"/>
                <a:ea typeface="Arial"/>
                <a:cs typeface="Arial"/>
              </a:defRPr>
            </a:lvl6pPr>
            <a:lvl7pPr algn="l">
              <a:defRPr sz="675" b="1" i="0">
                <a:solidFill>
                  <a:srgbClr val="6E665D"/>
                </a:solidFill>
                <a:latin typeface="Arial"/>
                <a:ea typeface="Arial"/>
                <a:cs typeface="Arial"/>
              </a:defRPr>
            </a:lvl7pPr>
            <a:lvl8pPr algn="l">
              <a:defRPr sz="675" b="1" i="0">
                <a:solidFill>
                  <a:srgbClr val="6E665D"/>
                </a:solidFill>
                <a:latin typeface="Arial"/>
                <a:ea typeface="Arial"/>
                <a:cs typeface="Arial"/>
              </a:defRPr>
            </a:lvl8pPr>
            <a:lvl9pPr algn="l">
              <a:defRPr sz="675" b="1" i="0">
                <a:solidFill>
                  <a:srgbClr val="6E665D"/>
                </a:solidFill>
                <a:latin typeface="Arial"/>
                <a:ea typeface="Arial"/>
                <a:cs typeface="Arial"/>
              </a:defRPr>
            </a:lvl9pPr>
          </a:lstStyle>
          <a:p xmlns:a="http://schemas.openxmlformats.org/drawingml/2006/main">
            <a:pPr algn="l">
              <a:defRPr sz="675" b="1" i="0">
                <a:solidFill>
                  <a:srgbClr val="6E665D"/>
                </a:solidFill>
                <a:latin typeface="Arial"/>
                <a:ea typeface="Arial"/>
                <a:cs typeface="Arial"/>
              </a:defRPr>
            </a:pPr>
            <a:r>
              <a:rPr sz="675" b="1" i="0">
                <a:solidFill>
                  <a:srgbClr val="6E665D"/>
                </a:solidFill>
                <a:latin typeface="Arial"/>
                <a:ea typeface="Arial"/>
                <a:cs typeface="Arial"/>
              </a:rPr>
              <a:t>FIELDWORK / RAVE COFFEE / INTERNAL CALIBRATION</a:t>
            </a:r>
          </a:p>
        </p:txBody>
      </p:sp>
      <p:sp>
        <p:nvSpPr>
          <p:cNvPr id="16" name="">
            <a:extLst xmlns:a="http://schemas.openxmlformats.org/drawingml/2006/main">
              <a:ext uri="{FF2B5EF4-FFF2-40B4-BE49-F238E27FC236}">
                <a16:creationId xmlns:a16="http://schemas.microsoft.com/office/drawing/2014/main" id="{4D750E05-CF9F-41FB-8C88-A3A7965ED7EE}"/>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MODELLED MECHANISM / NO £ FORECAST</a:t>
            </a:r>
          </a:p>
        </p:txBody>
      </p:sp>
      <p:sp>
        <p:nvSpPr>
          <p:cNvPr id="17" name="">
            <a:extLst xmlns:a="http://schemas.openxmlformats.org/drawingml/2006/main">
              <a:ext uri="{FF2B5EF4-FFF2-40B4-BE49-F238E27FC236}">
                <a16:creationId xmlns:a16="http://schemas.microsoft.com/office/drawing/2014/main" id="{BB48AC39-3F9F-4B0A-930D-A2403E1D5667}"/>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02 / 05</a:t>
            </a:r>
          </a:p>
        </p:txBody>
      </p:sp>
    </p:spTree>
    <p:extLst>
      <p:ext uri="{BB962C8B-B14F-4D97-AF65-F5344CB8AC3E}">
        <p14:creationId xmlns:p14="http://schemas.microsoft.com/office/powerpoint/2010/main" val="1935462338"/>
      </p:ext>
    </p:extLst>
  </p:cSld>
</p:sld>
</file>

<file path=ppt/slides/slide3.xml><?xml version="1.0" encoding="utf-8"?>
<p:sld xmlns:p="http://schemas.openxmlformats.org/presentationml/2006/main">
  <p:cSld>
    <p:bg>
      <p:bgPr>
        <a:solidFill xmlns:a="http://schemas.openxmlformats.org/drawingml/2006/main">
          <a:srgbClr val="F5EFE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80006BA-67AA-42B4-A9C4-8ECBA2565A9B}"/>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03 / THE GROWTH LEVERS</a:t>
            </a:r>
          </a:p>
        </p:txBody>
      </p:sp>
      <p:sp>
        <p:nvSpPr>
          <p:cNvPr id="2" name="">
            <a:extLst xmlns:a="http://schemas.openxmlformats.org/drawingml/2006/main">
              <a:ext uri="{FF2B5EF4-FFF2-40B4-BE49-F238E27FC236}">
                <a16:creationId xmlns:a16="http://schemas.microsoft.com/office/drawing/2014/main" id="{A86BD07B-93F0-4B50-B4E9-0F9B32F5725D}"/>
              </a:ext>
            </a:extLst>
          </p:cNvPr>
          <p:cNvSpPr>
            <a:spLocks xmlns:a="http://schemas.openxmlformats.org/drawingml/2006/main" noGrp="1"/>
          </p:cNvSpPr>
          <p:nvPr/>
        </p:nvSpPr>
        <p:spPr>
          <a:xfrm xmlns:a="http://schemas.openxmlformats.org/drawingml/2006/main">
            <a:off x="590550" y="876300"/>
            <a:ext cx="876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225" b="1" i="0">
                <a:solidFill>
                  <a:srgbClr val="17130F"/>
                </a:solidFill>
                <a:latin typeface="Arial"/>
                <a:ea typeface="Arial"/>
                <a:cs typeface="Arial"/>
              </a:defRPr>
            </a:defPPr>
            <a:lvl1pPr algn="l">
              <a:defRPr sz="3225" b="1" i="0">
                <a:solidFill>
                  <a:srgbClr val="17130F"/>
                </a:solidFill>
                <a:latin typeface="Arial"/>
                <a:ea typeface="Arial"/>
                <a:cs typeface="Arial"/>
              </a:defRPr>
            </a:lvl1pPr>
            <a:lvl2pPr algn="l">
              <a:defRPr sz="3225" b="1" i="0">
                <a:solidFill>
                  <a:srgbClr val="17130F"/>
                </a:solidFill>
                <a:latin typeface="Arial"/>
                <a:ea typeface="Arial"/>
                <a:cs typeface="Arial"/>
              </a:defRPr>
            </a:lvl2pPr>
            <a:lvl3pPr algn="l">
              <a:defRPr sz="3225" b="1" i="0">
                <a:solidFill>
                  <a:srgbClr val="17130F"/>
                </a:solidFill>
                <a:latin typeface="Arial"/>
                <a:ea typeface="Arial"/>
                <a:cs typeface="Arial"/>
              </a:defRPr>
            </a:lvl3pPr>
            <a:lvl4pPr algn="l">
              <a:defRPr sz="3225" b="1" i="0">
                <a:solidFill>
                  <a:srgbClr val="17130F"/>
                </a:solidFill>
                <a:latin typeface="Arial"/>
                <a:ea typeface="Arial"/>
                <a:cs typeface="Arial"/>
              </a:defRPr>
            </a:lvl4pPr>
            <a:lvl5pPr algn="l">
              <a:defRPr sz="3225" b="1" i="0">
                <a:solidFill>
                  <a:srgbClr val="17130F"/>
                </a:solidFill>
                <a:latin typeface="Arial"/>
                <a:ea typeface="Arial"/>
                <a:cs typeface="Arial"/>
              </a:defRPr>
            </a:lvl5pPr>
            <a:lvl6pPr algn="l">
              <a:defRPr sz="3225" b="1" i="0">
                <a:solidFill>
                  <a:srgbClr val="17130F"/>
                </a:solidFill>
                <a:latin typeface="Arial"/>
                <a:ea typeface="Arial"/>
                <a:cs typeface="Arial"/>
              </a:defRPr>
            </a:lvl6pPr>
            <a:lvl7pPr algn="l">
              <a:defRPr sz="3225" b="1" i="0">
                <a:solidFill>
                  <a:srgbClr val="17130F"/>
                </a:solidFill>
                <a:latin typeface="Arial"/>
                <a:ea typeface="Arial"/>
                <a:cs typeface="Arial"/>
              </a:defRPr>
            </a:lvl7pPr>
            <a:lvl8pPr algn="l">
              <a:defRPr sz="3225" b="1" i="0">
                <a:solidFill>
                  <a:srgbClr val="17130F"/>
                </a:solidFill>
                <a:latin typeface="Arial"/>
                <a:ea typeface="Arial"/>
                <a:cs typeface="Arial"/>
              </a:defRPr>
            </a:lvl8pPr>
            <a:lvl9pPr algn="l">
              <a:defRPr sz="3225" b="1" i="0">
                <a:solidFill>
                  <a:srgbClr val="17130F"/>
                </a:solidFill>
                <a:latin typeface="Arial"/>
                <a:ea typeface="Arial"/>
                <a:cs typeface="Arial"/>
              </a:defRPr>
            </a:lvl9pPr>
          </a:lstStyle>
          <a:p xmlns:a="http://schemas.openxmlformats.org/drawingml/2006/main">
            <a:pPr algn="l">
              <a:defRPr sz="3225" b="1" i="0">
                <a:solidFill>
                  <a:srgbClr val="17130F"/>
                </a:solidFill>
                <a:latin typeface="Arial"/>
                <a:ea typeface="Arial"/>
                <a:cs typeface="Arial"/>
              </a:defRPr>
            </a:pPr>
            <a:r>
              <a:rPr sz="3225" b="1" i="0">
                <a:solidFill>
                  <a:srgbClr val="17130F"/>
                </a:solidFill>
                <a:latin typeface="Arial"/>
                <a:ea typeface="Arial"/>
                <a:cs typeface="Arial"/>
              </a:rPr>
              <a:t>Four levers. One order of operations.</a:t>
            </a:r>
          </a:p>
        </p:txBody>
      </p:sp>
      <p:sp>
        <p:nvSpPr>
          <p:cNvPr id="3" name="">
            <a:extLst xmlns:a="http://schemas.openxmlformats.org/drawingml/2006/main">
              <a:ext uri="{FF2B5EF4-FFF2-40B4-BE49-F238E27FC236}">
                <a16:creationId xmlns:a16="http://schemas.microsoft.com/office/drawing/2014/main" id="{7348DEE8-42D6-41E1-BF17-3596D86C4C3D}"/>
              </a:ext>
            </a:extLst>
          </p:cNvPr>
          <p:cNvSpPr>
            <a:spLocks xmlns:a="http://schemas.openxmlformats.org/drawingml/2006/main" noGrp="1"/>
          </p:cNvSpPr>
          <p:nvPr/>
        </p:nvSpPr>
        <p:spPr>
          <a:xfrm xmlns:a="http://schemas.openxmlformats.org/drawingml/2006/main">
            <a:off x="590550" y="20002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38A3"/>
                </a:solidFill>
                <a:latin typeface="Arial"/>
                <a:ea typeface="Arial"/>
                <a:cs typeface="Arial"/>
              </a:defRPr>
            </a:defPPr>
            <a:lvl1pPr algn="l">
              <a:defRPr sz="1275" b="1" i="0">
                <a:solidFill>
                  <a:srgbClr val="1738A3"/>
                </a:solidFill>
                <a:latin typeface="Arial"/>
                <a:ea typeface="Arial"/>
                <a:cs typeface="Arial"/>
              </a:defRPr>
            </a:lvl1pPr>
            <a:lvl2pPr algn="l">
              <a:defRPr sz="1275" b="1" i="0">
                <a:solidFill>
                  <a:srgbClr val="1738A3"/>
                </a:solidFill>
                <a:latin typeface="Arial"/>
                <a:ea typeface="Arial"/>
                <a:cs typeface="Arial"/>
              </a:defRPr>
            </a:lvl2pPr>
            <a:lvl3pPr algn="l">
              <a:defRPr sz="1275" b="1" i="0">
                <a:solidFill>
                  <a:srgbClr val="1738A3"/>
                </a:solidFill>
                <a:latin typeface="Arial"/>
                <a:ea typeface="Arial"/>
                <a:cs typeface="Arial"/>
              </a:defRPr>
            </a:lvl3pPr>
            <a:lvl4pPr algn="l">
              <a:defRPr sz="1275" b="1" i="0">
                <a:solidFill>
                  <a:srgbClr val="1738A3"/>
                </a:solidFill>
                <a:latin typeface="Arial"/>
                <a:ea typeface="Arial"/>
                <a:cs typeface="Arial"/>
              </a:defRPr>
            </a:lvl4pPr>
            <a:lvl5pPr algn="l">
              <a:defRPr sz="1275" b="1" i="0">
                <a:solidFill>
                  <a:srgbClr val="1738A3"/>
                </a:solidFill>
                <a:latin typeface="Arial"/>
                <a:ea typeface="Arial"/>
                <a:cs typeface="Arial"/>
              </a:defRPr>
            </a:lvl5pPr>
            <a:lvl6pPr algn="l">
              <a:defRPr sz="1275" b="1" i="0">
                <a:solidFill>
                  <a:srgbClr val="1738A3"/>
                </a:solidFill>
                <a:latin typeface="Arial"/>
                <a:ea typeface="Arial"/>
                <a:cs typeface="Arial"/>
              </a:defRPr>
            </a:lvl6pPr>
            <a:lvl7pPr algn="l">
              <a:defRPr sz="1275" b="1" i="0">
                <a:solidFill>
                  <a:srgbClr val="1738A3"/>
                </a:solidFill>
                <a:latin typeface="Arial"/>
                <a:ea typeface="Arial"/>
                <a:cs typeface="Arial"/>
              </a:defRPr>
            </a:lvl7pPr>
            <a:lvl8pPr algn="l">
              <a:defRPr sz="1275" b="1" i="0">
                <a:solidFill>
                  <a:srgbClr val="1738A3"/>
                </a:solidFill>
                <a:latin typeface="Arial"/>
                <a:ea typeface="Arial"/>
                <a:cs typeface="Arial"/>
              </a:defRPr>
            </a:lvl8pPr>
            <a:lvl9pPr algn="l">
              <a:defRPr sz="1275" b="1" i="0">
                <a:solidFill>
                  <a:srgbClr val="1738A3"/>
                </a:solidFill>
                <a:latin typeface="Arial"/>
                <a:ea typeface="Arial"/>
                <a:cs typeface="Arial"/>
              </a:defRPr>
            </a:lvl9pPr>
          </a:lstStyle>
          <a:p xmlns:a="http://schemas.openxmlformats.org/drawingml/2006/main">
            <a:pPr algn="l">
              <a:defRPr sz="1275" b="1" i="0">
                <a:solidFill>
                  <a:srgbClr val="1738A3"/>
                </a:solidFill>
                <a:latin typeface="Arial"/>
                <a:ea typeface="Arial"/>
                <a:cs typeface="Arial"/>
              </a:defRPr>
            </a:pPr>
            <a:r>
              <a:rPr sz="1275" b="1" i="0">
                <a:solidFill>
                  <a:srgbClr val="1738A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D77F1BC-245F-42D3-A557-6317483794A8}"/>
              </a:ext>
            </a:extLst>
          </p:cNvPr>
          <p:cNvSpPr>
            <a:spLocks xmlns:a="http://schemas.openxmlformats.org/drawingml/2006/main" noGrp="1"/>
          </p:cNvSpPr>
          <p:nvPr/>
        </p:nvSpPr>
        <p:spPr>
          <a:xfrm xmlns:a="http://schemas.openxmlformats.org/drawingml/2006/main">
            <a:off x="1352550" y="20002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130F"/>
                </a:solidFill>
                <a:latin typeface="Arial"/>
                <a:ea typeface="Arial"/>
                <a:cs typeface="Arial"/>
              </a:defRPr>
            </a:defPPr>
            <a:lvl1pPr algn="l">
              <a:defRPr sz="1275" b="1" i="0">
                <a:solidFill>
                  <a:srgbClr val="17130F"/>
                </a:solidFill>
                <a:latin typeface="Arial"/>
                <a:ea typeface="Arial"/>
                <a:cs typeface="Arial"/>
              </a:defRPr>
            </a:lvl1pPr>
            <a:lvl2pPr algn="l">
              <a:defRPr sz="1275" b="1" i="0">
                <a:solidFill>
                  <a:srgbClr val="17130F"/>
                </a:solidFill>
                <a:latin typeface="Arial"/>
                <a:ea typeface="Arial"/>
                <a:cs typeface="Arial"/>
              </a:defRPr>
            </a:lvl2pPr>
            <a:lvl3pPr algn="l">
              <a:defRPr sz="1275" b="1" i="0">
                <a:solidFill>
                  <a:srgbClr val="17130F"/>
                </a:solidFill>
                <a:latin typeface="Arial"/>
                <a:ea typeface="Arial"/>
                <a:cs typeface="Arial"/>
              </a:defRPr>
            </a:lvl3pPr>
            <a:lvl4pPr algn="l">
              <a:defRPr sz="1275" b="1" i="0">
                <a:solidFill>
                  <a:srgbClr val="17130F"/>
                </a:solidFill>
                <a:latin typeface="Arial"/>
                <a:ea typeface="Arial"/>
                <a:cs typeface="Arial"/>
              </a:defRPr>
            </a:lvl4pPr>
            <a:lvl5pPr algn="l">
              <a:defRPr sz="1275" b="1" i="0">
                <a:solidFill>
                  <a:srgbClr val="17130F"/>
                </a:solidFill>
                <a:latin typeface="Arial"/>
                <a:ea typeface="Arial"/>
                <a:cs typeface="Arial"/>
              </a:defRPr>
            </a:lvl5pPr>
            <a:lvl6pPr algn="l">
              <a:defRPr sz="1275" b="1" i="0">
                <a:solidFill>
                  <a:srgbClr val="17130F"/>
                </a:solidFill>
                <a:latin typeface="Arial"/>
                <a:ea typeface="Arial"/>
                <a:cs typeface="Arial"/>
              </a:defRPr>
            </a:lvl6pPr>
            <a:lvl7pPr algn="l">
              <a:defRPr sz="1275" b="1" i="0">
                <a:solidFill>
                  <a:srgbClr val="17130F"/>
                </a:solidFill>
                <a:latin typeface="Arial"/>
                <a:ea typeface="Arial"/>
                <a:cs typeface="Arial"/>
              </a:defRPr>
            </a:lvl7pPr>
            <a:lvl8pPr algn="l">
              <a:defRPr sz="1275" b="1" i="0">
                <a:solidFill>
                  <a:srgbClr val="17130F"/>
                </a:solidFill>
                <a:latin typeface="Arial"/>
                <a:ea typeface="Arial"/>
                <a:cs typeface="Arial"/>
              </a:defRPr>
            </a:lvl8pPr>
            <a:lvl9pPr algn="l">
              <a:defRPr sz="1275" b="1" i="0">
                <a:solidFill>
                  <a:srgbClr val="17130F"/>
                </a:solidFill>
                <a:latin typeface="Arial"/>
                <a:ea typeface="Arial"/>
                <a:cs typeface="Arial"/>
              </a:defRPr>
            </a:lvl9pPr>
          </a:lstStyle>
          <a:p xmlns:a="http://schemas.openxmlformats.org/drawingml/2006/main">
            <a:pPr algn="l">
              <a:defRPr sz="1275" b="1" i="0">
                <a:solidFill>
                  <a:srgbClr val="17130F"/>
                </a:solidFill>
                <a:latin typeface="Arial"/>
                <a:ea typeface="Arial"/>
                <a:cs typeface="Arial"/>
              </a:defRPr>
            </a:pPr>
            <a:r>
              <a:rPr sz="1275" b="1" i="0">
                <a:solidFill>
                  <a:srgbClr val="17130F"/>
                </a:solidFill>
                <a:latin typeface="Arial"/>
                <a:ea typeface="Arial"/>
                <a:cs typeface="Arial"/>
              </a:rPr>
              <a:t>ENTER</a:t>
            </a:r>
          </a:p>
        </p:txBody>
      </p:sp>
      <p:sp>
        <p:nvSpPr>
          <p:cNvPr id="5" name="">
            <a:extLst xmlns:a="http://schemas.openxmlformats.org/drawingml/2006/main">
              <a:ext uri="{FF2B5EF4-FFF2-40B4-BE49-F238E27FC236}">
                <a16:creationId xmlns:a16="http://schemas.microsoft.com/office/drawing/2014/main" id="{5A459E90-464C-40B6-9D51-7250B08C8770}"/>
              </a:ext>
            </a:extLst>
          </p:cNvPr>
          <p:cNvSpPr>
            <a:spLocks xmlns:a="http://schemas.openxmlformats.org/drawingml/2006/main" noGrp="1"/>
          </p:cNvSpPr>
          <p:nvPr/>
        </p:nvSpPr>
        <p:spPr>
          <a:xfrm xmlns:a="http://schemas.openxmlformats.org/drawingml/2006/main">
            <a:off x="3143250" y="19621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7130F"/>
                </a:solidFill>
                <a:latin typeface="Arial"/>
                <a:ea typeface="Arial"/>
                <a:cs typeface="Arial"/>
              </a:defRPr>
            </a:defPPr>
            <a:lvl1pPr algn="l">
              <a:defRPr sz="1575" b="0" i="0">
                <a:solidFill>
                  <a:srgbClr val="17130F"/>
                </a:solidFill>
                <a:latin typeface="Arial"/>
                <a:ea typeface="Arial"/>
                <a:cs typeface="Arial"/>
              </a:defRPr>
            </a:lvl1pPr>
            <a:lvl2pPr algn="l">
              <a:defRPr sz="1575" b="0" i="0">
                <a:solidFill>
                  <a:srgbClr val="17130F"/>
                </a:solidFill>
                <a:latin typeface="Arial"/>
                <a:ea typeface="Arial"/>
                <a:cs typeface="Arial"/>
              </a:defRPr>
            </a:lvl2pPr>
            <a:lvl3pPr algn="l">
              <a:defRPr sz="1575" b="0" i="0">
                <a:solidFill>
                  <a:srgbClr val="17130F"/>
                </a:solidFill>
                <a:latin typeface="Arial"/>
                <a:ea typeface="Arial"/>
                <a:cs typeface="Arial"/>
              </a:defRPr>
            </a:lvl3pPr>
            <a:lvl4pPr algn="l">
              <a:defRPr sz="1575" b="0" i="0">
                <a:solidFill>
                  <a:srgbClr val="17130F"/>
                </a:solidFill>
                <a:latin typeface="Arial"/>
                <a:ea typeface="Arial"/>
                <a:cs typeface="Arial"/>
              </a:defRPr>
            </a:lvl4pPr>
            <a:lvl5pPr algn="l">
              <a:defRPr sz="1575" b="0" i="0">
                <a:solidFill>
                  <a:srgbClr val="17130F"/>
                </a:solidFill>
                <a:latin typeface="Arial"/>
                <a:ea typeface="Arial"/>
                <a:cs typeface="Arial"/>
              </a:defRPr>
            </a:lvl5pPr>
            <a:lvl6pPr algn="l">
              <a:defRPr sz="1575" b="0" i="0">
                <a:solidFill>
                  <a:srgbClr val="17130F"/>
                </a:solidFill>
                <a:latin typeface="Arial"/>
                <a:ea typeface="Arial"/>
                <a:cs typeface="Arial"/>
              </a:defRPr>
            </a:lvl6pPr>
            <a:lvl7pPr algn="l">
              <a:defRPr sz="1575" b="0" i="0">
                <a:solidFill>
                  <a:srgbClr val="17130F"/>
                </a:solidFill>
                <a:latin typeface="Arial"/>
                <a:ea typeface="Arial"/>
                <a:cs typeface="Arial"/>
              </a:defRPr>
            </a:lvl7pPr>
            <a:lvl8pPr algn="l">
              <a:defRPr sz="1575" b="0" i="0">
                <a:solidFill>
                  <a:srgbClr val="17130F"/>
                </a:solidFill>
                <a:latin typeface="Arial"/>
                <a:ea typeface="Arial"/>
                <a:cs typeface="Arial"/>
              </a:defRPr>
            </a:lvl8pPr>
            <a:lvl9pPr algn="l">
              <a:defRPr sz="1575" b="0" i="0">
                <a:solidFill>
                  <a:srgbClr val="17130F"/>
                </a:solidFill>
                <a:latin typeface="Arial"/>
                <a:ea typeface="Arial"/>
                <a:cs typeface="Arial"/>
              </a:defRPr>
            </a:lvl9pPr>
          </a:lstStyle>
          <a:p xmlns:a="http://schemas.openxmlformats.org/drawingml/2006/main">
            <a:pPr algn="l">
              <a:defRPr sz="1575" b="0" i="0">
                <a:solidFill>
                  <a:srgbClr val="17130F"/>
                </a:solidFill>
                <a:latin typeface="Arial"/>
                <a:ea typeface="Arial"/>
                <a:cs typeface="Arial"/>
              </a:defRPr>
            </a:pPr>
            <a:r>
              <a:rPr sz="1575" b="0" i="0">
                <a:solidFill>
                  <a:srgbClr val="17130F"/>
                </a:solidFill>
                <a:latin typeface="Arial"/>
                <a:ea typeface="Arial"/>
                <a:cs typeface="Arial"/>
              </a:rPr>
              <a:t>Reach people at the moment supermarket coffee stops feeling good enough.</a:t>
            </a:r>
          </a:p>
        </p:txBody>
      </p:sp>
      <p:sp>
        <p:nvSpPr>
          <p:cNvPr id="6" name="">
            <a:extLst xmlns:a="http://schemas.openxmlformats.org/drawingml/2006/main">
              <a:ext uri="{FF2B5EF4-FFF2-40B4-BE49-F238E27FC236}">
                <a16:creationId xmlns:a16="http://schemas.microsoft.com/office/drawing/2014/main" id="{A832F51E-0B6E-4082-8E48-81FA13AF5845}"/>
              </a:ext>
            </a:extLst>
          </p:cNvPr>
          <p:cNvSpPr>
            <a:spLocks xmlns:a="http://schemas.openxmlformats.org/drawingml/2006/main" noGrp="1"/>
          </p:cNvSpPr>
          <p:nvPr/>
        </p:nvSpPr>
        <p:spPr>
          <a:xfrm xmlns:a="http://schemas.openxmlformats.org/drawingml/2006/main">
            <a:off x="590550" y="29337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38A3"/>
                </a:solidFill>
                <a:latin typeface="Arial"/>
                <a:ea typeface="Arial"/>
                <a:cs typeface="Arial"/>
              </a:defRPr>
            </a:defPPr>
            <a:lvl1pPr algn="l">
              <a:defRPr sz="1275" b="1" i="0">
                <a:solidFill>
                  <a:srgbClr val="1738A3"/>
                </a:solidFill>
                <a:latin typeface="Arial"/>
                <a:ea typeface="Arial"/>
                <a:cs typeface="Arial"/>
              </a:defRPr>
            </a:lvl1pPr>
            <a:lvl2pPr algn="l">
              <a:defRPr sz="1275" b="1" i="0">
                <a:solidFill>
                  <a:srgbClr val="1738A3"/>
                </a:solidFill>
                <a:latin typeface="Arial"/>
                <a:ea typeface="Arial"/>
                <a:cs typeface="Arial"/>
              </a:defRPr>
            </a:lvl2pPr>
            <a:lvl3pPr algn="l">
              <a:defRPr sz="1275" b="1" i="0">
                <a:solidFill>
                  <a:srgbClr val="1738A3"/>
                </a:solidFill>
                <a:latin typeface="Arial"/>
                <a:ea typeface="Arial"/>
                <a:cs typeface="Arial"/>
              </a:defRPr>
            </a:lvl3pPr>
            <a:lvl4pPr algn="l">
              <a:defRPr sz="1275" b="1" i="0">
                <a:solidFill>
                  <a:srgbClr val="1738A3"/>
                </a:solidFill>
                <a:latin typeface="Arial"/>
                <a:ea typeface="Arial"/>
                <a:cs typeface="Arial"/>
              </a:defRPr>
            </a:lvl4pPr>
            <a:lvl5pPr algn="l">
              <a:defRPr sz="1275" b="1" i="0">
                <a:solidFill>
                  <a:srgbClr val="1738A3"/>
                </a:solidFill>
                <a:latin typeface="Arial"/>
                <a:ea typeface="Arial"/>
                <a:cs typeface="Arial"/>
              </a:defRPr>
            </a:lvl5pPr>
            <a:lvl6pPr algn="l">
              <a:defRPr sz="1275" b="1" i="0">
                <a:solidFill>
                  <a:srgbClr val="1738A3"/>
                </a:solidFill>
                <a:latin typeface="Arial"/>
                <a:ea typeface="Arial"/>
                <a:cs typeface="Arial"/>
              </a:defRPr>
            </a:lvl6pPr>
            <a:lvl7pPr algn="l">
              <a:defRPr sz="1275" b="1" i="0">
                <a:solidFill>
                  <a:srgbClr val="1738A3"/>
                </a:solidFill>
                <a:latin typeface="Arial"/>
                <a:ea typeface="Arial"/>
                <a:cs typeface="Arial"/>
              </a:defRPr>
            </a:lvl7pPr>
            <a:lvl8pPr algn="l">
              <a:defRPr sz="1275" b="1" i="0">
                <a:solidFill>
                  <a:srgbClr val="1738A3"/>
                </a:solidFill>
                <a:latin typeface="Arial"/>
                <a:ea typeface="Arial"/>
                <a:cs typeface="Arial"/>
              </a:defRPr>
            </a:lvl8pPr>
            <a:lvl9pPr algn="l">
              <a:defRPr sz="1275" b="1" i="0">
                <a:solidFill>
                  <a:srgbClr val="1738A3"/>
                </a:solidFill>
                <a:latin typeface="Arial"/>
                <a:ea typeface="Arial"/>
                <a:cs typeface="Arial"/>
              </a:defRPr>
            </a:lvl9pPr>
          </a:lstStyle>
          <a:p xmlns:a="http://schemas.openxmlformats.org/drawingml/2006/main">
            <a:pPr algn="l">
              <a:defRPr sz="1275" b="1" i="0">
                <a:solidFill>
                  <a:srgbClr val="1738A3"/>
                </a:solidFill>
                <a:latin typeface="Arial"/>
                <a:ea typeface="Arial"/>
                <a:cs typeface="Arial"/>
              </a:defRPr>
            </a:pPr>
            <a:r>
              <a:rPr sz="1275" b="1" i="0">
                <a:solidFill>
                  <a:srgbClr val="1738A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5422693-5454-44D5-8E8A-16F36F73CF3B}"/>
              </a:ext>
            </a:extLst>
          </p:cNvPr>
          <p:cNvSpPr>
            <a:spLocks xmlns:a="http://schemas.openxmlformats.org/drawingml/2006/main" noGrp="1"/>
          </p:cNvSpPr>
          <p:nvPr/>
        </p:nvSpPr>
        <p:spPr>
          <a:xfrm xmlns:a="http://schemas.openxmlformats.org/drawingml/2006/main">
            <a:off x="1352550" y="29337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130F"/>
                </a:solidFill>
                <a:latin typeface="Arial"/>
                <a:ea typeface="Arial"/>
                <a:cs typeface="Arial"/>
              </a:defRPr>
            </a:defPPr>
            <a:lvl1pPr algn="l">
              <a:defRPr sz="1275" b="1" i="0">
                <a:solidFill>
                  <a:srgbClr val="17130F"/>
                </a:solidFill>
                <a:latin typeface="Arial"/>
                <a:ea typeface="Arial"/>
                <a:cs typeface="Arial"/>
              </a:defRPr>
            </a:lvl1pPr>
            <a:lvl2pPr algn="l">
              <a:defRPr sz="1275" b="1" i="0">
                <a:solidFill>
                  <a:srgbClr val="17130F"/>
                </a:solidFill>
                <a:latin typeface="Arial"/>
                <a:ea typeface="Arial"/>
                <a:cs typeface="Arial"/>
              </a:defRPr>
            </a:lvl2pPr>
            <a:lvl3pPr algn="l">
              <a:defRPr sz="1275" b="1" i="0">
                <a:solidFill>
                  <a:srgbClr val="17130F"/>
                </a:solidFill>
                <a:latin typeface="Arial"/>
                <a:ea typeface="Arial"/>
                <a:cs typeface="Arial"/>
              </a:defRPr>
            </a:lvl3pPr>
            <a:lvl4pPr algn="l">
              <a:defRPr sz="1275" b="1" i="0">
                <a:solidFill>
                  <a:srgbClr val="17130F"/>
                </a:solidFill>
                <a:latin typeface="Arial"/>
                <a:ea typeface="Arial"/>
                <a:cs typeface="Arial"/>
              </a:defRPr>
            </a:lvl4pPr>
            <a:lvl5pPr algn="l">
              <a:defRPr sz="1275" b="1" i="0">
                <a:solidFill>
                  <a:srgbClr val="17130F"/>
                </a:solidFill>
                <a:latin typeface="Arial"/>
                <a:ea typeface="Arial"/>
                <a:cs typeface="Arial"/>
              </a:defRPr>
            </a:lvl5pPr>
            <a:lvl6pPr algn="l">
              <a:defRPr sz="1275" b="1" i="0">
                <a:solidFill>
                  <a:srgbClr val="17130F"/>
                </a:solidFill>
                <a:latin typeface="Arial"/>
                <a:ea typeface="Arial"/>
                <a:cs typeface="Arial"/>
              </a:defRPr>
            </a:lvl6pPr>
            <a:lvl7pPr algn="l">
              <a:defRPr sz="1275" b="1" i="0">
                <a:solidFill>
                  <a:srgbClr val="17130F"/>
                </a:solidFill>
                <a:latin typeface="Arial"/>
                <a:ea typeface="Arial"/>
                <a:cs typeface="Arial"/>
              </a:defRPr>
            </a:lvl7pPr>
            <a:lvl8pPr algn="l">
              <a:defRPr sz="1275" b="1" i="0">
                <a:solidFill>
                  <a:srgbClr val="17130F"/>
                </a:solidFill>
                <a:latin typeface="Arial"/>
                <a:ea typeface="Arial"/>
                <a:cs typeface="Arial"/>
              </a:defRPr>
            </a:lvl8pPr>
            <a:lvl9pPr algn="l">
              <a:defRPr sz="1275" b="1" i="0">
                <a:solidFill>
                  <a:srgbClr val="17130F"/>
                </a:solidFill>
                <a:latin typeface="Arial"/>
                <a:ea typeface="Arial"/>
                <a:cs typeface="Arial"/>
              </a:defRPr>
            </a:lvl9pPr>
          </a:lstStyle>
          <a:p xmlns:a="http://schemas.openxmlformats.org/drawingml/2006/main">
            <a:pPr algn="l">
              <a:defRPr sz="1275" b="1" i="0">
                <a:solidFill>
                  <a:srgbClr val="17130F"/>
                </a:solidFill>
                <a:latin typeface="Arial"/>
                <a:ea typeface="Arial"/>
                <a:cs typeface="Arial"/>
              </a:defRPr>
            </a:pPr>
            <a:r>
              <a:rPr sz="1275" b="1" i="0">
                <a:solidFill>
                  <a:srgbClr val="17130F"/>
                </a:solidFill>
                <a:latin typeface="Arial"/>
                <a:ea typeface="Arial"/>
                <a:cs typeface="Arial"/>
              </a:rPr>
              <a:t>CHOOSE</a:t>
            </a:r>
          </a:p>
        </p:txBody>
      </p:sp>
      <p:sp>
        <p:nvSpPr>
          <p:cNvPr id="8" name="">
            <a:extLst xmlns:a="http://schemas.openxmlformats.org/drawingml/2006/main">
              <a:ext uri="{FF2B5EF4-FFF2-40B4-BE49-F238E27FC236}">
                <a16:creationId xmlns:a16="http://schemas.microsoft.com/office/drawing/2014/main" id="{23D40787-176B-44EE-9372-C9715EFB68A8}"/>
              </a:ext>
            </a:extLst>
          </p:cNvPr>
          <p:cNvSpPr>
            <a:spLocks xmlns:a="http://schemas.openxmlformats.org/drawingml/2006/main" noGrp="1"/>
          </p:cNvSpPr>
          <p:nvPr/>
        </p:nvSpPr>
        <p:spPr>
          <a:xfrm xmlns:a="http://schemas.openxmlformats.org/drawingml/2006/main">
            <a:off x="3143250" y="28956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7130F"/>
                </a:solidFill>
                <a:latin typeface="Arial"/>
                <a:ea typeface="Arial"/>
                <a:cs typeface="Arial"/>
              </a:defRPr>
            </a:defPPr>
            <a:lvl1pPr algn="l">
              <a:defRPr sz="1575" b="0" i="0">
                <a:solidFill>
                  <a:srgbClr val="17130F"/>
                </a:solidFill>
                <a:latin typeface="Arial"/>
                <a:ea typeface="Arial"/>
                <a:cs typeface="Arial"/>
              </a:defRPr>
            </a:lvl1pPr>
            <a:lvl2pPr algn="l">
              <a:defRPr sz="1575" b="0" i="0">
                <a:solidFill>
                  <a:srgbClr val="17130F"/>
                </a:solidFill>
                <a:latin typeface="Arial"/>
                <a:ea typeface="Arial"/>
                <a:cs typeface="Arial"/>
              </a:defRPr>
            </a:lvl2pPr>
            <a:lvl3pPr algn="l">
              <a:defRPr sz="1575" b="0" i="0">
                <a:solidFill>
                  <a:srgbClr val="17130F"/>
                </a:solidFill>
                <a:latin typeface="Arial"/>
                <a:ea typeface="Arial"/>
                <a:cs typeface="Arial"/>
              </a:defRPr>
            </a:lvl3pPr>
            <a:lvl4pPr algn="l">
              <a:defRPr sz="1575" b="0" i="0">
                <a:solidFill>
                  <a:srgbClr val="17130F"/>
                </a:solidFill>
                <a:latin typeface="Arial"/>
                <a:ea typeface="Arial"/>
                <a:cs typeface="Arial"/>
              </a:defRPr>
            </a:lvl4pPr>
            <a:lvl5pPr algn="l">
              <a:defRPr sz="1575" b="0" i="0">
                <a:solidFill>
                  <a:srgbClr val="17130F"/>
                </a:solidFill>
                <a:latin typeface="Arial"/>
                <a:ea typeface="Arial"/>
                <a:cs typeface="Arial"/>
              </a:defRPr>
            </a:lvl5pPr>
            <a:lvl6pPr algn="l">
              <a:defRPr sz="1575" b="0" i="0">
                <a:solidFill>
                  <a:srgbClr val="17130F"/>
                </a:solidFill>
                <a:latin typeface="Arial"/>
                <a:ea typeface="Arial"/>
                <a:cs typeface="Arial"/>
              </a:defRPr>
            </a:lvl6pPr>
            <a:lvl7pPr algn="l">
              <a:defRPr sz="1575" b="0" i="0">
                <a:solidFill>
                  <a:srgbClr val="17130F"/>
                </a:solidFill>
                <a:latin typeface="Arial"/>
                <a:ea typeface="Arial"/>
                <a:cs typeface="Arial"/>
              </a:defRPr>
            </a:lvl7pPr>
            <a:lvl8pPr algn="l">
              <a:defRPr sz="1575" b="0" i="0">
                <a:solidFill>
                  <a:srgbClr val="17130F"/>
                </a:solidFill>
                <a:latin typeface="Arial"/>
                <a:ea typeface="Arial"/>
                <a:cs typeface="Arial"/>
              </a:defRPr>
            </a:lvl8pPr>
            <a:lvl9pPr algn="l">
              <a:defRPr sz="1575" b="0" i="0">
                <a:solidFill>
                  <a:srgbClr val="17130F"/>
                </a:solidFill>
                <a:latin typeface="Arial"/>
                <a:ea typeface="Arial"/>
                <a:cs typeface="Arial"/>
              </a:defRPr>
            </a:lvl9pPr>
          </a:lstStyle>
          <a:p xmlns:a="http://schemas.openxmlformats.org/drawingml/2006/main">
            <a:pPr algn="l">
              <a:defRPr sz="1575" b="0" i="0">
                <a:solidFill>
                  <a:srgbClr val="17130F"/>
                </a:solidFill>
                <a:latin typeface="Arial"/>
                <a:ea typeface="Arial"/>
                <a:cs typeface="Arial"/>
              </a:defRPr>
            </a:pPr>
            <a:r>
              <a:rPr sz="1575" b="0" i="0">
                <a:solidFill>
                  <a:srgbClr val="17130F"/>
                </a:solidFill>
                <a:latin typeface="Arial"/>
                <a:ea typeface="Arial"/>
                <a:cs typeface="Arial"/>
              </a:rPr>
              <a:t>Remove jargon and choice anxiety from the first decision.</a:t>
            </a:r>
          </a:p>
        </p:txBody>
      </p:sp>
      <p:sp>
        <p:nvSpPr>
          <p:cNvPr id="9" name="">
            <a:extLst xmlns:a="http://schemas.openxmlformats.org/drawingml/2006/main">
              <a:ext uri="{FF2B5EF4-FFF2-40B4-BE49-F238E27FC236}">
                <a16:creationId xmlns:a16="http://schemas.microsoft.com/office/drawing/2014/main" id="{BDF3D71F-0ECF-4D26-B572-AEC09EC70FF1}"/>
              </a:ext>
            </a:extLst>
          </p:cNvPr>
          <p:cNvSpPr>
            <a:spLocks xmlns:a="http://schemas.openxmlformats.org/drawingml/2006/main" noGrp="1"/>
          </p:cNvSpPr>
          <p:nvPr/>
        </p:nvSpPr>
        <p:spPr>
          <a:xfrm xmlns:a="http://schemas.openxmlformats.org/drawingml/2006/main">
            <a:off x="590550" y="38671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38A3"/>
                </a:solidFill>
                <a:latin typeface="Arial"/>
                <a:ea typeface="Arial"/>
                <a:cs typeface="Arial"/>
              </a:defRPr>
            </a:defPPr>
            <a:lvl1pPr algn="l">
              <a:defRPr sz="1275" b="1" i="0">
                <a:solidFill>
                  <a:srgbClr val="1738A3"/>
                </a:solidFill>
                <a:latin typeface="Arial"/>
                <a:ea typeface="Arial"/>
                <a:cs typeface="Arial"/>
              </a:defRPr>
            </a:lvl1pPr>
            <a:lvl2pPr algn="l">
              <a:defRPr sz="1275" b="1" i="0">
                <a:solidFill>
                  <a:srgbClr val="1738A3"/>
                </a:solidFill>
                <a:latin typeface="Arial"/>
                <a:ea typeface="Arial"/>
                <a:cs typeface="Arial"/>
              </a:defRPr>
            </a:lvl2pPr>
            <a:lvl3pPr algn="l">
              <a:defRPr sz="1275" b="1" i="0">
                <a:solidFill>
                  <a:srgbClr val="1738A3"/>
                </a:solidFill>
                <a:latin typeface="Arial"/>
                <a:ea typeface="Arial"/>
                <a:cs typeface="Arial"/>
              </a:defRPr>
            </a:lvl3pPr>
            <a:lvl4pPr algn="l">
              <a:defRPr sz="1275" b="1" i="0">
                <a:solidFill>
                  <a:srgbClr val="1738A3"/>
                </a:solidFill>
                <a:latin typeface="Arial"/>
                <a:ea typeface="Arial"/>
                <a:cs typeface="Arial"/>
              </a:defRPr>
            </a:lvl4pPr>
            <a:lvl5pPr algn="l">
              <a:defRPr sz="1275" b="1" i="0">
                <a:solidFill>
                  <a:srgbClr val="1738A3"/>
                </a:solidFill>
                <a:latin typeface="Arial"/>
                <a:ea typeface="Arial"/>
                <a:cs typeface="Arial"/>
              </a:defRPr>
            </a:lvl5pPr>
            <a:lvl6pPr algn="l">
              <a:defRPr sz="1275" b="1" i="0">
                <a:solidFill>
                  <a:srgbClr val="1738A3"/>
                </a:solidFill>
                <a:latin typeface="Arial"/>
                <a:ea typeface="Arial"/>
                <a:cs typeface="Arial"/>
              </a:defRPr>
            </a:lvl6pPr>
            <a:lvl7pPr algn="l">
              <a:defRPr sz="1275" b="1" i="0">
                <a:solidFill>
                  <a:srgbClr val="1738A3"/>
                </a:solidFill>
                <a:latin typeface="Arial"/>
                <a:ea typeface="Arial"/>
                <a:cs typeface="Arial"/>
              </a:defRPr>
            </a:lvl7pPr>
            <a:lvl8pPr algn="l">
              <a:defRPr sz="1275" b="1" i="0">
                <a:solidFill>
                  <a:srgbClr val="1738A3"/>
                </a:solidFill>
                <a:latin typeface="Arial"/>
                <a:ea typeface="Arial"/>
                <a:cs typeface="Arial"/>
              </a:defRPr>
            </a:lvl8pPr>
            <a:lvl9pPr algn="l">
              <a:defRPr sz="1275" b="1" i="0">
                <a:solidFill>
                  <a:srgbClr val="1738A3"/>
                </a:solidFill>
                <a:latin typeface="Arial"/>
                <a:ea typeface="Arial"/>
                <a:cs typeface="Arial"/>
              </a:defRPr>
            </a:lvl9pPr>
          </a:lstStyle>
          <a:p xmlns:a="http://schemas.openxmlformats.org/drawingml/2006/main">
            <a:pPr algn="l">
              <a:defRPr sz="1275" b="1" i="0">
                <a:solidFill>
                  <a:srgbClr val="1738A3"/>
                </a:solidFill>
                <a:latin typeface="Arial"/>
                <a:ea typeface="Arial"/>
                <a:cs typeface="Arial"/>
              </a:defRPr>
            </a:pPr>
            <a:r>
              <a:rPr sz="1275" b="1" i="0">
                <a:solidFill>
                  <a:srgbClr val="1738A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9282AF6-8091-4295-958B-60CF8F8DC30B}"/>
              </a:ext>
            </a:extLst>
          </p:cNvPr>
          <p:cNvSpPr>
            <a:spLocks xmlns:a="http://schemas.openxmlformats.org/drawingml/2006/main" noGrp="1"/>
          </p:cNvSpPr>
          <p:nvPr/>
        </p:nvSpPr>
        <p:spPr>
          <a:xfrm xmlns:a="http://schemas.openxmlformats.org/drawingml/2006/main">
            <a:off x="1352550" y="38671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130F"/>
                </a:solidFill>
                <a:latin typeface="Arial"/>
                <a:ea typeface="Arial"/>
                <a:cs typeface="Arial"/>
              </a:defRPr>
            </a:defPPr>
            <a:lvl1pPr algn="l">
              <a:defRPr sz="1275" b="1" i="0">
                <a:solidFill>
                  <a:srgbClr val="17130F"/>
                </a:solidFill>
                <a:latin typeface="Arial"/>
                <a:ea typeface="Arial"/>
                <a:cs typeface="Arial"/>
              </a:defRPr>
            </a:lvl1pPr>
            <a:lvl2pPr algn="l">
              <a:defRPr sz="1275" b="1" i="0">
                <a:solidFill>
                  <a:srgbClr val="17130F"/>
                </a:solidFill>
                <a:latin typeface="Arial"/>
                <a:ea typeface="Arial"/>
                <a:cs typeface="Arial"/>
              </a:defRPr>
            </a:lvl2pPr>
            <a:lvl3pPr algn="l">
              <a:defRPr sz="1275" b="1" i="0">
                <a:solidFill>
                  <a:srgbClr val="17130F"/>
                </a:solidFill>
                <a:latin typeface="Arial"/>
                <a:ea typeface="Arial"/>
                <a:cs typeface="Arial"/>
              </a:defRPr>
            </a:lvl3pPr>
            <a:lvl4pPr algn="l">
              <a:defRPr sz="1275" b="1" i="0">
                <a:solidFill>
                  <a:srgbClr val="17130F"/>
                </a:solidFill>
                <a:latin typeface="Arial"/>
                <a:ea typeface="Arial"/>
                <a:cs typeface="Arial"/>
              </a:defRPr>
            </a:lvl4pPr>
            <a:lvl5pPr algn="l">
              <a:defRPr sz="1275" b="1" i="0">
                <a:solidFill>
                  <a:srgbClr val="17130F"/>
                </a:solidFill>
                <a:latin typeface="Arial"/>
                <a:ea typeface="Arial"/>
                <a:cs typeface="Arial"/>
              </a:defRPr>
            </a:lvl5pPr>
            <a:lvl6pPr algn="l">
              <a:defRPr sz="1275" b="1" i="0">
                <a:solidFill>
                  <a:srgbClr val="17130F"/>
                </a:solidFill>
                <a:latin typeface="Arial"/>
                <a:ea typeface="Arial"/>
                <a:cs typeface="Arial"/>
              </a:defRPr>
            </a:lvl6pPr>
            <a:lvl7pPr algn="l">
              <a:defRPr sz="1275" b="1" i="0">
                <a:solidFill>
                  <a:srgbClr val="17130F"/>
                </a:solidFill>
                <a:latin typeface="Arial"/>
                <a:ea typeface="Arial"/>
                <a:cs typeface="Arial"/>
              </a:defRPr>
            </a:lvl7pPr>
            <a:lvl8pPr algn="l">
              <a:defRPr sz="1275" b="1" i="0">
                <a:solidFill>
                  <a:srgbClr val="17130F"/>
                </a:solidFill>
                <a:latin typeface="Arial"/>
                <a:ea typeface="Arial"/>
                <a:cs typeface="Arial"/>
              </a:defRPr>
            </a:lvl8pPr>
            <a:lvl9pPr algn="l">
              <a:defRPr sz="1275" b="1" i="0">
                <a:solidFill>
                  <a:srgbClr val="17130F"/>
                </a:solidFill>
                <a:latin typeface="Arial"/>
                <a:ea typeface="Arial"/>
                <a:cs typeface="Arial"/>
              </a:defRPr>
            </a:lvl9pPr>
          </a:lstStyle>
          <a:p xmlns:a="http://schemas.openxmlformats.org/drawingml/2006/main">
            <a:pPr algn="l">
              <a:defRPr sz="1275" b="1" i="0">
                <a:solidFill>
                  <a:srgbClr val="17130F"/>
                </a:solidFill>
                <a:latin typeface="Arial"/>
                <a:ea typeface="Arial"/>
                <a:cs typeface="Arial"/>
              </a:defRPr>
            </a:pPr>
            <a:r>
              <a:rPr sz="1275" b="1" i="0">
                <a:solidFill>
                  <a:srgbClr val="17130F"/>
                </a:solidFill>
                <a:latin typeface="Arial"/>
                <a:ea typeface="Arial"/>
                <a:cs typeface="Arial"/>
              </a:rPr>
              <a:t>STAY</a:t>
            </a:r>
          </a:p>
        </p:txBody>
      </p:sp>
      <p:sp>
        <p:nvSpPr>
          <p:cNvPr id="11" name="">
            <a:extLst xmlns:a="http://schemas.openxmlformats.org/drawingml/2006/main">
              <a:ext uri="{FF2B5EF4-FFF2-40B4-BE49-F238E27FC236}">
                <a16:creationId xmlns:a16="http://schemas.microsoft.com/office/drawing/2014/main" id="{FA22FD19-D445-4904-8D62-B896B58EFA8C}"/>
              </a:ext>
            </a:extLst>
          </p:cNvPr>
          <p:cNvSpPr>
            <a:spLocks xmlns:a="http://schemas.openxmlformats.org/drawingml/2006/main" noGrp="1"/>
          </p:cNvSpPr>
          <p:nvPr/>
        </p:nvSpPr>
        <p:spPr>
          <a:xfrm xmlns:a="http://schemas.openxmlformats.org/drawingml/2006/main">
            <a:off x="3143250" y="38290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7130F"/>
                </a:solidFill>
                <a:latin typeface="Arial"/>
                <a:ea typeface="Arial"/>
                <a:cs typeface="Arial"/>
              </a:defRPr>
            </a:defPPr>
            <a:lvl1pPr algn="l">
              <a:defRPr sz="1575" b="0" i="0">
                <a:solidFill>
                  <a:srgbClr val="17130F"/>
                </a:solidFill>
                <a:latin typeface="Arial"/>
                <a:ea typeface="Arial"/>
                <a:cs typeface="Arial"/>
              </a:defRPr>
            </a:lvl1pPr>
            <a:lvl2pPr algn="l">
              <a:defRPr sz="1575" b="0" i="0">
                <a:solidFill>
                  <a:srgbClr val="17130F"/>
                </a:solidFill>
                <a:latin typeface="Arial"/>
                <a:ea typeface="Arial"/>
                <a:cs typeface="Arial"/>
              </a:defRPr>
            </a:lvl2pPr>
            <a:lvl3pPr algn="l">
              <a:defRPr sz="1575" b="0" i="0">
                <a:solidFill>
                  <a:srgbClr val="17130F"/>
                </a:solidFill>
                <a:latin typeface="Arial"/>
                <a:ea typeface="Arial"/>
                <a:cs typeface="Arial"/>
              </a:defRPr>
            </a:lvl3pPr>
            <a:lvl4pPr algn="l">
              <a:defRPr sz="1575" b="0" i="0">
                <a:solidFill>
                  <a:srgbClr val="17130F"/>
                </a:solidFill>
                <a:latin typeface="Arial"/>
                <a:ea typeface="Arial"/>
                <a:cs typeface="Arial"/>
              </a:defRPr>
            </a:lvl4pPr>
            <a:lvl5pPr algn="l">
              <a:defRPr sz="1575" b="0" i="0">
                <a:solidFill>
                  <a:srgbClr val="17130F"/>
                </a:solidFill>
                <a:latin typeface="Arial"/>
                <a:ea typeface="Arial"/>
                <a:cs typeface="Arial"/>
              </a:defRPr>
            </a:lvl5pPr>
            <a:lvl6pPr algn="l">
              <a:defRPr sz="1575" b="0" i="0">
                <a:solidFill>
                  <a:srgbClr val="17130F"/>
                </a:solidFill>
                <a:latin typeface="Arial"/>
                <a:ea typeface="Arial"/>
                <a:cs typeface="Arial"/>
              </a:defRPr>
            </a:lvl6pPr>
            <a:lvl7pPr algn="l">
              <a:defRPr sz="1575" b="0" i="0">
                <a:solidFill>
                  <a:srgbClr val="17130F"/>
                </a:solidFill>
                <a:latin typeface="Arial"/>
                <a:ea typeface="Arial"/>
                <a:cs typeface="Arial"/>
              </a:defRPr>
            </a:lvl7pPr>
            <a:lvl8pPr algn="l">
              <a:defRPr sz="1575" b="0" i="0">
                <a:solidFill>
                  <a:srgbClr val="17130F"/>
                </a:solidFill>
                <a:latin typeface="Arial"/>
                <a:ea typeface="Arial"/>
                <a:cs typeface="Arial"/>
              </a:defRPr>
            </a:lvl8pPr>
            <a:lvl9pPr algn="l">
              <a:defRPr sz="1575" b="0" i="0">
                <a:solidFill>
                  <a:srgbClr val="17130F"/>
                </a:solidFill>
                <a:latin typeface="Arial"/>
                <a:ea typeface="Arial"/>
                <a:cs typeface="Arial"/>
              </a:defRPr>
            </a:lvl9pPr>
          </a:lstStyle>
          <a:p xmlns:a="http://schemas.openxmlformats.org/drawingml/2006/main">
            <a:pPr algn="l">
              <a:defRPr sz="1575" b="0" i="0">
                <a:solidFill>
                  <a:srgbClr val="17130F"/>
                </a:solidFill>
                <a:latin typeface="Arial"/>
                <a:ea typeface="Arial"/>
                <a:cs typeface="Arial"/>
              </a:defRPr>
            </a:pPr>
            <a:r>
              <a:rPr sz="1575" b="0" i="0">
                <a:solidFill>
                  <a:srgbClr val="17130F"/>
                </a:solidFill>
                <a:latin typeface="Arial"/>
                <a:ea typeface="Arial"/>
                <a:cs typeface="Arial"/>
              </a:rPr>
              <a:t>Make freshness, delivery and control reliably worth repeating.</a:t>
            </a:r>
          </a:p>
        </p:txBody>
      </p:sp>
      <p:sp>
        <p:nvSpPr>
          <p:cNvPr id="12" name="">
            <a:extLst xmlns:a="http://schemas.openxmlformats.org/drawingml/2006/main">
              <a:ext uri="{FF2B5EF4-FFF2-40B4-BE49-F238E27FC236}">
                <a16:creationId xmlns:a16="http://schemas.microsoft.com/office/drawing/2014/main" id="{AFE233B9-C859-41D4-BBFC-C9069DADCB28}"/>
              </a:ext>
            </a:extLst>
          </p:cNvPr>
          <p:cNvSpPr>
            <a:spLocks xmlns:a="http://schemas.openxmlformats.org/drawingml/2006/main" noGrp="1"/>
          </p:cNvSpPr>
          <p:nvPr/>
        </p:nvSpPr>
        <p:spPr>
          <a:xfrm xmlns:a="http://schemas.openxmlformats.org/drawingml/2006/main">
            <a:off x="590550" y="48006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38A3"/>
                </a:solidFill>
                <a:latin typeface="Arial"/>
                <a:ea typeface="Arial"/>
                <a:cs typeface="Arial"/>
              </a:defRPr>
            </a:defPPr>
            <a:lvl1pPr algn="l">
              <a:defRPr sz="1275" b="1" i="0">
                <a:solidFill>
                  <a:srgbClr val="1738A3"/>
                </a:solidFill>
                <a:latin typeface="Arial"/>
                <a:ea typeface="Arial"/>
                <a:cs typeface="Arial"/>
              </a:defRPr>
            </a:lvl1pPr>
            <a:lvl2pPr algn="l">
              <a:defRPr sz="1275" b="1" i="0">
                <a:solidFill>
                  <a:srgbClr val="1738A3"/>
                </a:solidFill>
                <a:latin typeface="Arial"/>
                <a:ea typeface="Arial"/>
                <a:cs typeface="Arial"/>
              </a:defRPr>
            </a:lvl2pPr>
            <a:lvl3pPr algn="l">
              <a:defRPr sz="1275" b="1" i="0">
                <a:solidFill>
                  <a:srgbClr val="1738A3"/>
                </a:solidFill>
                <a:latin typeface="Arial"/>
                <a:ea typeface="Arial"/>
                <a:cs typeface="Arial"/>
              </a:defRPr>
            </a:lvl3pPr>
            <a:lvl4pPr algn="l">
              <a:defRPr sz="1275" b="1" i="0">
                <a:solidFill>
                  <a:srgbClr val="1738A3"/>
                </a:solidFill>
                <a:latin typeface="Arial"/>
                <a:ea typeface="Arial"/>
                <a:cs typeface="Arial"/>
              </a:defRPr>
            </a:lvl4pPr>
            <a:lvl5pPr algn="l">
              <a:defRPr sz="1275" b="1" i="0">
                <a:solidFill>
                  <a:srgbClr val="1738A3"/>
                </a:solidFill>
                <a:latin typeface="Arial"/>
                <a:ea typeface="Arial"/>
                <a:cs typeface="Arial"/>
              </a:defRPr>
            </a:lvl5pPr>
            <a:lvl6pPr algn="l">
              <a:defRPr sz="1275" b="1" i="0">
                <a:solidFill>
                  <a:srgbClr val="1738A3"/>
                </a:solidFill>
                <a:latin typeface="Arial"/>
                <a:ea typeface="Arial"/>
                <a:cs typeface="Arial"/>
              </a:defRPr>
            </a:lvl6pPr>
            <a:lvl7pPr algn="l">
              <a:defRPr sz="1275" b="1" i="0">
                <a:solidFill>
                  <a:srgbClr val="1738A3"/>
                </a:solidFill>
                <a:latin typeface="Arial"/>
                <a:ea typeface="Arial"/>
                <a:cs typeface="Arial"/>
              </a:defRPr>
            </a:lvl7pPr>
            <a:lvl8pPr algn="l">
              <a:defRPr sz="1275" b="1" i="0">
                <a:solidFill>
                  <a:srgbClr val="1738A3"/>
                </a:solidFill>
                <a:latin typeface="Arial"/>
                <a:ea typeface="Arial"/>
                <a:cs typeface="Arial"/>
              </a:defRPr>
            </a:lvl8pPr>
            <a:lvl9pPr algn="l">
              <a:defRPr sz="1275" b="1" i="0">
                <a:solidFill>
                  <a:srgbClr val="1738A3"/>
                </a:solidFill>
                <a:latin typeface="Arial"/>
                <a:ea typeface="Arial"/>
                <a:cs typeface="Arial"/>
              </a:defRPr>
            </a:lvl9pPr>
          </a:lstStyle>
          <a:p xmlns:a="http://schemas.openxmlformats.org/drawingml/2006/main">
            <a:pPr algn="l">
              <a:defRPr sz="1275" b="1" i="0">
                <a:solidFill>
                  <a:srgbClr val="1738A3"/>
                </a:solidFill>
                <a:latin typeface="Arial"/>
                <a:ea typeface="Arial"/>
                <a:cs typeface="Arial"/>
              </a:defRPr>
            </a:pPr>
            <a:r>
              <a:rPr sz="1275" b="1" i="0">
                <a:solidFill>
                  <a:srgbClr val="1738A3"/>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2F61A4C-71C5-466F-A4CD-DBCEFAC16AE3}"/>
              </a:ext>
            </a:extLst>
          </p:cNvPr>
          <p:cNvSpPr>
            <a:spLocks xmlns:a="http://schemas.openxmlformats.org/drawingml/2006/main" noGrp="1"/>
          </p:cNvSpPr>
          <p:nvPr/>
        </p:nvSpPr>
        <p:spPr>
          <a:xfrm xmlns:a="http://schemas.openxmlformats.org/drawingml/2006/main">
            <a:off x="1352550" y="48006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7130F"/>
                </a:solidFill>
                <a:latin typeface="Arial"/>
                <a:ea typeface="Arial"/>
                <a:cs typeface="Arial"/>
              </a:defRPr>
            </a:defPPr>
            <a:lvl1pPr algn="l">
              <a:defRPr sz="1275" b="1" i="0">
                <a:solidFill>
                  <a:srgbClr val="17130F"/>
                </a:solidFill>
                <a:latin typeface="Arial"/>
                <a:ea typeface="Arial"/>
                <a:cs typeface="Arial"/>
              </a:defRPr>
            </a:lvl1pPr>
            <a:lvl2pPr algn="l">
              <a:defRPr sz="1275" b="1" i="0">
                <a:solidFill>
                  <a:srgbClr val="17130F"/>
                </a:solidFill>
                <a:latin typeface="Arial"/>
                <a:ea typeface="Arial"/>
                <a:cs typeface="Arial"/>
              </a:defRPr>
            </a:lvl2pPr>
            <a:lvl3pPr algn="l">
              <a:defRPr sz="1275" b="1" i="0">
                <a:solidFill>
                  <a:srgbClr val="17130F"/>
                </a:solidFill>
                <a:latin typeface="Arial"/>
                <a:ea typeface="Arial"/>
                <a:cs typeface="Arial"/>
              </a:defRPr>
            </a:lvl3pPr>
            <a:lvl4pPr algn="l">
              <a:defRPr sz="1275" b="1" i="0">
                <a:solidFill>
                  <a:srgbClr val="17130F"/>
                </a:solidFill>
                <a:latin typeface="Arial"/>
                <a:ea typeface="Arial"/>
                <a:cs typeface="Arial"/>
              </a:defRPr>
            </a:lvl4pPr>
            <a:lvl5pPr algn="l">
              <a:defRPr sz="1275" b="1" i="0">
                <a:solidFill>
                  <a:srgbClr val="17130F"/>
                </a:solidFill>
                <a:latin typeface="Arial"/>
                <a:ea typeface="Arial"/>
                <a:cs typeface="Arial"/>
              </a:defRPr>
            </a:lvl5pPr>
            <a:lvl6pPr algn="l">
              <a:defRPr sz="1275" b="1" i="0">
                <a:solidFill>
                  <a:srgbClr val="17130F"/>
                </a:solidFill>
                <a:latin typeface="Arial"/>
                <a:ea typeface="Arial"/>
                <a:cs typeface="Arial"/>
              </a:defRPr>
            </a:lvl6pPr>
            <a:lvl7pPr algn="l">
              <a:defRPr sz="1275" b="1" i="0">
                <a:solidFill>
                  <a:srgbClr val="17130F"/>
                </a:solidFill>
                <a:latin typeface="Arial"/>
                <a:ea typeface="Arial"/>
                <a:cs typeface="Arial"/>
              </a:defRPr>
            </a:lvl7pPr>
            <a:lvl8pPr algn="l">
              <a:defRPr sz="1275" b="1" i="0">
                <a:solidFill>
                  <a:srgbClr val="17130F"/>
                </a:solidFill>
                <a:latin typeface="Arial"/>
                <a:ea typeface="Arial"/>
                <a:cs typeface="Arial"/>
              </a:defRPr>
            </a:lvl8pPr>
            <a:lvl9pPr algn="l">
              <a:defRPr sz="1275" b="1" i="0">
                <a:solidFill>
                  <a:srgbClr val="17130F"/>
                </a:solidFill>
                <a:latin typeface="Arial"/>
                <a:ea typeface="Arial"/>
                <a:cs typeface="Arial"/>
              </a:defRPr>
            </a:lvl9pPr>
          </a:lstStyle>
          <a:p xmlns:a="http://schemas.openxmlformats.org/drawingml/2006/main">
            <a:pPr algn="l">
              <a:defRPr sz="1275" b="1" i="0">
                <a:solidFill>
                  <a:srgbClr val="17130F"/>
                </a:solidFill>
                <a:latin typeface="Arial"/>
                <a:ea typeface="Arial"/>
                <a:cs typeface="Arial"/>
              </a:defRPr>
            </a:pPr>
            <a:r>
              <a:rPr sz="1275" b="1" i="0">
                <a:solidFill>
                  <a:srgbClr val="17130F"/>
                </a:solidFill>
                <a:latin typeface="Arial"/>
                <a:ea typeface="Arial"/>
                <a:cs typeface="Arial"/>
              </a:rPr>
              <a:t>PROGRESS</a:t>
            </a:r>
          </a:p>
        </p:txBody>
      </p:sp>
      <p:sp>
        <p:nvSpPr>
          <p:cNvPr id="14" name="">
            <a:extLst xmlns:a="http://schemas.openxmlformats.org/drawingml/2006/main">
              <a:ext uri="{FF2B5EF4-FFF2-40B4-BE49-F238E27FC236}">
                <a16:creationId xmlns:a16="http://schemas.microsoft.com/office/drawing/2014/main" id="{CEAC72B5-D2BA-49A1-B5AB-7888BB96978D}"/>
              </a:ext>
            </a:extLst>
          </p:cNvPr>
          <p:cNvSpPr>
            <a:spLocks xmlns:a="http://schemas.openxmlformats.org/drawingml/2006/main" noGrp="1"/>
          </p:cNvSpPr>
          <p:nvPr/>
        </p:nvSpPr>
        <p:spPr>
          <a:xfrm xmlns:a="http://schemas.openxmlformats.org/drawingml/2006/main">
            <a:off x="3143250" y="47625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7130F"/>
                </a:solidFill>
                <a:latin typeface="Arial"/>
                <a:ea typeface="Arial"/>
                <a:cs typeface="Arial"/>
              </a:defRPr>
            </a:defPPr>
            <a:lvl1pPr algn="l">
              <a:defRPr sz="1575" b="0" i="0">
                <a:solidFill>
                  <a:srgbClr val="17130F"/>
                </a:solidFill>
                <a:latin typeface="Arial"/>
                <a:ea typeface="Arial"/>
                <a:cs typeface="Arial"/>
              </a:defRPr>
            </a:lvl1pPr>
            <a:lvl2pPr algn="l">
              <a:defRPr sz="1575" b="0" i="0">
                <a:solidFill>
                  <a:srgbClr val="17130F"/>
                </a:solidFill>
                <a:latin typeface="Arial"/>
                <a:ea typeface="Arial"/>
                <a:cs typeface="Arial"/>
              </a:defRPr>
            </a:lvl2pPr>
            <a:lvl3pPr algn="l">
              <a:defRPr sz="1575" b="0" i="0">
                <a:solidFill>
                  <a:srgbClr val="17130F"/>
                </a:solidFill>
                <a:latin typeface="Arial"/>
                <a:ea typeface="Arial"/>
                <a:cs typeface="Arial"/>
              </a:defRPr>
            </a:lvl3pPr>
            <a:lvl4pPr algn="l">
              <a:defRPr sz="1575" b="0" i="0">
                <a:solidFill>
                  <a:srgbClr val="17130F"/>
                </a:solidFill>
                <a:latin typeface="Arial"/>
                <a:ea typeface="Arial"/>
                <a:cs typeface="Arial"/>
              </a:defRPr>
            </a:lvl4pPr>
            <a:lvl5pPr algn="l">
              <a:defRPr sz="1575" b="0" i="0">
                <a:solidFill>
                  <a:srgbClr val="17130F"/>
                </a:solidFill>
                <a:latin typeface="Arial"/>
                <a:ea typeface="Arial"/>
                <a:cs typeface="Arial"/>
              </a:defRPr>
            </a:lvl5pPr>
            <a:lvl6pPr algn="l">
              <a:defRPr sz="1575" b="0" i="0">
                <a:solidFill>
                  <a:srgbClr val="17130F"/>
                </a:solidFill>
                <a:latin typeface="Arial"/>
                <a:ea typeface="Arial"/>
                <a:cs typeface="Arial"/>
              </a:defRPr>
            </a:lvl6pPr>
            <a:lvl7pPr algn="l">
              <a:defRPr sz="1575" b="0" i="0">
                <a:solidFill>
                  <a:srgbClr val="17130F"/>
                </a:solidFill>
                <a:latin typeface="Arial"/>
                <a:ea typeface="Arial"/>
                <a:cs typeface="Arial"/>
              </a:defRPr>
            </a:lvl7pPr>
            <a:lvl8pPr algn="l">
              <a:defRPr sz="1575" b="0" i="0">
                <a:solidFill>
                  <a:srgbClr val="17130F"/>
                </a:solidFill>
                <a:latin typeface="Arial"/>
                <a:ea typeface="Arial"/>
                <a:cs typeface="Arial"/>
              </a:defRPr>
            </a:lvl8pPr>
            <a:lvl9pPr algn="l">
              <a:defRPr sz="1575" b="0" i="0">
                <a:solidFill>
                  <a:srgbClr val="17130F"/>
                </a:solidFill>
                <a:latin typeface="Arial"/>
                <a:ea typeface="Arial"/>
                <a:cs typeface="Arial"/>
              </a:defRPr>
            </a:lvl9pPr>
          </a:lstStyle>
          <a:p xmlns:a="http://schemas.openxmlformats.org/drawingml/2006/main">
            <a:pPr algn="l">
              <a:defRPr sz="1575" b="0" i="0">
                <a:solidFill>
                  <a:srgbClr val="17130F"/>
                </a:solidFill>
                <a:latin typeface="Arial"/>
                <a:ea typeface="Arial"/>
                <a:cs typeface="Arial"/>
              </a:defRPr>
            </a:pPr>
            <a:r>
              <a:rPr sz="1575" b="0" i="0">
                <a:solidFill>
                  <a:srgbClr val="17130F"/>
                </a:solidFill>
                <a:latin typeface="Arial"/>
                <a:ea typeface="Arial"/>
                <a:cs typeface="Arial"/>
              </a:rPr>
              <a:t>Guide the customer from an everyday anchor into discovery.</a:t>
            </a:r>
          </a:p>
        </p:txBody>
      </p:sp>
      <p:sp>
        <p:nvSpPr>
          <p:cNvPr id="15" name="">
            <a:extLst xmlns:a="http://schemas.openxmlformats.org/drawingml/2006/main">
              <a:ext uri="{FF2B5EF4-FFF2-40B4-BE49-F238E27FC236}">
                <a16:creationId xmlns:a16="http://schemas.microsoft.com/office/drawing/2014/main" id="{93EB1641-B25D-45E3-947C-7FD3CE02EE85}"/>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E665D"/>
                </a:solidFill>
                <a:latin typeface="Arial"/>
                <a:ea typeface="Arial"/>
                <a:cs typeface="Arial"/>
              </a:defRPr>
            </a:defPPr>
            <a:lvl1pPr algn="l">
              <a:defRPr sz="675" b="1" i="0">
                <a:solidFill>
                  <a:srgbClr val="6E665D"/>
                </a:solidFill>
                <a:latin typeface="Arial"/>
                <a:ea typeface="Arial"/>
                <a:cs typeface="Arial"/>
              </a:defRPr>
            </a:lvl1pPr>
            <a:lvl2pPr algn="l">
              <a:defRPr sz="675" b="1" i="0">
                <a:solidFill>
                  <a:srgbClr val="6E665D"/>
                </a:solidFill>
                <a:latin typeface="Arial"/>
                <a:ea typeface="Arial"/>
                <a:cs typeface="Arial"/>
              </a:defRPr>
            </a:lvl2pPr>
            <a:lvl3pPr algn="l">
              <a:defRPr sz="675" b="1" i="0">
                <a:solidFill>
                  <a:srgbClr val="6E665D"/>
                </a:solidFill>
                <a:latin typeface="Arial"/>
                <a:ea typeface="Arial"/>
                <a:cs typeface="Arial"/>
              </a:defRPr>
            </a:lvl3pPr>
            <a:lvl4pPr algn="l">
              <a:defRPr sz="675" b="1" i="0">
                <a:solidFill>
                  <a:srgbClr val="6E665D"/>
                </a:solidFill>
                <a:latin typeface="Arial"/>
                <a:ea typeface="Arial"/>
                <a:cs typeface="Arial"/>
              </a:defRPr>
            </a:lvl4pPr>
            <a:lvl5pPr algn="l">
              <a:defRPr sz="675" b="1" i="0">
                <a:solidFill>
                  <a:srgbClr val="6E665D"/>
                </a:solidFill>
                <a:latin typeface="Arial"/>
                <a:ea typeface="Arial"/>
                <a:cs typeface="Arial"/>
              </a:defRPr>
            </a:lvl5pPr>
            <a:lvl6pPr algn="l">
              <a:defRPr sz="675" b="1" i="0">
                <a:solidFill>
                  <a:srgbClr val="6E665D"/>
                </a:solidFill>
                <a:latin typeface="Arial"/>
                <a:ea typeface="Arial"/>
                <a:cs typeface="Arial"/>
              </a:defRPr>
            </a:lvl6pPr>
            <a:lvl7pPr algn="l">
              <a:defRPr sz="675" b="1" i="0">
                <a:solidFill>
                  <a:srgbClr val="6E665D"/>
                </a:solidFill>
                <a:latin typeface="Arial"/>
                <a:ea typeface="Arial"/>
                <a:cs typeface="Arial"/>
              </a:defRPr>
            </a:lvl7pPr>
            <a:lvl8pPr algn="l">
              <a:defRPr sz="675" b="1" i="0">
                <a:solidFill>
                  <a:srgbClr val="6E665D"/>
                </a:solidFill>
                <a:latin typeface="Arial"/>
                <a:ea typeface="Arial"/>
                <a:cs typeface="Arial"/>
              </a:defRPr>
            </a:lvl8pPr>
            <a:lvl9pPr algn="l">
              <a:defRPr sz="675" b="1" i="0">
                <a:solidFill>
                  <a:srgbClr val="6E665D"/>
                </a:solidFill>
                <a:latin typeface="Arial"/>
                <a:ea typeface="Arial"/>
                <a:cs typeface="Arial"/>
              </a:defRPr>
            </a:lvl9pPr>
          </a:lstStyle>
          <a:p xmlns:a="http://schemas.openxmlformats.org/drawingml/2006/main">
            <a:pPr algn="l">
              <a:defRPr sz="675" b="1" i="0">
                <a:solidFill>
                  <a:srgbClr val="6E665D"/>
                </a:solidFill>
                <a:latin typeface="Arial"/>
                <a:ea typeface="Arial"/>
                <a:cs typeface="Arial"/>
              </a:defRPr>
            </a:pPr>
            <a:r>
              <a:rPr sz="675" b="1" i="0">
                <a:solidFill>
                  <a:srgbClr val="6E665D"/>
                </a:solidFill>
                <a:latin typeface="Arial"/>
                <a:ea typeface="Arial"/>
                <a:cs typeface="Arial"/>
              </a:rPr>
              <a:t>FIELDWORK / RAVE COFFEE / INTERNAL CALIBRATION</a:t>
            </a:r>
          </a:p>
        </p:txBody>
      </p:sp>
      <p:sp>
        <p:nvSpPr>
          <p:cNvPr id="16" name="">
            <a:extLst xmlns:a="http://schemas.openxmlformats.org/drawingml/2006/main">
              <a:ext uri="{FF2B5EF4-FFF2-40B4-BE49-F238E27FC236}">
                <a16:creationId xmlns:a16="http://schemas.microsoft.com/office/drawing/2014/main" id="{E5EC2044-102C-4027-B81B-1B192FBBD499}"/>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ASSUMPTION-LED / VALIDATE BEFORE SCALE</a:t>
            </a:r>
          </a:p>
        </p:txBody>
      </p:sp>
      <p:sp>
        <p:nvSpPr>
          <p:cNvPr id="17" name="">
            <a:extLst xmlns:a="http://schemas.openxmlformats.org/drawingml/2006/main">
              <a:ext uri="{FF2B5EF4-FFF2-40B4-BE49-F238E27FC236}">
                <a16:creationId xmlns:a16="http://schemas.microsoft.com/office/drawing/2014/main" id="{52E30732-F1D6-4BD3-AE64-8F1177C877F6}"/>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03 / 05</a:t>
            </a:r>
          </a:p>
        </p:txBody>
      </p:sp>
    </p:spTree>
    <p:extLst>
      <p:ext uri="{BB962C8B-B14F-4D97-AF65-F5344CB8AC3E}">
        <p14:creationId xmlns:p14="http://schemas.microsoft.com/office/powerpoint/2010/main" val="242880001"/>
      </p:ext>
    </p:extLst>
  </p:cSld>
</p:sld>
</file>

<file path=ppt/slides/slide4.xml><?xml version="1.0" encoding="utf-8"?>
<p:sld xmlns:p="http://schemas.openxmlformats.org/presentationml/2006/main">
  <p:cSld>
    <p:bg>
      <p:bgPr>
        <a:solidFill xmlns:a="http://schemas.openxmlformats.org/drawingml/2006/main">
          <a:srgbClr val="FFCA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FC0AA1A-0583-4176-BA19-8DBC82F4506B}"/>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04 / THE AUDIENCE OPPORTUNITY</a:t>
            </a:r>
          </a:p>
        </p:txBody>
      </p:sp>
      <p:sp>
        <p:nvSpPr>
          <p:cNvPr id="2" name="">
            <a:extLst xmlns:a="http://schemas.openxmlformats.org/drawingml/2006/main">
              <a:ext uri="{FF2B5EF4-FFF2-40B4-BE49-F238E27FC236}">
                <a16:creationId xmlns:a16="http://schemas.microsoft.com/office/drawing/2014/main" id="{8FCE8181-1A54-4224-8A00-25B55C3E7895}"/>
              </a:ext>
            </a:extLst>
          </p:cNvPr>
          <p:cNvSpPr>
            <a:spLocks xmlns:a="http://schemas.openxmlformats.org/drawingml/2006/main" noGrp="1"/>
          </p:cNvSpPr>
          <p:nvPr/>
        </p:nvSpPr>
        <p:spPr>
          <a:xfrm xmlns:a="http://schemas.openxmlformats.org/drawingml/2006/main">
            <a:off x="590550" y="99060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7130F"/>
                </a:solidFill>
                <a:latin typeface="Arial"/>
                <a:ea typeface="Arial"/>
                <a:cs typeface="Arial"/>
              </a:defRPr>
            </a:defPPr>
            <a:lvl1pPr algn="l">
              <a:defRPr sz="3525" b="1" i="0">
                <a:solidFill>
                  <a:srgbClr val="17130F"/>
                </a:solidFill>
                <a:latin typeface="Arial"/>
                <a:ea typeface="Arial"/>
                <a:cs typeface="Arial"/>
              </a:defRPr>
            </a:lvl1pPr>
            <a:lvl2pPr algn="l">
              <a:defRPr sz="3525" b="1" i="0">
                <a:solidFill>
                  <a:srgbClr val="17130F"/>
                </a:solidFill>
                <a:latin typeface="Arial"/>
                <a:ea typeface="Arial"/>
                <a:cs typeface="Arial"/>
              </a:defRPr>
            </a:lvl2pPr>
            <a:lvl3pPr algn="l">
              <a:defRPr sz="3525" b="1" i="0">
                <a:solidFill>
                  <a:srgbClr val="17130F"/>
                </a:solidFill>
                <a:latin typeface="Arial"/>
                <a:ea typeface="Arial"/>
                <a:cs typeface="Arial"/>
              </a:defRPr>
            </a:lvl3pPr>
            <a:lvl4pPr algn="l">
              <a:defRPr sz="3525" b="1" i="0">
                <a:solidFill>
                  <a:srgbClr val="17130F"/>
                </a:solidFill>
                <a:latin typeface="Arial"/>
                <a:ea typeface="Arial"/>
                <a:cs typeface="Arial"/>
              </a:defRPr>
            </a:lvl4pPr>
            <a:lvl5pPr algn="l">
              <a:defRPr sz="3525" b="1" i="0">
                <a:solidFill>
                  <a:srgbClr val="17130F"/>
                </a:solidFill>
                <a:latin typeface="Arial"/>
                <a:ea typeface="Arial"/>
                <a:cs typeface="Arial"/>
              </a:defRPr>
            </a:lvl5pPr>
            <a:lvl6pPr algn="l">
              <a:defRPr sz="3525" b="1" i="0">
                <a:solidFill>
                  <a:srgbClr val="17130F"/>
                </a:solidFill>
                <a:latin typeface="Arial"/>
                <a:ea typeface="Arial"/>
                <a:cs typeface="Arial"/>
              </a:defRPr>
            </a:lvl6pPr>
            <a:lvl7pPr algn="l">
              <a:defRPr sz="3525" b="1" i="0">
                <a:solidFill>
                  <a:srgbClr val="17130F"/>
                </a:solidFill>
                <a:latin typeface="Arial"/>
                <a:ea typeface="Arial"/>
                <a:cs typeface="Arial"/>
              </a:defRPr>
            </a:lvl7pPr>
            <a:lvl8pPr algn="l">
              <a:defRPr sz="3525" b="1" i="0">
                <a:solidFill>
                  <a:srgbClr val="17130F"/>
                </a:solidFill>
                <a:latin typeface="Arial"/>
                <a:ea typeface="Arial"/>
                <a:cs typeface="Arial"/>
              </a:defRPr>
            </a:lvl8pPr>
            <a:lvl9pPr algn="l">
              <a:defRPr sz="3525" b="1" i="0">
                <a:solidFill>
                  <a:srgbClr val="17130F"/>
                </a:solidFill>
                <a:latin typeface="Arial"/>
                <a:ea typeface="Arial"/>
                <a:cs typeface="Arial"/>
              </a:defRPr>
            </a:lvl9pPr>
          </a:lstStyle>
          <a:p xmlns:a="http://schemas.openxmlformats.org/drawingml/2006/main">
            <a:pPr algn="l">
              <a:defRPr sz="3525" b="1" i="0">
                <a:solidFill>
                  <a:srgbClr val="17130F"/>
                </a:solidFill>
                <a:latin typeface="Arial"/>
                <a:ea typeface="Arial"/>
                <a:cs typeface="Arial"/>
              </a:defRPr>
            </a:pPr>
            <a:r>
              <a:rPr sz="3525" b="1" i="0">
                <a:solidFill>
                  <a:srgbClr val="17130F"/>
                </a:solidFill>
                <a:latin typeface="Arial"/>
                <a:ea typeface="Arial"/>
                <a:cs typeface="Arial"/>
              </a:rPr>
              <a:t>The capable home-coffee upgrader</a:t>
            </a:r>
          </a:p>
        </p:txBody>
      </p:sp>
      <p:sp>
        <p:nvSpPr>
          <p:cNvPr id="3" name="">
            <a:extLst xmlns:a="http://schemas.openxmlformats.org/drawingml/2006/main">
              <a:ext uri="{FF2B5EF4-FFF2-40B4-BE49-F238E27FC236}">
                <a16:creationId xmlns:a16="http://schemas.microsoft.com/office/drawing/2014/main" id="{53147784-C5D3-4ECD-BE35-EBD4F920367D}"/>
              </a:ext>
            </a:extLst>
          </p:cNvPr>
          <p:cNvSpPr>
            <a:spLocks xmlns:a="http://schemas.openxmlformats.org/drawingml/2006/main" noGrp="1"/>
          </p:cNvSpPr>
          <p:nvPr/>
        </p:nvSpPr>
        <p:spPr>
          <a:xfrm xmlns:a="http://schemas.openxmlformats.org/drawingml/2006/main">
            <a:off x="590550" y="2381250"/>
            <a:ext cx="781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i="0">
                <a:solidFill>
                  <a:srgbClr val="17130F"/>
                </a:solidFill>
                <a:latin typeface="Arial"/>
                <a:ea typeface="Arial"/>
                <a:cs typeface="Arial"/>
              </a:defRPr>
            </a:defPPr>
            <a:lvl1pPr algn="l">
              <a:defRPr sz="2175" b="1" i="0">
                <a:solidFill>
                  <a:srgbClr val="17130F"/>
                </a:solidFill>
                <a:latin typeface="Arial"/>
                <a:ea typeface="Arial"/>
                <a:cs typeface="Arial"/>
              </a:defRPr>
            </a:lvl1pPr>
            <a:lvl2pPr algn="l">
              <a:defRPr sz="2175" b="1" i="0">
                <a:solidFill>
                  <a:srgbClr val="17130F"/>
                </a:solidFill>
                <a:latin typeface="Arial"/>
                <a:ea typeface="Arial"/>
                <a:cs typeface="Arial"/>
              </a:defRPr>
            </a:lvl2pPr>
            <a:lvl3pPr algn="l">
              <a:defRPr sz="2175" b="1" i="0">
                <a:solidFill>
                  <a:srgbClr val="17130F"/>
                </a:solidFill>
                <a:latin typeface="Arial"/>
                <a:ea typeface="Arial"/>
                <a:cs typeface="Arial"/>
              </a:defRPr>
            </a:lvl3pPr>
            <a:lvl4pPr algn="l">
              <a:defRPr sz="2175" b="1" i="0">
                <a:solidFill>
                  <a:srgbClr val="17130F"/>
                </a:solidFill>
                <a:latin typeface="Arial"/>
                <a:ea typeface="Arial"/>
                <a:cs typeface="Arial"/>
              </a:defRPr>
            </a:lvl4pPr>
            <a:lvl5pPr algn="l">
              <a:defRPr sz="2175" b="1" i="0">
                <a:solidFill>
                  <a:srgbClr val="17130F"/>
                </a:solidFill>
                <a:latin typeface="Arial"/>
                <a:ea typeface="Arial"/>
                <a:cs typeface="Arial"/>
              </a:defRPr>
            </a:lvl5pPr>
            <a:lvl6pPr algn="l">
              <a:defRPr sz="2175" b="1" i="0">
                <a:solidFill>
                  <a:srgbClr val="17130F"/>
                </a:solidFill>
                <a:latin typeface="Arial"/>
                <a:ea typeface="Arial"/>
                <a:cs typeface="Arial"/>
              </a:defRPr>
            </a:lvl6pPr>
            <a:lvl7pPr algn="l">
              <a:defRPr sz="2175" b="1" i="0">
                <a:solidFill>
                  <a:srgbClr val="17130F"/>
                </a:solidFill>
                <a:latin typeface="Arial"/>
                <a:ea typeface="Arial"/>
                <a:cs typeface="Arial"/>
              </a:defRPr>
            </a:lvl7pPr>
            <a:lvl8pPr algn="l">
              <a:defRPr sz="2175" b="1" i="0">
                <a:solidFill>
                  <a:srgbClr val="17130F"/>
                </a:solidFill>
                <a:latin typeface="Arial"/>
                <a:ea typeface="Arial"/>
                <a:cs typeface="Arial"/>
              </a:defRPr>
            </a:lvl8pPr>
            <a:lvl9pPr algn="l">
              <a:defRPr sz="2175" b="1" i="0">
                <a:solidFill>
                  <a:srgbClr val="17130F"/>
                </a:solidFill>
                <a:latin typeface="Arial"/>
                <a:ea typeface="Arial"/>
                <a:cs typeface="Arial"/>
              </a:defRPr>
            </a:lvl9pPr>
          </a:lstStyle>
          <a:p xmlns:a="http://schemas.openxmlformats.org/drawingml/2006/main">
            <a:pPr algn="l">
              <a:defRPr sz="2175" b="1" i="0">
                <a:solidFill>
                  <a:srgbClr val="17130F"/>
                </a:solidFill>
                <a:latin typeface="Arial"/>
                <a:ea typeface="Arial"/>
                <a:cs typeface="Arial"/>
              </a:defRPr>
            </a:pPr>
            <a:r>
              <a:rPr sz="2175" b="1" i="0">
                <a:solidFill>
                  <a:srgbClr val="17130F"/>
                </a:solidFill>
                <a:latin typeface="Arial"/>
                <a:ea typeface="Arial"/>
                <a:cs typeface="Arial"/>
              </a:rPr>
              <a:t>A plausible audience at a useful commercial moment — but not yet a confirmed Rave segment.</a:t>
            </a:r>
          </a:p>
        </p:txBody>
      </p:sp>
      <p:sp>
        <p:nvSpPr>
          <p:cNvPr id="4" name="">
            <a:extLst xmlns:a="http://schemas.openxmlformats.org/drawingml/2006/main">
              <a:ext uri="{FF2B5EF4-FFF2-40B4-BE49-F238E27FC236}">
                <a16:creationId xmlns:a16="http://schemas.microsoft.com/office/drawing/2014/main" id="{A15B6AEA-610F-4DA8-8DBE-5BC1B456FBCF}"/>
              </a:ext>
            </a:extLst>
          </p:cNvPr>
          <p:cNvSpPr>
            <a:spLocks xmlns:a="http://schemas.openxmlformats.org/drawingml/2006/main" noGrp="1"/>
          </p:cNvSpPr>
          <p:nvPr/>
        </p:nvSpPr>
        <p:spPr>
          <a:xfrm xmlns:a="http://schemas.openxmlformats.org/drawingml/2006/main">
            <a:off x="590550" y="4076700"/>
            <a:ext cx="10287000" cy="28575"/>
          </a:xfrm>
          <a:prstGeom xmlns:a="http://schemas.openxmlformats.org/drawingml/2006/main" prst="rect">
            <a:avLst/>
          </a:prstGeom>
          <a:solidFill xmlns:a="http://schemas.openxmlformats.org/drawingml/2006/main">
            <a:srgbClr val="17130F">
              <a:alpha val="100000"/>
            </a:srgbClr>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85D330-21F0-4834-913D-E50F5C37B33D}"/>
              </a:ext>
            </a:extLst>
          </p:cNvPr>
          <p:cNvSpPr>
            <a:spLocks xmlns:a="http://schemas.openxmlformats.org/drawingml/2006/main" noGrp="1"/>
          </p:cNvSpPr>
          <p:nvPr/>
        </p:nvSpPr>
        <p:spPr>
          <a:xfrm xmlns:a="http://schemas.openxmlformats.org/drawingml/2006/main">
            <a:off x="590550" y="44577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EVIDENCE REQUIRED</a:t>
            </a:r>
          </a:p>
        </p:txBody>
      </p:sp>
      <p:sp>
        <p:nvSpPr>
          <p:cNvPr id="6" name="">
            <a:extLst xmlns:a="http://schemas.openxmlformats.org/drawingml/2006/main">
              <a:ext uri="{FF2B5EF4-FFF2-40B4-BE49-F238E27FC236}">
                <a16:creationId xmlns:a16="http://schemas.microsoft.com/office/drawing/2014/main" id="{E3835F78-8B77-4B3F-9E7C-D7794F8601FC}"/>
              </a:ext>
            </a:extLst>
          </p:cNvPr>
          <p:cNvSpPr>
            <a:spLocks xmlns:a="http://schemas.openxmlformats.org/drawingml/2006/main" noGrp="1"/>
          </p:cNvSpPr>
          <p:nvPr/>
        </p:nvSpPr>
        <p:spPr>
          <a:xfrm xmlns:a="http://schemas.openxmlformats.org/drawingml/2006/main">
            <a:off x="590550" y="4857750"/>
            <a:ext cx="962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7130F"/>
                </a:solidFill>
                <a:latin typeface="Arial"/>
                <a:ea typeface="Arial"/>
                <a:cs typeface="Arial"/>
              </a:defRPr>
            </a:defPPr>
            <a:lvl1pPr algn="l">
              <a:defRPr sz="1725" b="0" i="0">
                <a:solidFill>
                  <a:srgbClr val="17130F"/>
                </a:solidFill>
                <a:latin typeface="Arial"/>
                <a:ea typeface="Arial"/>
                <a:cs typeface="Arial"/>
              </a:defRPr>
            </a:lvl1pPr>
            <a:lvl2pPr algn="l">
              <a:defRPr sz="1725" b="0" i="0">
                <a:solidFill>
                  <a:srgbClr val="17130F"/>
                </a:solidFill>
                <a:latin typeface="Arial"/>
                <a:ea typeface="Arial"/>
                <a:cs typeface="Arial"/>
              </a:defRPr>
            </a:lvl2pPr>
            <a:lvl3pPr algn="l">
              <a:defRPr sz="1725" b="0" i="0">
                <a:solidFill>
                  <a:srgbClr val="17130F"/>
                </a:solidFill>
                <a:latin typeface="Arial"/>
                <a:ea typeface="Arial"/>
                <a:cs typeface="Arial"/>
              </a:defRPr>
            </a:lvl3pPr>
            <a:lvl4pPr algn="l">
              <a:defRPr sz="1725" b="0" i="0">
                <a:solidFill>
                  <a:srgbClr val="17130F"/>
                </a:solidFill>
                <a:latin typeface="Arial"/>
                <a:ea typeface="Arial"/>
                <a:cs typeface="Arial"/>
              </a:defRPr>
            </a:lvl4pPr>
            <a:lvl5pPr algn="l">
              <a:defRPr sz="1725" b="0" i="0">
                <a:solidFill>
                  <a:srgbClr val="17130F"/>
                </a:solidFill>
                <a:latin typeface="Arial"/>
                <a:ea typeface="Arial"/>
                <a:cs typeface="Arial"/>
              </a:defRPr>
            </a:lvl5pPr>
            <a:lvl6pPr algn="l">
              <a:defRPr sz="1725" b="0" i="0">
                <a:solidFill>
                  <a:srgbClr val="17130F"/>
                </a:solidFill>
                <a:latin typeface="Arial"/>
                <a:ea typeface="Arial"/>
                <a:cs typeface="Arial"/>
              </a:defRPr>
            </a:lvl6pPr>
            <a:lvl7pPr algn="l">
              <a:defRPr sz="1725" b="0" i="0">
                <a:solidFill>
                  <a:srgbClr val="17130F"/>
                </a:solidFill>
                <a:latin typeface="Arial"/>
                <a:ea typeface="Arial"/>
                <a:cs typeface="Arial"/>
              </a:defRPr>
            </a:lvl7pPr>
            <a:lvl8pPr algn="l">
              <a:defRPr sz="1725" b="0" i="0">
                <a:solidFill>
                  <a:srgbClr val="17130F"/>
                </a:solidFill>
                <a:latin typeface="Arial"/>
                <a:ea typeface="Arial"/>
                <a:cs typeface="Arial"/>
              </a:defRPr>
            </a:lvl8pPr>
            <a:lvl9pPr algn="l">
              <a:defRPr sz="1725" b="0" i="0">
                <a:solidFill>
                  <a:srgbClr val="17130F"/>
                </a:solidFill>
                <a:latin typeface="Arial"/>
                <a:ea typeface="Arial"/>
                <a:cs typeface="Arial"/>
              </a:defRPr>
            </a:lvl9pPr>
          </a:lstStyle>
          <a:p xmlns:a="http://schemas.openxmlformats.org/drawingml/2006/main">
            <a:pPr algn="l">
              <a:defRPr sz="1725" b="0" i="0">
                <a:solidFill>
                  <a:srgbClr val="17130F"/>
                </a:solidFill>
                <a:latin typeface="Arial"/>
                <a:ea typeface="Arial"/>
                <a:cs typeface="Arial"/>
              </a:defRPr>
            </a:pPr>
            <a:r>
              <a:rPr sz="1725" b="0" i="0">
                <a:solidFill>
                  <a:srgbClr val="17130F"/>
                </a:solidFill>
                <a:latin typeface="Arial"/>
                <a:ea typeface="Arial"/>
                <a:cs typeface="Arial"/>
              </a:rPr>
              <a:t>Validate against CRM cohorts, purchase sequence and customer interviews before campaign design.</a:t>
            </a:r>
          </a:p>
        </p:txBody>
      </p:sp>
      <p:sp>
        <p:nvSpPr>
          <p:cNvPr id="7" name="">
            <a:extLst xmlns:a="http://schemas.openxmlformats.org/drawingml/2006/main">
              <a:ext uri="{FF2B5EF4-FFF2-40B4-BE49-F238E27FC236}">
                <a16:creationId xmlns:a16="http://schemas.microsoft.com/office/drawing/2014/main" id="{D76A8051-F890-40CA-B98D-9CEFEC5CD544}"/>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E665D"/>
                </a:solidFill>
                <a:latin typeface="Arial"/>
                <a:ea typeface="Arial"/>
                <a:cs typeface="Arial"/>
              </a:defRPr>
            </a:defPPr>
            <a:lvl1pPr algn="l">
              <a:defRPr sz="675" b="1" i="0">
                <a:solidFill>
                  <a:srgbClr val="6E665D"/>
                </a:solidFill>
                <a:latin typeface="Arial"/>
                <a:ea typeface="Arial"/>
                <a:cs typeface="Arial"/>
              </a:defRPr>
            </a:lvl1pPr>
            <a:lvl2pPr algn="l">
              <a:defRPr sz="675" b="1" i="0">
                <a:solidFill>
                  <a:srgbClr val="6E665D"/>
                </a:solidFill>
                <a:latin typeface="Arial"/>
                <a:ea typeface="Arial"/>
                <a:cs typeface="Arial"/>
              </a:defRPr>
            </a:lvl2pPr>
            <a:lvl3pPr algn="l">
              <a:defRPr sz="675" b="1" i="0">
                <a:solidFill>
                  <a:srgbClr val="6E665D"/>
                </a:solidFill>
                <a:latin typeface="Arial"/>
                <a:ea typeface="Arial"/>
                <a:cs typeface="Arial"/>
              </a:defRPr>
            </a:lvl3pPr>
            <a:lvl4pPr algn="l">
              <a:defRPr sz="675" b="1" i="0">
                <a:solidFill>
                  <a:srgbClr val="6E665D"/>
                </a:solidFill>
                <a:latin typeface="Arial"/>
                <a:ea typeface="Arial"/>
                <a:cs typeface="Arial"/>
              </a:defRPr>
            </a:lvl4pPr>
            <a:lvl5pPr algn="l">
              <a:defRPr sz="675" b="1" i="0">
                <a:solidFill>
                  <a:srgbClr val="6E665D"/>
                </a:solidFill>
                <a:latin typeface="Arial"/>
                <a:ea typeface="Arial"/>
                <a:cs typeface="Arial"/>
              </a:defRPr>
            </a:lvl5pPr>
            <a:lvl6pPr algn="l">
              <a:defRPr sz="675" b="1" i="0">
                <a:solidFill>
                  <a:srgbClr val="6E665D"/>
                </a:solidFill>
                <a:latin typeface="Arial"/>
                <a:ea typeface="Arial"/>
                <a:cs typeface="Arial"/>
              </a:defRPr>
            </a:lvl6pPr>
            <a:lvl7pPr algn="l">
              <a:defRPr sz="675" b="1" i="0">
                <a:solidFill>
                  <a:srgbClr val="6E665D"/>
                </a:solidFill>
                <a:latin typeface="Arial"/>
                <a:ea typeface="Arial"/>
                <a:cs typeface="Arial"/>
              </a:defRPr>
            </a:lvl7pPr>
            <a:lvl8pPr algn="l">
              <a:defRPr sz="675" b="1" i="0">
                <a:solidFill>
                  <a:srgbClr val="6E665D"/>
                </a:solidFill>
                <a:latin typeface="Arial"/>
                <a:ea typeface="Arial"/>
                <a:cs typeface="Arial"/>
              </a:defRPr>
            </a:lvl8pPr>
            <a:lvl9pPr algn="l">
              <a:defRPr sz="675" b="1" i="0">
                <a:solidFill>
                  <a:srgbClr val="6E665D"/>
                </a:solidFill>
                <a:latin typeface="Arial"/>
                <a:ea typeface="Arial"/>
                <a:cs typeface="Arial"/>
              </a:defRPr>
            </a:lvl9pPr>
          </a:lstStyle>
          <a:p xmlns:a="http://schemas.openxmlformats.org/drawingml/2006/main">
            <a:pPr algn="l">
              <a:defRPr sz="675" b="1" i="0">
                <a:solidFill>
                  <a:srgbClr val="6E665D"/>
                </a:solidFill>
                <a:latin typeface="Arial"/>
                <a:ea typeface="Arial"/>
                <a:cs typeface="Arial"/>
              </a:defRPr>
            </a:pPr>
            <a:r>
              <a:rPr sz="675" b="1" i="0">
                <a:solidFill>
                  <a:srgbClr val="6E665D"/>
                </a:solidFill>
                <a:latin typeface="Arial"/>
                <a:ea typeface="Arial"/>
                <a:cs typeface="Arial"/>
              </a:rPr>
              <a:t>FIELDWORK / RAVE COFFEE / INTERNAL CALIBRATION</a:t>
            </a:r>
          </a:p>
        </p:txBody>
      </p:sp>
      <p:sp>
        <p:nvSpPr>
          <p:cNvPr id="8" name="">
            <a:extLst xmlns:a="http://schemas.openxmlformats.org/drawingml/2006/main">
              <a:ext uri="{FF2B5EF4-FFF2-40B4-BE49-F238E27FC236}">
                <a16:creationId xmlns:a16="http://schemas.microsoft.com/office/drawing/2014/main" id="{60E44F7B-52F9-473D-B7AB-89DCDFBA2D0E}"/>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AUDIENCE HYPOTHESIS / NOT A VERIFIED SEGMENT</a:t>
            </a:r>
          </a:p>
        </p:txBody>
      </p:sp>
      <p:sp>
        <p:nvSpPr>
          <p:cNvPr id="9" name="">
            <a:extLst xmlns:a="http://schemas.openxmlformats.org/drawingml/2006/main">
              <a:ext uri="{FF2B5EF4-FFF2-40B4-BE49-F238E27FC236}">
                <a16:creationId xmlns:a16="http://schemas.microsoft.com/office/drawing/2014/main" id="{62229B44-A285-46D5-B8EE-26C20C71F160}"/>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04 / 05</a:t>
            </a:r>
          </a:p>
        </p:txBody>
      </p:sp>
    </p:spTree>
    <p:extLst>
      <p:ext uri="{BB962C8B-B14F-4D97-AF65-F5344CB8AC3E}">
        <p14:creationId xmlns:p14="http://schemas.microsoft.com/office/powerpoint/2010/main" val="1800505900"/>
      </p:ext>
    </p:extLst>
  </p:cSld>
</p:sld>
</file>

<file path=ppt/slides/slide5.xml><?xml version="1.0" encoding="utf-8"?>
<p:sld xmlns:p="http://schemas.openxmlformats.org/presentationml/2006/main">
  <p:cSld>
    <p:bg>
      <p:bgPr>
        <a:solidFill xmlns:a="http://schemas.openxmlformats.org/drawingml/2006/main">
          <a:srgbClr val="F5EFE3"/>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BD651E6-2012-4D15-A195-7B14BF990D32}"/>
              </a:ext>
            </a:extLst>
          </p:cNvPr>
          <p:cNvPicPr>
            <a:picLocks xmlns:a="http://schemas.openxmlformats.org/drawingml/2006/main" noChangeAspect="1"/>
          </p:cNvPicPr>
          <p:nvPr/>
        </p:nvPicPr>
        <p:blipFill>
          <a:blip xmlns:r="http://schemas.openxmlformats.org/officeDocument/2006/relationships" xmlns:a="http://schemas.openxmlformats.org/drawingml/2006/main" r:embed="R8a7fa62df6024015"/>
          <a:srcRect xmlns:a="http://schemas.openxmlformats.org/drawingml/2006/main" l="29090" t="0" r="29090" b="0"/>
          <a:stretch xmlns:a="http://schemas.openxmlformats.org/drawingml/2006/main">
            <a:fillRect l="0" t="0" r="0" b="0"/>
          </a:stretch>
        </p:blipFill>
        <p:spPr>
          <a:xfrm xmlns:a="http://schemas.openxmlformats.org/drawingml/2006/main">
            <a:off x="7096125" y="0"/>
            <a:ext cx="5095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A28E7E-5163-4CAD-9A1F-E2A10B161720}"/>
              </a:ext>
            </a:extLst>
          </p:cNvPr>
          <p:cNvSpPr>
            <a:spLocks xmlns:a="http://schemas.openxmlformats.org/drawingml/2006/main" noGrp="1"/>
          </p:cNvSpPr>
          <p:nvPr/>
        </p:nvSpPr>
        <p:spPr>
          <a:xfrm xmlns:a="http://schemas.openxmlformats.org/drawingml/2006/main">
            <a:off x="0" y="0"/>
            <a:ext cx="8382000" cy="6858000"/>
          </a:xfrm>
          <a:prstGeom xmlns:a="http://schemas.openxmlformats.org/drawingml/2006/main" prst="rect">
            <a:avLst/>
          </a:prstGeom>
          <a:solidFill xmlns:a="http://schemas.openxmlformats.org/drawingml/2006/main">
            <a:srgbClr val="F5EFE3">
              <a:alpha val="9607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339DED-F34C-41E4-9D0E-72189854FD34}"/>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05 / THE STRATEGIC DIRECTION</a:t>
            </a:r>
          </a:p>
        </p:txBody>
      </p:sp>
      <p:sp>
        <p:nvSpPr>
          <p:cNvPr id="4" name="">
            <a:extLst xmlns:a="http://schemas.openxmlformats.org/drawingml/2006/main">
              <a:ext uri="{FF2B5EF4-FFF2-40B4-BE49-F238E27FC236}">
                <a16:creationId xmlns:a16="http://schemas.microsoft.com/office/drawing/2014/main" id="{E04B64C8-C394-48DA-A556-4819BA562413}"/>
              </a:ext>
            </a:extLst>
          </p:cNvPr>
          <p:cNvSpPr>
            <a:spLocks xmlns:a="http://schemas.openxmlformats.org/drawingml/2006/main" noGrp="1"/>
          </p:cNvSpPr>
          <p:nvPr/>
        </p:nvSpPr>
        <p:spPr>
          <a:xfrm xmlns:a="http://schemas.openxmlformats.org/drawingml/2006/main">
            <a:off x="590550" y="1085850"/>
            <a:ext cx="847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575" b="1" i="0">
                <a:solidFill>
                  <a:srgbClr val="17130F"/>
                </a:solidFill>
                <a:latin typeface="Arial"/>
                <a:ea typeface="Arial"/>
                <a:cs typeface="Arial"/>
              </a:defRPr>
            </a:defPPr>
            <a:lvl1pPr algn="l">
              <a:defRPr sz="4575" b="1" i="0">
                <a:solidFill>
                  <a:srgbClr val="17130F"/>
                </a:solidFill>
                <a:latin typeface="Arial"/>
                <a:ea typeface="Arial"/>
                <a:cs typeface="Arial"/>
              </a:defRPr>
            </a:lvl1pPr>
            <a:lvl2pPr algn="l">
              <a:defRPr sz="4575" b="1" i="0">
                <a:solidFill>
                  <a:srgbClr val="17130F"/>
                </a:solidFill>
                <a:latin typeface="Arial"/>
                <a:ea typeface="Arial"/>
                <a:cs typeface="Arial"/>
              </a:defRPr>
            </a:lvl2pPr>
            <a:lvl3pPr algn="l">
              <a:defRPr sz="4575" b="1" i="0">
                <a:solidFill>
                  <a:srgbClr val="17130F"/>
                </a:solidFill>
                <a:latin typeface="Arial"/>
                <a:ea typeface="Arial"/>
                <a:cs typeface="Arial"/>
              </a:defRPr>
            </a:lvl3pPr>
            <a:lvl4pPr algn="l">
              <a:defRPr sz="4575" b="1" i="0">
                <a:solidFill>
                  <a:srgbClr val="17130F"/>
                </a:solidFill>
                <a:latin typeface="Arial"/>
                <a:ea typeface="Arial"/>
                <a:cs typeface="Arial"/>
              </a:defRPr>
            </a:lvl4pPr>
            <a:lvl5pPr algn="l">
              <a:defRPr sz="4575" b="1" i="0">
                <a:solidFill>
                  <a:srgbClr val="17130F"/>
                </a:solidFill>
                <a:latin typeface="Arial"/>
                <a:ea typeface="Arial"/>
                <a:cs typeface="Arial"/>
              </a:defRPr>
            </a:lvl5pPr>
            <a:lvl6pPr algn="l">
              <a:defRPr sz="4575" b="1" i="0">
                <a:solidFill>
                  <a:srgbClr val="17130F"/>
                </a:solidFill>
                <a:latin typeface="Arial"/>
                <a:ea typeface="Arial"/>
                <a:cs typeface="Arial"/>
              </a:defRPr>
            </a:lvl6pPr>
            <a:lvl7pPr algn="l">
              <a:defRPr sz="4575" b="1" i="0">
                <a:solidFill>
                  <a:srgbClr val="17130F"/>
                </a:solidFill>
                <a:latin typeface="Arial"/>
                <a:ea typeface="Arial"/>
                <a:cs typeface="Arial"/>
              </a:defRPr>
            </a:lvl7pPr>
            <a:lvl8pPr algn="l">
              <a:defRPr sz="4575" b="1" i="0">
                <a:solidFill>
                  <a:srgbClr val="17130F"/>
                </a:solidFill>
                <a:latin typeface="Arial"/>
                <a:ea typeface="Arial"/>
                <a:cs typeface="Arial"/>
              </a:defRPr>
            </a:lvl8pPr>
            <a:lvl9pPr algn="l">
              <a:defRPr sz="4575" b="1" i="0">
                <a:solidFill>
                  <a:srgbClr val="17130F"/>
                </a:solidFill>
                <a:latin typeface="Arial"/>
                <a:ea typeface="Arial"/>
                <a:cs typeface="Arial"/>
              </a:defRPr>
            </a:lvl9pPr>
          </a:lstStyle>
          <a:p xmlns:a="http://schemas.openxmlformats.org/drawingml/2006/main">
            <a:pPr algn="l">
              <a:defRPr sz="4575" b="1" i="0">
                <a:solidFill>
                  <a:srgbClr val="17130F"/>
                </a:solidFill>
                <a:latin typeface="Arial"/>
                <a:ea typeface="Arial"/>
                <a:cs typeface="Arial"/>
              </a:defRPr>
            </a:pPr>
            <a:r>
              <a:rPr sz="4575" b="1" i="0">
                <a:solidFill>
                  <a:srgbClr val="17130F"/>
                </a:solidFill>
                <a:latin typeface="Arial"/>
                <a:ea typeface="Arial"/>
                <a:cs typeface="Arial"/>
              </a:rPr>
              <a:t>PROVE THE PATH.</a:t>
            </a:r>
          </a:p>
        </p:txBody>
      </p:sp>
      <p:sp>
        <p:nvSpPr>
          <p:cNvPr id="5" name="">
            <a:extLst xmlns:a="http://schemas.openxmlformats.org/drawingml/2006/main">
              <a:ext uri="{FF2B5EF4-FFF2-40B4-BE49-F238E27FC236}">
                <a16:creationId xmlns:a16="http://schemas.microsoft.com/office/drawing/2014/main" id="{2D5C00C4-9D88-45E5-A3B7-0EDE4D829B5C}"/>
              </a:ext>
            </a:extLst>
          </p:cNvPr>
          <p:cNvSpPr>
            <a:spLocks xmlns:a="http://schemas.openxmlformats.org/drawingml/2006/main" noGrp="1"/>
          </p:cNvSpPr>
          <p:nvPr/>
        </p:nvSpPr>
        <p:spPr>
          <a:xfrm xmlns:a="http://schemas.openxmlformats.org/drawingml/2006/main">
            <a:off x="590550" y="2343150"/>
            <a:ext cx="723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1738A3"/>
                </a:solidFill>
                <a:latin typeface="Arial"/>
                <a:ea typeface="Arial"/>
                <a:cs typeface="Arial"/>
              </a:defRPr>
            </a:defPPr>
            <a:lvl1pPr algn="l">
              <a:defRPr sz="2250" b="1" i="0">
                <a:solidFill>
                  <a:srgbClr val="1738A3"/>
                </a:solidFill>
                <a:latin typeface="Arial"/>
                <a:ea typeface="Arial"/>
                <a:cs typeface="Arial"/>
              </a:defRPr>
            </a:lvl1pPr>
            <a:lvl2pPr algn="l">
              <a:defRPr sz="2250" b="1" i="0">
                <a:solidFill>
                  <a:srgbClr val="1738A3"/>
                </a:solidFill>
                <a:latin typeface="Arial"/>
                <a:ea typeface="Arial"/>
                <a:cs typeface="Arial"/>
              </a:defRPr>
            </a:lvl2pPr>
            <a:lvl3pPr algn="l">
              <a:defRPr sz="2250" b="1" i="0">
                <a:solidFill>
                  <a:srgbClr val="1738A3"/>
                </a:solidFill>
                <a:latin typeface="Arial"/>
                <a:ea typeface="Arial"/>
                <a:cs typeface="Arial"/>
              </a:defRPr>
            </a:lvl3pPr>
            <a:lvl4pPr algn="l">
              <a:defRPr sz="2250" b="1" i="0">
                <a:solidFill>
                  <a:srgbClr val="1738A3"/>
                </a:solidFill>
                <a:latin typeface="Arial"/>
                <a:ea typeface="Arial"/>
                <a:cs typeface="Arial"/>
              </a:defRPr>
            </a:lvl4pPr>
            <a:lvl5pPr algn="l">
              <a:defRPr sz="2250" b="1" i="0">
                <a:solidFill>
                  <a:srgbClr val="1738A3"/>
                </a:solidFill>
                <a:latin typeface="Arial"/>
                <a:ea typeface="Arial"/>
                <a:cs typeface="Arial"/>
              </a:defRPr>
            </a:lvl5pPr>
            <a:lvl6pPr algn="l">
              <a:defRPr sz="2250" b="1" i="0">
                <a:solidFill>
                  <a:srgbClr val="1738A3"/>
                </a:solidFill>
                <a:latin typeface="Arial"/>
                <a:ea typeface="Arial"/>
                <a:cs typeface="Arial"/>
              </a:defRPr>
            </a:lvl6pPr>
            <a:lvl7pPr algn="l">
              <a:defRPr sz="2250" b="1" i="0">
                <a:solidFill>
                  <a:srgbClr val="1738A3"/>
                </a:solidFill>
                <a:latin typeface="Arial"/>
                <a:ea typeface="Arial"/>
                <a:cs typeface="Arial"/>
              </a:defRPr>
            </a:lvl7pPr>
            <a:lvl8pPr algn="l">
              <a:defRPr sz="2250" b="1" i="0">
                <a:solidFill>
                  <a:srgbClr val="1738A3"/>
                </a:solidFill>
                <a:latin typeface="Arial"/>
                <a:ea typeface="Arial"/>
                <a:cs typeface="Arial"/>
              </a:defRPr>
            </a:lvl8pPr>
            <a:lvl9pPr algn="l">
              <a:defRPr sz="2250" b="1" i="0">
                <a:solidFill>
                  <a:srgbClr val="1738A3"/>
                </a:solidFill>
                <a:latin typeface="Arial"/>
                <a:ea typeface="Arial"/>
                <a:cs typeface="Arial"/>
              </a:defRPr>
            </a:lvl9pPr>
          </a:lstStyle>
          <a:p xmlns:a="http://schemas.openxmlformats.org/drawingml/2006/main">
            <a:pPr algn="l">
              <a:defRPr sz="2250" b="1" i="0">
                <a:solidFill>
                  <a:srgbClr val="1738A3"/>
                </a:solidFill>
                <a:latin typeface="Arial"/>
                <a:ea typeface="Arial"/>
                <a:cs typeface="Arial"/>
              </a:defRPr>
            </a:pPr>
            <a:r>
              <a:rPr sz="2250" b="1" i="0">
                <a:solidFill>
                  <a:srgbClr val="1738A3"/>
                </a:solidFill>
                <a:latin typeface="Arial"/>
                <a:ea typeface="Arial"/>
                <a:cs typeface="Arial"/>
              </a:rPr>
              <a:t>Test one guided route from first choice to repeat to discovery before adding offers, changing positioning or scaling acquisition.</a:t>
            </a:r>
          </a:p>
        </p:txBody>
      </p:sp>
      <p:sp>
        <p:nvSpPr>
          <p:cNvPr id="6" name="">
            <a:extLst xmlns:a="http://schemas.openxmlformats.org/drawingml/2006/main">
              <a:ext uri="{FF2B5EF4-FFF2-40B4-BE49-F238E27FC236}">
                <a16:creationId xmlns:a16="http://schemas.microsoft.com/office/drawing/2014/main" id="{CD0F81F6-999C-4098-A945-651133BDE47D}"/>
              </a:ext>
            </a:extLst>
          </p:cNvPr>
          <p:cNvSpPr>
            <a:spLocks xmlns:a="http://schemas.openxmlformats.org/drawingml/2006/main" noGrp="1"/>
          </p:cNvSpPr>
          <p:nvPr/>
        </p:nvSpPr>
        <p:spPr>
          <a:xfrm xmlns:a="http://schemas.openxmlformats.org/drawingml/2006/main">
            <a:off x="590550" y="42481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1738A3"/>
                </a:solidFill>
                <a:latin typeface="Arial"/>
                <a:ea typeface="Arial"/>
                <a:cs typeface="Arial"/>
              </a:defRPr>
            </a:defPPr>
            <a:lvl1pPr algn="l">
              <a:defRPr sz="825" b="1" i="0">
                <a:solidFill>
                  <a:srgbClr val="1738A3"/>
                </a:solidFill>
                <a:latin typeface="Arial"/>
                <a:ea typeface="Arial"/>
                <a:cs typeface="Arial"/>
              </a:defRPr>
            </a:lvl1pPr>
            <a:lvl2pPr algn="l">
              <a:defRPr sz="825" b="1" i="0">
                <a:solidFill>
                  <a:srgbClr val="1738A3"/>
                </a:solidFill>
                <a:latin typeface="Arial"/>
                <a:ea typeface="Arial"/>
                <a:cs typeface="Arial"/>
              </a:defRPr>
            </a:lvl2pPr>
            <a:lvl3pPr algn="l">
              <a:defRPr sz="825" b="1" i="0">
                <a:solidFill>
                  <a:srgbClr val="1738A3"/>
                </a:solidFill>
                <a:latin typeface="Arial"/>
                <a:ea typeface="Arial"/>
                <a:cs typeface="Arial"/>
              </a:defRPr>
            </a:lvl3pPr>
            <a:lvl4pPr algn="l">
              <a:defRPr sz="825" b="1" i="0">
                <a:solidFill>
                  <a:srgbClr val="1738A3"/>
                </a:solidFill>
                <a:latin typeface="Arial"/>
                <a:ea typeface="Arial"/>
                <a:cs typeface="Arial"/>
              </a:defRPr>
            </a:lvl4pPr>
            <a:lvl5pPr algn="l">
              <a:defRPr sz="825" b="1" i="0">
                <a:solidFill>
                  <a:srgbClr val="1738A3"/>
                </a:solidFill>
                <a:latin typeface="Arial"/>
                <a:ea typeface="Arial"/>
                <a:cs typeface="Arial"/>
              </a:defRPr>
            </a:lvl5pPr>
            <a:lvl6pPr algn="l">
              <a:defRPr sz="825" b="1" i="0">
                <a:solidFill>
                  <a:srgbClr val="1738A3"/>
                </a:solidFill>
                <a:latin typeface="Arial"/>
                <a:ea typeface="Arial"/>
                <a:cs typeface="Arial"/>
              </a:defRPr>
            </a:lvl6pPr>
            <a:lvl7pPr algn="l">
              <a:defRPr sz="825" b="1" i="0">
                <a:solidFill>
                  <a:srgbClr val="1738A3"/>
                </a:solidFill>
                <a:latin typeface="Arial"/>
                <a:ea typeface="Arial"/>
                <a:cs typeface="Arial"/>
              </a:defRPr>
            </a:lvl7pPr>
            <a:lvl8pPr algn="l">
              <a:defRPr sz="825" b="1" i="0">
                <a:solidFill>
                  <a:srgbClr val="1738A3"/>
                </a:solidFill>
                <a:latin typeface="Arial"/>
                <a:ea typeface="Arial"/>
                <a:cs typeface="Arial"/>
              </a:defRPr>
            </a:lvl8pPr>
            <a:lvl9pPr algn="l">
              <a:defRPr sz="825" b="1" i="0">
                <a:solidFill>
                  <a:srgbClr val="1738A3"/>
                </a:solidFill>
                <a:latin typeface="Arial"/>
                <a:ea typeface="Arial"/>
                <a:cs typeface="Arial"/>
              </a:defRPr>
            </a:lvl9pPr>
          </a:lstStyle>
          <a:p xmlns:a="http://schemas.openxmlformats.org/drawingml/2006/main">
            <a:pPr algn="l">
              <a:defRPr sz="825" b="1" i="0">
                <a:solidFill>
                  <a:srgbClr val="1738A3"/>
                </a:solidFill>
                <a:latin typeface="Arial"/>
                <a:ea typeface="Arial"/>
                <a:cs typeface="Arial"/>
              </a:defRPr>
            </a:pPr>
            <a:r>
              <a:rPr sz="825" b="1" i="0">
                <a:solidFill>
                  <a:srgbClr val="1738A3"/>
                </a:solidFill>
                <a:latin typeface="Arial"/>
                <a:ea typeface="Arial"/>
                <a:cs typeface="Arial"/>
              </a:rPr>
              <a:t>THE TRADE-OFF</a:t>
            </a:r>
          </a:p>
        </p:txBody>
      </p:sp>
      <p:sp>
        <p:nvSpPr>
          <p:cNvPr id="7" name="">
            <a:extLst xmlns:a="http://schemas.openxmlformats.org/drawingml/2006/main">
              <a:ext uri="{FF2B5EF4-FFF2-40B4-BE49-F238E27FC236}">
                <a16:creationId xmlns:a16="http://schemas.microsoft.com/office/drawing/2014/main" id="{0E1E9E14-9D87-49B7-94B6-F28EDF286C93}"/>
              </a:ext>
            </a:extLst>
          </p:cNvPr>
          <p:cNvSpPr>
            <a:spLocks xmlns:a="http://schemas.openxmlformats.org/drawingml/2006/main" noGrp="1"/>
          </p:cNvSpPr>
          <p:nvPr/>
        </p:nvSpPr>
        <p:spPr>
          <a:xfrm xmlns:a="http://schemas.openxmlformats.org/drawingml/2006/main">
            <a:off x="590550" y="4591050"/>
            <a:ext cx="733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0" i="0">
                <a:solidFill>
                  <a:srgbClr val="17130F"/>
                </a:solidFill>
                <a:latin typeface="Arial"/>
                <a:ea typeface="Arial"/>
                <a:cs typeface="Arial"/>
              </a:defRPr>
            </a:defPPr>
            <a:lvl1pPr algn="l">
              <a:defRPr sz="1500" b="0" i="0">
                <a:solidFill>
                  <a:srgbClr val="17130F"/>
                </a:solidFill>
                <a:latin typeface="Arial"/>
                <a:ea typeface="Arial"/>
                <a:cs typeface="Arial"/>
              </a:defRPr>
            </a:lvl1pPr>
            <a:lvl2pPr algn="l">
              <a:defRPr sz="1500" b="0" i="0">
                <a:solidFill>
                  <a:srgbClr val="17130F"/>
                </a:solidFill>
                <a:latin typeface="Arial"/>
                <a:ea typeface="Arial"/>
                <a:cs typeface="Arial"/>
              </a:defRPr>
            </a:lvl2pPr>
            <a:lvl3pPr algn="l">
              <a:defRPr sz="1500" b="0" i="0">
                <a:solidFill>
                  <a:srgbClr val="17130F"/>
                </a:solidFill>
                <a:latin typeface="Arial"/>
                <a:ea typeface="Arial"/>
                <a:cs typeface="Arial"/>
              </a:defRPr>
            </a:lvl3pPr>
            <a:lvl4pPr algn="l">
              <a:defRPr sz="1500" b="0" i="0">
                <a:solidFill>
                  <a:srgbClr val="17130F"/>
                </a:solidFill>
                <a:latin typeface="Arial"/>
                <a:ea typeface="Arial"/>
                <a:cs typeface="Arial"/>
              </a:defRPr>
            </a:lvl4pPr>
            <a:lvl5pPr algn="l">
              <a:defRPr sz="1500" b="0" i="0">
                <a:solidFill>
                  <a:srgbClr val="17130F"/>
                </a:solidFill>
                <a:latin typeface="Arial"/>
                <a:ea typeface="Arial"/>
                <a:cs typeface="Arial"/>
              </a:defRPr>
            </a:lvl5pPr>
            <a:lvl6pPr algn="l">
              <a:defRPr sz="1500" b="0" i="0">
                <a:solidFill>
                  <a:srgbClr val="17130F"/>
                </a:solidFill>
                <a:latin typeface="Arial"/>
                <a:ea typeface="Arial"/>
                <a:cs typeface="Arial"/>
              </a:defRPr>
            </a:lvl6pPr>
            <a:lvl7pPr algn="l">
              <a:defRPr sz="1500" b="0" i="0">
                <a:solidFill>
                  <a:srgbClr val="17130F"/>
                </a:solidFill>
                <a:latin typeface="Arial"/>
                <a:ea typeface="Arial"/>
                <a:cs typeface="Arial"/>
              </a:defRPr>
            </a:lvl7pPr>
            <a:lvl8pPr algn="l">
              <a:defRPr sz="1500" b="0" i="0">
                <a:solidFill>
                  <a:srgbClr val="17130F"/>
                </a:solidFill>
                <a:latin typeface="Arial"/>
                <a:ea typeface="Arial"/>
                <a:cs typeface="Arial"/>
              </a:defRPr>
            </a:lvl8pPr>
            <a:lvl9pPr algn="l">
              <a:defRPr sz="1500" b="0" i="0">
                <a:solidFill>
                  <a:srgbClr val="17130F"/>
                </a:solidFill>
                <a:latin typeface="Arial"/>
                <a:ea typeface="Arial"/>
                <a:cs typeface="Arial"/>
              </a:defRPr>
            </a:lvl9pPr>
          </a:lstStyle>
          <a:p xmlns:a="http://schemas.openxmlformats.org/drawingml/2006/main">
            <a:pPr algn="l">
              <a:defRPr sz="1500" b="0" i="0">
                <a:solidFill>
                  <a:srgbClr val="17130F"/>
                </a:solidFill>
                <a:latin typeface="Arial"/>
                <a:ea typeface="Arial"/>
                <a:cs typeface="Arial"/>
              </a:defRPr>
            </a:pPr>
            <a:r>
              <a:rPr sz="1500" b="0" i="0">
                <a:solidFill>
                  <a:srgbClr val="17130F"/>
                </a:solidFill>
                <a:latin typeface="Arial"/>
                <a:ea typeface="Arial"/>
                <a:cs typeface="Arial"/>
              </a:rPr>
              <a:t>Focusing on one progression path temporarily de-emphasises other live routes (wholesale, gifting, rare releases), and delays broader positioning work until the test produces data.</a:t>
            </a:r>
          </a:p>
        </p:txBody>
      </p:sp>
      <p:sp>
        <p:nvSpPr>
          <p:cNvPr id="8" name="">
            <a:extLst xmlns:a="http://schemas.openxmlformats.org/drawingml/2006/main">
              <a:ext uri="{FF2B5EF4-FFF2-40B4-BE49-F238E27FC236}">
                <a16:creationId xmlns:a16="http://schemas.microsoft.com/office/drawing/2014/main" id="{CB19679E-C586-411E-A00B-EC0C6CFFF1FF}"/>
              </a:ext>
            </a:extLst>
          </p:cNvPr>
          <p:cNvSpPr>
            <a:spLocks xmlns:a="http://schemas.openxmlformats.org/drawingml/2006/main" noGrp="1"/>
          </p:cNvSpPr>
          <p:nvPr/>
        </p:nvSpPr>
        <p:spPr>
          <a:xfrm xmlns:a="http://schemas.openxmlformats.org/drawingml/2006/main">
            <a:off x="590550" y="586740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1738A3"/>
                </a:solidFill>
                <a:latin typeface="Arial"/>
                <a:ea typeface="Arial"/>
                <a:cs typeface="Arial"/>
              </a:defRPr>
            </a:defPPr>
            <a:lvl1pPr algn="l">
              <a:defRPr sz="900" b="1" i="0">
                <a:solidFill>
                  <a:srgbClr val="1738A3"/>
                </a:solidFill>
                <a:latin typeface="Arial"/>
                <a:ea typeface="Arial"/>
                <a:cs typeface="Arial"/>
              </a:defRPr>
            </a:lvl1pPr>
            <a:lvl2pPr algn="l">
              <a:defRPr sz="900" b="1" i="0">
                <a:solidFill>
                  <a:srgbClr val="1738A3"/>
                </a:solidFill>
                <a:latin typeface="Arial"/>
                <a:ea typeface="Arial"/>
                <a:cs typeface="Arial"/>
              </a:defRPr>
            </a:lvl2pPr>
            <a:lvl3pPr algn="l">
              <a:defRPr sz="900" b="1" i="0">
                <a:solidFill>
                  <a:srgbClr val="1738A3"/>
                </a:solidFill>
                <a:latin typeface="Arial"/>
                <a:ea typeface="Arial"/>
                <a:cs typeface="Arial"/>
              </a:defRPr>
            </a:lvl3pPr>
            <a:lvl4pPr algn="l">
              <a:defRPr sz="900" b="1" i="0">
                <a:solidFill>
                  <a:srgbClr val="1738A3"/>
                </a:solidFill>
                <a:latin typeface="Arial"/>
                <a:ea typeface="Arial"/>
                <a:cs typeface="Arial"/>
              </a:defRPr>
            </a:lvl4pPr>
            <a:lvl5pPr algn="l">
              <a:defRPr sz="900" b="1" i="0">
                <a:solidFill>
                  <a:srgbClr val="1738A3"/>
                </a:solidFill>
                <a:latin typeface="Arial"/>
                <a:ea typeface="Arial"/>
                <a:cs typeface="Arial"/>
              </a:defRPr>
            </a:lvl5pPr>
            <a:lvl6pPr algn="l">
              <a:defRPr sz="900" b="1" i="0">
                <a:solidFill>
                  <a:srgbClr val="1738A3"/>
                </a:solidFill>
                <a:latin typeface="Arial"/>
                <a:ea typeface="Arial"/>
                <a:cs typeface="Arial"/>
              </a:defRPr>
            </a:lvl6pPr>
            <a:lvl7pPr algn="l">
              <a:defRPr sz="900" b="1" i="0">
                <a:solidFill>
                  <a:srgbClr val="1738A3"/>
                </a:solidFill>
                <a:latin typeface="Arial"/>
                <a:ea typeface="Arial"/>
                <a:cs typeface="Arial"/>
              </a:defRPr>
            </a:lvl7pPr>
            <a:lvl8pPr algn="l">
              <a:defRPr sz="900" b="1" i="0">
                <a:solidFill>
                  <a:srgbClr val="1738A3"/>
                </a:solidFill>
                <a:latin typeface="Arial"/>
                <a:ea typeface="Arial"/>
                <a:cs typeface="Arial"/>
              </a:defRPr>
            </a:lvl8pPr>
            <a:lvl9pPr algn="l">
              <a:defRPr sz="900" b="1" i="0">
                <a:solidFill>
                  <a:srgbClr val="1738A3"/>
                </a:solidFill>
                <a:latin typeface="Arial"/>
                <a:ea typeface="Arial"/>
                <a:cs typeface="Arial"/>
              </a:defRPr>
            </a:lvl9pPr>
          </a:lstStyle>
          <a:p xmlns:a="http://schemas.openxmlformats.org/drawingml/2006/main">
            <a:pPr algn="l">
              <a:defRPr sz="900" b="1" i="0">
                <a:solidFill>
                  <a:srgbClr val="1738A3"/>
                </a:solidFill>
                <a:latin typeface="Arial"/>
                <a:ea typeface="Arial"/>
                <a:cs typeface="Arial"/>
              </a:defRPr>
            </a:pPr>
            <a:r>
              <a:rPr sz="900" b="1" i="0">
                <a:solidFill>
                  <a:srgbClr val="1738A3"/>
                </a:solidFill>
                <a:latin typeface="Arial"/>
                <a:ea typeface="Arial"/>
                <a:cs typeface="Arial"/>
              </a:rPr>
              <a:t>MATT APPROVAL REQUIRED BEFORE FULL FIELDWORK PRODUCTION</a:t>
            </a:r>
          </a:p>
        </p:txBody>
      </p:sp>
      <p:sp>
        <p:nvSpPr>
          <p:cNvPr id="9" name="">
            <a:extLst xmlns:a="http://schemas.openxmlformats.org/drawingml/2006/main">
              <a:ext uri="{FF2B5EF4-FFF2-40B4-BE49-F238E27FC236}">
                <a16:creationId xmlns:a16="http://schemas.microsoft.com/office/drawing/2014/main" id="{AACDF3E8-18F1-42DE-80BF-4EA8398AC6CE}"/>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E665D"/>
                </a:solidFill>
                <a:latin typeface="Arial"/>
                <a:ea typeface="Arial"/>
                <a:cs typeface="Arial"/>
              </a:defRPr>
            </a:defPPr>
            <a:lvl1pPr algn="l">
              <a:defRPr sz="675" b="1" i="0">
                <a:solidFill>
                  <a:srgbClr val="6E665D"/>
                </a:solidFill>
                <a:latin typeface="Arial"/>
                <a:ea typeface="Arial"/>
                <a:cs typeface="Arial"/>
              </a:defRPr>
            </a:lvl1pPr>
            <a:lvl2pPr algn="l">
              <a:defRPr sz="675" b="1" i="0">
                <a:solidFill>
                  <a:srgbClr val="6E665D"/>
                </a:solidFill>
                <a:latin typeface="Arial"/>
                <a:ea typeface="Arial"/>
                <a:cs typeface="Arial"/>
              </a:defRPr>
            </a:lvl2pPr>
            <a:lvl3pPr algn="l">
              <a:defRPr sz="675" b="1" i="0">
                <a:solidFill>
                  <a:srgbClr val="6E665D"/>
                </a:solidFill>
                <a:latin typeface="Arial"/>
                <a:ea typeface="Arial"/>
                <a:cs typeface="Arial"/>
              </a:defRPr>
            </a:lvl3pPr>
            <a:lvl4pPr algn="l">
              <a:defRPr sz="675" b="1" i="0">
                <a:solidFill>
                  <a:srgbClr val="6E665D"/>
                </a:solidFill>
                <a:latin typeface="Arial"/>
                <a:ea typeface="Arial"/>
                <a:cs typeface="Arial"/>
              </a:defRPr>
            </a:lvl4pPr>
            <a:lvl5pPr algn="l">
              <a:defRPr sz="675" b="1" i="0">
                <a:solidFill>
                  <a:srgbClr val="6E665D"/>
                </a:solidFill>
                <a:latin typeface="Arial"/>
                <a:ea typeface="Arial"/>
                <a:cs typeface="Arial"/>
              </a:defRPr>
            </a:lvl5pPr>
            <a:lvl6pPr algn="l">
              <a:defRPr sz="675" b="1" i="0">
                <a:solidFill>
                  <a:srgbClr val="6E665D"/>
                </a:solidFill>
                <a:latin typeface="Arial"/>
                <a:ea typeface="Arial"/>
                <a:cs typeface="Arial"/>
              </a:defRPr>
            </a:lvl6pPr>
            <a:lvl7pPr algn="l">
              <a:defRPr sz="675" b="1" i="0">
                <a:solidFill>
                  <a:srgbClr val="6E665D"/>
                </a:solidFill>
                <a:latin typeface="Arial"/>
                <a:ea typeface="Arial"/>
                <a:cs typeface="Arial"/>
              </a:defRPr>
            </a:lvl7pPr>
            <a:lvl8pPr algn="l">
              <a:defRPr sz="675" b="1" i="0">
                <a:solidFill>
                  <a:srgbClr val="6E665D"/>
                </a:solidFill>
                <a:latin typeface="Arial"/>
                <a:ea typeface="Arial"/>
                <a:cs typeface="Arial"/>
              </a:defRPr>
            </a:lvl8pPr>
            <a:lvl9pPr algn="l">
              <a:defRPr sz="675" b="1" i="0">
                <a:solidFill>
                  <a:srgbClr val="6E665D"/>
                </a:solidFill>
                <a:latin typeface="Arial"/>
                <a:ea typeface="Arial"/>
                <a:cs typeface="Arial"/>
              </a:defRPr>
            </a:lvl9pPr>
          </a:lstStyle>
          <a:p xmlns:a="http://schemas.openxmlformats.org/drawingml/2006/main">
            <a:pPr algn="l">
              <a:defRPr sz="675" b="1" i="0">
                <a:solidFill>
                  <a:srgbClr val="6E665D"/>
                </a:solidFill>
                <a:latin typeface="Arial"/>
                <a:ea typeface="Arial"/>
                <a:cs typeface="Arial"/>
              </a:defRPr>
            </a:pPr>
            <a:r>
              <a:rPr sz="675" b="1" i="0">
                <a:solidFill>
                  <a:srgbClr val="6E665D"/>
                </a:solidFill>
                <a:latin typeface="Arial"/>
                <a:ea typeface="Arial"/>
                <a:cs typeface="Arial"/>
              </a:rPr>
              <a:t>FIELDWORK / RAVE COFFEE / INTERNAL CALIBRATION</a:t>
            </a:r>
          </a:p>
        </p:txBody>
      </p:sp>
      <p:sp>
        <p:nvSpPr>
          <p:cNvPr id="10" name="">
            <a:extLst xmlns:a="http://schemas.openxmlformats.org/drawingml/2006/main">
              <a:ext uri="{FF2B5EF4-FFF2-40B4-BE49-F238E27FC236}">
                <a16:creationId xmlns:a16="http://schemas.microsoft.com/office/drawing/2014/main" id="{9E313137-32CC-4B1F-91F3-40D8E36008E1}"/>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CANDIDATE DIRECTION / HUMAN GATE</a:t>
            </a:r>
          </a:p>
        </p:txBody>
      </p:sp>
      <p:sp>
        <p:nvSpPr>
          <p:cNvPr id="11" name="">
            <a:extLst xmlns:a="http://schemas.openxmlformats.org/drawingml/2006/main">
              <a:ext uri="{FF2B5EF4-FFF2-40B4-BE49-F238E27FC236}">
                <a16:creationId xmlns:a16="http://schemas.microsoft.com/office/drawing/2014/main" id="{CFBFA2F2-7BD8-4BF5-B6A8-D7EA0E4DB9A7}"/>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E665D"/>
                </a:solidFill>
                <a:latin typeface="Arial"/>
                <a:ea typeface="Arial"/>
                <a:cs typeface="Arial"/>
              </a:defRPr>
            </a:defPPr>
            <a:lvl1pPr algn="r">
              <a:defRPr sz="675" b="1" i="0">
                <a:solidFill>
                  <a:srgbClr val="6E665D"/>
                </a:solidFill>
                <a:latin typeface="Arial"/>
                <a:ea typeface="Arial"/>
                <a:cs typeface="Arial"/>
              </a:defRPr>
            </a:lvl1pPr>
            <a:lvl2pPr algn="r">
              <a:defRPr sz="675" b="1" i="0">
                <a:solidFill>
                  <a:srgbClr val="6E665D"/>
                </a:solidFill>
                <a:latin typeface="Arial"/>
                <a:ea typeface="Arial"/>
                <a:cs typeface="Arial"/>
              </a:defRPr>
            </a:lvl2pPr>
            <a:lvl3pPr algn="r">
              <a:defRPr sz="675" b="1" i="0">
                <a:solidFill>
                  <a:srgbClr val="6E665D"/>
                </a:solidFill>
                <a:latin typeface="Arial"/>
                <a:ea typeface="Arial"/>
                <a:cs typeface="Arial"/>
              </a:defRPr>
            </a:lvl3pPr>
            <a:lvl4pPr algn="r">
              <a:defRPr sz="675" b="1" i="0">
                <a:solidFill>
                  <a:srgbClr val="6E665D"/>
                </a:solidFill>
                <a:latin typeface="Arial"/>
                <a:ea typeface="Arial"/>
                <a:cs typeface="Arial"/>
              </a:defRPr>
            </a:lvl4pPr>
            <a:lvl5pPr algn="r">
              <a:defRPr sz="675" b="1" i="0">
                <a:solidFill>
                  <a:srgbClr val="6E665D"/>
                </a:solidFill>
                <a:latin typeface="Arial"/>
                <a:ea typeface="Arial"/>
                <a:cs typeface="Arial"/>
              </a:defRPr>
            </a:lvl5pPr>
            <a:lvl6pPr algn="r">
              <a:defRPr sz="675" b="1" i="0">
                <a:solidFill>
                  <a:srgbClr val="6E665D"/>
                </a:solidFill>
                <a:latin typeface="Arial"/>
                <a:ea typeface="Arial"/>
                <a:cs typeface="Arial"/>
              </a:defRPr>
            </a:lvl6pPr>
            <a:lvl7pPr algn="r">
              <a:defRPr sz="675" b="1" i="0">
                <a:solidFill>
                  <a:srgbClr val="6E665D"/>
                </a:solidFill>
                <a:latin typeface="Arial"/>
                <a:ea typeface="Arial"/>
                <a:cs typeface="Arial"/>
              </a:defRPr>
            </a:lvl7pPr>
            <a:lvl8pPr algn="r">
              <a:defRPr sz="675" b="1" i="0">
                <a:solidFill>
                  <a:srgbClr val="6E665D"/>
                </a:solidFill>
                <a:latin typeface="Arial"/>
                <a:ea typeface="Arial"/>
                <a:cs typeface="Arial"/>
              </a:defRPr>
            </a:lvl8pPr>
            <a:lvl9pPr algn="r">
              <a:defRPr sz="675" b="1" i="0">
                <a:solidFill>
                  <a:srgbClr val="6E665D"/>
                </a:solidFill>
                <a:latin typeface="Arial"/>
                <a:ea typeface="Arial"/>
                <a:cs typeface="Arial"/>
              </a:defRPr>
            </a:lvl9pPr>
          </a:lstStyle>
          <a:p xmlns:a="http://schemas.openxmlformats.org/drawingml/2006/main">
            <a:pPr algn="r">
              <a:defRPr sz="675" b="1" i="0">
                <a:solidFill>
                  <a:srgbClr val="6E665D"/>
                </a:solidFill>
                <a:latin typeface="Arial"/>
                <a:ea typeface="Arial"/>
                <a:cs typeface="Arial"/>
              </a:defRPr>
            </a:pPr>
            <a:r>
              <a:rPr sz="675" b="1" i="0">
                <a:solidFill>
                  <a:srgbClr val="6E665D"/>
                </a:solidFill>
                <a:latin typeface="Arial"/>
                <a:ea typeface="Arial"/>
                <a:cs typeface="Arial"/>
              </a:rPr>
              <a:t>05 / 05</a:t>
            </a:r>
          </a:p>
        </p:txBody>
      </p:sp>
    </p:spTree>
    <p:extLst>
      <p:ext uri="{BB962C8B-B14F-4D97-AF65-F5344CB8AC3E}">
        <p14:creationId xmlns:p14="http://schemas.microsoft.com/office/powerpoint/2010/main" val="1753142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2026-10-18T21:17:49.3970000Z</dcterms:created>
  <dcterms:modified xsi:type="dcterms:W3CDTF">2026-10-18T21:17:49.3970000Z</dcterms:modified>
</coreProperties>
</file>