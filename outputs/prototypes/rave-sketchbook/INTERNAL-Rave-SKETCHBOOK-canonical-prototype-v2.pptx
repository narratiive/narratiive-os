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8ae0c1dcf4dbb" /><Relationship Type="http://schemas.openxmlformats.org/officeDocument/2006/relationships/extended-properties" Target="/docProps/app.xml" Id="Rbfaa42d6e2db4447" /><Relationship Type="http://schemas.openxmlformats.org/officeDocument/2006/relationships/officeDocument" Target="/ppt/presentation.xml" Id="R6d37562db7884e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b3f8d49f574556"/>
  </p:sldMasterIdLst>
  <p:notesMasterIdLst>
    <p:notesMasterId xmlns:r="http://schemas.openxmlformats.org/officeDocument/2006/relationships" r:id="Rafe7319438f64ea5"/>
  </p:notesMasterIdLst>
  <p:sldIdLst>
    <p:sldId xmlns:r="http://schemas.openxmlformats.org/officeDocument/2006/relationships" id="256" r:id="R8c76ce4d76634cd1"/>
    <p:sldId xmlns:r="http://schemas.openxmlformats.org/officeDocument/2006/relationships" id="257" r:id="R6b4ba9755b754e15"/>
    <p:sldId xmlns:r="http://schemas.openxmlformats.org/officeDocument/2006/relationships" id="258" r:id="R15b78385502b42fe"/>
    <p:sldId xmlns:r="http://schemas.openxmlformats.org/officeDocument/2006/relationships" id="259" r:id="R09da3703fb0f4bde"/>
    <p:sldId xmlns:r="http://schemas.openxmlformats.org/officeDocument/2006/relationships" id="260" r:id="R21c098a58ae349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03ed3e5bf46b4" /><Relationship Type="http://schemas.openxmlformats.org/officeDocument/2006/relationships/slideMaster" Target="/ppt/slideMasters/slideMaster1.xml" Id="R29b3f8d49f574556" /><Relationship Type="http://schemas.openxmlformats.org/officeDocument/2006/relationships/notesMaster" Target="/ppt/notesMasters/notesMaster1.xml" Id="Rafe7319438f64ea5" /><Relationship Type="http://schemas.openxmlformats.org/officeDocument/2006/relationships/presProps" Target="/ppt/presProps.xml" Id="R1e979fe617014886" /><Relationship Type="http://schemas.openxmlformats.org/officeDocument/2006/relationships/tableStyles" Target="/ppt/tableStyles.xml" Id="Rdf02ddc744af4b3c" /><Relationship Type="http://schemas.openxmlformats.org/officeDocument/2006/relationships/slide" Target="/ppt/slides/slide1.xml" Id="R8c76ce4d76634cd1" /><Relationship Type="http://schemas.openxmlformats.org/officeDocument/2006/relationships/slide" Target="/ppt/slides/slide2.xml" Id="R6b4ba9755b754e15" /><Relationship Type="http://schemas.openxmlformats.org/officeDocument/2006/relationships/slide" Target="/ppt/slides/slide3.xml" Id="R15b78385502b42fe" /><Relationship Type="http://schemas.openxmlformats.org/officeDocument/2006/relationships/slide" Target="/ppt/slides/slide4.xml" Id="R09da3703fb0f4bde" /><Relationship Type="http://schemas.openxmlformats.org/officeDocument/2006/relationships/slide" Target="/ppt/slides/slide5.xml" Id="R21c098a58ae349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3ffebb9d8b42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50c5c6d5af4bae" /><Relationship Type="http://schemas.openxmlformats.org/officeDocument/2006/relationships/notesMaster" Target="/ppt/notesMasters/notesMaster1.xml" Id="Rad6fdb46d928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aec906051a4b44" /><Relationship Type="http://schemas.openxmlformats.org/officeDocument/2006/relationships/notesMaster" Target="/ppt/notesMasters/notesMaster1.xml" Id="Rd4084570b0b34e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8103de7dc4f99" /><Relationship Type="http://schemas.openxmlformats.org/officeDocument/2006/relationships/notesMaster" Target="/ppt/notesMasters/notesMaster1.xml" Id="R2d9e756d5a6a41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182b512be64b8a" /><Relationship Type="http://schemas.openxmlformats.org/officeDocument/2006/relationships/notesMaster" Target="/ppt/notesMasters/notesMaster1.xml" Id="R09a025a1fb864d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73bf1b1ca440f3" /><Relationship Type="http://schemas.openxmlformats.org/officeDocument/2006/relationships/notesMaster" Target="/ppt/notesMasters/notesMaster1.xml" Id="Rde65100f06cc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NOS-CAMPAIGNWORLD-RAVE-v3, Creative North Star and emotional job.</a:t>
            </a:r>
          </a:p>
          <a:p xmlns:a="http://schemas.openxmlformats.org/drawingml/2006/main">
            <a:r>
              <a:t>The proposition is source creative, not current client approval or a verified market claim.</a:t>
            </a:r>
          </a:p>
          <a:p xmlns:a="http://schemas.openxmlformats.org/drawingml/2006/main">
            <a:r>
              <a:t>Photography is internal AI-generated creative illustration; it does not depict Rave products or customers.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NOS-CAMPAIGNWORLD-RAVE-v3 audience section.</a:t>
            </a:r>
          </a:p>
          <a:p xmlns:a="http://schemas.openxmlformats.org/drawingml/2006/main">
            <a:r>
              <a:t>The Upgrader is a source hypothesis, not a verified Rave customer segment. Age, behaviours and barriers require first-party validation.</a:t>
            </a:r>
          </a:p>
          <a:p xmlns:a="http://schemas.openxmlformats.org/drawingml/2006/main">
            <a:r>
              <a:t>Portrait is internal AI-generated creative illustration and does not depict a real Rave customer.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NOS-CAMPAIGNWORLD-RAVE-v3 visual world, colour, composition and anti-reference guidance.</a:t>
            </a:r>
          </a:p>
          <a:p xmlns:a="http://schemas.openxmlformats.org/drawingml/2006/main">
            <a:r>
              <a:t>The image is an internal AI-generated art-direction reference, not client photography or a representation of current Rave packaging.</a:t>
            </a:r>
          </a:p>
          <a:p xmlns:a="http://schemas.openxmlformats.org/drawingml/2006/main">
            <a:r>
              <a:t>Rave Yellow #FFC700 is preserved as the recurring brand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NOS-CAMPAIGNWORLD-RAVE-v3, Territory 1: The Anti-Snob and Asset 05 type-card direction.</a:t>
            </a:r>
          </a:p>
          <a:p xmlns:a="http://schemas.openxmlformats.org/drawingml/2006/main">
            <a:r>
              <a:t>Campaign language is an internal creative proposition, not a substantiated comparative product claim.</a:t>
            </a:r>
          </a:p>
          <a:p xmlns:a="http://schemas.openxmlformats.org/drawingml/2006/main">
            <a:r>
              <a:t>Before external use, copy requires product, legal and brand review against current Rave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NOS-CAMPAIGNWORLD-RAVE-v3, Assets 03, 05 and 12 plus channel applications.</a:t>
            </a:r>
          </a:p>
          <a:p xmlns:a="http://schemas.openxmlformats.org/drawingml/2006/main">
            <a:r>
              <a:t>All three executions are internal creative illustrations. They are not published, activated, approved or performance-tested.</a:t>
            </a:r>
          </a:p>
          <a:p xmlns:a="http://schemas.openxmlformats.org/drawingml/2006/main">
            <a:r>
              <a:t>The delivery timestamp is illustrative and must be replaced with verified operational data. The quiz CTA must be checked against Rave's current live journey before external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2e1b4ad2e4b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bdb37e24c46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67dab5c494b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b38c554cb43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279689cfd42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88bf2c70f44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D480D7-E4AC-49FF-9B2F-91A7E4688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8D1E82-DB5D-4D4F-9724-59D0A943C4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DA247B-DE1A-4E02-93E1-D23AFB3C97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297AB6-1783-48E4-91EB-DD9B9734B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E3FC63-734B-4B68-B471-46183AA0F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12D2E1-C45F-40F2-923D-47AA220D4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4FDD05-BD9D-4D30-BD9F-CC5CCA689E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A4401F-EE0E-4B90-A9CD-22EE733C3F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11A880-3B92-4B50-AF35-A11E6054D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E11B51-8831-46E5-8848-6E9625B80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443b220b04171" /><Relationship Type="http://schemas.openxmlformats.org/officeDocument/2006/relationships/slideLayout" Target="/ppt/slideLayouts/slideLayout1.xml" Id="Ra66ae722c983460a" /><Relationship Type="http://schemas.openxmlformats.org/officeDocument/2006/relationships/slideLayout" Target="/ppt/slideLayouts/slideLayout2.xml" Id="R38a91f7a2d7245ba" /><Relationship Type="http://schemas.openxmlformats.org/officeDocument/2006/relationships/slideLayout" Target="/ppt/slideLayouts/slideLayout3.xml" Id="R65f8173c813848d9" /><Relationship Type="http://schemas.openxmlformats.org/officeDocument/2006/relationships/slideLayout" Target="/ppt/slideLayouts/slideLayout4.xml" Id="R030dd305a0354dd7" /><Relationship Type="http://schemas.openxmlformats.org/officeDocument/2006/relationships/slideLayout" Target="/ppt/slideLayouts/slideLayout5.xml" Id="Rcc585856a8b54cbe" /><Relationship Type="http://schemas.openxmlformats.org/officeDocument/2006/relationships/slideLayout" Target="/ppt/slideLayouts/slideLayout6.xml" Id="R30fa259a06d5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ae722c983460a"/>
    <p:sldLayoutId xmlns:r="http://schemas.openxmlformats.org/officeDocument/2006/relationships" id="2147483650" r:id="R38a91f7a2d7245ba"/>
    <p:sldLayoutId xmlns:r="http://schemas.openxmlformats.org/officeDocument/2006/relationships" id="2147483651" r:id="R65f8173c813848d9"/>
    <p:sldLayoutId xmlns:r="http://schemas.openxmlformats.org/officeDocument/2006/relationships" id="2147483652" r:id="R030dd305a0354dd7"/>
    <p:sldLayoutId xmlns:r="http://schemas.openxmlformats.org/officeDocument/2006/relationships" id="2147483653" r:id="Rcc585856a8b54cbe"/>
    <p:sldLayoutId xmlns:r="http://schemas.openxmlformats.org/officeDocument/2006/relationships" id="2147483654" r:id="R30fa259a06d5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0547fedfcd4ab8" /><Relationship Type="http://schemas.openxmlformats.org/officeDocument/2006/relationships/image" Target="/ppt/media/image.png" Id="R30791e9ba119476f" /><Relationship Type="http://schemas.openxmlformats.org/officeDocument/2006/relationships/notesSlide" Target="/ppt/notesSlides/notesSlide1.xml" Id="R5014f658020c4d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32552ff3f42bd" /><Relationship Type="http://schemas.openxmlformats.org/officeDocument/2006/relationships/image" Target="/ppt/media/image2.png" Id="R425cabfd1dca4332" /><Relationship Type="http://schemas.openxmlformats.org/officeDocument/2006/relationships/notesSlide" Target="/ppt/notesSlides/notesSlide2.xml" Id="Rf8811385750647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fe1776cfd4039" /><Relationship Type="http://schemas.openxmlformats.org/officeDocument/2006/relationships/image" Target="/ppt/media/image3.png" Id="R91867653290f487a" /><Relationship Type="http://schemas.openxmlformats.org/officeDocument/2006/relationships/notesSlide" Target="/ppt/notesSlides/notesSlide3.xml" Id="R39be0c9f0dbf43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a3283ba0647c0" /><Relationship Type="http://schemas.openxmlformats.org/officeDocument/2006/relationships/notesSlide" Target="/ppt/notesSlides/notesSlide4.xml" Id="R65793c7db32b40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83df064e247b2" /><Relationship Type="http://schemas.openxmlformats.org/officeDocument/2006/relationships/image" Target="/ppt/media/image4.png" Id="Rdeb5443b8f224bc5" /><Relationship Type="http://schemas.openxmlformats.org/officeDocument/2006/relationships/notesSlide" Target="/ppt/notesSlides/notesSlide5.xml" Id="Rcca603282c99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3673C-4056-4E42-A40A-B9F2136D3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91e9ba11947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98298-6AE0-4969-BE78-7ABEE5B1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9490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AB159-043B-4638-870C-41D49B0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SKETCHBOOK / RAVE COFFEE     01 / CREATIVE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20CDC-A6E8-4158-9211-3E4AC9C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810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SERIOUS</a:t>
            </a:r>
          </a:p>
          <a:p xmlns:a="http://schemas.openxmlformats.org/drawingml/2006/main">
            <a: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COFFEE.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B1B57-DC09-4610-83E5-BF6CBE19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5810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ZERO</a:t>
            </a:r>
          </a:p>
          <a:p xmlns:a="http://schemas.openxmlformats.org/drawingml/2006/main">
            <a:pPr algn="l">
              <a:defRPr sz="54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SNOBBERY.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58B0B-A8EC-4E5C-8845-9BE66314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61315-6184-42D0-ABDA-59BEE76E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Excellent coffee, explained like a knowledgeable friend — so a better morning never feels like joining a club.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7D7D5-4BC5-45F3-B3D4-6C0F54DB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82F2A-4C47-4273-8F31-2F4E7BEE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CAMPAIGN WORLD V3 / CREATIVE NORTH STAR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C3C07-69D1-4E41-8629-3A32DCE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711177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B5181-82B4-464D-801E-623B845EC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cabfd1dca4332"/>
          <a:srcRect xmlns:a="http://schemas.openxmlformats.org/drawingml/2006/main" l="538" t="0" r="5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5F58E-B3E5-4054-AD31-D4B014BD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0">
              <a:alpha val="96863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A15AD-9AA8-457A-AD7C-E267ACAE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SKETCHBOOK / RAVE COFFEE     02 / AUDIENCE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D76A9-F75E-4B52-9D29-263CC96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UPGRADER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8AF7D-69A1-4BD5-AC37-D5657DE2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A better morning, not a coffee credential.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0DE9C-41C9-41CE-BAE0-9F67C8C1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WANTS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38F30-0976-4F8D-B59F-61D79832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43225"/>
            <a:ext cx="443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Café-quality coffee at home — without turning it into a hobby.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E45B3-3B88-4F6A-8B3B-531D974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22E7C-253B-47DC-8DDF-68CF84E7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HESITATES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6B61-2764-4BE2-AB1B-B9C5623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14775"/>
            <a:ext cx="443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Too much choice, jargon, price doubt and fear of buying the wrong thing.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1D722-E4EA-4A14-A68D-56DA22C8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14E8B-02EB-411E-9EF9-DFF0DFC1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MOVES WHEN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6A174-F949-4D6C-B5B0-CE75BA0F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86325"/>
            <a:ext cx="443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A human voice makes the first choice obvious and the next step low-risk.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B89B0-B6FD-4124-A8BE-35EF84DE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292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E7C94-A75B-43C2-941B-2AFFC7A0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91175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SOURCE HYPOTHESIS</a:t>
            </a:r>
          </a:p>
          <a:p xmlns:a="http://schemas.openxmlformats.org/drawingml/2006/main">
            <a:pPr algn="ctr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VALIDATE WITH REAL CUSTOMERS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3C3DF-623D-4941-8E34-B3BC4DC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EEFAE-AA24-4A51-8C55-43E4BBF8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SOURCE HYPOTHESIS / VALIDATION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8D215-D61B-4391-B263-3ED413C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1367324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7CE3F-B025-431F-A30C-975E81C303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67653290f487a"/>
          <a:srcRect xmlns:a="http://schemas.openxmlformats.org/drawingml/2006/main" l="0" t="18073" r="0" b="18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381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A0C80-C102-4873-A9E4-47E62B61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8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14E79-56CB-46EC-89CB-CEAF46E1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SKETCHBOOK / RAVE COFFEE     03 / VISUAL WORLD + ART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6187D-4429-4F17-AD1F-C5CFBFB1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MORNING, NOT THEATRE.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72C57-6323-4783-9C26-1EEFAD4D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CF988-BDC3-4220-8028-B561E3A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LIVED-IN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03B07-09BA-4C5A-AD86-89FA563F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Domestic kitchens. Natural light. A real morning already in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7E835-CF4B-4EC2-8F1D-3E41228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LEGIBLE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DC280-47B4-47C2-8571-0717C73B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625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hero element. Product clear. Yellow present in every asset.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0F197-C206-4925-98B5-F17E89A3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NEVER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67AB2-4B29-4B5B-AE92-60055DED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Hessian. Coffee cherries. Latte art. Moody roastery. Barista theatre.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9D8EB-5CBC-4A16-BBCE-0D6307C9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253AA-6E47-4E6D-BB23-36BEEDD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3E8DC-F0CA-4245-B037-726111A6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00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6CF32-4A58-4CD1-950F-76156BF2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00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51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6BBA6-79BF-4C19-9A03-A04AC24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3033C-934D-4C02-A0AC-EABCC561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CAMPAIGN WORLD V3 / CREATIVE ILLUSTRATION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0CE2F-51D8-4020-9E07-1AF14F26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214203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C7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FC241-02E4-429B-BD0E-7EBEE21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SKETCHBOOK / RAVE COFFEE     04 / CAMPAIGN TERRITORY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0C717-8765-4C6E-832D-F13CE756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ANTI-SNOB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E5BAA-9B0A-4B39-8A4D-A76F77E5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1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Make category theatre visible — then make Rave's directness feel like relief.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38330-0F0B-4610-B8BB-3D3AFFBA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70675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F725F-0143-4F2F-8B2E-206D52DF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TASTING NOTES:</a:t>
            </a:r>
          </a:p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THEATRE.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5BB44-3A78-4743-9A5C-15930B6E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ROAST DATE:</a:t>
            </a:r>
          </a:p>
          <a:p xmlns:a="http://schemas.openxmlformats.org/drawingml/2006/main">
            <a:pPr algn="l">
              <a:defRPr sz="322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EVERYTHING.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F3A63-E7EE-40A8-949C-DF7FB01B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THE REPEATABLE CONSTRUCTION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240BD-A95D-4A60-89D1-5BB44C16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3105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1. Name the convention.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2. Cut through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3. Replace it with one useful truth.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DFD61-6F07-4D07-874A-3126B28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24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51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F3060-C149-47EB-9033-4C9062B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62575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Distinctive by voice. Useful by 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6EDA4-5DA9-4250-858D-5C4ED575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9ED41-8C5F-476B-A217-86402D4C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SOURCE CREATIVE / CREATIVE ILLUSTRATION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9BA81-FE0A-42EC-B5A0-7D8558CC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1906395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32CC4-3A63-4C93-AF3C-151E4081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SKETCHBOOK / RAVE COFFEE     05 / EXECUTIONS + APPLICATIONS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C3A86-A12E-4CFC-80E0-C671CE45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ONE WORLD. THREE WAYS 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45903-4DBA-46DF-B797-23C59D3D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Type creates recognition. Delivery makes freshness tangible. Guidance removes the first-choice barrier.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7CF6-7F1C-4270-8B2F-7A97221A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ORGANIC SOCIAL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704A8-E74E-40CC-8787-396F8444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70DE8-167A-4B0F-9FA9-C59ABA8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362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NO TASTING</a:t>
            </a:r>
          </a:p>
          <a:p xmlns:a="http://schemas.openxmlformats.org/drawingml/2006/main">
            <a: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JUST GREAT</a:t>
            </a:r>
          </a:p>
          <a:p xmlns:a="http://schemas.openxmlformats.org/drawingml/2006/main">
            <a:pPr algn="ctr">
              <a:defRPr sz="23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COFFEE.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0D432-ACEE-477F-8FD8-641127B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PAID SOCIAL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69C06-B066-4811-A93E-ED0F4DBF9C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5443b8f224bc5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262890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E5933-4D25-4E83-ADAA-614366AC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62450"/>
            <a:ext cx="2552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30816-1BF2-4A19-8123-F9FEA01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339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ROASTED TUESDAY 7AM.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 YOUR DOOR THURSDAY.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5200F-7487-4385-B7DD-9B91EA3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QUIZ ENTRY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2FFD5-A81F-4339-92C6-E34E5C18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30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D2CA3-5584-43E0-990A-55B526D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51BCD-79E9-4871-AC17-D73EFBF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NOT SURE</a:t>
            </a:r>
          </a:p>
          <a:p xmlns:a="http://schemas.openxmlformats.org/drawingml/2006/main">
            <a: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WHERE TO</a:t>
            </a:r>
          </a:p>
          <a:p xmlns:a="http://schemas.openxmlformats.org/drawingml/2006/main">
            <a: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START?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4EB5E-BA7F-4DB4-BA0E-C42DC6A5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TAKE THE QUIZ.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4DD8E-9673-4276-A6CE-F60C53F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A low-pressure first step into better coffee.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5482A-3BA0-4CBA-9351-179B5F1D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577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BA9AF-CE6D-4D78-8036-E4FBC838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MY COFFEE 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1077F-962F-4A7D-9A5B-AB9E397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57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0" i="1">
                <a:solidFill>
                  <a:srgbClr val="726A61"/>
                </a:solidFill>
                <a:latin typeface="Arial"/>
                <a:ea typeface="Arial"/>
                <a:cs typeface="Arial"/>
              </a:rPr>
              <a:t>Illustrative timestamp — replace only with verified operations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9F497-1F32-49A3-AB12-AD3DF67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5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0" i="1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0" i="1">
                <a:solidFill>
                  <a:srgbClr val="726A61"/>
                </a:solidFill>
                <a:latin typeface="Arial"/>
                <a:ea typeface="Arial"/>
                <a:cs typeface="Arial"/>
              </a:rPr>
              <a:t>Prototype interaction — verify current quiz journey before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FE0B5-D929-45CB-A458-E935156F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130A5-CF50-488C-9EEC-A643D237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CREATIVE ILLUSTRATION / NOT LIVE MEDIA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84665-1F3A-4708-9E1C-7BF63837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872767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2026-10-18T21:35:34.1100000Z</dcterms:created>
  <dcterms:modified xsi:type="dcterms:W3CDTF">2026-10-18T21:35:34.1100000Z</dcterms:modified>
</coreProperties>
</file>