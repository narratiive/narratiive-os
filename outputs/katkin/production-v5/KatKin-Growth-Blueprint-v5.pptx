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555e4013684c15" /><Relationship Type="http://schemas.openxmlformats.org/officeDocument/2006/relationships/extended-properties" Target="/docProps/app.xml" Id="R46be2ecbad4d41bf" /><Relationship Type="http://schemas.openxmlformats.org/officeDocument/2006/relationships/officeDocument" Target="/ppt/presentation.xml" Id="R21527bc9fdf74c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c28a8e5a0a4d67"/>
  </p:sldMasterIdLst>
  <p:notesMasterIdLst>
    <p:notesMasterId xmlns:r="http://schemas.openxmlformats.org/officeDocument/2006/relationships" r:id="R5a56e6b2674f41f1"/>
  </p:notesMasterIdLst>
  <p:sldIdLst>
    <p:sldId xmlns:r="http://schemas.openxmlformats.org/officeDocument/2006/relationships" id="256" r:id="R3f37fc96fe3b4df5"/>
    <p:sldId xmlns:r="http://schemas.openxmlformats.org/officeDocument/2006/relationships" id="257" r:id="Ra1b56b8a87ee499e"/>
    <p:sldId xmlns:r="http://schemas.openxmlformats.org/officeDocument/2006/relationships" id="258" r:id="R498a57000f14463c"/>
    <p:sldId xmlns:r="http://schemas.openxmlformats.org/officeDocument/2006/relationships" id="259" r:id="R948088bf4f6a4ae3"/>
    <p:sldId xmlns:r="http://schemas.openxmlformats.org/officeDocument/2006/relationships" id="260" r:id="Rc487730a41994933"/>
    <p:sldId xmlns:r="http://schemas.openxmlformats.org/officeDocument/2006/relationships" id="261" r:id="Rad71aad7b1354eb6"/>
    <p:sldId xmlns:r="http://schemas.openxmlformats.org/officeDocument/2006/relationships" id="262" r:id="R070976d728964c83"/>
    <p:sldId xmlns:r="http://schemas.openxmlformats.org/officeDocument/2006/relationships" id="263" r:id="Rd2eb648142eb406e"/>
    <p:sldId xmlns:r="http://schemas.openxmlformats.org/officeDocument/2006/relationships" id="264" r:id="R044d835dcca14fc2"/>
    <p:sldId xmlns:r="http://schemas.openxmlformats.org/officeDocument/2006/relationships" id="265" r:id="R919260d5cf2c41bf"/>
    <p:sldId xmlns:r="http://schemas.openxmlformats.org/officeDocument/2006/relationships" id="266" r:id="R8f036f587159464b"/>
    <p:sldId xmlns:r="http://schemas.openxmlformats.org/officeDocument/2006/relationships" id="267" r:id="R6a6dee13859849d2"/>
    <p:sldId xmlns:r="http://schemas.openxmlformats.org/officeDocument/2006/relationships" id="268" r:id="R134bfd32517e46c1"/>
    <p:sldId xmlns:r="http://schemas.openxmlformats.org/officeDocument/2006/relationships" id="269" r:id="Rae068bf702a84970"/>
    <p:sldId xmlns:r="http://schemas.openxmlformats.org/officeDocument/2006/relationships" id="270" r:id="R2f417a4afa1a49f1"/>
    <p:sldId xmlns:r="http://schemas.openxmlformats.org/officeDocument/2006/relationships" id="271" r:id="R17a8d30de1d54754"/>
    <p:sldId xmlns:r="http://schemas.openxmlformats.org/officeDocument/2006/relationships" id="272" r:id="R73eff34aed5a4181"/>
    <p:sldId xmlns:r="http://schemas.openxmlformats.org/officeDocument/2006/relationships" id="273" r:id="R77484b7e9b2d4547"/>
    <p:sldId xmlns:r="http://schemas.openxmlformats.org/officeDocument/2006/relationships" id="274" r:id="R76d4e58cd91b4a17"/>
    <p:sldId xmlns:r="http://schemas.openxmlformats.org/officeDocument/2006/relationships" id="275" r:id="R0f1c87bcff1a4189"/>
    <p:sldId xmlns:r="http://schemas.openxmlformats.org/officeDocument/2006/relationships" id="276" r:id="R198e8e98076b44d1"/>
    <p:sldId xmlns:r="http://schemas.openxmlformats.org/officeDocument/2006/relationships" id="277" r:id="Ra4d993923c9149b9"/>
    <p:sldId xmlns:r="http://schemas.openxmlformats.org/officeDocument/2006/relationships" id="278" r:id="Red8c9a77d00d4adc"/>
    <p:sldId xmlns:r="http://schemas.openxmlformats.org/officeDocument/2006/relationships" id="279" r:id="Rca9333ca8a794004"/>
    <p:sldId xmlns:r="http://schemas.openxmlformats.org/officeDocument/2006/relationships" id="280" r:id="R56c080cad5e24425"/>
    <p:sldId xmlns:r="http://schemas.openxmlformats.org/officeDocument/2006/relationships" id="281" r:id="Rf3393dfcc3aa4ad1"/>
    <p:sldId xmlns:r="http://schemas.openxmlformats.org/officeDocument/2006/relationships" id="282" r:id="Rb6c985b2c6714505"/>
    <p:sldId xmlns:r="http://schemas.openxmlformats.org/officeDocument/2006/relationships" id="283" r:id="Ra22733b696864359"/>
    <p:sldId xmlns:r="http://schemas.openxmlformats.org/officeDocument/2006/relationships" id="284" r:id="R79061bddadf8424e"/>
    <p:sldId xmlns:r="http://schemas.openxmlformats.org/officeDocument/2006/relationships" id="285" r:id="R1599b0393cbb4a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7acf08f72f490e" /><Relationship Type="http://schemas.openxmlformats.org/officeDocument/2006/relationships/slideMaster" Target="/ppt/slideMasters/slideMaster1.xml" Id="R48c28a8e5a0a4d67" /><Relationship Type="http://schemas.openxmlformats.org/officeDocument/2006/relationships/notesMaster" Target="/ppt/notesMasters/notesMaster1.xml" Id="R5a56e6b2674f41f1" /><Relationship Type="http://schemas.openxmlformats.org/officeDocument/2006/relationships/presProps" Target="/ppt/presProps.xml" Id="R1e928189b25e4488" /><Relationship Type="http://schemas.openxmlformats.org/officeDocument/2006/relationships/tableStyles" Target="/ppt/tableStyles.xml" Id="Rfe160189ddb94248" /><Relationship Type="http://schemas.openxmlformats.org/officeDocument/2006/relationships/slide" Target="/ppt/slides/slide1.xml" Id="R3f37fc96fe3b4df5" /><Relationship Type="http://schemas.openxmlformats.org/officeDocument/2006/relationships/slide" Target="/ppt/slides/slide2.xml" Id="Ra1b56b8a87ee499e" /><Relationship Type="http://schemas.openxmlformats.org/officeDocument/2006/relationships/slide" Target="/ppt/slides/slide3.xml" Id="R498a57000f14463c" /><Relationship Type="http://schemas.openxmlformats.org/officeDocument/2006/relationships/slide" Target="/ppt/slides/slide4.xml" Id="R948088bf4f6a4ae3" /><Relationship Type="http://schemas.openxmlformats.org/officeDocument/2006/relationships/slide" Target="/ppt/slides/slide5.xml" Id="Rc487730a41994933" /><Relationship Type="http://schemas.openxmlformats.org/officeDocument/2006/relationships/slide" Target="/ppt/slides/slide6.xml" Id="Rad71aad7b1354eb6" /><Relationship Type="http://schemas.openxmlformats.org/officeDocument/2006/relationships/slide" Target="/ppt/slides/slide7.xml" Id="R070976d728964c83" /><Relationship Type="http://schemas.openxmlformats.org/officeDocument/2006/relationships/slide" Target="/ppt/slides/slide8.xml" Id="Rd2eb648142eb406e" /><Relationship Type="http://schemas.openxmlformats.org/officeDocument/2006/relationships/slide" Target="/ppt/slides/slide9.xml" Id="R044d835dcca14fc2" /><Relationship Type="http://schemas.openxmlformats.org/officeDocument/2006/relationships/slide" Target="/ppt/slides/slide10.xml" Id="R919260d5cf2c41bf" /><Relationship Type="http://schemas.openxmlformats.org/officeDocument/2006/relationships/slide" Target="/ppt/slides/slide11.xml" Id="R8f036f587159464b" /><Relationship Type="http://schemas.openxmlformats.org/officeDocument/2006/relationships/slide" Target="/ppt/slides/slide12.xml" Id="R6a6dee13859849d2" /><Relationship Type="http://schemas.openxmlformats.org/officeDocument/2006/relationships/slide" Target="/ppt/slides/slide13.xml" Id="R134bfd32517e46c1" /><Relationship Type="http://schemas.openxmlformats.org/officeDocument/2006/relationships/slide" Target="/ppt/slides/slide14.xml" Id="Rae068bf702a84970" /><Relationship Type="http://schemas.openxmlformats.org/officeDocument/2006/relationships/slide" Target="/ppt/slides/slide15.xml" Id="R2f417a4afa1a49f1" /><Relationship Type="http://schemas.openxmlformats.org/officeDocument/2006/relationships/slide" Target="/ppt/slides/slide16.xml" Id="R17a8d30de1d54754" /><Relationship Type="http://schemas.openxmlformats.org/officeDocument/2006/relationships/slide" Target="/ppt/slides/slide17.xml" Id="R73eff34aed5a4181" /><Relationship Type="http://schemas.openxmlformats.org/officeDocument/2006/relationships/slide" Target="/ppt/slides/slide18.xml" Id="R77484b7e9b2d4547" /><Relationship Type="http://schemas.openxmlformats.org/officeDocument/2006/relationships/slide" Target="/ppt/slides/slide19.xml" Id="R76d4e58cd91b4a17" /><Relationship Type="http://schemas.openxmlformats.org/officeDocument/2006/relationships/slide" Target="/ppt/slides/slide20.xml" Id="R0f1c87bcff1a4189" /><Relationship Type="http://schemas.openxmlformats.org/officeDocument/2006/relationships/slide" Target="/ppt/slides/slide21.xml" Id="R198e8e98076b44d1" /><Relationship Type="http://schemas.openxmlformats.org/officeDocument/2006/relationships/slide" Target="/ppt/slides/slide22.xml" Id="Ra4d993923c9149b9" /><Relationship Type="http://schemas.openxmlformats.org/officeDocument/2006/relationships/slide" Target="/ppt/slides/slide23.xml" Id="Red8c9a77d00d4adc" /><Relationship Type="http://schemas.openxmlformats.org/officeDocument/2006/relationships/slide" Target="/ppt/slides/slide24.xml" Id="Rca9333ca8a794004" /><Relationship Type="http://schemas.openxmlformats.org/officeDocument/2006/relationships/slide" Target="/ppt/slides/slide25.xml" Id="R56c080cad5e24425" /><Relationship Type="http://schemas.openxmlformats.org/officeDocument/2006/relationships/slide" Target="/ppt/slides/slide26.xml" Id="Rf3393dfcc3aa4ad1" /><Relationship Type="http://schemas.openxmlformats.org/officeDocument/2006/relationships/slide" Target="/ppt/slides/slide27.xml" Id="Rb6c985b2c6714505" /><Relationship Type="http://schemas.openxmlformats.org/officeDocument/2006/relationships/slide" Target="/ppt/slides/slide28.xml" Id="Ra22733b696864359" /><Relationship Type="http://schemas.openxmlformats.org/officeDocument/2006/relationships/slide" Target="/ppt/slides/slide29.xml" Id="R79061bddadf8424e" /><Relationship Type="http://schemas.openxmlformats.org/officeDocument/2006/relationships/slide" Target="/ppt/slides/slide30.xml" Id="R1599b0393cbb4a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8682337a724b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00a73738204093" /><Relationship Type="http://schemas.openxmlformats.org/officeDocument/2006/relationships/notesMaster" Target="/ppt/notesMasters/notesMaster1.xml" Id="R8a390cbfb0224c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ac858d715e4871" /><Relationship Type="http://schemas.openxmlformats.org/officeDocument/2006/relationships/notesMaster" Target="/ppt/notesMasters/notesMaster1.xml" Id="Rb64366eedc874e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f8fa4538b34a75" /><Relationship Type="http://schemas.openxmlformats.org/officeDocument/2006/relationships/notesMaster" Target="/ppt/notesMasters/notesMaster1.xml" Id="R72e139c346bd44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7b85ef1838469d" /><Relationship Type="http://schemas.openxmlformats.org/officeDocument/2006/relationships/notesMaster" Target="/ppt/notesMasters/notesMaster1.xml" Id="R078143a0620d47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a3167452cc468e" /><Relationship Type="http://schemas.openxmlformats.org/officeDocument/2006/relationships/notesMaster" Target="/ppt/notesMasters/notesMaster1.xml" Id="R1493240f2c3349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23a470f0484fe4" /><Relationship Type="http://schemas.openxmlformats.org/officeDocument/2006/relationships/notesMaster" Target="/ppt/notesMasters/notesMaster1.xml" Id="R61020a42406a4c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cd4c1024774e0f" /><Relationship Type="http://schemas.openxmlformats.org/officeDocument/2006/relationships/notesMaster" Target="/ppt/notesMasters/notesMaster1.xml" Id="Rf68f0e5859904a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4d8dff43a04261" /><Relationship Type="http://schemas.openxmlformats.org/officeDocument/2006/relationships/notesMaster" Target="/ppt/notesMasters/notesMaster1.xml" Id="R8ca83a600b0b41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2c3d3a11c549e7" /><Relationship Type="http://schemas.openxmlformats.org/officeDocument/2006/relationships/notesMaster" Target="/ppt/notesMasters/notesMaster1.xml" Id="R50d10655479e4f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9ee537464849bd" /><Relationship Type="http://schemas.openxmlformats.org/officeDocument/2006/relationships/notesMaster" Target="/ppt/notesMasters/notesMaster1.xml" Id="Re59beacf849044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0aec1f2d484831" /><Relationship Type="http://schemas.openxmlformats.org/officeDocument/2006/relationships/notesMaster" Target="/ppt/notesMasters/notesMaster1.xml" Id="Rb0ae0ed837d948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356d296d224ab5" /><Relationship Type="http://schemas.openxmlformats.org/officeDocument/2006/relationships/notesMaster" Target="/ppt/notesMasters/notesMaster1.xml" Id="R7d1f5f78343a4e8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460df670544d6c" /><Relationship Type="http://schemas.openxmlformats.org/officeDocument/2006/relationships/notesMaster" Target="/ppt/notesMasters/notesMaster1.xml" Id="R85d6f26c38eb419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e32ee8526d4c0f" /><Relationship Type="http://schemas.openxmlformats.org/officeDocument/2006/relationships/notesMaster" Target="/ppt/notesMasters/notesMaster1.xml" Id="R7712a563e33149f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1daabdd0684342" /><Relationship Type="http://schemas.openxmlformats.org/officeDocument/2006/relationships/notesMaster" Target="/ppt/notesMasters/notesMaster1.xml" Id="R0da0696e4d474bd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b88f30b833743e8" /><Relationship Type="http://schemas.openxmlformats.org/officeDocument/2006/relationships/notesMaster" Target="/ppt/notesMasters/notesMaster1.xml" Id="Rd4da56e56ad8492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6cfbb0580e54b87" /><Relationship Type="http://schemas.openxmlformats.org/officeDocument/2006/relationships/notesMaster" Target="/ppt/notesMasters/notesMaster1.xml" Id="R8f0cdb01135f448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4204505f6f7432d" /><Relationship Type="http://schemas.openxmlformats.org/officeDocument/2006/relationships/notesMaster" Target="/ppt/notesMasters/notesMaster1.xml" Id="R2eb15347c6be407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9a37e5115104b8d" /><Relationship Type="http://schemas.openxmlformats.org/officeDocument/2006/relationships/notesMaster" Target="/ppt/notesMasters/notesMaster1.xml" Id="Rd8727561e12949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c9744076e634a6f" /><Relationship Type="http://schemas.openxmlformats.org/officeDocument/2006/relationships/notesMaster" Target="/ppt/notesMasters/notesMaster1.xml" Id="Rfc6b6c07f12e482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af583af6a814fc6" /><Relationship Type="http://schemas.openxmlformats.org/officeDocument/2006/relationships/notesMaster" Target="/ppt/notesMasters/notesMaster1.xml" Id="R76d3a325257745f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bde879861a2424d" /><Relationship Type="http://schemas.openxmlformats.org/officeDocument/2006/relationships/notesMaster" Target="/ppt/notesMasters/notesMaster1.xml" Id="R2f24accb3ee34c3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790f149f07d4a68" /><Relationship Type="http://schemas.openxmlformats.org/officeDocument/2006/relationships/notesMaster" Target="/ppt/notesMasters/notesMaster1.xml" Id="Rc6ccbdab314f4b7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6645e1a6e724df2" /><Relationship Type="http://schemas.openxmlformats.org/officeDocument/2006/relationships/notesMaster" Target="/ppt/notesMasters/notesMaster1.xml" Id="R1c4816e03f9f4a2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2caa3c2860f4a33" /><Relationship Type="http://schemas.openxmlformats.org/officeDocument/2006/relationships/notesMaster" Target="/ppt/notesMasters/notesMaster1.xml" Id="Re3213e14ca794bd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ad92657dc3d4df5" /><Relationship Type="http://schemas.openxmlformats.org/officeDocument/2006/relationships/notesMaster" Target="/ppt/notesMasters/notesMaster1.xml" Id="R3e02df4efd784f8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9d641ae66d54b7f" /><Relationship Type="http://schemas.openxmlformats.org/officeDocument/2006/relationships/notesMaster" Target="/ppt/notesMasters/notesMaster1.xml" Id="R5e3515496b5846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6aba48f08ad48bf" /><Relationship Type="http://schemas.openxmlformats.org/officeDocument/2006/relationships/notesMaster" Target="/ppt/notesMasters/notesMaster1.xml" Id="R63c8e2f3e4654d2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1822eb15d7b442f" /><Relationship Type="http://schemas.openxmlformats.org/officeDocument/2006/relationships/notesMaster" Target="/ppt/notesMasters/notesMaster1.xml" Id="R6d040b17950a47d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18b82facf4844f4" /><Relationship Type="http://schemas.openxmlformats.org/officeDocument/2006/relationships/notesMaster" Target="/ppt/notesMasters/notesMaster1.xml" Id="R348def06dac24b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S1C: Marketing Week — Lloyd Page appointed first CMO (2025), marketingweek.com</a:t>
            </a:r>
          </a:p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thesis:growth_opportunity, ev_5c64#s5, ev_5c64#s7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thesis:growth_opportunity, ev_5c64#s5, ev_5c64#s7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S1B: Companies House / Companies in the UK — Anikin Ltd statutory accounts and balance sheet (FY2023), companieshouse.gov.uk; companiesintheuk.co.uk</a:t>
            </a:r>
          </a:p>
          <a:p xmlns:a="http://schemas.openxmlformats.org/drawingml/2006/main">
            <a:r>
              <a:t>S1C: Marketing Week — Lloyd Page appointed first CMO (2025), marketingweek.com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Governed evidence refs: ev_5c64#s1,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Governed evidence refs: ev_5c64#s1,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Governed evidence refs: ev_5c64#s2, thesis:source_of_difference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Governed evidence refs: ev_5c64#s2, thesis:source_of_difference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thesis:growth_opportunity, ev_5c64#s5, ev_5c64#s7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ev_5c64#s1, ev_5c64#s5, ev_5c64#s6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ev_5c64#s1, ev_5c64#s5, ev_5c64#s6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ev_5c64#s4, thesis:priority_audience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ev_5c64#s4, thesis:priority_audience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Governed evidence refs: ev_5c64#s4, thesis:priority_audience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S7: Active Partners — Series B strategy and retail partnership context (30 November 2023), active.partners</a:t>
            </a:r>
          </a:p>
          <a:p xmlns:a="http://schemas.openxmlformats.org/drawingml/2006/main">
            <a:r>
              <a:t>Governed evidence refs: ev_5c64#s4, thesis:priority_audience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S6: Pet Business World — Jollyes retail rollout across 80 stores (August 2025), petbusinessworld.co.uk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S1B: Companies House / Companies in the UK — Anikin Ltd statutory accounts and balance sheet (FY2023), companieshouse.gov.uk; companiesintheuk.co.uk</a:t>
            </a:r>
          </a:p>
          <a:p xmlns:a="http://schemas.openxmlformats.org/drawingml/2006/main">
            <a:r>
              <a:t>Governed evidence refs: ev_5c64#s2, thesis:source_of_difference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S3: Untamed / Bubblegum Search — Competitor claims and organic-search comparison (Q3 2025 to September 2026), untamed.com; bubblegumsearch.com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thesis:positioning_choice, ev_5c64#s2, ev_5c64#s3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S4: KatKin / Trustpilot / Cats.com — Pricing, reviews and customer-friction evidence (accessed 11 September 2026), katkin.com/our-pricing; uk.trustpilot.com/review/katkin.com; cats.com/katkin-cat-food-review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thesis:narrative_platform, ev_5c64#s2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S1A: The Grocer — Series C, market share and 100m-meal scale report (December 2025), thegrocer.co.uk (Series C report)</a:t>
            </a:r>
          </a:p>
          <a:p xmlns:a="http://schemas.openxmlformats.org/drawingml/2006/main">
            <a:r>
              <a:t>S8: Research &amp; Markets — UK cat food market estimate, USD 765.91m (2025 report), researchandmarkets.com</a:t>
            </a:r>
          </a:p>
          <a:p xmlns:a="http://schemas.openxmlformats.org/drawingml/2006/main">
            <a:r>
              <a:t>Governed evidence refs: thesis:growth_opportunity, ev_5c64#s5, ev_5c64#s7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S5: Motion / Marketing Week — Paid-social volume and creative analysis (accessed 11 September 2026), motionapp.com/library/katkin; marketingweek.com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S2: KatKin / Journal of Animal Science — KatKin heat-damage study and peer-reviewed AGE research (accessed 11 September 2026), katkin.com/articles/katkins-heat-damage-study; Journal of Animal Science</a:t>
            </a:r>
          </a:p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thesis:activation_principles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thesis:growth_opportunity, ev_5c64#s5, ev_5c64#s7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T1: Narratiive governed workflow — Approved KatKin Strategy Thesis (September 2026), artifact-63f71c6bacf78fe6-92b790e0f4def86f</a:t>
            </a:r>
          </a:p>
          <a:p xmlns:a="http://schemas.openxmlformats.org/drawingml/2006/main">
            <a:r>
              <a:t>Governed evidence refs: none</a:t>
            </a:r>
          </a:p>
          <a:p xmlns:a="http://schemas.openxmlformats.org/drawingml/2006/main">
            <a:r>
              <a:t>INTERNAL REVIEW DRAFT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944aef210644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1616ec515549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993c94269744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cbcb00f1b447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82e581e994f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f0ffddf79741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4E1812-5B59-4201-942A-E1643CDC6B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BC893F2-DAF6-45E2-87D5-95B4676537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3A7E35D-EBEA-43F7-815E-FF4CCEF353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C466E0-B53C-42F0-80D5-C375EA40D4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31342BB-F314-4B2A-A1C5-7865B5458B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5CF821A-D157-44FE-ADBE-62A6D25E40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9D65A3-AFA0-44A4-8CDA-3D247E88E0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5EA19E0-F6FC-40BB-8888-9188F33F21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CEBDC2-FB29-473A-8CD8-80D8626C87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D3D223-4CF4-4360-9B4F-4B32D8BE0C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fd8c4aa09e4331" /><Relationship Type="http://schemas.openxmlformats.org/officeDocument/2006/relationships/slideLayout" Target="/ppt/slideLayouts/slideLayout1.xml" Id="Rb4cccd3008b54acb" /><Relationship Type="http://schemas.openxmlformats.org/officeDocument/2006/relationships/slideLayout" Target="/ppt/slideLayouts/slideLayout2.xml" Id="R0b7603558aef490c" /><Relationship Type="http://schemas.openxmlformats.org/officeDocument/2006/relationships/slideLayout" Target="/ppt/slideLayouts/slideLayout3.xml" Id="R604de0b87dc445cb" /><Relationship Type="http://schemas.openxmlformats.org/officeDocument/2006/relationships/slideLayout" Target="/ppt/slideLayouts/slideLayout4.xml" Id="Refb2f7f6c3a94805" /><Relationship Type="http://schemas.openxmlformats.org/officeDocument/2006/relationships/slideLayout" Target="/ppt/slideLayouts/slideLayout5.xml" Id="R56fae0d1c9a04c82" /><Relationship Type="http://schemas.openxmlformats.org/officeDocument/2006/relationships/slideLayout" Target="/ppt/slideLayouts/slideLayout6.xml" Id="R1d8d9cedcf5745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cccd3008b54acb"/>
    <p:sldLayoutId xmlns:r="http://schemas.openxmlformats.org/officeDocument/2006/relationships" id="2147483650" r:id="R0b7603558aef490c"/>
    <p:sldLayoutId xmlns:r="http://schemas.openxmlformats.org/officeDocument/2006/relationships" id="2147483651" r:id="R604de0b87dc445cb"/>
    <p:sldLayoutId xmlns:r="http://schemas.openxmlformats.org/officeDocument/2006/relationships" id="2147483652" r:id="Refb2f7f6c3a94805"/>
    <p:sldLayoutId xmlns:r="http://schemas.openxmlformats.org/officeDocument/2006/relationships" id="2147483653" r:id="R56fae0d1c9a04c82"/>
    <p:sldLayoutId xmlns:r="http://schemas.openxmlformats.org/officeDocument/2006/relationships" id="2147483654" r:id="R1d8d9cedcf5745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fdf4281bd04275" /><Relationship Type="http://schemas.openxmlformats.org/officeDocument/2006/relationships/image" Target="/ppt/media/image.png" Id="R506dfed88c194acb" /><Relationship Type="http://schemas.openxmlformats.org/officeDocument/2006/relationships/notesSlide" Target="/ppt/notesSlides/notesSlide1.xml" Id="R65e120e2dec446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28af8ce84d4e08" /><Relationship Type="http://schemas.openxmlformats.org/officeDocument/2006/relationships/notesSlide" Target="/ppt/notesSlides/notesSlide2.xml" Id="Rd03233d380334d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21801578054202" /><Relationship Type="http://schemas.openxmlformats.org/officeDocument/2006/relationships/notesSlide" Target="/ppt/notesSlides/notesSlide3.xml" Id="R4527319b847547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f8cc28125b495c" /><Relationship Type="http://schemas.openxmlformats.org/officeDocument/2006/relationships/notesSlide" Target="/ppt/notesSlides/notesSlide4.xml" Id="R409bf19285ea4b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7416fc1eac4d46" /><Relationship Type="http://schemas.openxmlformats.org/officeDocument/2006/relationships/notesSlide" Target="/ppt/notesSlides/notesSlide5.xml" Id="Raae26b64774f42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65de887ce34bd7" /><Relationship Type="http://schemas.openxmlformats.org/officeDocument/2006/relationships/notesSlide" Target="/ppt/notesSlides/notesSlide6.xml" Id="R521bed29445c43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b26d7527b48f7" /><Relationship Type="http://schemas.openxmlformats.org/officeDocument/2006/relationships/image" Target="/ppt/media/image2.png" Id="R3b5e02b61c1c4112" /><Relationship Type="http://schemas.openxmlformats.org/officeDocument/2006/relationships/notesSlide" Target="/ppt/notesSlides/notesSlide7.xml" Id="R9aa2832757374a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812ef06f9444b4" /><Relationship Type="http://schemas.openxmlformats.org/officeDocument/2006/relationships/notesSlide" Target="/ppt/notesSlides/notesSlide8.xml" Id="R12e663a8295041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04fcea282c4e90" /><Relationship Type="http://schemas.openxmlformats.org/officeDocument/2006/relationships/notesSlide" Target="/ppt/notesSlides/notesSlide9.xml" Id="Rd5856479579047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3ad8b3dfb74539" /><Relationship Type="http://schemas.openxmlformats.org/officeDocument/2006/relationships/notesSlide" Target="/ppt/notesSlides/notesSlide10.xml" Id="R9ebc8a88af0b48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f8ec5297c04dee" /><Relationship Type="http://schemas.openxmlformats.org/officeDocument/2006/relationships/notesSlide" Target="/ppt/notesSlides/notesSlide11.xml" Id="Rc236ea918dbe46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3e71e3657e40d4" /><Relationship Type="http://schemas.openxmlformats.org/officeDocument/2006/relationships/notesSlide" Target="/ppt/notesSlides/notesSlide12.xml" Id="R4c69838f68e94a6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61e45c22fc448b" /><Relationship Type="http://schemas.openxmlformats.org/officeDocument/2006/relationships/notesSlide" Target="/ppt/notesSlides/notesSlide13.xml" Id="Rc37f0522887449d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494e38a003444a" /><Relationship Type="http://schemas.openxmlformats.org/officeDocument/2006/relationships/notesSlide" Target="/ppt/notesSlides/notesSlide14.xml" Id="R39a5d10934c94f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c0528f63a8457c" /><Relationship Type="http://schemas.openxmlformats.org/officeDocument/2006/relationships/notesSlide" Target="/ppt/notesSlides/notesSlide15.xml" Id="R94c8bcff37a8419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aaf6a1e3d1431b" /><Relationship Type="http://schemas.openxmlformats.org/officeDocument/2006/relationships/notesSlide" Target="/ppt/notesSlides/notesSlide16.xml" Id="Rb18a61a3527f48a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533b0933874666" /><Relationship Type="http://schemas.openxmlformats.org/officeDocument/2006/relationships/notesSlide" Target="/ppt/notesSlides/notesSlide17.xml" Id="Rab52f2aaf2114f1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b1a3e5415c4f18" /><Relationship Type="http://schemas.openxmlformats.org/officeDocument/2006/relationships/notesSlide" Target="/ppt/notesSlides/notesSlide18.xml" Id="R3d10acc4550f475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1525e5fe5a4951" /><Relationship Type="http://schemas.openxmlformats.org/officeDocument/2006/relationships/notesSlide" Target="/ppt/notesSlides/notesSlide19.xml" Id="R94c7ea9801f24c6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0f237128a74777" /><Relationship Type="http://schemas.openxmlformats.org/officeDocument/2006/relationships/notesSlide" Target="/ppt/notesSlides/notesSlide20.xml" Id="R61b96297d4874b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5b6550c53444dd" /><Relationship Type="http://schemas.openxmlformats.org/officeDocument/2006/relationships/notesSlide" Target="/ppt/notesSlides/notesSlide21.xml" Id="R3217700959814cf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0d22f412eb427c" /><Relationship Type="http://schemas.openxmlformats.org/officeDocument/2006/relationships/notesSlide" Target="/ppt/notesSlides/notesSlide22.xml" Id="Ra8c03e559f9d4ea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a25aec51154e9c" /><Relationship Type="http://schemas.openxmlformats.org/officeDocument/2006/relationships/notesSlide" Target="/ppt/notesSlides/notesSlide23.xml" Id="R9fd2f4a7e7e547d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9dab8245140a0" /><Relationship Type="http://schemas.openxmlformats.org/officeDocument/2006/relationships/notesSlide" Target="/ppt/notesSlides/notesSlide24.xml" Id="R3aca2f7dc4d64bf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eaeffeabbe4718" /><Relationship Type="http://schemas.openxmlformats.org/officeDocument/2006/relationships/notesSlide" Target="/ppt/notesSlides/notesSlide25.xml" Id="R041ae8f3d8dc452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99fedd673643f9" /><Relationship Type="http://schemas.openxmlformats.org/officeDocument/2006/relationships/notesSlide" Target="/ppt/notesSlides/notesSlide26.xml" Id="Rd1c4b2efe9774c1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bfdd4a86c84a02" /><Relationship Type="http://schemas.openxmlformats.org/officeDocument/2006/relationships/notesSlide" Target="/ppt/notesSlides/notesSlide27.xml" Id="R0cb3a86674f3466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d3407287fe41db" /><Relationship Type="http://schemas.openxmlformats.org/officeDocument/2006/relationships/notesSlide" Target="/ppt/notesSlides/notesSlide28.xml" Id="Re871ae49d80d4c7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f0f29d42b5422c" /><Relationship Type="http://schemas.openxmlformats.org/officeDocument/2006/relationships/notesSlide" Target="/ppt/notesSlides/notesSlide29.xml" Id="Rdfeb759d805646d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877573eea48ee" /><Relationship Type="http://schemas.openxmlformats.org/officeDocument/2006/relationships/notesSlide" Target="/ppt/notesSlides/notesSlide30.xml" Id="Re05ccec0bd6944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263A2-6899-4659-A789-07001A61E0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dfed88c194acb"/>
          <a:srcRect xmlns:a="http://schemas.openxmlformats.org/drawingml/2006/main" l="27723" t="0" r="277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0"/>
            <a:ext cx="5429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A5989-D71A-4878-9DD9-D30DDCE4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81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1B">
              <a:alpha val="93725"/>
            </a:srgbClr>
          </a:solidFill>
          <a:ln xmlns:a="http://schemas.openxmlformats.org/drawingml/2006/main" w="0">
            <a:solidFill>
              <a:srgbClr val="15121B">
                <a:alpha val="93725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DEC79-DBCB-489D-A367-C1CD747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3809E-ACFD-4AD8-B9D8-660B8110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B9AD9-6AEF-4AB9-9354-2FC854C5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01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GROWTH BLUEPRINT /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99B04A-3C6D-4C30-84FE-4E5802DB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71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DA41CA-B647-43B4-98C6-7749B300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E7CA9-EAFA-4276-9F1D-4565E534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From category claim to category authority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A01708-703B-47B4-B5A1-40F97052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1505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INTERNAL REVIEW DRAFT - HUMAN APPROVAL REQUIRED</a:t>
            </a:r>
          </a:p>
        </p:txBody>
      </p:sp>
    </p:spTree>
    <p:extLst>
      <p:ext uri="{BB962C8B-B14F-4D97-AF65-F5344CB8AC3E}">
        <p14:creationId xmlns:p14="http://schemas.microsoft.com/office/powerpoint/2010/main" val="279108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8D301B-AA5F-4ADC-A2F7-2BB999AA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207E3-D120-4100-AFD1-8605C480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Executive 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7C239-FDA0-4967-8901-EA8A0CFE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F9F6F-CB0B-4709-A740-F434CE86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9612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Deploy the underutilised peer-reviewed research asset as the anchor for a distinctive brand platform, closing the self-diagnosed awareness gap behind the first CMO hire, ahead of rising paid-social CAC and competitor SEO/AI-search gains eroding the DTC funnel.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014A6-5E9B-4D16-9BE8-D3EA58CC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3C5DD-9C40-47E8-9E61-24EC6C0A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D82CE-C383-4BB1-8A3C-E9D0ECF3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81325"/>
            <a:ext cx="1381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809FA-DD2E-47BC-8385-9F4AD215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86125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 claim competitors cannot copy in one ad cycle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BC131-5E2F-41B3-9BE7-85D097A4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A36B5-88B0-4775-8D50-A34C0B85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KatKin's next growth question is about where existing strengths can compound.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813487-1854-419D-B2C6-ED41377E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T1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5153F-2E93-4473-9E50-9E4CA900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563A3-5F94-4E2A-B926-F2DD212B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CFD40A-0875-45C7-A589-20342150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02 / 30</a:t>
            </a:r>
          </a:p>
        </p:txBody>
      </p:sp>
    </p:spTree>
    <p:extLst>
      <p:ext uri="{BB962C8B-B14F-4D97-AF65-F5344CB8AC3E}">
        <p14:creationId xmlns:p14="http://schemas.microsoft.com/office/powerpoint/2010/main" val="20051679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1E08E-A999-4037-BD01-AA3F6402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42F16E-2283-4424-A1DE-0D5F0EAF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Commercial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8ED2BD-EDF6-485D-B177-F29A755D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4A818-3079-4C82-B522-2DFC05CA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9612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This deck separates what outside-in evidence supports from what only company access can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056EA-2C15-446E-BD51-DB98F12B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F3B96-66BC-4573-A4D3-7C0FD5F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77F25-0BE9-4914-82A6-86F3B397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81325"/>
            <a:ext cx="1381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CCEA6-3C3D-47CF-A5C9-11049B5D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86125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Move from awareness as an input to authority as the outcome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58A20-6C20-4EAC-AEAD-8DB0A7F0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62051B-B78F-42D0-A7CF-FB7754BB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Where could KatKin's next meaningful growth come from?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C02591-38AB-4885-B2D9-FC7F3043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S1A, S1B, S1C, S3, S5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69AEF-2709-4E91-AE21-637662B3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INTERPRETATION + VERIFIED FACT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07B743-39CB-4761-9B46-626FC909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0BA04-432E-48BB-8873-A241C2DB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03 / 30</a:t>
            </a:r>
          </a:p>
        </p:txBody>
      </p:sp>
    </p:spTree>
    <p:extLst>
      <p:ext uri="{BB962C8B-B14F-4D97-AF65-F5344CB8AC3E}">
        <p14:creationId xmlns:p14="http://schemas.microsoft.com/office/powerpoint/2010/main" val="13628416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776848-35B4-4ECC-80C3-BC038FCC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1F562-35A7-440B-8387-73A50784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Market Reality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EBA0B-4822-4C19-82AC-45B6E038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08E74-BFA2-4827-BA24-F1068A8D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36FF9-5A2A-4D60-B71E-3C41E61B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SAMENESS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853AA-F87F-4F21-A231-B7BF52C0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907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Shared functional language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C331E4-AA3B-4AE1-91C8-BECA54D6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2EA2A-7166-4CCD-BEA1-CDAC8EEC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045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64EBCD-E378-4236-9E6E-BD90271D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Organic and AI search shift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A11CB-CE32-4E03-BBD6-00C15EB2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2405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8F88F-EEA4-4C07-9A71-9C5AC345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9550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AE14A1-F600-446F-A064-6105F94C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907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Paid creative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F2E85-E954-4DAC-9C0D-8783BB04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29000"/>
            <a:ext cx="31623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56699A-B7BA-46E2-B6ED-D070B7DA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00450"/>
            <a:ext cx="2724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337F7C-1C9A-4B73-9B34-8526C514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9572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Build a loved brand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40B647-E269-4BEC-9873-732616EB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05050"/>
            <a:ext cx="3009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F8108A-7CE9-437A-BCAF-D9BC2F7D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PRESSURE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6E28DD-BC52-4E7E-BF27-44D8D63C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09900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Fresh-food rivals repeat real-meat, no-filler and vet-formulated claims; search makes that sameness costlier.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E62C7-D905-4F5B-BAE5-DBE8A0A3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45CEB-5E73-429F-9B27-997B83C8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Category context creates pressure, but does not diagnose KatKin by itself.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A3B8-0A47-49A8-AC51-EA6B2797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S3, S5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6B2855-3F6E-45CA-8C91-708FACAC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INTERPRETATION + VERIFIED FACT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B3C2A0-3B99-4677-8898-1312544E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E00505-1F52-42C4-8060-D304B989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04 / 30</a:t>
            </a:r>
          </a:p>
        </p:txBody>
      </p:sp>
    </p:spTree>
    <p:extLst>
      <p:ext uri="{BB962C8B-B14F-4D97-AF65-F5344CB8AC3E}">
        <p14:creationId xmlns:p14="http://schemas.microsoft.com/office/powerpoint/2010/main" val="10663667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73761B-F5F6-40E1-B2E7-4BCE9FFC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F06D80-FA28-4785-A7A3-20FD10CB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Category Growth Dynamics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9A3FB8-B4F8-496D-8027-0D7258EE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3A840-5402-4CD3-8528-BEB00335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476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2B956-9816-46B3-A25D-E06CED94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01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85099-0871-4BB8-B0FA-DA388779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6225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F39895-E62F-4479-AB78-E6C7FF51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813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02 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84B3FE-4977-40C2-9D3C-E24D1AC7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2381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34509-7CA2-4E56-A041-0A841EF4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33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03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CAE93-02CC-4B9B-86C6-4ECF7F86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No independent verification of KatKin's claimed 2% market share beyond trade press reporting.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32928-97A3-4423-A544-A490662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5EDCD-2C74-4193-AB77-A5A1D70C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Premiumisation and category polarisation make the middle harder to defend.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2FDC2E-E359-4585-87F4-BA049D6E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CFB019-0BEA-4234-B263-7576A47E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3480A6-AF2C-463D-B99F-47094A45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9551F4-241C-4AE6-B14C-92FC6B94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05 / 30</a:t>
            </a:r>
          </a:p>
        </p:txBody>
      </p:sp>
    </p:spTree>
    <p:extLst>
      <p:ext uri="{BB962C8B-B14F-4D97-AF65-F5344CB8AC3E}">
        <p14:creationId xmlns:p14="http://schemas.microsoft.com/office/powerpoint/2010/main" val="19530570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0ACD8F-8907-47E1-8786-588C7817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MARKET + COMPETITIVE DIAGNOSIS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C94B5-0AD9-4E02-86B3-42F10BBD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Competitive Landscape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C8C09-39EB-4947-8D1C-7DA876E8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4AD1E-55DC-4740-B6A1-3F91F4E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37483-E8E6-4266-A00E-07E8F699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25F1A9-6949-407F-AF31-97055042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096C9-4624-46F8-9D73-45B2257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Competitors own different trust and value cues; KatKin's combination remains a hypothesis.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16AE4-4BA4-402F-85B7-262C8B49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050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A0FB4-9531-47D8-83CF-29BDEFEE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336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41A49-379A-4D20-ABC5-16825C31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717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60DC63-29B0-46D3-AF9A-4843FCA5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623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KatKin's defensible proof points are its peer-reviewed, published AGE research (Journal of Animal Science), Board-Certified Veterinary Nutritionist.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F95787-4C57-4577-82C8-74AD8B90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574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AFDBB0-6E79-4ECF-BF04-0B167BDF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860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A63768-B76B-413F-8EFA-7533BC59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241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REPEAT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9E8CF-D310-40B4-97C5-EA7D6AC7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147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Competitors own different trust and value cues; KatKin's combination remains a hypothesis.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750677-BA79-45B5-829A-095A4B78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2DE6E9-00EC-4BA7-95C7-934BE3E1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Competitors own different trust and value cues; KatKin's combination remains a hypothesis.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C47AD-2F32-42DA-98A1-3EF124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S4, S6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3A54F1-C584-4323-B7A1-F5F244E1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08D7C-961B-4A4B-9997-FFC18A3D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6CE2EE-91FE-4A04-AD2F-3A628816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06 / 30</a:t>
            </a:r>
          </a:p>
        </p:txBody>
      </p:sp>
    </p:spTree>
    <p:extLst>
      <p:ext uri="{BB962C8B-B14F-4D97-AF65-F5344CB8AC3E}">
        <p14:creationId xmlns:p14="http://schemas.microsoft.com/office/powerpoint/2010/main" val="2985437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3313A-41F9-46D4-8C78-CDBF9E12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MARKET + COMPETITIVE DIAGNOSIS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9D6E9-8E80-4CA6-820A-DE3B5EAC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Sea of Sameness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75032-492C-4417-8093-4B3FD7C7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AC19B-800F-416D-B73C-1CCA0975D0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e02b61c1c4112"/>
          <a:srcRect xmlns:a="http://schemas.openxmlformats.org/drawingml/2006/main" l="4172" t="0" r="41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714500"/>
            <a:ext cx="5429250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A9D95-2EA3-46E0-8090-BF2ADF0C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14500"/>
            <a:ext cx="5486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22505C-2C14-4237-9DB2-C63033EC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HARD PART IS ALREADY DONE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C09FD-736C-4321-9EC2-BC6F318C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4191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7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Brand platform and proof hierarchy should foreground the published research as the lead differentiator, since this is currently underused relative to testimonial-led creative.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3533E-113D-49B1-A059-5BB79628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89D83-53DC-4FDF-8234-D53EE0DD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 needs a reason to be remembered, not another generic category claim.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105B3-531F-4297-A7CD-D92B3EB9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11C2E-AC95-42FC-8629-04373E17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FACT AND 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8F521-56B0-44C3-89E2-B25EF9F9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AC24C9-D7F7-441A-B75A-C54932FD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07 / 30</a:t>
            </a:r>
          </a:p>
        </p:txBody>
      </p:sp>
    </p:spTree>
    <p:extLst>
      <p:ext uri="{BB962C8B-B14F-4D97-AF65-F5344CB8AC3E}">
        <p14:creationId xmlns:p14="http://schemas.microsoft.com/office/powerpoint/2010/main" val="14624361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598964-6FFF-4355-B035-1CE9946F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MARKET + COMPETITIVE DIAGNOSIS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0FD3E-6773-4084-9D98-114FD4693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Market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794AE5-41E7-4F06-AF1D-F9B53DEB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841EE-AC8E-4D7C-8465-9C0EC6B6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723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C7E1A-B100-41A7-B6D7-DC13C300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33875"/>
            <a:ext cx="590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80B61-CE5D-4375-9F4B-946EE753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190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8EF7D-265C-4C37-BA9A-28293A35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CATEGORY CLAIM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6B8C2-F3CB-4699-9CE0-5EC260E4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INDEPENDENT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A2B5B-23F4-42AE-890E-99EC2FA9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BRAND AUTHORITY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C7394-F3B4-41F5-BE79-E580118D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7858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1E835-91EF-4F2F-83FF-F43ACDC5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5953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CATEGORY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6F0B73-BE11-402B-BFDA-EB6308B2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38328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A0B65-1193-4F43-B6AD-3B9CD4C9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423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UNTAMED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B6B24-3281-4BF5-BDE9-2757184B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0792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AD274E-222A-4E1F-903D-A64FBF85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2222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OWNABLE SPACE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335C9D-D18B-450A-BC24-87017E15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762125"/>
            <a:ext cx="3114675" cy="3333750"/>
          </a:xfrm>
          <a:prstGeom xmlns:a="http://schemas.openxmlformats.org/drawingml/2006/main" prst="roundRect">
            <a:avLst>
              <a:gd name="adj" fmla="val 244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39C26-741F-4159-A259-AFFFC239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GAP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59EF1D-D9C3-46C3-AAA5-390F92CA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95525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Independent science made easy to feel and easy to inspect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CDC84-E539-40F3-8C80-5F51C6D4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33725"/>
            <a:ext cx="23336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WHO IT MATTERS 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CF3611-9532-4B74-A618-5D2CA196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 buyers and retail converts who need credible proof at a glance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CE4EDF-76C2-489A-9F33-2E8D4658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00500"/>
            <a:ext cx="23336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WHY COMPETITORS MISS 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6686F7-A9E7-4094-9AD5-FD9C6AE5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Fresh-food competitors converge on functional claims; independently published evidence is harder to replicate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FFC76C-6BA9-4B1B-83CC-87E276F0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C8CE85-DD0D-461C-AE74-E6ABF39F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KatKin can test an under-leveraged space where independent proof builds brand authority.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032F3-2F62-4E45-A7A8-8E6F4E0F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8DC80B-966B-4678-8844-D72B1692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STRATEGIC INTERPRETATION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483B40-BAE9-47B2-BAF1-B32D1860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CCDE86-B39E-4B52-B358-5D9CA817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08 / 30</a:t>
            </a:r>
          </a:p>
        </p:txBody>
      </p:sp>
    </p:spTree>
    <p:extLst>
      <p:ext uri="{BB962C8B-B14F-4D97-AF65-F5344CB8AC3E}">
        <p14:creationId xmlns:p14="http://schemas.microsoft.com/office/powerpoint/2010/main" val="6736375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E39403-FAA0-4E96-8635-681BF9E7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MARKET + COMPETITIVE DIAGNOSIS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9CCD1-4807-457A-B0A8-8B7E10DE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Growth Constraint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EAB06-AFD4-450B-A3F8-2B078095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2506F-8B71-494A-AA7A-DF414BA9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9A8BEE-32E9-43C8-BD70-EC8292B4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84E49-295D-42FE-A8CB-81961F78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21AC0-76BB-48E7-9749-E4AE4328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2FDEA-0D47-4143-8F71-CB8D0F44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B81C7-2451-483B-8F88-530381F4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B0D12-3C6E-42E0-A8E6-E8031594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BD1A3-7E3B-411A-BFEA-154B10FF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27F54A-58DC-4618-BF85-48547C86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6C346-911B-4460-B88A-B3DBFD87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5F010F-D0CB-4946-AED0-D47A869B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0AC685-7574-496F-B1C4-C876D72F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C3BD9-FC8D-449C-AA88-FABA5B20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561B2C-4CD7-4816-A0BB-AECE0B48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Trust and conversion are constrained by unresolved proof and proposition questions.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ADCAFC-2A3D-47E9-BB7A-B45C04F9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920835-8C93-495D-9D99-2BE5195C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 + INTERPRETATION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E0DCFE-1C0A-4DDB-AC91-FD16465F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859328-0641-4A3B-AA2F-97B53A87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09 / 30</a:t>
            </a:r>
          </a:p>
        </p:txBody>
      </p:sp>
    </p:spTree>
    <p:extLst>
      <p:ext uri="{BB962C8B-B14F-4D97-AF65-F5344CB8AC3E}">
        <p14:creationId xmlns:p14="http://schemas.microsoft.com/office/powerpoint/2010/main" val="1972694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F0DEAE-DAB4-4E44-B5A3-8B914ADB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2 / MARKET + COMPETITIVE DIAGNOSIS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8ABD1-097A-4919-952E-A9A4EF40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Provocation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1E3651-AEC2-4AEF-89AC-E534334A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9B734F-CF7A-4719-A99F-416B71AB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WHAT OWNERS SEE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B4D16-BB90-4741-83FF-2C6DECFC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Confident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506C23-00E8-4FEE-9708-9D70E714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Fresh. Real meat. Vet formulated.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D14DA-A96F-43D7-A04C-0C9DD30E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76450"/>
            <a:ext cx="1562100" cy="1562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3F213-EAD7-40A1-B666-0F602B0C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19375"/>
            <a:ext cx="99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GAP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538C3-C407-41AD-9957-A02FFED4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WHAT KATKIN CAN 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6A029-339E-4EF1-B2CF-C5D19E40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Independent science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62E73-494D-4F21-B3F5-388A8F54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category asks owners to trust confident nutrition claims; KatKin can instead make independent evidence the starting point.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716EB7-5649-46BB-9EEB-DE210662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522F2-CBF4-4310-96E3-1100084A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public trust contradiction can undermine a trust-dependent growth story.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96AA8C-C177-4F4A-8AAF-5DB44252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F3A476-2456-4F01-8476-64D92F2C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STRATEGIC 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EDD2A7-602D-4FF5-93F8-4B559C88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DCF532-17B8-44BE-AA70-8FDF9F1E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10 / 30</a:t>
            </a:r>
          </a:p>
        </p:txBody>
      </p:sp>
    </p:spTree>
    <p:extLst>
      <p:ext uri="{BB962C8B-B14F-4D97-AF65-F5344CB8AC3E}">
        <p14:creationId xmlns:p14="http://schemas.microsoft.com/office/powerpoint/2010/main" val="20001384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BB4371-CE29-49FB-94A0-BAE33D76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AUDIENCE + DEMAND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32E34-5D40-43FA-A9E7-2D6E0885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Audience Reality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F88089-4DC3-4C75-B344-70B663C7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D81BE9-0AF6-4CA4-97BD-A12BD8F8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8F6983-1522-4A46-BC1D-F8A73661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F6D7E-052F-4331-A0F3-7E3E9DD1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8817DF-F9B8-4024-B575-9394C015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Outside-in evidence cannot yet support confident buyer segmentation.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CB2DA-C4BF-4953-B4CC-3AB6A11F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5A2CB3-BA17-40BD-8B31-C6DBA321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B0C2D-F021-4037-935E-E6FAF8DC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CONVERT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7BAD5-31A9-491D-BD22-A7AE593A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Approved priority audience is affluent retail converts and prospective mainstream owners, sequenced behind the committed DTC early-adopter base.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AA1E1-E742-466E-AB77-93B14CCD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71126-DCD0-4AB9-8662-6797E1CF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4795AB-E977-4C26-AD24-6CFC6368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MAINSTREAM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288E6-E0DE-41D7-AE26-FFF08928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Outside-in evidence cannot yet support confident buyer segmentation.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91A1F-9F9C-4097-B61A-291952ED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8D7D7-141D-489D-82B5-42A69F7F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Outside-in evidence cannot yet support confident buyer segmentation.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D2D6A0-B455-4FB6-A55C-96C12640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27ABAB-1638-4069-8F21-6CE72D66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79C3E-3450-4BE6-B4FF-4E812D11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44697E-9B13-4A47-A9DD-E4BF7F0E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11 / 30</a:t>
            </a:r>
          </a:p>
        </p:txBody>
      </p:sp>
    </p:spTree>
    <p:extLst>
      <p:ext uri="{BB962C8B-B14F-4D97-AF65-F5344CB8AC3E}">
        <p14:creationId xmlns:p14="http://schemas.microsoft.com/office/powerpoint/2010/main" val="1519597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CF9573-C844-4F92-92B5-28BFE624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AUDIENCE + DEMAND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7A578-A5B1-4768-8DDC-ACDD2666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Audience Segments / Demand Pools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508A70-EC0E-4C35-9029-F5321A74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199DD-24FB-4ABC-B718-1CDFC84E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0CBA4-E672-496E-A86E-B05F7CA3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67C1A-C88A-40B2-B5DC-7918213D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COMMITTED DTC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863CD-8A08-4886-A78E-65D60B84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Potential buyer jobs are a research question, not a settled segment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76704-9824-4F7F-962C-D95A76F6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57B8D-998D-4921-9CC9-9DB8C22B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3865C-12D4-4F36-BCF3-08CD4338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CONVERT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2CE86-F0F8-4576-A239-DD59E060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No first-party client data was supplied in this evidence pack to validate behavioural segmentation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D61C2-9F52-4BCC-A43F-EF4AD866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912297-EA3C-4FDE-8CBD-76044147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8CE2AE-7EFB-4D48-89C3-7D994247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MAINSTREAM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5CCCCC-C8B6-4C6F-A636-7F6C9C3A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Potential buyer jobs are a research question, not a settled segment model.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2C89C0-34BB-4E19-BFB2-646DFC0B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6A5C95-6001-4C0D-AB37-B7A4054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Potential buyer jobs are a research question, not a settled segment model.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58263-4ADF-4FFF-B234-DCDCEB22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E77EE-0FB3-4675-BE2C-FDD96DA6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77645-1431-45AB-AF5F-7B4D21CF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FD71B6-D0F7-49ED-91C1-454BF16A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12 / 30</a:t>
            </a:r>
          </a:p>
        </p:txBody>
      </p:sp>
    </p:spTree>
    <p:extLst>
      <p:ext uri="{BB962C8B-B14F-4D97-AF65-F5344CB8AC3E}">
        <p14:creationId xmlns:p14="http://schemas.microsoft.com/office/powerpoint/2010/main" val="4508227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3A58A2-2EDC-4DE5-A7E7-9B5D3AF7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AUDIENCE + DEMAND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068D9-4941-46B7-A9E8-AC18BBEB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Customer Evidence 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A1D3D-415E-4881-B0E3-9A702E64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3636A2-1E34-4A2B-9658-D278F887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5143500" cy="27432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4A4C8B-55DF-43C0-B920-C2B16E67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CUSTOMER LANGUAGE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75E13-2B95-4C44-8C6A-602F8570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81225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PARAPHRASED REVIEW THEMES - NO VERBATIM CUSTOMER TRANSCRIPT WAS SUPPLIED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4911E-9EAB-4670-A8B3-ABAA6DB9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“Too expensive for more than one cat”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5CBAB-AF51-4184-894D-174531B3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“Freezer space is a constraint”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469FA-5CCF-454C-BA6F-0C28A3B4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“Texture can take adjustment”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C865E-D1F0-4792-9E60-3D8F902E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C08595-5D05-4AD5-91F5-1D4D3469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66900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SEARCH SHOWS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29264-A242-43F9-8F64-D86DB32E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288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Competitors are gaining organic and AI-search visibility.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BFF696-0949-48E8-9A38-CE4FC1EA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2890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A65B9C-1954-48A5-AC50-C9047CAF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REVIEWS REVEAL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36C85-4231-4324-93C1-758CD8CA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432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Strong aggregate satisfaction coexists with price pressure.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49A65D-1463-4BD4-A7C5-AB4E608F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4330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864BAD-183D-4B3E-A043-5D40E505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SOCIAL SHOWS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ADD607-44E1-4B31-A5CE-817C6396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High creative volume converges on familiar functional claims.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4DA488-AC05-49FC-8543-590A3A8A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The opportunity is directional: make proof easier to find without claiming first-party validation.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1D90F-80EF-4C94-94EE-947FC2AA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47797-7C21-4171-9704-6E1FD9B4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Public customer, search and social signals support a direction, not a settled segment truth.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C16A89-E749-46B2-9B24-4FB040EE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S3, S4, S5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F79EF7-B806-448E-8914-7A34BD2A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MIXED VERIFIED FACT + INTERPRETATION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5FD5C2-CA8E-488F-9883-9A28D5FC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A1579D-A78B-4F1E-97B3-B367C344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13 / 30</a:t>
            </a:r>
          </a:p>
        </p:txBody>
      </p:sp>
    </p:spTree>
    <p:extLst>
      <p:ext uri="{BB962C8B-B14F-4D97-AF65-F5344CB8AC3E}">
        <p14:creationId xmlns:p14="http://schemas.microsoft.com/office/powerpoint/2010/main" val="6315885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F7F93-FA88-4F40-B93B-D804FEB5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AUDIENCE + DEMAND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E4981-3761-4D10-9308-E333B885F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Audience Tensions / Decision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303A2-53F8-4B4D-8351-68AD8A68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B51F5-783E-401A-B58A-A6B9191B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F25A02-9304-4C97-8B7F-1A138705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812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FF7E6-6541-4BCE-ADC2-B09D1F3A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193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DISCOVERY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A4C93-C2AF-4BE4-88C1-34F04227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useful tension is between breadth of appeal and clarity of choice.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BF438-B25B-43BC-B4A3-3914931D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050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A8BAA5-255B-4D23-8C83-8B358194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336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93EC78-2B2F-464D-B660-66DA3193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717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6777E-9E45-4784-B40B-D10434BD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623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Segmentation design must rely on existing login/order-cadence/proxy-income signals only, per activation principle, and must define a distinct.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C407C-AEC3-4C5A-9596-C8811B62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257425"/>
            <a:ext cx="32004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023FFF-AE0D-4D61-BE6C-CE99AB2C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860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CE39D-63A5-42E7-BB1D-CF5CB29B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24175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REPEAT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8646B-6A85-4016-8441-753FABC8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14725"/>
            <a:ext cx="27241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useful tension is between breadth of appeal and clarity of choice.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2481A-474D-42C9-9828-D4EB0A67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6548BD-4CA3-4519-8EB3-781CC5CB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useful tension is between breadth of appeal and clarity of choice.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212D04-BA48-45B9-A60C-421AA75A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S5, S6, S7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13ADE2-646C-43B0-9E87-B6AF735F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035D3-0AFB-469E-971D-E8E80E05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E7C0E0-07DC-408C-B753-E40F9BF5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14 / 30</a:t>
            </a:r>
          </a:p>
        </p:txBody>
      </p:sp>
    </p:spTree>
    <p:extLst>
      <p:ext uri="{BB962C8B-B14F-4D97-AF65-F5344CB8AC3E}">
        <p14:creationId xmlns:p14="http://schemas.microsoft.com/office/powerpoint/2010/main" val="8775493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FFC267-E369-4982-B6AB-3DF145B9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3 / AUDIENCE + DEMAND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6BD93-455E-45CF-9CC1-AE62039B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Category Entry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A6D7A-D5F4-4EA9-9872-FD83464B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827A1-6CFC-4473-B148-E8223CCB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AB195-B803-49A5-946A-625DB037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5167B-CB2F-45CE-84FB-3518A003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6700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HEALTH RESET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D0D72D-90BC-47BB-BD06-F5D1BD22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health concern prompts active nutrition discovery.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EB852-B207-4F18-A5E9-6763D296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D08C7-ECD5-47A7-B654-86C8636B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90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2BE35-E0B2-4051-9C6C-3B495333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6700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 SEEKER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13163-228B-4374-9553-6F1F4BD2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1945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An owner compares claims and looks for credible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8E45A-5187-4CBB-9E57-79B8D7B7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32375F-44F9-4964-A3C8-0CA20DEB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90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14D04-508E-4CA7-B30E-E54A1D9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67000"/>
            <a:ext cx="271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TRIAL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B10E55-0716-4122-AD2B-D0FF0303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1945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Shelf communication must convert without a personal quiz.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04AE8-CF68-4897-B7B1-6E6B1F98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76B6AC-A224-4F00-B2F2-2D303CF5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Different entry points may require different proof and proposition jobs.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0E75B8-AE12-4A4E-A3BA-B6E3ECF6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S4, S6,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885C0-D821-4216-B757-4ED9C1AB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338F3-7783-4520-BF7E-5DE9AD12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57D79B-A42C-4494-A7E4-2DBF981F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15 / 30</a:t>
            </a:r>
          </a:p>
        </p:txBody>
      </p:sp>
    </p:spTree>
    <p:extLst>
      <p:ext uri="{BB962C8B-B14F-4D97-AF65-F5344CB8AC3E}">
        <p14:creationId xmlns:p14="http://schemas.microsoft.com/office/powerpoint/2010/main" val="8308764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931BB5-24ED-4458-8486-615B01B5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C845A-9B9F-4FED-BC41-A401AA0D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Current Brand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121F8-998A-4EAD-AB17-5D529E00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BA0CE-AC67-4A82-9970-AB22EF29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2421DE-964C-4AA3-92D7-E733C74C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6F831-F699-4EE2-9AEA-9C29F74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42020-CD6D-48B5-824C-DD49F9AB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1AD931-ECE8-4B3D-940C-4488FA47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F3B88-5D6F-48E8-AED9-976A00E8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131A32-BD33-439A-88D9-D5EC6DB4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C177-BAF4-4E8B-88F1-E12449FE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9280B2-0DA6-4D56-B6B3-AD6DD558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B44E9-746F-4E48-A032-25824D8C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3D875-284D-4771-BD17-30A23BAD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6030A-A6FF-4806-8208-A1737FE4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1F84C-ABD9-41F3-9B35-8580F1BA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D901C-30A0-47C3-8F6E-F9241398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KatKin's current proposition is observable; its effectiveness is not proven.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DAC01-EC84-427D-AB47-FE19154E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S1A, S1B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DE15CE-5D54-4BDB-BA26-4EA1E432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VERIFIED 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3CA708-0625-4AFD-9DB1-2B2895F0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F479CC-E721-40DB-81DB-AECDCCE3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16 / 30</a:t>
            </a:r>
          </a:p>
        </p:txBody>
      </p:sp>
    </p:spTree>
    <p:extLst>
      <p:ext uri="{BB962C8B-B14F-4D97-AF65-F5344CB8AC3E}">
        <p14:creationId xmlns:p14="http://schemas.microsoft.com/office/powerpoint/2010/main" val="6613635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BD3F7-20F7-4AF7-8412-57AE2292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FB168-4188-4763-B1A6-1EDE8B40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Positioning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798B4-133F-4E2E-9650-B772B392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6A690-C0ED-42BF-B59F-3DE34D8A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POSITION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FB665-6172-482E-B8F2-49A77CAB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8383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E0908-0D39-4557-BE74-5175B46E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764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Proof, not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20981-37C2-425B-9181-CE0AC976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BENEFIT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39FCFF-1E7E-4FB0-BAAB-EF86B7CD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955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B2F84-702A-488C-BBB3-703EFB1A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Confidence without self-audit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404FB-A6E7-458A-B64B-7D210C43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PLATFORM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2A187-B9CF-41AE-A1BE-28E96886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55282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C2D497-0394-489E-9278-CE01C1C3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9090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73313-B616-4F84-8848-42BC7EF9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EXPRESSION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F141AA-D144-46FB-8333-95368E24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10075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3FBD6E-E56C-41F6-8EC0-5A57C570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33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without personalisation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28222A-53C6-4DEB-A8A9-FE4AB011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569BC2-4F03-4A06-BC4F-36E205E1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positioning hypothesis depends on resolving a credibility contradiction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246D92-3C05-4B04-8216-161B580F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A73A0D-B685-447B-A950-A31ED724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7E2F50-2FEC-49FB-BE91-6F3431DF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4702F5-E619-4251-B18F-BFC24B2D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17 / 30</a:t>
            </a:r>
          </a:p>
        </p:txBody>
      </p:sp>
    </p:spTree>
    <p:extLst>
      <p:ext uri="{BB962C8B-B14F-4D97-AF65-F5344CB8AC3E}">
        <p14:creationId xmlns:p14="http://schemas.microsoft.com/office/powerpoint/2010/main" val="6639393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4CB2F-6BC3-454A-9E42-942B1426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597A49-C200-4373-9B85-2B180F50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Strategic Positioning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9D4BC-A4CC-420F-B981-B920188B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ECEEE-109B-470E-ACAA-00491850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9612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Move from the copyable claim that fresh food is better to a provisional position: cats deserve nutrition validated by independent science, not manufacturer assertion.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4DA16-B1BE-4A98-A4C5-5C8F92B4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82987-07E5-45AB-9CD9-A52B216E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A789B-B206-420D-84D2-6ECEE1F8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81325"/>
            <a:ext cx="1381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23041-6752-4329-B06E-B3AED88A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86125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The approved positioning is a testable strategic hypothesis, not a proven market fact.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5755A-D262-44B8-8219-01A0AD5F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0C00F2-1B96-4025-AFD0-E56E11D1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approved positioning is a testable strategic hypothesis, not a proven market fact.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601AAA-D248-4D80-A443-E01CCF18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3FDA7-DD4A-4FE4-B71D-F1677F6A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POSITIONING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8371A-C41A-49CA-9EBA-B67E8BBB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99FBE4-9926-445A-BBF9-965B4954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18 / 30</a:t>
            </a:r>
          </a:p>
        </p:txBody>
      </p:sp>
    </p:spTree>
    <p:extLst>
      <p:ext uri="{BB962C8B-B14F-4D97-AF65-F5344CB8AC3E}">
        <p14:creationId xmlns:p14="http://schemas.microsoft.com/office/powerpoint/2010/main" val="7474379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176591-3805-4159-8FCC-76ACA6F7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27C92-5FAD-4064-BC4F-D22BD057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Positioning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08D41-21F0-49D0-9F90-2A7EDD14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B586B-16EA-4717-B3C6-A46C1496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7620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9CD5EF-0FDE-4CCA-A897-48C1C303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57200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87308-ED7F-4183-BB31-88C7EA5E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C3258-CB61-4647-82B8-173EA06F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339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PROMISE-LED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7C7AA-3EA1-4064-BDB7-96B7E6F9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PROOF-LED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7D38BD-E978-4F51-8BDC-9C68DFD1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85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AUTHORITY-BUILDING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2E736-2456-47AC-AD92-D9B01365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624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84D05-ED7E-480B-8596-F25EEE21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43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CATEGORY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780A7-CEE6-4BC8-A84D-63ED8565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820" y="345567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C2F333-E9EA-4C67-9A88-A3E7DE22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3370" y="343662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UNTAMED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64A08-49C8-4111-BE61-08F03EAC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1564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AF3516-DC64-4E3C-9230-56149D14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19659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KATKIN TODAY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F4369-A4C4-4839-9546-16681982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4140" y="252222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9BF239-F153-49FF-8E94-1BF052BB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690" y="250317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KATKIN FUTURE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40FCED-4D9F-45CF-8439-73C39BE8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57375"/>
            <a:ext cx="2667000" cy="3000375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1A1CB2-FD31-407C-A0C9-D56BB59A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OWNABLE TERRITORY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9809FA-0C04-4F50-A3E7-208CAA60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14625"/>
            <a:ext cx="209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Nutrition proven, not promised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0D195A-2C70-438E-BFD3-B47A1854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862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Positions are hypotheses.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FBA75-13AD-42D3-94C1-6D38DAC5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827D9-4F7F-40F9-9C0E-C909F4D3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Move from familiar promise-led nutrition claims toward proof-led authority, subject to founder and customer validation.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C9D6BB-760B-48ED-BC6F-00E136E2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S3, T1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5D73B3-AD5F-4AB7-919A-BA500362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POSITIONING HYPOTHESIS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CEBBA2-9A7B-4CAA-9173-8883DD2A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B981F2-3F7A-4BE3-BFEE-0B564CB0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19 / 30</a:t>
            </a:r>
          </a:p>
        </p:txBody>
      </p:sp>
    </p:spTree>
    <p:extLst>
      <p:ext uri="{BB962C8B-B14F-4D97-AF65-F5344CB8AC3E}">
        <p14:creationId xmlns:p14="http://schemas.microsoft.com/office/powerpoint/2010/main" val="449715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16F450-14B5-4DF2-9F96-7EB6920D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1649F8-0C4B-4D8D-98DF-492A8E74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Narrative Platform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6E8EB-B98E-4BD4-B100-5113BA50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ECCB2-2133-4FE9-BFAA-9BB67207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4933F-CB21-4BE0-B0B4-918B4187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CD8FC-5E2C-4C7D-BF55-AF47F03F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092C7-3301-47B2-834B-0725A3D9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category asks owners to trust claims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8C41A-8509-426E-BF7B-37854B3C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C50C9A-CECD-4625-BB35-06AD5FB8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179BD-E199-48AE-B929-FE72B46C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445A9-0CB2-4085-B0BE-9B458385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KatKin makes proof the starting 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2E7D4F-1CAB-426D-9C49-73E8BFE1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18964F-D25E-4602-93AC-FD8E94D9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437AF-33FE-4D45-ACEC-CB43530E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RESOLUTION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C17E6-F61F-4E96-B8A1-41BCB936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Independent science carries the 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82B41-430F-4338-9943-FD41A7E3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619625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THE SCIENCE CATS DESERVE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A5CB0D-78F9-427D-A524-1A462009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1D29C7-57E9-483C-8B8E-D098B808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clearer progression could turn breadth of range into a guided reason to return.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1E896-BF14-4F45-956D-036289F5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E44B62-B53B-4964-943B-43FCAEEF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4CB410-C931-471A-8FA8-EB2EB42B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16B3BB-6205-498C-96B7-12177573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20 / 30</a:t>
            </a:r>
          </a:p>
        </p:txBody>
      </p:sp>
    </p:spTree>
    <p:extLst>
      <p:ext uri="{BB962C8B-B14F-4D97-AF65-F5344CB8AC3E}">
        <p14:creationId xmlns:p14="http://schemas.microsoft.com/office/powerpoint/2010/main" val="109405154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6C3D4-E418-4258-AC9A-80453842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BA727-AA1C-471D-9664-2699C2E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Core Message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8BBE9-FBD1-4721-872C-1150485C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267FD-04D4-4C52-858E-9BD80B69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MASTER MESSAGE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D740A-E877-4738-809F-444C35D0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Nutrition proven, not promised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72135-062F-46B6-BE79-066EC06F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5C2B3-3167-45CA-A5B5-ED6B7825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PUBLISHED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5619A-CD01-4B7E-8787-63255CC5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Peer-reviewed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77B6E-443F-46EE-87CF-368F3236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FORMULATED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5C7CC-0268-42E8-A5A8-9D681292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1467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Board-Certified Veterinary Nutritionist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6F387-6D28-487E-ABB8-4084F81F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00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7D80F-4FE7-476C-B199-02E44AD4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14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Vertically integrated production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59A7A2-8341-4D53-BE63-D2EEDEF7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Narrative translation work must produce a shelf-legible version of the science claim within the few seconds available at point of sale, distinct from the longer-form DTC/CRM articulation.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5D8AD-1E9C-4879-B6DA-3E618BB2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FEB6A-03E1-4BEF-9AE8-2546DBA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One front door can make two subscription jobs easier to understand.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7B5C0-0010-436F-8D9C-038537CF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T1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8A35A0-1ED6-4E28-84AD-CC8C2532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 + VERIFIED FACT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7CAE34-3464-4903-8F8F-2E3ECFBB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6711E7-CD51-48DF-ACC1-B63550FE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21 / 30</a:t>
            </a:r>
          </a:p>
        </p:txBody>
      </p:sp>
    </p:spTree>
    <p:extLst>
      <p:ext uri="{BB962C8B-B14F-4D97-AF65-F5344CB8AC3E}">
        <p14:creationId xmlns:p14="http://schemas.microsoft.com/office/powerpoint/2010/main" val="1495911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E32349-4970-4D1E-8EBC-98CFA9AC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4 / POSITIONING + NARRATIVE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CBBFAB-83BE-446D-8CED-2C26E401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Messaging Territories / Distinctive Assets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1BB6C1-6E1C-41F7-B4DA-178799AC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74FFC-E092-40E5-B4C7-FAAD44CB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337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FD5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77620-4AE9-46B9-83B8-32F5CB50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01 / PROOF, NOT PROMISE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F3163B-8A5E-4FD0-9967-6A9AD0E3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ROLE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B126F-B034-43B2-9C89-11AEFE29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Credibility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20520-4333-4378-BE7D-BF6FD204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16E72A-8322-4FF8-8ACC-64C9F96B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686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Distrust of category claims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1B259-642D-41D4-9E46-B0DFE60F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A7B13-3C1A-4A2C-8424-3A7AA1B9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86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Peer-reviewed research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089DC-37F4-44B5-AB9F-9B26EE73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ASSET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040497-0F1E-4B6C-BA7B-CF4388DB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Coral evidence mark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D7EF13-EEF0-4E4A-A44E-7FAEFBA2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38300"/>
            <a:ext cx="33337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6E007-B385-405E-8622-E49DAA7C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 / THE SCIENCE CATS DESERVE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99A7D7-2CC3-4233-9286-BDE1BF5B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ROLE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DC9EAA-2F29-4C78-BE7F-0FA22BB4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Emotional meaning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EB673-4DA0-492D-A92F-6FD1237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3329C-6813-4BB5-A151-F15D8C9C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86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Nutrition complexity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80A822-735A-4CF6-BA34-A5B84EB1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242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CFB63C-28C5-402E-82A7-72B56AD2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086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Veterinary formulation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BF48A4-D3AD-48AF-8295-10CEF3CF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24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ASSET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109666-13AA-4CE4-A1CF-752B2278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Clinical crop + warm 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533CFC-A4BF-40D2-A93F-4B8BF7C3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33337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FD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A86AD-68AF-43C2-BF4B-596E42F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03 / VISIBLE CONFIDENCE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E3D008-9066-444B-B908-E5AE8578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ROLE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E5F71F-4AE5-479F-B2F7-B2CDFB1D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translation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A4AA62-5219-4F06-97C5-8484F022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B35678-E55A-4071-AF79-542F6676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686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Shelf-glance uncertainty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193BAD-6FE1-4AC9-8B29-611FF1FA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242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9C3A0C-9AC5-45B7-B7A3-A9FB61D5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86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Layered source path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842EEE-48AD-4ABD-BA87-1B5648E7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ASSET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C1857E-0DE6-42B9-9CC3-31D5AFD0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Observe / mark / signal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AF9374-2CD7-4381-9781-5D5EA149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3238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VERBAL ASSETS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6C1488-EF07-41AF-BCEE-133BF30A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Proof, not promise • The science cats deserve • Show the evidence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2FB00B-2C4D-47AF-98E5-91FC6BA4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86250"/>
            <a:ext cx="3238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TONE + MOTION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A794F4-A571-433A-A0F6-71B4FD20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148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Precise and warm, never clinical-cold • Measured reveals with one coral proof signal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5E8F04-40D2-4B70-96EF-7ED7D463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86250"/>
            <a:ext cx="3238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RECURRING FORMATS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A89F99-3B86-4C55-9DC1-9C6D2B38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148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Claim / evidence / method • Observation / mark / signal • Shelf proof / deep source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CFCB33-A2F3-4516-83BD-42EBBF37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C72209-2983-4065-9AAB-F03E04CA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Three territories let campaigns vary while one evidence behaviour compounds recognition.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017330-7EDF-466A-96C6-212ACD56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S4, T1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ED58E0A-4C38-434A-9AF3-C500A9A5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MESSAGING SYSTEM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AC1EA9-BEDA-4B18-BD48-CBF9ADC7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3CB8CE-6E17-46E3-B49B-E603EA9A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22 / 30</a:t>
            </a:r>
          </a:p>
        </p:txBody>
      </p:sp>
    </p:spTree>
    <p:extLst>
      <p:ext uri="{BB962C8B-B14F-4D97-AF65-F5344CB8AC3E}">
        <p14:creationId xmlns:p14="http://schemas.microsoft.com/office/powerpoint/2010/main" val="20223222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34F726-8CD5-407E-A6CE-A2AF3604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GROWTH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2EED4-118A-4AF4-BCFC-96E30507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Commercial Prize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298E0-5433-4E8C-9E38-0F89B8C1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0E49B-A251-4C2B-A80B-2B209906D607}"/>
              </a:ext>
            </a:extLst>
          </p:cNvPr>
          <p:cNvGraphicFramePr/>
          <p:nvPr/>
        </p:nvGraphicFramePr>
        <p:xfrm>
          <a:off xmlns:a="http://schemas.openxmlformats.org/drawingml/2006/main" x="647700" y="1885950"/>
          <a:ext xmlns:a="http://schemas.openxmlformats.org/drawingml/2006/main" cx="10896600" cy="25241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179320"/>
                <a:gridCol w="2179320"/>
                <a:gridCol w="2179320"/>
                <a:gridCol w="2179320"/>
                <a:gridCol w="2179320"/>
              </a:tblGrid>
              <a:tr h="63103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Scenario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Target share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Revenue upside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Contribution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Margin 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Conservative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2.25%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£1.50m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£0.45m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30%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Base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£3.00m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£1.20m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40%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Ambitious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3.00%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£6.00m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£3.00m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B1D28-730B-4FDE-A80D-14AFB46E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0896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ILLUSTRATIVE SCENARIOS. MARKET SHARE AND CONTRIBUTION MARGIN ARE ASSUMPTIONS, NOT COMPANY FORECASTS.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41845-F0C9-4243-BC09-C6C649C3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8EC1A-CBB9-40BF-9C5D-C54A1D7F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0.5-point share gain implies about £3.0m in incremental annual revenue in the base scenario.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FA3F2-DC75-4C44-848A-4DC6698E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S8, S1A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DEDBC-66EA-4E4A-9114-04753C61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ESTIMATE +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05B7A-8CD1-48AC-BE85-62685956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3E796-7E8E-483F-B1D6-843E2CB3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23 / 30</a:t>
            </a:r>
          </a:p>
        </p:txBody>
      </p:sp>
    </p:spTree>
    <p:extLst>
      <p:ext uri="{BB962C8B-B14F-4D97-AF65-F5344CB8AC3E}">
        <p14:creationId xmlns:p14="http://schemas.microsoft.com/office/powerpoint/2010/main" val="21341099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E9CC1-E897-4FE9-8C8F-994AE044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GROWTH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A8FDF-1A68-48F0-A10C-A6B34ADE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Attention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C2C98-22D8-4FB8-8F6F-1C5ABBE2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8689A-2B66-4897-B0B4-AD1A0007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1D7B0-1E5C-4817-B1E7-64DA2336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NOTICE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0E198-B75A-4329-8BF6-3D786396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One coral evidence 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4FE22-B5CC-4DB5-9AE3-B94FC6E3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550F4-8606-4AA6-A6CA-402A8E86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REMEMBER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347D1-A8AC-4BA4-ABF1-21AC2C97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Proof before promise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F8B01-19C8-46F5-A1BC-DB4C65B3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E8C4C-8383-43DE-9BC6-AC8554B4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CONNECT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C79F7D-D5A8-4D35-9384-23F8C1C5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Science with intimate cat behaviour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0013BB-37B3-4635-9C86-1E5C5D1E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00250"/>
            <a:ext cx="2400300" cy="2524125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6DB2D-73FF-4C50-BEB8-AA09B2B0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VERIFY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86E90E-1859-4E09-A5CA-17057F52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19431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readable path to the source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87B3A6-C483-49E3-BE92-5DCB51EF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48798A-BDC8-42EA-9E00-15038A35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Earn memory by repeating one visible evidence signal across every decision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FC2AF-F097-4825-9D58-1B4F4A41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S2, S5,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B10415-EC2E-4BFF-B238-15412844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ATTENTION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0AE3B-4972-41EC-8E8F-C81CD500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D01A7-CCDD-4B1E-9ADE-EA4A9A69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24 / 30</a:t>
            </a:r>
          </a:p>
        </p:txBody>
      </p:sp>
    </p:spTree>
    <p:extLst>
      <p:ext uri="{BB962C8B-B14F-4D97-AF65-F5344CB8AC3E}">
        <p14:creationId xmlns:p14="http://schemas.microsoft.com/office/powerpoint/2010/main" val="130337883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9F88E2-CA3B-4412-88F2-BDFC61CA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GROWTH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A736B-C521-4F93-BA00-9B894610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Channel Roles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8A4A1-ED07-4949-8E67-1D401630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9E3F49-FDF5-4C87-BB42-ADF9DBBA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DTC QUIZ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1F2DDF-5A2C-4360-9B18-4695D173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Discovery and education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7F11D-44E7-46AF-9BD8-06FFCD6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14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Personalised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05593E-5159-4290-A072-35E532C7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87C2F-47CB-42D7-A149-E5564EE7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812DD-18D3-4F5C-80FA-B7013185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241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Trust and retention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D5AAF6-E1E7-4903-9816-D2C0DEB0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622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First party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9B347-8DF2-48D4-A937-D726700F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6C2B0-18A5-4CA2-B67C-70DD02A4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896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C8F872-A3CD-43F0-9A5F-C127ACDC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96082-EE0F-4BB0-9D5C-2D72CBFD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718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7CD47E-413E-4BFF-AB2B-D0A8AF1D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Unaided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062AE-3480-4975-8896-AEBDC8F7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9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6BBD7F-5861-4748-9600-77C68FD3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EARNED / 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92DCA8-DC71-4F9E-BA97-E170CCA9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195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Scale discovery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3BE158-5489-4E5A-9C2E-D0C5EFE8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Citable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F09F4C-85EB-40FE-85B2-48E277FD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21034E-8026-4D2A-81B9-ECC039B5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PAID SOCIAL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067D-AC91-4DB6-B024-7DB9AFAE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672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05CE1C-7C58-4DC4-8E16-347CC607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Rebalanced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093537-0E4C-4EF4-AD46-4D3D6245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76EAA1-A8CC-41BC-A962-A1E4F421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Channels remain hypotheses until channel economics and conversion evidence are available.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43BB61-1585-45A7-BD93-149E66D9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8B1ED6-B932-42F0-BBFA-80015DA4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14A64D-F195-47B8-A23B-0D9235EC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0BFD61-5CF7-47CE-BB7A-3BC75E74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25 / 30</a:t>
            </a:r>
          </a:p>
        </p:txBody>
      </p:sp>
    </p:spTree>
    <p:extLst>
      <p:ext uri="{BB962C8B-B14F-4D97-AF65-F5344CB8AC3E}">
        <p14:creationId xmlns:p14="http://schemas.microsoft.com/office/powerpoint/2010/main" val="179692843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940664-07FA-4242-8E57-F542553D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GROWTH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B7289-2A83-48DD-9B5A-70C9ED5F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Content / Campaign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84BEF-3A25-40FF-9DD9-8DC96F76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43361-1D27-435E-97AC-10060788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60F0B0-F201-47E7-A8AB-9407083C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9812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AA8B8-E860-4B5A-9AB6-7848C913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90800"/>
            <a:ext cx="6715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CD8E4-3119-4ECD-9350-44C10E6F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62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0C67A-62E3-4EE6-9063-11026A50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71850"/>
            <a:ext cx="5619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7521A-811F-4297-8F2B-D1945A86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433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EARNED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86A4F4-E9B5-4726-9D5B-95DD640E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152900"/>
            <a:ext cx="4524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5121B"/>
          </a:solidFill>
          <a:ln xmlns:a="http://schemas.openxmlformats.org/drawingml/2006/main" w="0">
            <a:solidFill>
              <a:srgbClr val="15121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2B3B9-DAAB-4CDC-9341-6550B6A4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243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PAID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C3721C-D70E-48AE-BE04-BA36492E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286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5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Execution should test the proposition architecture, not multiply generic content.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18278-1476-48EC-98D2-4296769A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5F1D1-98D2-44E5-968E-25569AB4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Execution should test the proposition architecture, not multiply generic content.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73E6D-A8D0-4478-8D5D-80E6BD02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E987B1-1127-49BD-BEDA-2BCA0663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5C517C-8D45-495A-B4F3-66FC097F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5CD77-B0FA-4794-BA9F-7DBCEA9E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26 / 30</a:t>
            </a:r>
          </a:p>
        </p:txBody>
      </p:sp>
    </p:spTree>
    <p:extLst>
      <p:ext uri="{BB962C8B-B14F-4D97-AF65-F5344CB8AC3E}">
        <p14:creationId xmlns:p14="http://schemas.microsoft.com/office/powerpoint/2010/main" val="168738137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2F4294-1030-48AE-8A7E-C7D3F257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5 / THE GROWTH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80F20-16C7-4A9B-A990-B59648A8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Creative Direction / Next-Phase Hook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5A3D6-F0F1-4CA3-B5BF-C212406D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728E47-40DF-45BA-ACEB-366A3768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CLINICAL PRECISION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0FE74-A371-465F-BF19-39209BE9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meets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D3ADF-4354-42AD-965F-2206123C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INTIMATE CAT BEHAVIOUR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452F3-DF26-4D43-AD5B-D41A5FA5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478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7C7DD0-7F4C-435F-A37B-3A7681D0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478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59419-7437-4D44-81B8-6678C90D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145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Tight crops and watchful eyes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C3C94-F3D5-4FF0-88FE-0C76AB8C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479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558B6-E60C-47DF-B6A7-E50226A8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4797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A9E6B-5D8C-41D4-B4F7-2C7FB02D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146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Visible marks that show what was checked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C72A5-D53A-4192-8E5E-0AC893F1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481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DF6346-BF49-4FE8-89C7-3C951738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8481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4538A-F0C6-4DD1-8722-5A28680A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14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One coral cue points to the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BB623-58B0-4E49-865B-FB998B89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E9CD57-68BF-4E7D-AEC0-C63F6F35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distinctive world turns the published science into a recognisable visual behaviour, not another nutrition claim.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C05676-1846-4B5B-8C63-88577038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T1, S2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3BA521-0D3F-4C9A-9265-1A1699C6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PROPOSED CREATIVE TERRITORY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C3D17D-9604-4F78-A450-44D1112A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02F61E-2266-47AD-96EE-B6B9F118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27 / 30</a:t>
            </a:r>
          </a:p>
        </p:txBody>
      </p:sp>
    </p:spTree>
    <p:extLst>
      <p:ext uri="{BB962C8B-B14F-4D97-AF65-F5344CB8AC3E}">
        <p14:creationId xmlns:p14="http://schemas.microsoft.com/office/powerpoint/2010/main" val="8865974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C65F9F-EEA3-4E31-9F90-54FC7361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IMPLEMENTATION + 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B75E7-23CE-4618-AE28-22ED23E1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Growth Priorities / 90-Day Activation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86E1A-0F3D-4C80-8497-46526FC3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4D8C41-C0E0-4124-917E-ABA34E85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79875-3C8B-413D-BC2F-BDC4BA0A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1-30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573522-6C3A-497E-84EC-00D04C73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C6C37-EA28-43FB-9124-EA879C55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pressure-test and evidence audit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37A6E-9070-42A9-B64B-12569370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7B4EF4-7A24-4FE5-B04B-A492EE84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31-60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84BB48-BF1E-48EF-93E8-E425851F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078F7F-F793-47EE-92BD-1C374CF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Retail translation and CRM 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B3BCD-7504-459B-8235-04B291B3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B5869-28EB-408C-B2CA-3F379F15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DAYS 61-90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65CFE6-5844-453A-A82A-047546547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78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Scale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B08C16-341D-4271-8661-6CB1CF66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7813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 spend only when leading signals move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A04848-6883-44BB-9BDC-3B98F731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C9B705-068D-4DC8-94EE-4A00BCD3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Start with a capped, reversible test and a separate claims audit.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692479-5CA9-4C71-83A9-76A6D16B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DCB7A8-E029-4585-8AE6-9FCA1FB3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3572FC-596E-4F0A-A915-190A2F74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8D1435-7CD5-4EBF-B953-7438B5D9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28 / 30</a:t>
            </a:r>
          </a:p>
        </p:txBody>
      </p:sp>
    </p:spTree>
    <p:extLst>
      <p:ext uri="{BB962C8B-B14F-4D97-AF65-F5344CB8AC3E}">
        <p14:creationId xmlns:p14="http://schemas.microsoft.com/office/powerpoint/2010/main" val="10087282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8250B-0A2E-4EA4-B6F3-97DA059D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IMPLEMENTATION + 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2ADA0C-46BF-47B0-B450-48AEA084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Measurement Framework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966F5-5867-433B-81C9-FEA0A053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ECA2A-C04A-435A-ABF7-715FE4A9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9B598-8D24-4585-9903-AA62B811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LEADING / 3-6 MONTHS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24D43A-AC96-49B4-B001-8CF84C43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431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Claim recognition, shelf comprehension, earned search share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A08D0-331E-4B2A-887D-C58FF88C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860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76DF9-3350-4BCC-A789-51EA024C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3EA469-9613-4FEE-A568-9CA30CA0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LAGGING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B5F209-0EB9-4458-9B96-51229B87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99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Retail sell-through, blended CAC trend, subscriber retention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F77212-2DC0-419E-8F3B-08907917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FA4FF-B12D-4B97-88A7-153D50A0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BAFEE-E97F-4CEC-AB4F-976BBD80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COMMERCIAL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97F02-8474-4A63-B10F-66CE39D6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6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Price realisation versus discount dependency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BCEC7-C59E-4586-935C-74D063BF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1BC2D-06E1-4466-B865-4F7FB3B0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Net value and payback remain unavailable until KatKin supplies actual margin, retention and implementation cost.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956337-21B0-47C4-A116-27784294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931138-A98E-42AA-A161-F8136301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PROPOSED MEASUREMENT + EVIDENCE GAP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18A9E3-E021-4FFA-AB9C-1F292436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C8622C-D990-4044-9D68-ECB12953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29 / 30</a:t>
            </a:r>
          </a:p>
        </p:txBody>
      </p:sp>
    </p:spTree>
    <p:extLst>
      <p:ext uri="{BB962C8B-B14F-4D97-AF65-F5344CB8AC3E}">
        <p14:creationId xmlns:p14="http://schemas.microsoft.com/office/powerpoint/2010/main" val="193478271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261A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93FB77-781D-4E41-8612-2702A699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6 / IMPLEMENTATION + 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BE4A9-2F6B-459B-9B9A-93F66DBC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Strategic Principle / Closing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BD4F84-E98E-4F1D-8E45-DC71033D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D40D1-A967-4C94-8400-D1AF4C1B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Own the proof.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E5F47-9458-4E16-9EEA-F881FC2B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Make it easy to feel.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F82E4-DE7E-43A8-83A9-A92D05FD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Then earn the right to scale.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73387A-F835-430F-8570-AE510BA4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IMMEDIATE NEXT 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04E1D-CD83-41B2-969B-2225C44A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pressure-test and retail translation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032CDE-F2FF-47D7-8CB7-5B83413B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 REGISTER / governed companion deliverable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2A8646-875B-4030-BB94-2F6EAC00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T1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1FFDDE-CD68-475F-9B61-E3C51610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APPROVED 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566628-9584-4E34-9577-1A5A33F3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4A83CA-4F8F-4B3C-839A-B74CC3C0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30 / 30</a:t>
            </a:r>
          </a:p>
        </p:txBody>
      </p:sp>
    </p:spTree>
    <p:extLst>
      <p:ext uri="{BB962C8B-B14F-4D97-AF65-F5344CB8AC3E}">
        <p14:creationId xmlns:p14="http://schemas.microsoft.com/office/powerpoint/2010/main" val="5596932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2026-10-13T16:01:52.6410000Z</dcterms:created>
  <dcterms:modified xsi:type="dcterms:W3CDTF">2026-10-13T16:01:52.6410000Z</dcterms:modified>
</coreProperties>
</file>