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801ec6159240ef" /><Relationship Type="http://schemas.openxmlformats.org/officeDocument/2006/relationships/extended-properties" Target="/docProps/app.xml" Id="Re80ead2351fb41ff" /><Relationship Type="http://schemas.openxmlformats.org/officeDocument/2006/relationships/officeDocument" Target="/ppt/presentation.xml" Id="R1c7e87119f264a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e378d1a78149bf"/>
  </p:sldMasterIdLst>
  <p:notesMasterIdLst>
    <p:notesMasterId xmlns:r="http://schemas.openxmlformats.org/officeDocument/2006/relationships" r:id="R80205401dda34d6f"/>
  </p:notesMasterIdLst>
  <p:sldIdLst>
    <p:sldId xmlns:r="http://schemas.openxmlformats.org/officeDocument/2006/relationships" id="256" r:id="Rd4adbc4c6ffc4701"/>
    <p:sldId xmlns:r="http://schemas.openxmlformats.org/officeDocument/2006/relationships" id="257" r:id="R91fc1281120b4c6b"/>
    <p:sldId xmlns:r="http://schemas.openxmlformats.org/officeDocument/2006/relationships" id="258" r:id="Rbdde98b9fd0c44b9"/>
    <p:sldId xmlns:r="http://schemas.openxmlformats.org/officeDocument/2006/relationships" id="259" r:id="R682f8093efb3416a"/>
    <p:sldId xmlns:r="http://schemas.openxmlformats.org/officeDocument/2006/relationships" id="260" r:id="Rc37513792c4f4509"/>
    <p:sldId xmlns:r="http://schemas.openxmlformats.org/officeDocument/2006/relationships" id="261" r:id="Ref55e0a15fa645bf"/>
    <p:sldId xmlns:r="http://schemas.openxmlformats.org/officeDocument/2006/relationships" id="262" r:id="R7afc42d96b0c45f1"/>
    <p:sldId xmlns:r="http://schemas.openxmlformats.org/officeDocument/2006/relationships" id="263" r:id="R61585eb8389d4860"/>
    <p:sldId xmlns:r="http://schemas.openxmlformats.org/officeDocument/2006/relationships" id="264" r:id="R685c0bbc5f9040b9"/>
    <p:sldId xmlns:r="http://schemas.openxmlformats.org/officeDocument/2006/relationships" id="265" r:id="Rb22ba29dce074959"/>
    <p:sldId xmlns:r="http://schemas.openxmlformats.org/officeDocument/2006/relationships" id="266" r:id="R336db7a71ef24636"/>
    <p:sldId xmlns:r="http://schemas.openxmlformats.org/officeDocument/2006/relationships" id="267" r:id="Rb0e9d6513c8c4ed7"/>
    <p:sldId xmlns:r="http://schemas.openxmlformats.org/officeDocument/2006/relationships" id="268" r:id="R0b1c47b17a594c20"/>
    <p:sldId xmlns:r="http://schemas.openxmlformats.org/officeDocument/2006/relationships" id="269" r:id="Rbb69531ff6344834"/>
    <p:sldId xmlns:r="http://schemas.openxmlformats.org/officeDocument/2006/relationships" id="270" r:id="Rda2a57bd218d4372"/>
    <p:sldId xmlns:r="http://schemas.openxmlformats.org/officeDocument/2006/relationships" id="271" r:id="R1734304c05864f66"/>
    <p:sldId xmlns:r="http://schemas.openxmlformats.org/officeDocument/2006/relationships" id="272" r:id="Rb30ae51bed6d43c4"/>
    <p:sldId xmlns:r="http://schemas.openxmlformats.org/officeDocument/2006/relationships" id="273" r:id="Rd6665f529085400a"/>
    <p:sldId xmlns:r="http://schemas.openxmlformats.org/officeDocument/2006/relationships" id="274" r:id="R0f81bd24d22f401f"/>
    <p:sldId xmlns:r="http://schemas.openxmlformats.org/officeDocument/2006/relationships" id="275" r:id="Ra4e86da2bfc24627"/>
    <p:sldId xmlns:r="http://schemas.openxmlformats.org/officeDocument/2006/relationships" id="276" r:id="Rc0620dd26a804e90"/>
    <p:sldId xmlns:r="http://schemas.openxmlformats.org/officeDocument/2006/relationships" id="277" r:id="R1f8b642a5e694f40"/>
    <p:sldId xmlns:r="http://schemas.openxmlformats.org/officeDocument/2006/relationships" id="278" r:id="Raf8a445e55214b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9789bfd392432b" /><Relationship Type="http://schemas.openxmlformats.org/officeDocument/2006/relationships/slideMaster" Target="/ppt/slideMasters/slideMaster1.xml" Id="Rc8e378d1a78149bf" /><Relationship Type="http://schemas.openxmlformats.org/officeDocument/2006/relationships/notesMaster" Target="/ppt/notesMasters/notesMaster1.xml" Id="R80205401dda34d6f" /><Relationship Type="http://schemas.openxmlformats.org/officeDocument/2006/relationships/presProps" Target="/ppt/presProps.xml" Id="Rc8f60a1306ac40ae" /><Relationship Type="http://schemas.openxmlformats.org/officeDocument/2006/relationships/tableStyles" Target="/ppt/tableStyles.xml" Id="Ra8184f6080824373" /><Relationship Type="http://schemas.openxmlformats.org/officeDocument/2006/relationships/slide" Target="/ppt/slides/slide1.xml" Id="Rd4adbc4c6ffc4701" /><Relationship Type="http://schemas.openxmlformats.org/officeDocument/2006/relationships/slide" Target="/ppt/slides/slide2.xml" Id="R91fc1281120b4c6b" /><Relationship Type="http://schemas.openxmlformats.org/officeDocument/2006/relationships/slide" Target="/ppt/slides/slide3.xml" Id="Rbdde98b9fd0c44b9" /><Relationship Type="http://schemas.openxmlformats.org/officeDocument/2006/relationships/slide" Target="/ppt/slides/slide4.xml" Id="R682f8093efb3416a" /><Relationship Type="http://schemas.openxmlformats.org/officeDocument/2006/relationships/slide" Target="/ppt/slides/slide5.xml" Id="Rc37513792c4f4509" /><Relationship Type="http://schemas.openxmlformats.org/officeDocument/2006/relationships/slide" Target="/ppt/slides/slide6.xml" Id="Ref55e0a15fa645bf" /><Relationship Type="http://schemas.openxmlformats.org/officeDocument/2006/relationships/slide" Target="/ppt/slides/slide7.xml" Id="R7afc42d96b0c45f1" /><Relationship Type="http://schemas.openxmlformats.org/officeDocument/2006/relationships/slide" Target="/ppt/slides/slide8.xml" Id="R61585eb8389d4860" /><Relationship Type="http://schemas.openxmlformats.org/officeDocument/2006/relationships/slide" Target="/ppt/slides/slide9.xml" Id="R685c0bbc5f9040b9" /><Relationship Type="http://schemas.openxmlformats.org/officeDocument/2006/relationships/slide" Target="/ppt/slides/slide10.xml" Id="Rb22ba29dce074959" /><Relationship Type="http://schemas.openxmlformats.org/officeDocument/2006/relationships/slide" Target="/ppt/slides/slide11.xml" Id="R336db7a71ef24636" /><Relationship Type="http://schemas.openxmlformats.org/officeDocument/2006/relationships/slide" Target="/ppt/slides/slide12.xml" Id="Rb0e9d6513c8c4ed7" /><Relationship Type="http://schemas.openxmlformats.org/officeDocument/2006/relationships/slide" Target="/ppt/slides/slide13.xml" Id="R0b1c47b17a594c20" /><Relationship Type="http://schemas.openxmlformats.org/officeDocument/2006/relationships/slide" Target="/ppt/slides/slide14.xml" Id="Rbb69531ff6344834" /><Relationship Type="http://schemas.openxmlformats.org/officeDocument/2006/relationships/slide" Target="/ppt/slides/slide15.xml" Id="Rda2a57bd218d4372" /><Relationship Type="http://schemas.openxmlformats.org/officeDocument/2006/relationships/slide" Target="/ppt/slides/slide16.xml" Id="R1734304c05864f66" /><Relationship Type="http://schemas.openxmlformats.org/officeDocument/2006/relationships/slide" Target="/ppt/slides/slide17.xml" Id="Rb30ae51bed6d43c4" /><Relationship Type="http://schemas.openxmlformats.org/officeDocument/2006/relationships/slide" Target="/ppt/slides/slide18.xml" Id="Rd6665f529085400a" /><Relationship Type="http://schemas.openxmlformats.org/officeDocument/2006/relationships/slide" Target="/ppt/slides/slide19.xml" Id="R0f81bd24d22f401f" /><Relationship Type="http://schemas.openxmlformats.org/officeDocument/2006/relationships/slide" Target="/ppt/slides/slide20.xml" Id="Ra4e86da2bfc24627" /><Relationship Type="http://schemas.openxmlformats.org/officeDocument/2006/relationships/slide" Target="/ppt/slides/slide21.xml" Id="Rc0620dd26a804e90" /><Relationship Type="http://schemas.openxmlformats.org/officeDocument/2006/relationships/slide" Target="/ppt/slides/slide22.xml" Id="R1f8b642a5e694f40" /><Relationship Type="http://schemas.openxmlformats.org/officeDocument/2006/relationships/slide" Target="/ppt/slides/slide23.xml" Id="Raf8a445e55214b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f6525cac6648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822e4b215846a5" /><Relationship Type="http://schemas.openxmlformats.org/officeDocument/2006/relationships/notesMaster" Target="/ppt/notesMasters/notesMaster1.xml" Id="Re690b8bb61fe4a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1c2b6876e14c56" /><Relationship Type="http://schemas.openxmlformats.org/officeDocument/2006/relationships/notesMaster" Target="/ppt/notesMasters/notesMaster1.xml" Id="R231263d3ce954d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cf1ff8469e46b2" /><Relationship Type="http://schemas.openxmlformats.org/officeDocument/2006/relationships/notesMaster" Target="/ppt/notesMasters/notesMaster1.xml" Id="R5254498750fc4b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05b6d14fc7436a" /><Relationship Type="http://schemas.openxmlformats.org/officeDocument/2006/relationships/notesMaster" Target="/ppt/notesMasters/notesMaster1.xml" Id="Re0e217e18c2946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3f61af914248e2" /><Relationship Type="http://schemas.openxmlformats.org/officeDocument/2006/relationships/notesMaster" Target="/ppt/notesMasters/notesMaster1.xml" Id="R7a8d5a81ba284f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1e4dfad30c4d63" /><Relationship Type="http://schemas.openxmlformats.org/officeDocument/2006/relationships/notesMaster" Target="/ppt/notesMasters/notesMaster1.xml" Id="Rb9fad7bd92ce44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813ad2ba654c44" /><Relationship Type="http://schemas.openxmlformats.org/officeDocument/2006/relationships/notesMaster" Target="/ppt/notesMasters/notesMaster1.xml" Id="R547498bb2c5841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16a2a3522848d9" /><Relationship Type="http://schemas.openxmlformats.org/officeDocument/2006/relationships/notesMaster" Target="/ppt/notesMasters/notesMaster1.xml" Id="R44654b172c7a46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d9fc5b515940dd" /><Relationship Type="http://schemas.openxmlformats.org/officeDocument/2006/relationships/notesMaster" Target="/ppt/notesMasters/notesMaster1.xml" Id="R35e99aed24dd48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12c98f7c2f4400d" /><Relationship Type="http://schemas.openxmlformats.org/officeDocument/2006/relationships/notesMaster" Target="/ppt/notesMasters/notesMaster1.xml" Id="Rc7a1f658788b4f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47f52958af4e84" /><Relationship Type="http://schemas.openxmlformats.org/officeDocument/2006/relationships/notesMaster" Target="/ppt/notesMasters/notesMaster1.xml" Id="R12383b7c3e924d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c81c4188514337" /><Relationship Type="http://schemas.openxmlformats.org/officeDocument/2006/relationships/notesMaster" Target="/ppt/notesMasters/notesMaster1.xml" Id="Rb65c796415a44ec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b2c9b444c946f0" /><Relationship Type="http://schemas.openxmlformats.org/officeDocument/2006/relationships/notesMaster" Target="/ppt/notesMasters/notesMaster1.xml" Id="R9de36f34d8df4c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86c374c96b148e2" /><Relationship Type="http://schemas.openxmlformats.org/officeDocument/2006/relationships/notesMaster" Target="/ppt/notesMasters/notesMaster1.xml" Id="R602b9d04873146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7158abe6c24463" /><Relationship Type="http://schemas.openxmlformats.org/officeDocument/2006/relationships/notesMaster" Target="/ppt/notesMasters/notesMaster1.xml" Id="Rabf5572cd87d42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85661d30e184af7" /><Relationship Type="http://schemas.openxmlformats.org/officeDocument/2006/relationships/notesMaster" Target="/ppt/notesMasters/notesMaster1.xml" Id="R3ecde1a7b6604c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b60807e273647d5" /><Relationship Type="http://schemas.openxmlformats.org/officeDocument/2006/relationships/notesMaster" Target="/ppt/notesMasters/notesMaster1.xml" Id="R9c714b67b1bd408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276a0df45fb4dc5" /><Relationship Type="http://schemas.openxmlformats.org/officeDocument/2006/relationships/notesMaster" Target="/ppt/notesMasters/notesMaster1.xml" Id="R00a2eb1311124ad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418f2db06814b96" /><Relationship Type="http://schemas.openxmlformats.org/officeDocument/2006/relationships/notesMaster" Target="/ppt/notesMasters/notesMaster1.xml" Id="R8e5fd71c4ebe456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1de8cf0df874160" /><Relationship Type="http://schemas.openxmlformats.org/officeDocument/2006/relationships/notesMaster" Target="/ppt/notesMasters/notesMaster1.xml" Id="Ra4d1c3a482de4c9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c35f4aeec884662" /><Relationship Type="http://schemas.openxmlformats.org/officeDocument/2006/relationships/notesMaster" Target="/ppt/notesMasters/notesMaster1.xml" Id="R846b214dcc52450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a832dab87aa4deb" /><Relationship Type="http://schemas.openxmlformats.org/officeDocument/2006/relationships/notesMaster" Target="/ppt/notesMasters/notesMaster1.xml" Id="R2826374e068c4a6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1c6529ceec04224" /><Relationship Type="http://schemas.openxmlformats.org/officeDocument/2006/relationships/notesMaster" Target="/ppt/notesMasters/notesMaster1.xml" Id="Raca1035ca29d42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S1C: Marketing Week — Lloyd Page appointed first CMO (2025), marketingweek.com</a:t>
            </a:r>
          </a:p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thesis:thesis_statement, thesis:growth_opportunity, ev_5c64#s1, ev_5c64#s2, ev_5c64#s5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thesis:commercial_ambition, ev_5c64#s5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S1B: Companies House / Companies in the UK — Anikin Ltd statutory accounts and balance sheet (FY2023), companieshouse.gov.uk; companiesintheuk.co.uk</a:t>
            </a:r>
          </a:p>
          <a:p xmlns:a="http://schemas.openxmlformats.org/drawingml/2006/main">
            <a:r>
              <a:t>S1C: Marketing Week — Lloyd Page appointed first CMO (2025), marketingweek.com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Governed evidence refs: ev_5c64#s1, ev_5c64#s3, ev_5c64#s5,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Governed evidence refs: ev_5c64#s2, ev_5c64#s3, thesis:category_choice, thesis:source_of_difference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Governed evidence refs: thesis:positioning_choice, ev_5c64#s2,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Governed evidence refs: thesis:priority_audience, ev_5c64#s4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Governed evidence refs: thesis:priority_audience, ev_5c64#s4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S7: Active Partners — Series B strategy and retail partnership context (30 November 2023), active.partners</a:t>
            </a:r>
          </a:p>
          <a:p xmlns:a="http://schemas.openxmlformats.org/drawingml/2006/main">
            <a:r>
              <a:t>Governed evidence refs: ev_5c64#s4, ev_5c64#s5, ev_5c64#s6, thesis:priority_audience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thesis:positioning_choice, ev_5c64#s2,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thesis:positioning_choice, ev_5c64#s2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thesis:narrative_platform, ev_5c64#s2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thesis:narrative_platform, thesis:source_of_difference, ev_5c64#s2,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S8: Research &amp; Markets — UK cat food market estimate, USD 765.91m (2025 report), researchandmarkets.com</a:t>
            </a:r>
          </a:p>
          <a:p xmlns:a="http://schemas.openxmlformats.org/drawingml/2006/main">
            <a:r>
              <a:t>Governed evidence refs: thesis:growth_opportunity, ev_5c64#s1, ev_5c64#s5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S7: Active Partners — Series B strategy and retail partnership context (30 November 2023), active.partners</a:t>
            </a:r>
          </a:p>
          <a:p xmlns:a="http://schemas.openxmlformats.org/drawingml/2006/main">
            <a:r>
              <a:t>Governed evidence refs: thesis:activation_principles, ev_5c64#s3, ev_5c64#s5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Governed evidence refs: thesis:activation_principles, ev_5c64#s4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S1B: Companies House / Companies in the UK — Anikin Ltd statutory accounts and balance sheet (FY2023), companieshouse.gov.uk; companiesintheuk.co.uk</a:t>
            </a:r>
          </a:p>
          <a:p xmlns:a="http://schemas.openxmlformats.org/drawingml/2006/main">
            <a:r>
              <a:t>Governed evidence refs: ev_5c64#s1, ev_5c64#s5, ev_5c64#s6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from the sourced market-size estimate and KatKin's reported market-share claim.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cost, realised contribution margin, CAC and retention data were not supplied.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Creative direction translates the approved proof-led strategy; it is a proposed territory for founder testing.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metadata reproduced from the governed KatKin evidence record.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metadata reproduced from the governed KatKin evidence record.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metadata reproduced from the governed KatKin evidence record.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Detailed evidence lineage is retained in the immutable Blueprint Director review record.</a:t>
            </a:r>
          </a:p>
          <a:p xmlns:a="http://schemas.openxmlformats.org/drawingml/2006/main">
            <a:r>
              <a:t>Governed evidence refs: thesis:thesis_statement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3f456b0652479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8475c1afe8417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680fc825c1415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ba61ab3f47472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2a777f113c43b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889b2bcfac4c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831EEB-D956-4983-B535-8D095F9701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D6F0F21-3529-4D4C-964E-1DB5BFFEF3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22F836E-E61D-4687-BC0E-CEC8FE5307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FFB526-C4EC-42BD-B7E5-EA0E1A2F9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092D944-AD34-41A9-B3B4-D06A9A1164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6907A0-036B-4196-BAED-2C05653819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883AE6F-6D3E-44CA-BCF1-E05547F6D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A2CA559-6D1E-4F56-9481-94A4FDB3DB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903C81-C698-4813-947C-535BCC1109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A4F2DD0-1E2E-4CFA-983D-FE81760214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b6ae53b7c546f0" /><Relationship Type="http://schemas.openxmlformats.org/officeDocument/2006/relationships/slideLayout" Target="/ppt/slideLayouts/slideLayout1.xml" Id="R20ae674b25264d51" /><Relationship Type="http://schemas.openxmlformats.org/officeDocument/2006/relationships/slideLayout" Target="/ppt/slideLayouts/slideLayout2.xml" Id="R017e095e5fb74a2b" /><Relationship Type="http://schemas.openxmlformats.org/officeDocument/2006/relationships/slideLayout" Target="/ppt/slideLayouts/slideLayout3.xml" Id="Rc8d8881db4044d76" /><Relationship Type="http://schemas.openxmlformats.org/officeDocument/2006/relationships/slideLayout" Target="/ppt/slideLayouts/slideLayout4.xml" Id="R19800e8c94a74ddc" /><Relationship Type="http://schemas.openxmlformats.org/officeDocument/2006/relationships/slideLayout" Target="/ppt/slideLayouts/slideLayout5.xml" Id="Rabae2821c4314c74" /><Relationship Type="http://schemas.openxmlformats.org/officeDocument/2006/relationships/slideLayout" Target="/ppt/slideLayouts/slideLayout6.xml" Id="Ref46c981ac6c4d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ae674b25264d51"/>
    <p:sldLayoutId xmlns:r="http://schemas.openxmlformats.org/officeDocument/2006/relationships" id="2147483650" r:id="R017e095e5fb74a2b"/>
    <p:sldLayoutId xmlns:r="http://schemas.openxmlformats.org/officeDocument/2006/relationships" id="2147483651" r:id="Rc8d8881db4044d76"/>
    <p:sldLayoutId xmlns:r="http://schemas.openxmlformats.org/officeDocument/2006/relationships" id="2147483652" r:id="R19800e8c94a74ddc"/>
    <p:sldLayoutId xmlns:r="http://schemas.openxmlformats.org/officeDocument/2006/relationships" id="2147483653" r:id="Rabae2821c4314c74"/>
    <p:sldLayoutId xmlns:r="http://schemas.openxmlformats.org/officeDocument/2006/relationships" id="2147483654" r:id="Ref46c981ac6c4d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ffa712181e4abe" /><Relationship Type="http://schemas.openxmlformats.org/officeDocument/2006/relationships/image" Target="/ppt/media/image.png" Id="R18c4188bc2ce40ed" /><Relationship Type="http://schemas.openxmlformats.org/officeDocument/2006/relationships/notesSlide" Target="/ppt/notesSlides/notesSlide1.xml" Id="Re8b2c7112d7c45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5168fcf3144019" /><Relationship Type="http://schemas.openxmlformats.org/officeDocument/2006/relationships/notesSlide" Target="/ppt/notesSlides/notesSlide2.xml" Id="Rc18cc5dad71640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2adeeaec484443" /><Relationship Type="http://schemas.openxmlformats.org/officeDocument/2006/relationships/notesSlide" Target="/ppt/notesSlides/notesSlide3.xml" Id="Ra72ade94d0e844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8f574e44d04d76" /><Relationship Type="http://schemas.openxmlformats.org/officeDocument/2006/relationships/image" Target="/ppt/media/image2.png" Id="Ra11b85357d164dc0" /><Relationship Type="http://schemas.openxmlformats.org/officeDocument/2006/relationships/notesSlide" Target="/ppt/notesSlides/notesSlide4.xml" Id="Rc34f905a4d6246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8fef95df00403a" /><Relationship Type="http://schemas.openxmlformats.org/officeDocument/2006/relationships/notesSlide" Target="/ppt/notesSlides/notesSlide5.xml" Id="Rb41899e1fc784a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83322963aa4f52" /><Relationship Type="http://schemas.openxmlformats.org/officeDocument/2006/relationships/notesSlide" Target="/ppt/notesSlides/notesSlide6.xml" Id="R234a2f0d885548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2c6590070545f3" /><Relationship Type="http://schemas.openxmlformats.org/officeDocument/2006/relationships/notesSlide" Target="/ppt/notesSlides/notesSlide7.xml" Id="R72483e3ade3d4b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ad1a9308ce4b30" /><Relationship Type="http://schemas.openxmlformats.org/officeDocument/2006/relationships/notesSlide" Target="/ppt/notesSlides/notesSlide8.xml" Id="R9d19c03d40e748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cb3ae0d9474bab" /><Relationship Type="http://schemas.openxmlformats.org/officeDocument/2006/relationships/notesSlide" Target="/ppt/notesSlides/notesSlide9.xml" Id="Ra68adacc0e584f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4579ef8f0e4e33" /><Relationship Type="http://schemas.openxmlformats.org/officeDocument/2006/relationships/notesSlide" Target="/ppt/notesSlides/notesSlide10.xml" Id="R9d5d9d5c17e542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04c955e58649be" /><Relationship Type="http://schemas.openxmlformats.org/officeDocument/2006/relationships/notesSlide" Target="/ppt/notesSlides/notesSlide11.xml" Id="R73ebf4bae09b4e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f016a8da384db4" /><Relationship Type="http://schemas.openxmlformats.org/officeDocument/2006/relationships/notesSlide" Target="/ppt/notesSlides/notesSlide12.xml" Id="R9b3bdb4acdf342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3c4d287ba74b2d" /><Relationship Type="http://schemas.openxmlformats.org/officeDocument/2006/relationships/notesSlide" Target="/ppt/notesSlides/notesSlide13.xml" Id="R3dee568f1cdd46c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7690442a1e45ab" /><Relationship Type="http://schemas.openxmlformats.org/officeDocument/2006/relationships/notesSlide" Target="/ppt/notesSlides/notesSlide14.xml" Id="R69051957380d441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fbe0add0b44217" /><Relationship Type="http://schemas.openxmlformats.org/officeDocument/2006/relationships/notesSlide" Target="/ppt/notesSlides/notesSlide15.xml" Id="R885f8c8218e14b7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3a54f2d3a04283" /><Relationship Type="http://schemas.openxmlformats.org/officeDocument/2006/relationships/notesSlide" Target="/ppt/notesSlides/notesSlide16.xml" Id="R24113bc42c29493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9ae71c952e4fe3" /><Relationship Type="http://schemas.openxmlformats.org/officeDocument/2006/relationships/notesSlide" Target="/ppt/notesSlides/notesSlide17.xml" Id="Rf24f97669984409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0a6ce713cd45a6" /><Relationship Type="http://schemas.openxmlformats.org/officeDocument/2006/relationships/notesSlide" Target="/ppt/notesSlides/notesSlide18.xml" Id="R44e5345f116f466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897e4dd9d4493d" /><Relationship Type="http://schemas.openxmlformats.org/officeDocument/2006/relationships/notesSlide" Target="/ppt/notesSlides/notesSlide19.xml" Id="Rd816804888a746e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84e3c949d54b70" /><Relationship Type="http://schemas.openxmlformats.org/officeDocument/2006/relationships/notesSlide" Target="/ppt/notesSlides/notesSlide20.xml" Id="R4f9ce73c01094f2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736de5d2c24b23" /><Relationship Type="http://schemas.openxmlformats.org/officeDocument/2006/relationships/notesSlide" Target="/ppt/notesSlides/notesSlide21.xml" Id="R317d770758e2472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c81665f65d4469" /><Relationship Type="http://schemas.openxmlformats.org/officeDocument/2006/relationships/notesSlide" Target="/ppt/notesSlides/notesSlide22.xml" Id="R47205744b5a34e2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fb23c079f845a4" /><Relationship Type="http://schemas.openxmlformats.org/officeDocument/2006/relationships/notesSlide" Target="/ppt/notesSlides/notesSlide23.xml" Id="Rf78ffc4cc91046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670BF-BF29-4ECE-B6F5-D681067853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c4188bc2ce40ed"/>
          <a:srcRect xmlns:a="http://schemas.openxmlformats.org/drawingml/2006/main" l="27723" t="0" r="277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0"/>
            <a:ext cx="5429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B481C-60FD-4E0A-9C80-ED01BBA9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81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1B">
              <a:alpha val="93725"/>
            </a:srgbClr>
          </a:solidFill>
          <a:ln xmlns:a="http://schemas.openxmlformats.org/drawingml/2006/main" w="0">
            <a:solidFill>
              <a:srgbClr val="15121B">
                <a:alpha val="93725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BB271-0971-443C-8BF1-6E5325A3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C2CAB-040A-4C99-97EF-96034149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ADC5E2-1468-453E-8A3A-40909074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01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GROWTH BLUEPRINT /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6DBCB-963D-4680-9B19-E528B7FA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71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KatKin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77AC6-EEAF-420D-B635-99684B2A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1EA7CE-CCF9-4A91-A5F0-8A357517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From category claim to category authority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22D86-69EC-4638-A492-C2DD401C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1505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INTERNAL REVIEW DRAFT - HUMAN APPROVAL REQUIRED</a:t>
            </a:r>
          </a:p>
        </p:txBody>
      </p:sp>
    </p:spTree>
    <p:extLst>
      <p:ext uri="{BB962C8B-B14F-4D97-AF65-F5344CB8AC3E}">
        <p14:creationId xmlns:p14="http://schemas.microsoft.com/office/powerpoint/2010/main" val="10307829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B46E2F-2C14-4856-ADB4-60FEA143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2538E-D1C8-4087-870A-9F36EDB9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brief isn't 'build more brand awareness' - it's 'find what only KatKin can prove'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E0C95-BCFD-40E2-9181-21BFFDE7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6F0609-5522-46F3-AB19-F6294CCE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709612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Wrong question: how to out-spend or out-create competitors on reach, given KatKin already runs 300+ active paid-social ads and ships roughly 114 new creatives a week. Right question: what can KatKin claim permanently that a funded rival cannot replicate in one ad cycle, and does that claim still work once personalisation disappears at retail. This Blueprint answers the diagnosis and activation sequencing; full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DCF40-8C2F-4A34-9C27-2A4C22EA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49F50-988E-4BD5-92F5-74E4AAC7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C57CA2-3C5B-40B9-BE63-300BE2AB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81325"/>
            <a:ext cx="1381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CE455A-D5D4-4151-B843-13BE680A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286125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 claim competitors cannot copy in one ad cycle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7FCB46-7B32-4FA6-A06F-C3D52C86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5B142E-52F9-4D59-AE49-54A6D2E5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Redirects the CMO mandate from spend-led awareness building toward asset-led differentiation, changing what gets resourced next quarter.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63FC44-4113-4B49-82A3-BC4E50A2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S5, T1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03B8B6-FD4D-49A1-8E08-CC4BC29C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918563-8BF8-4D6F-908A-96F8062A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694F9-F10D-443B-B84E-5CB3DDA2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02 / 23</a:t>
            </a:r>
          </a:p>
        </p:txBody>
      </p:sp>
    </p:spTree>
    <p:extLst>
      <p:ext uri="{BB962C8B-B14F-4D97-AF65-F5344CB8AC3E}">
        <p14:creationId xmlns:p14="http://schemas.microsoft.com/office/powerpoint/2010/main" val="257828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27DE20-F945-441A-A07D-154D31AC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THE PROOF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70927-9B22-4411-95AB-F5F31DD6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Five forces are closing the window, and none are solved by more paid reach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1D9E13-7CA3-421F-8770-1EA3EBA3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CE9FA-779F-4DEE-A823-0C9D73B1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2EE4C-A763-4F50-9051-F259AE9E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SAMENESS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954E7-3C7D-439F-911D-A44D7E06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907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Shared functional language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C6F70-737C-445F-B8A6-72CB0913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3C6E9F-5235-422D-B115-763A8B4A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045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DISCOVERY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A26632-F6CF-4165-B7D3-CD2C904A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Organic and AI search shift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B4136-9BAE-479D-9863-35439958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2405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34530-969D-4C98-A7EE-90281AA4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1A734-997C-4B41-B35D-10C82FC0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907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Paid creative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8ACD00-2E8B-41DE-8E2C-D789A4D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2900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3B707-A18E-4BA2-8178-0D226F90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0045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B7BB07-D73A-473E-9A60-74D79D82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9572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Build a loved brand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CDB63C-289B-44D5-B14D-8A0F5810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05050"/>
            <a:ext cx="30099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329D8-1CA2-44D6-93F5-5AD60799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479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PRESSURE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9F5CE3-671D-410A-97F8-E0CA1085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09900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Category functional language has commoditised across DTC entrants. Discovery is shifting toward organic and AI search, where a lower-funded rival currently leads. Paid-social costs keep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9791C-144A-4924-841A-F1799FDF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06DAF1-FC5B-4585-86B7-6E3B62B4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Establishes urgency to act within the current planning cycle, directly tied to a loss-making position that shortens the decision window.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3C1AF2-BE96-44D3-B98A-BE330A49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S1B, S1C, S3, S5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182CB4-3907-41F1-BE52-B171FD0E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INTERPRETATION + VERIFIED FACT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6C6FD6-7DE1-4D31-AE5B-F2B55C6A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58FE9A-538A-4F89-8C36-128541A4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03 / 23</a:t>
            </a:r>
          </a:p>
        </p:txBody>
      </p:sp>
    </p:spTree>
    <p:extLst>
      <p:ext uri="{BB962C8B-B14F-4D97-AF65-F5344CB8AC3E}">
        <p14:creationId xmlns:p14="http://schemas.microsoft.com/office/powerpoint/2010/main" val="10391257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2E54D-3261-4877-882C-BEEEA237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THE PROOF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B7FBE-6DA0-4E72-A66E-9CEA55CA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Every brand says the same thing; only one has the published proof to say something else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A99CF-7F8B-44E2-8E81-ACED46B7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93E6C5-4B5F-4BA1-8DF9-3EF134484B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b85357d164dc0"/>
          <a:srcRect xmlns:a="http://schemas.openxmlformats.org/drawingml/2006/main" l="4172" t="0" r="41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714500"/>
            <a:ext cx="5429250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98ACD-281F-4F61-896C-BA2D9767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14500"/>
            <a:ext cx="5486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20B93-E658-48FC-9993-32C50962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7645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HARD PART IS ALREADY DONE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24EDD-300F-477D-B9B6-02DDA1FC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4191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Across DTC competitors, 'real meat, no fillers, vet-formulated' is now shared vocabulary - Untamed uses it near-verbatim on a fraction of KatKin's funding. No competitor has claimed independent, peer-reviewed proof as owned territory, because publishing research is slow and costly - which is exactly why it is defensible.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F0991-7360-4D89-BDC7-91E95965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DCFD89-2C84-4703-BD78-F4AD156A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Converting this gap into owned territory could reduce reliance on functional-claim parity and support earned, not only paid, discovery - a mechanism, not a guaranteed outcome.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1D5CF-8C85-40C4-9222-7A0752CD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C82A66-4750-4B0A-B7E2-995A7C1E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INTERPRETATION + VERIFIED FACT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BD5163-B85B-4D79-B955-94836649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66DD0-7C32-4D16-AC3D-2A770914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04 / 23</a:t>
            </a:r>
          </a:p>
        </p:txBody>
      </p:sp>
    </p:spTree>
    <p:extLst>
      <p:ext uri="{BB962C8B-B14F-4D97-AF65-F5344CB8AC3E}">
        <p14:creationId xmlns:p14="http://schemas.microsoft.com/office/powerpoint/2010/main" val="20085536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775330-650D-43B9-915D-438B250A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THE PROOF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D9F617-E6CD-4E7B-82FB-6382A0AF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 did the hard, expensive part of proof - and is marketing the easy, copyable part instead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CF16F-01C9-4D93-997B-729C7969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66766-275A-4F15-A4C5-AA5C3CAE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WHAT OWNERS SEE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66055-6DD7-48A4-A683-3951BBB2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Confident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740EBB-F750-4750-82D2-8A3EC28B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Fresh. Real meat. Vet formulated.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C0775-64F4-4BD9-B558-AFA2E0E1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076450"/>
            <a:ext cx="1562100" cy="1562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C9B348-544F-4660-897D-D0CDDE64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19375"/>
            <a:ext cx="990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GAP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660D0D-243A-457E-AAD9-F0EBE968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WHAT KATKIN CAN 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A36F37-53FA-4E04-8D35-C1A741C8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62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Independent science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A89B75-C688-4915-9BCA-8EC67604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95625"/>
            <a:ext cx="371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tension at the centre of this Blueprint: owners are shown assertion-led claims when KatKin's real edge is evidence-led. Whether consumers reward independently verified proof over confident assertion, at the speed of a retail glance or 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7C027-E5F0-4F4A-8E07-19E6194F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A53692-1F0E-46FF-8D70-4EB782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Forces an explicit choice before committing production budget: build around proof (higher differentiation, higher validation risk) or stay on shared claims (lower risk, no new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E2A745-E69F-4B11-96BF-7B5DFB15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CE82B5-DB83-41E6-A142-9F963561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AF9998-BD31-4571-B5E9-476C587E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3AFAE8-E4CD-4A33-B0F5-1F7EE28C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05 / 23</a:t>
            </a:r>
          </a:p>
        </p:txBody>
      </p:sp>
    </p:spTree>
    <p:extLst>
      <p:ext uri="{BB962C8B-B14F-4D97-AF65-F5344CB8AC3E}">
        <p14:creationId xmlns:p14="http://schemas.microsoft.com/office/powerpoint/2010/main" val="426238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7C20F-C3D8-43F2-A8A5-7F2DC129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THE GROWTH AUDIENCE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90D3AC-DA84-43E1-BD26-B28CC0CC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KatKin's loudest signal reaches the one audience it has already won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D08932-A4FA-4B26-836A-7E96771C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39EA7-6CAC-463E-9343-9ECF9A46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09AB65-2B6E-4FC3-8CE8-27A4730A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FD6CFB-E65D-4741-A32E-768605BA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1E5848-B480-409A-A6EC-1C6CBDBE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Prevents over-resourcing creative for an audience that is already converting, at the expense of the two pools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9B8130-6899-4437-82ED-57CD5071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892EA-1980-4FF2-9DF9-1FE173C2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BBF0D-19BB-421D-A0C7-FE6D2268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CONVERT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2DB6D9-0951-4B4E-A81E-E0AB413A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Current messaging centres the committed DTC subscriber who completes a quiz and receives a personalised plan - the audience already captured. Growth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F64CE-675E-403B-96EB-A9E9CE78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A6E38-9BE6-4506-9AC5-436B7B64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A4BC14-417A-469B-B87E-07466894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MAINSTREAM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6B0C7-6D11-4343-B08B-25C01B8A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Prevents over-resourcing creative for an audience that is already converting, at the expense of the two pools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169758-22EC-42D7-8E59-698C2403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2D6E16-F4FB-4A89-8E76-2B723B7A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Prevents over-resourcing creative for an audience that is already converting, at the expense of the two pools carrying the real growth prize.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48003C-6F2C-47D5-9E89-1EFF1004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S4, S6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CF3609-187D-46F8-B7C8-17F804C1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D44E35-DF8B-4FA2-BA66-DEC4FC96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C72DAA-A6A3-4A21-BE45-3CD7CD3B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06 / 23</a:t>
            </a:r>
          </a:p>
        </p:txBody>
      </p:sp>
    </p:spTree>
    <p:extLst>
      <p:ext uri="{BB962C8B-B14F-4D97-AF65-F5344CB8AC3E}">
        <p14:creationId xmlns:p14="http://schemas.microsoft.com/office/powerpoint/2010/main" val="6492223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72D8B2-1471-4828-AFC7-C628089C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THE GROWTH AUDIENCE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7F81F4-6530-4FE8-A1A5-4CE6919D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Three growth pools need three different jobs from the same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C5031-A9ED-4BD7-80F0-4D2C4C64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07A55-F38E-40A5-B3AF-62FE9E54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03CA5-734D-495A-B9B8-98F244DC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EC143-ABDA-4799-A5FE-B08F5C86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15D4F7-B9ED-4483-B0B7-77603F91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Directs investment sequencing by evidence confidence, not assumed importance - the mainstream pool should be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14263-3F4E-46A6-B06E-9B4F9DE5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0E73A-2132-407F-96A4-980415D4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0E461-B6F2-4E4E-8F00-CE082CD6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CONVERT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DDF715-3654-4BCE-9046-88B398D8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 (observed): motivated by proof and a cat-as-family belief, already paying a premium. Affluent retail converts (partially observed): buy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3A6DD6-56AA-4126-AD6F-9B285292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3A99D1-5B79-4AE3-955F-2D2176B2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89CA7-DC5F-451A-9E36-721B6BB5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MAINSTREAM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00553-AF85-4627-9C20-3CDFEED9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Directs investment sequencing by evidence confidence, not assumed importance - the mainstream pool should be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239DEA-A82A-4573-83DB-28707519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001BD4-E676-4AAC-948E-F2C2B66C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Directs investment sequencing by evidence confidence, not assumed importance - the mainstream pool should be validated before media spend is committed to 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5B0173-3D7F-4D17-8E64-CC10DE6E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00C85A-8C58-4A7E-80BF-8D7AAC03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DF0970-768C-4C24-AA23-FF0A2ACF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5CC53B-FD78-479D-A29E-A9456199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07 / 23</a:t>
            </a:r>
          </a:p>
        </p:txBody>
      </p:sp>
    </p:spTree>
    <p:extLst>
      <p:ext uri="{BB962C8B-B14F-4D97-AF65-F5344CB8AC3E}">
        <p14:creationId xmlns:p14="http://schemas.microsoft.com/office/powerpoint/2010/main" val="15261944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9135F6-EDF7-42D5-913F-ADD9AECB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THE GROWTH AUDIENCE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2A6D3B-16F0-45BD-A174-A5F29EF6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trust-builder that works in a DTC quiz cannot survive three seconds on a shelf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F84C6-D21C-4896-911E-184AD509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EC55D-7B58-4409-BD4F-74F009F3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6BCFF-A952-47CD-91DB-16F1D78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83DAD5-1680-44A3-AB48-E7A11F18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DISCOVERY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A83A79-B145-4BEF-B84B-3F6DAF3C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Prevents a single creative asset being asked to do five different jobs; each stage gets its own measurable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DD50E-40B0-4088-B868-5DA4D0AB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050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857F86-B099-4BE4-8C98-3A0D7FE8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336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6019D-05A2-4FAF-9EBC-B6785558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717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BE964C-A02A-4A16-AEA0-FC85C3B1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623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Mapped by mechanism: discovery happens mostly through paid social and, for competitors, organic and AI search; consideration and trust-building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A0367-3641-49A3-8952-24B193BC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574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6307AC-B7A6-44E7-89E5-A3ED39E9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860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6FC28E-2CF1-472C-8068-37DCE724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241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REPEAT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578B6B-37B1-469B-A1AD-62C857BA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147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Prevents a single creative asset being asked to do five different jobs; each stage gets its own measurable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E7EBE7-1AEC-4A7C-AB70-1F1B4D91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EBEEF-3CE8-4952-8BAB-1F6EC62B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Prevents a single creative asset being asked to do five different jobs; each stage gets its own measurable mechanism and owner.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C1D872-E427-4484-AF8A-C1E11D4C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S4, S6, S7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7F49B-C311-4340-80A8-BFAC8200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BD37E-9DC9-4CA0-9CC6-73254A01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12C926-2E36-4F51-9465-6B5FE7F7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08 / 23</a:t>
            </a:r>
          </a:p>
        </p:txBody>
      </p:sp>
    </p:spTree>
    <p:extLst>
      <p:ext uri="{BB962C8B-B14F-4D97-AF65-F5344CB8AC3E}">
        <p14:creationId xmlns:p14="http://schemas.microsoft.com/office/powerpoint/2010/main" val="18086177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BBFF99-B656-46F8-B7D3-C1CEACF8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THE STRATEGIC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692B4-4BD6-46E4-B7D2-33E9F23B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 one: what KatKin stands for - proof, not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5EE8CB-E950-40C8-8587-80160B62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78370-4195-44C0-9DFE-B0F63213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C80C4-AB08-4F6F-8DE6-27DF5980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8383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F1DEED-C94E-4E3A-89C9-9BC5E2AE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Proof, not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BFF12C-FCEC-4DDA-881E-92076B36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BENEFIT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7B2E3-899F-436F-A432-67161025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955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3C17F6-36FD-4E1B-BC33-7C551640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Confidence without self-audit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86BEB8-A4BF-4C4D-A184-373DF4A2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24C95-9065-41C7-9B81-BD3E12A4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528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00B0D-69F5-499F-B752-013F14DE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909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DC09D3-65B8-4FD2-8908-413B4DFD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EXPRESSION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DA5EA-D8D3-4DB0-89EE-884163E8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100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08B719-0C2F-41D2-9779-D1C1DE64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without personalisation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A048A8-F60F-45C4-BB75-FC601E84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0D30B0-2469-4E5E-A03E-0BEB0D75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Gives every team one falsifiable sentence to brief from, replacing today's message drift across paid, CRM and retail.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8A51F-A436-4B5C-B632-711CBB8C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S2, S3,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0BAE74-2A3D-4238-B6BF-C435FED1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 + INTERPRETATION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A4B0CF-2228-4AEA-A430-F2DA0B4E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3C5C8-8820-439A-8B0B-4CDA2E29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09 / 23</a:t>
            </a:r>
          </a:p>
        </p:txBody>
      </p:sp>
    </p:spTree>
    <p:extLst>
      <p:ext uri="{BB962C8B-B14F-4D97-AF65-F5344CB8AC3E}">
        <p14:creationId xmlns:p14="http://schemas.microsoft.com/office/powerpoint/2010/main" val="16746436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1B708B-97BF-4DD9-BAC0-E7CCEB7A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THE STRATEGIC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D8169-51F7-4A9F-81FA-74DE4751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 two: what the owner should feel - confidence, not persuasion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C6638-5965-482B-9DC5-B880723D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516B0-133B-43D4-9276-EAC55C21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C54CA-F598-4817-B46E-F234E8E1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8383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C1751-487B-4DAC-B9A1-BE28E8D9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Proof, not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C1D93A-A055-47E5-BFA0-0A5C00DA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BENEFIT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2BAD5-052D-4831-B1B5-260572F9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955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2F842-7A01-4193-BF8C-E834F0EE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Confidence without self-audit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1CD3D2-AFF0-4194-AA66-11B0A04C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00FFC-720A-4EDE-8133-F96C658F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528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00CE6-FBC6-4F5B-A9C7-6B07438B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909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C3CC1-32EC-4F1C-A844-6BBEF25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EXPRESSION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2CE1E6-667D-4736-A409-32715C57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100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4841A-5AFB-4176-8863-9A8E589C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without personalisation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7195ED-87FD-4719-A451-3D8FDF9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178F4D-9E29-4A60-8FF7-0082D216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If validated, shifts creative briefs from 'prove the food works' to 'prove you don't need to take our word for it' - a different commercial case for performance-marketing teams.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CD79CE-C104-410B-BC98-E405A6BB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S2, S4,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9342F9-96B8-44E3-945E-71B9EC19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 + 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A7D81C-6C44-494F-9F1C-3AFD49B1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0A6D7A-AAFE-4419-8FDA-FF8A8243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10 / 23</a:t>
            </a:r>
          </a:p>
        </p:txBody>
      </p:sp>
    </p:spTree>
    <p:extLst>
      <p:ext uri="{BB962C8B-B14F-4D97-AF65-F5344CB8AC3E}">
        <p14:creationId xmlns:p14="http://schemas.microsoft.com/office/powerpoint/2010/main" val="3903358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DB18BE-16DF-4615-BC64-C00113E8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THE STRATEGIC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9AA38-09E9-4303-838C-C7C19C7D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Decision three: the story that carries it - 'The Science Cats Deserve'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17BBC-8F1F-4B8D-89FA-D05F123B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FFEEC-8AB6-4F9F-A61F-9B00276E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64293-A41A-4053-A6EA-C5B3B5EB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28CF1-74B8-422E-B55E-84BEBD7D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92572A-2D37-4B08-8E26-17351316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category asks owners to trust claims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EE22A-06E9-4904-ACF8-C07FFAA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48E42-EF2E-4CDE-BA99-9D0F0EBE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253324-24C1-426C-BFE6-4739B9F4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SHIFT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A615B-55E0-47F0-95E2-03E0AC48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KatKin makes proof the starting point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1D362-80E4-4C30-9C27-BD770A2C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7242D8-5605-4CD1-B93D-D64E69BD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48CBCB-9319-453D-B2C0-A226B0B9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RESOLUTION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797C74-36E1-4A66-A732-191E3C7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Independent science carries the 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FC3BD-2B6E-46AF-86C8-99F56CE8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619625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26F6E3-9A08-4370-99E9-24D88470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49C909-19D5-40E5-8431-C0E4EF13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One flexible story could reduce reliance on the current high-volume weekly creative production needed to sustain differentiation, if the shelf and CRM translations hold up under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D8BCA0-1134-443A-8865-A488B8AE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0F0703-6002-44C3-B175-F93662EF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8698A5-52D7-4022-82FE-6E17DBE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86636-0D2A-4A24-B144-2A4E4474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11 / 23</a:t>
            </a:r>
          </a:p>
        </p:txBody>
      </p:sp>
    </p:spTree>
    <p:extLst>
      <p:ext uri="{BB962C8B-B14F-4D97-AF65-F5344CB8AC3E}">
        <p14:creationId xmlns:p14="http://schemas.microsoft.com/office/powerpoint/2010/main" val="16338765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C02743-F99D-49B4-B81E-C0651BD9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THE STRATEGIC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A036F-C3EA-4ABD-B037-4BEDDD0A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Decision four: how it shows up unaided - one proof, three executions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79839-E322-446F-AF39-BCC1A116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C2703-016D-4DD2-A101-6B043153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MASTER MESSAGE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4EEBF-70F0-4AB8-BA2D-E7C612D5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476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Nutrition proven, not promised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671FA-29E6-49C3-B063-36F80F9B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6C953-37A6-48A3-A7C4-17411F00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PUBLISHED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650D24-3E74-433C-A897-03305B5C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Peer-reviewed research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3E407-13EC-4F51-8A9A-0676DA95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98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FORMULATED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BB6595-CEF7-4128-B1E3-C58FA853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1467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Board-Certified Veterinary Nutritionist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207661-7B8F-4F67-8A2E-90C3BDED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00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FBAFB-2F2E-4112-8801-90BDB928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14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Vertically integrated production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B6A3E6-9915-4EAE-A4EC-420D2F8B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476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Master message: nutrition proven, not promised. Proof layers: published in a peer-reviewed journal; formulated by a Board-Certified Veterinary Nutritionist; vertically integrated production. Objection to pre-empt: isn't 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B82EEC-5E5B-421A-AEAB-457BBF92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1DE4CA-6424-4569-8FD7-42B0BAF0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Equips CRM and retail teams with one shared brief instead of two diverging narratives, reducing coordination cost between DTC and retail functions.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FC5412-EE5D-4E75-BE41-2A9323E6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3CF53D-2A1B-485E-AA57-E9A49567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0C0C2A-C64A-42C0-B329-0AEF3383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D240BB-E7CA-44D6-A9E2-819BEB1E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12 / 23</a:t>
            </a:r>
          </a:p>
        </p:txBody>
      </p:sp>
    </p:spTree>
    <p:extLst>
      <p:ext uri="{BB962C8B-B14F-4D97-AF65-F5344CB8AC3E}">
        <p14:creationId xmlns:p14="http://schemas.microsoft.com/office/powerpoint/2010/main" val="9593573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249ACB-0632-4823-AB0F-BAC2D2DF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F1C532-2AD9-47EE-A7E2-422603EC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prize is pricing power and cheaper growth - not simply more reach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82186-3FEC-4D5F-BF84-F7FE998B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80626B-FBF6-4C53-AA73-830422A8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82D6D-C556-4B61-BAF1-C051ECB7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EARNED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A3BCF-D4DD-421B-8A15-0488710C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citable point of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FF03D5-2C7D-4FAF-AE29-FBC1B944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C1A2F-9BEA-44AA-9A26-BC99FA5B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3DCFC-ED5C-4770-BD00-1B5C658B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Premium proof at shelf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033241-9D7E-4BA6-A920-7D07AD92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4ABF3-5449-415B-B39C-9E509095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15C7A-3C4A-4DB7-B38D-5C35925C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Segmented confidence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99F86-E5FD-436D-A0A5-E28CABA9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D520FA-5075-48BB-A97D-9013CA09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INVESTOR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6DD8AB-6995-4FD7-98E5-1E3E9DA3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Earlier leading signals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E06278-1501-48BB-93E7-1D4A8722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0D9828-74B2-4073-BC2E-8A8ECA51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Frames the shift in terms investors already track - pricing power and CAC - without asserting unverified numbers.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7E69DE-13F7-4F42-AF33-DCB0E578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S2, S5, S8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953DF9-E899-4FF7-AB95-6CF62724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THIRD PARTY ESTIMATE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F1FF62-F0FC-449A-9E74-51DD96D6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A7264D-4ACB-4B7D-8513-A475E0E5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13 / 23</a:t>
            </a:r>
          </a:p>
        </p:txBody>
      </p:sp>
    </p:spTree>
    <p:extLst>
      <p:ext uri="{BB962C8B-B14F-4D97-AF65-F5344CB8AC3E}">
        <p14:creationId xmlns:p14="http://schemas.microsoft.com/office/powerpoint/2010/main" val="225312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1096F3-BA16-40CB-AFB2-44CBC435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B9A054-1DF9-463E-9C7E-28691236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Retail has three seconds to do what CRM does in three emails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7D7E8-9702-4941-8EC0-1D108CA3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ECB044-F843-4A07-987C-091B3B4B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DTC QUIZ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74243-7F6B-4043-A95E-C9D3C02B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Discovery and education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48039-7B22-49AC-A674-06246B17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14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Personalised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5476F-5245-4AF0-AC9D-CA6ACE41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1D1E0-2608-4CDF-8F14-358D204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8CB52-9986-4604-83DE-7141EA8C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241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Trust and retention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BBC2A-8C70-4F21-BB91-BFE6114D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622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First party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22B0A5-A711-4705-B139-6DDF5B2F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50456F-C1B3-4645-99B0-5553CFF3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896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B56076-3543-45B1-974F-95EEC01D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34764E-8DBC-434B-A478-49E16235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718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140DF-4159-4CE5-B80A-E52B4C79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Unaided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38ECB3-323C-4516-9123-EC88A265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9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F1AF61-B13A-414E-B9B8-A83F30E2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EARNED / 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AB55C-A7C6-4F32-85D2-F309CA0D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195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Scale discovery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3FEE0D-9F7D-4F86-AAE4-30D00980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576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Citable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F3980-58EF-47BA-A4D4-85EFBA0F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BA1EA6-DE79-47A4-B47B-F4863386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PAID SOCIAL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96E00D-8D21-41A9-8F0A-5864662A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672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Volume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4B797D-025E-4A11-8BB5-F4985532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Rebalanced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983280-79A1-4215-8E69-5D7173DA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9561DB-8DD0-4AEB-B77E-05C78972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Rebalances channel investment toward mechanisms that can compound without continuous paid spend, directly answering the rising-CAC constraint named earlier.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80F017-A170-478D-AE76-F02E8225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S5, S6, S7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FB6D8A-44CE-4833-AEE3-16E2BB69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4C9A9B-5E75-4E97-A878-AE3C116B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2BCEF5-B21B-49F9-B2EA-D8AAF2D6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14 / 23</a:t>
            </a:r>
          </a:p>
        </p:txBody>
      </p:sp>
    </p:spTree>
    <p:extLst>
      <p:ext uri="{BB962C8B-B14F-4D97-AF65-F5344CB8AC3E}">
        <p14:creationId xmlns:p14="http://schemas.microsoft.com/office/powerpoint/2010/main" val="8976614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DD238A-1536-45D8-AEFB-CB444B90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3E4518-A4EF-42F3-BE57-01E6F5DC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Validate before you commit - founder sign-off gates the final narrative lock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6B4DCD-A48C-42C1-8DD1-87CA405D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C87E9-C289-4F69-BA58-5195FE84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644A5-5432-4141-96F0-48564E0A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1-30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26FC7-BA31-4705-AEC8-274A77C0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E314D2-EBA4-4FF7-B6E1-3D19A9E1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Founder pressure-test and evidence audit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D6F2D-CAF7-421A-8ECC-CDFF8196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D28875-6C5E-46A2-8E4D-E372A619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31-60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40F62-F9A2-49EC-89B5-E4EAF5B5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D682C7-002C-43E8-A300-761DDECD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translation and CRM 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C1765-7CFD-4F7A-9357-F7F9DA9F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D1593F-1F83-44C9-8E3C-F4C6962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61-90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E29829-C5D0-4FEC-ADA8-ED3C996B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Scale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C1BA65-2F24-4E62-B714-95A0D578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Shift spend only when leading signals move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E13700-EF93-4380-9EEF-D8AE206D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C285A7-945F-4109-95A2-A1B14A42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Sequences spend so the cheapest, highest-confidence validation step happens before any retail or creative production investment is committed.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60F24F-7477-4E87-B625-4B697AB4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S4, S6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67842C-80B0-4D1B-87D6-851D3177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577489-4420-4E38-8659-CB610E2A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76D3D-D87F-4EBA-B0E9-45E2C9A9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15 / 23</a:t>
            </a:r>
          </a:p>
        </p:txBody>
      </p:sp>
    </p:spTree>
    <p:extLst>
      <p:ext uri="{BB962C8B-B14F-4D97-AF65-F5344CB8AC3E}">
        <p14:creationId xmlns:p14="http://schemas.microsoft.com/office/powerpoint/2010/main" val="45253641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A8E41-ECE6-4D39-AE81-549A0153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CF607-72D2-46D4-AF02-C5FB6192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Prove the shift is working before revenue can show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764254-1A00-4412-82F0-5327E3F3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EC926-67E4-4E56-B39B-44F165D8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EE8D2-0D7F-4FA7-A84A-FF77C465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764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LEADING / 3-6 MONTHS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E6B72-EDA9-4939-9503-4C2155A1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431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Claim recognition, shelf comprehension, earned search share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7D4005-F50F-41E6-9E50-9EBF177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8605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B1692-E9DC-4F25-B5BA-41F7126F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87873-2B12-4058-813C-B88D019E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LAGGING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AEC2F-631B-481A-A88F-3BBDED49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099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Retail sell-through, blended CAC trend, subscriber retention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C9CD2-F9B1-4E0E-9CCB-F7AB2ED6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F716B4-3478-487A-AEC2-1D7DB312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E9EA0-EEF8-4B93-BB4F-06D4EBF7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100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COMMERCIAL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8940B8-06EE-44EB-BF8C-F683C70E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76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Price realisation versus discount dependency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190C5-F4C5-413E-989E-3CC4E46B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29DC7F-E2FC-4494-AE94-E812FF94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Gives the founder and investors a credible early read on strategy health ahead of the stated runway checkpoint, directly addressing the loss-making position named at the outset.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B952B5-1027-4609-81CC-CEC3474A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S1B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E7AE9A-D289-4EED-B46D-76B4C57C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A29026-B291-41A2-B82D-0CF4DAE9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7044A7-1D41-4FF2-8589-9CFBA12F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16 / 23</a:t>
            </a:r>
          </a:p>
        </p:txBody>
      </p:sp>
    </p:spTree>
    <p:extLst>
      <p:ext uri="{BB962C8B-B14F-4D97-AF65-F5344CB8AC3E}">
        <p14:creationId xmlns:p14="http://schemas.microsoft.com/office/powerpoint/2010/main" val="18078192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781EC-DA6B-4664-BD35-182BAE20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COMMERCIAL PRIZE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B0964C-FAE6-41A7-917E-78C53A15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quantified opportunity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2D2B0-18B4-4F30-AEE3-A191E1E9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834987-E146-4A00-BC76-32B4C81114AC}"/>
              </a:ext>
            </a:extLst>
          </p:cNvPr>
          <p:cNvGraphicFramePr/>
          <p:nvPr/>
        </p:nvGraphicFramePr>
        <p:xfrm>
          <a:off xmlns:a="http://schemas.openxmlformats.org/drawingml/2006/main" x="647700" y="1885950"/>
          <a:ext xmlns:a="http://schemas.openxmlformats.org/drawingml/2006/main" cx="10896600" cy="25241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179320"/>
                <a:gridCol w="2179320"/>
                <a:gridCol w="2179320"/>
                <a:gridCol w="2179320"/>
                <a:gridCol w="2179320"/>
              </a:tblGrid>
              <a:tr h="631031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Scenario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Target share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Revenue upside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Contribution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Margin 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Conservative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2.25%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£1.50m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£0.45m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30%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Base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2.50%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£3.00m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£1.20m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40%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Ambitious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3.00%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£6.00m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£3.00m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A2BEA8-6A4B-4817-96D8-A0CA2DAB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9625"/>
            <a:ext cx="10896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ILLUSTRATIVE SCENARIOS. MARKET SHARE AND CONTRIBUTION MARGIN ARE ASSUMPTIONS, NOT KATKIN FORECASTS.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32306-CE70-40D7-903A-F987F767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0C576-3323-41C6-AEDA-3C7E0D6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0.5-point share gain implies about £3.0m in incremental annual revenue in the base scenario.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7B74B-254B-4E03-8491-221E1257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S8, S1A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531CE-BD84-402D-98E2-C781E592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ESTIMATE + ASSUMPTION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5D4D06-8612-4CD7-959D-EE8E77B1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8303C0-3CDF-4074-AF80-1A75DEC5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17 / 23</a:t>
            </a:r>
          </a:p>
        </p:txBody>
      </p:sp>
    </p:spTree>
    <p:extLst>
      <p:ext uri="{BB962C8B-B14F-4D97-AF65-F5344CB8AC3E}">
        <p14:creationId xmlns:p14="http://schemas.microsoft.com/office/powerpoint/2010/main" val="9965881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537F1B-84EC-4F25-B8E5-5E6FFF3A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COMMERCIAL PRIZE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902BB-9823-44AD-BB09-B968FF9E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What the model can and cannot say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48444B-DC87-4A99-80AB-95BBC02A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0B272-9493-4CA1-A8D4-D5A2F1B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4953000" cy="3095625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EE87B-56E1-43AB-B4CC-9DC14880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SOURCED INPUTS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50BB0F-3132-4944-8B65-0EA5B579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2619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Estimated UK cat food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2D2C45-7685-4B57-896A-9F146562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33650"/>
            <a:ext cx="133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£600.00m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6CD39B-B419-4FDF-978D-330B8AD1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2619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 reported UK cat food market 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29CBF7-931A-4893-8C52-ECE4DCD1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38525"/>
            <a:ext cx="133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9963E0-3D7D-43BF-BDC3-1F2EFC25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5638800" cy="3095625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67020-426B-4790-AFFB-9A0409D9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WHAT REMAINS UNKNOWN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7A735-165D-465A-9369-E1A9D5CA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Implementation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9FE2D5-E873-46D4-9AAE-34FEA77D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48000"/>
            <a:ext cx="466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Not supplied. Net value and payback cannot be calculated responsibly.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817172-704B-47CC-AA8A-6AC6DAD2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43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125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Required next: actual margin, CAC, retention and scoped delivery budget.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334DB-B1BD-4311-A814-5DE463DB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9EC175-D491-418F-A7CB-3ABC2E36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Revenue and contribution are scenario estimates; net value remains unavailable until KatKin supplies implementation cost and unit economics.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C326B3-AFD2-48B2-A4E7-FCA820A9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S8, S1A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D96D9E-9EAE-4158-B4C4-CFF3D6F1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ESTIMATE + EVIDENCE GAP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5EE37B-5828-4FDA-A7AE-864FABA2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B81997-EA94-47B6-9436-8163FFDC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18 / 23</a:t>
            </a:r>
          </a:p>
        </p:txBody>
      </p:sp>
    </p:spTree>
    <p:extLst>
      <p:ext uri="{BB962C8B-B14F-4D97-AF65-F5344CB8AC3E}">
        <p14:creationId xmlns:p14="http://schemas.microsoft.com/office/powerpoint/2010/main" val="157619407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C3C7C4-F7F2-44B7-9EBD-4CCDBCD3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CREATIVE TRANSLATION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328BA-F90F-466E-8D5E-9964C9DB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Creative direction: make proof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88FB3-B5CC-41A7-B1D3-C364984B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14351-F728-4A45-9B98-EF1A2757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CLINICAL PRECISION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DA92B-8A7F-4094-A172-84B98E96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meets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F5B13-D8A4-4206-8300-D2B8EDC9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INTIMATE CAT BEHAVIOUR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0FEAC-305C-4D45-B2B1-9448469B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478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10CDE-A073-4F2D-8F1F-3B667C8A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478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OBSERVATION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E0556C-534E-4FF3-935F-A37B53A0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1145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Tight crops and watchful eyes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AEC2A-F790-4639-A6A4-4633EC0D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479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DA514B-F9B8-422E-99F4-8C1F94BA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4797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90022A-1610-409B-8A15-9DCADD04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1467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marks that show what was checked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AE5DC-9506-4694-8CDF-410D6F07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481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0EDEC-6D32-43D9-966F-F9D92CB7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8481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DEA4E4-4FD0-42B2-B61F-FBD7C65F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148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One coral cue points to the proof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A40A5E-BFC0-4D29-AD3F-8C41325A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8F91F-24D0-40BE-8C74-9CE73EB5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distinctive world turns the published science into a recognisable visual behaviour, not another nutrition claim.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D3B8C9-481F-4831-BE48-58FFEF72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T1, S2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3E2571-365E-4B32-8E9F-E9A71D65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PROPOSED CREATIVE TERRITORY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CD2BC0-06CF-4C28-BFCA-6783834F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5DB95B-65FE-4792-AE1D-9D89DBD4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19 / 23</a:t>
            </a:r>
          </a:p>
        </p:txBody>
      </p:sp>
    </p:spTree>
    <p:extLst>
      <p:ext uri="{BB962C8B-B14F-4D97-AF65-F5344CB8AC3E}">
        <p14:creationId xmlns:p14="http://schemas.microsoft.com/office/powerpoint/2010/main" val="7268302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296FAD-DDB6-4FDE-B748-DD2AFA61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APPENDIX / EVIDENCE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0458B-A906-45C6-AD1A-8F9EEC5D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Source register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EBEC1-E9D1-47D4-9D1C-712A7D74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95F18-A906-4192-9E99-93DAD612E70E}"/>
              </a:ext>
            </a:extLst>
          </p:cNvPr>
          <p:cNvGraphicFramePr/>
          <p:nvPr/>
        </p:nvGraphicFramePr>
        <p:xfrm>
          <a:off xmlns:a="http://schemas.openxmlformats.org/drawingml/2006/main" x="647700" y="175260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685800"/>
                <a:gridCol w="1619250"/>
                <a:gridCol w="4953000"/>
                <a:gridCol w="3638550"/>
              </a:tblGrid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Classification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Original source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Location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S1A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The Grocer: Series C, market share and 100m-meal scale report (December 2025)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thegrocer.co.uk (Series C report)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S1B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Companies House / Companies in the UK: Anikin Ltd statutory accounts and balance sheet (FY2023)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companieshouse.gov.uk; companiesintheuk.co.uk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S1C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Marketing Week: Lloyd Page appointed first CMO (2025)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marketingweek.com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KatKin / Journal of Animal Science: KatKin heat-damage study and peer-reviewed AGE research (accessed 11 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katkin.com/articles/katkins-heat-damage-study; Journal of Animal Science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8A9FA-2FFF-44B8-A997-62F8DB00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Classification describes how the Blueprint uses each source. Source URLs and dates remain editable in this deck.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602EAE-8E8D-4A7C-9483-CB3998FF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S1B, S1C, S2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F800D2-39F8-491F-866E-227EE5C8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SOURCE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4D481-E361-43C6-9244-2D0967A1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EAD78-323C-41C3-B3C8-963F2435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20 / 23</a:t>
            </a:r>
          </a:p>
        </p:txBody>
      </p:sp>
    </p:spTree>
    <p:extLst>
      <p:ext uri="{BB962C8B-B14F-4D97-AF65-F5344CB8AC3E}">
        <p14:creationId xmlns:p14="http://schemas.microsoft.com/office/powerpoint/2010/main" val="7360278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BB941-4BD3-4C98-84F9-CE20FD98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APPENDIX / EVIDENCE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713672-4388-4831-A9E7-B832DD2D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Source register continued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C4BF9F-9487-434F-B645-2F8B3325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218F6-167A-4E82-A018-C3E18F85CDDD}"/>
              </a:ext>
            </a:extLst>
          </p:cNvPr>
          <p:cNvGraphicFramePr/>
          <p:nvPr/>
        </p:nvGraphicFramePr>
        <p:xfrm>
          <a:off xmlns:a="http://schemas.openxmlformats.org/drawingml/2006/main" x="647700" y="175260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685800"/>
                <a:gridCol w="1619250"/>
                <a:gridCol w="4953000"/>
                <a:gridCol w="3638550"/>
              </a:tblGrid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Classification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Original source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Location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interpretation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Untamed / Bubblegum Search: Competitor claims and organic-search comparison (Q3 2025 to 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untamed.com; bubblegumsearch.com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mixed fact and hypothesis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KatKin / Trustpilot / Cats.com: Pricing, reviews and customer-friction evidence (accessed 11 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katkin.com/our-pricing; uk.trustpilot.com/review/katkin.com; cats.com/katkin-cat-food-review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Motion / Marketing Week: Paid-social volume and creative analysis (accessed 11 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motionapp.com/library/katkin; marketingweek.com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Pet Business World: Jollyes retail rollout across 80 stores (August 2025)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petbusinessworld.co.uk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06A74-515C-4225-B88B-51DDC097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Classification describes how the Blueprint uses each source. Source URLs and dates remain editable in this deck.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077114-CB01-421D-8F94-0DDBCF64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S3, S4, S5, S6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5DB40-1F3A-436B-B370-815BAFCE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SOURCE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80C7B-9399-464B-8070-B61ABB2A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823AEF-A495-4CD3-947B-463A3FF7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21 / 23</a:t>
            </a:r>
          </a:p>
        </p:txBody>
      </p:sp>
    </p:spTree>
    <p:extLst>
      <p:ext uri="{BB962C8B-B14F-4D97-AF65-F5344CB8AC3E}">
        <p14:creationId xmlns:p14="http://schemas.microsoft.com/office/powerpoint/2010/main" val="195530411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8D2F4-B15D-4C56-ADF7-03E737CB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APPENDIX / EVIDENCE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F1C8D-8CC8-43CF-A9AB-BBF67F13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Source register continued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9DD7CE-9069-487B-B76E-4683E733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DC613-DA5C-4B7A-A3B5-02C0CE7C3B4E}"/>
              </a:ext>
            </a:extLst>
          </p:cNvPr>
          <p:cNvGraphicFramePr/>
          <p:nvPr/>
        </p:nvGraphicFramePr>
        <p:xfrm>
          <a:off xmlns:a="http://schemas.openxmlformats.org/drawingml/2006/main" x="647700" y="175260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685800"/>
                <a:gridCol w="1619250"/>
                <a:gridCol w="4953000"/>
                <a:gridCol w="3638550"/>
              </a:tblGrid>
              <a:tr h="833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Classification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Original source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Location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fact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Active Partners: Series B strategy and retail partnership context (30 November 2023)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active.partners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S8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third party estimate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Research &amp; Markets: UK cat food market estimate, USD 765.91m (2025 report)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researchandmarkets.com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approved strategy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Narratiive governed workflow: Approved KatKin Strategy Thesis (September 2026)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artifact-63f71c6bacf78fe6-92b790e0f4def86f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6D239-69D7-40C6-820F-B234E4A9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Classification describes how the Blueprint uses each source. Source URLs and dates remain editable in this deck.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497380-3032-405A-8851-D2D2B68E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S7, S8, T1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FE55FB-7AA9-41FF-837B-EC26AA0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SOURCE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82CC5B-98AE-4CEF-9D16-1F724645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598EC4-E888-48AD-8DF2-B2E48C15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22 / 23</a:t>
            </a:r>
          </a:p>
        </p:txBody>
      </p:sp>
    </p:spTree>
    <p:extLst>
      <p:ext uri="{BB962C8B-B14F-4D97-AF65-F5344CB8AC3E}">
        <p14:creationId xmlns:p14="http://schemas.microsoft.com/office/powerpoint/2010/main" val="1569968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261A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2102C5-1D49-4DB7-A6BA-369D6CA9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THE FIRST 90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5CB11-5985-4E88-BF9A-77FE2F54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Stop competing on the claim anyone can copy. Compete on the proof no one else has.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11F05-3999-4BEB-8BCD-C8868FC8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C9A1BC-D087-4DDA-A263-7A99BEA4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685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Own the proof.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17E11-96EE-4AEB-AE03-EA5ABC27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23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Make it easy to feel.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4CE57-C7F3-4E15-89C6-95C04ED9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Then earn the right to scale.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7D97F-43AD-403F-AA94-91C8A65A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IMMEDIATE NEXT STEP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612DF-C495-4A52-8F45-B54907D1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Founder pressure-test and retail translation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233B63-DD56-4F62-A24D-441D3EFC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DCDE9-F6AF-4BEB-9442-ABF5FB9B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C8AB5-FA2E-41F7-A85C-CD89A4F4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3266A-DC02-4CE6-AC4D-5DCDF4E1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23 / 23</a:t>
            </a:r>
          </a:p>
        </p:txBody>
      </p:sp>
    </p:spTree>
    <p:extLst>
      <p:ext uri="{BB962C8B-B14F-4D97-AF65-F5344CB8AC3E}">
        <p14:creationId xmlns:p14="http://schemas.microsoft.com/office/powerpoint/2010/main" val="11919860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2026-10-12T22:10:56.4320000Z</dcterms:created>
  <dcterms:modified xsi:type="dcterms:W3CDTF">2026-10-12T22:10:56.4330000Z</dcterms:modified>
</coreProperties>
</file>