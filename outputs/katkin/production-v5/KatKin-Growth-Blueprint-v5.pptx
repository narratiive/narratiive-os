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4d624781d04a4f" /><Relationship Type="http://schemas.openxmlformats.org/officeDocument/2006/relationships/extended-properties" Target="/docProps/app.xml" Id="Re10c5acb02ac40ab" /><Relationship Type="http://schemas.openxmlformats.org/officeDocument/2006/relationships/officeDocument" Target="/ppt/presentation.xml" Id="R92e0957fcb5c48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3ca09dd1314302"/>
  </p:sldMasterIdLst>
  <p:notesMasterIdLst>
    <p:notesMasterId xmlns:r="http://schemas.openxmlformats.org/officeDocument/2006/relationships" r:id="R2962e70382984481"/>
  </p:notesMasterIdLst>
  <p:sldIdLst>
    <p:sldId xmlns:r="http://schemas.openxmlformats.org/officeDocument/2006/relationships" id="256" r:id="Rb98aff73ac04448e"/>
    <p:sldId xmlns:r="http://schemas.openxmlformats.org/officeDocument/2006/relationships" id="257" r:id="R83f01613da7a425b"/>
    <p:sldId xmlns:r="http://schemas.openxmlformats.org/officeDocument/2006/relationships" id="258" r:id="R60dfb8835b1b4b0f"/>
    <p:sldId xmlns:r="http://schemas.openxmlformats.org/officeDocument/2006/relationships" id="259" r:id="Re9136efc7dc84d3e"/>
    <p:sldId xmlns:r="http://schemas.openxmlformats.org/officeDocument/2006/relationships" id="260" r:id="Ra2f2be1c63d045a1"/>
    <p:sldId xmlns:r="http://schemas.openxmlformats.org/officeDocument/2006/relationships" id="261" r:id="R1cffddab6bcd4989"/>
    <p:sldId xmlns:r="http://schemas.openxmlformats.org/officeDocument/2006/relationships" id="262" r:id="R4dac0ae37ba74ee3"/>
    <p:sldId xmlns:r="http://schemas.openxmlformats.org/officeDocument/2006/relationships" id="263" r:id="Rf25cc4999e494739"/>
    <p:sldId xmlns:r="http://schemas.openxmlformats.org/officeDocument/2006/relationships" id="264" r:id="R650c3424611243e7"/>
    <p:sldId xmlns:r="http://schemas.openxmlformats.org/officeDocument/2006/relationships" id="265" r:id="Rd227226672e7423c"/>
    <p:sldId xmlns:r="http://schemas.openxmlformats.org/officeDocument/2006/relationships" id="266" r:id="R100c1d9d6daf4bee"/>
    <p:sldId xmlns:r="http://schemas.openxmlformats.org/officeDocument/2006/relationships" id="267" r:id="R0d430a660f414db4"/>
    <p:sldId xmlns:r="http://schemas.openxmlformats.org/officeDocument/2006/relationships" id="268" r:id="R1b5c67a50518441c"/>
    <p:sldId xmlns:r="http://schemas.openxmlformats.org/officeDocument/2006/relationships" id="269" r:id="Rf2ee034447d64d2f"/>
    <p:sldId xmlns:r="http://schemas.openxmlformats.org/officeDocument/2006/relationships" id="270" r:id="Rec256276095c4f83"/>
    <p:sldId xmlns:r="http://schemas.openxmlformats.org/officeDocument/2006/relationships" id="271" r:id="R937ef58c2ef5485e"/>
    <p:sldId xmlns:r="http://schemas.openxmlformats.org/officeDocument/2006/relationships" id="272" r:id="R9407aa850be549c0"/>
    <p:sldId xmlns:r="http://schemas.openxmlformats.org/officeDocument/2006/relationships" id="273" r:id="R9c2c69d2aced493a"/>
    <p:sldId xmlns:r="http://schemas.openxmlformats.org/officeDocument/2006/relationships" id="274" r:id="Rfc66ece5f1094e1b"/>
    <p:sldId xmlns:r="http://schemas.openxmlformats.org/officeDocument/2006/relationships" id="275" r:id="Rd98645fa56e34d70"/>
    <p:sldId xmlns:r="http://schemas.openxmlformats.org/officeDocument/2006/relationships" id="276" r:id="R68e374c51e4f439a"/>
    <p:sldId xmlns:r="http://schemas.openxmlformats.org/officeDocument/2006/relationships" id="277" r:id="R2e8a1e443d744c45"/>
    <p:sldId xmlns:r="http://schemas.openxmlformats.org/officeDocument/2006/relationships" id="278" r:id="R1cd8dca4356f4a50"/>
    <p:sldId xmlns:r="http://schemas.openxmlformats.org/officeDocument/2006/relationships" id="279" r:id="R1a605d3c76f74949"/>
    <p:sldId xmlns:r="http://schemas.openxmlformats.org/officeDocument/2006/relationships" id="280" r:id="R408e656d95cf4d74"/>
    <p:sldId xmlns:r="http://schemas.openxmlformats.org/officeDocument/2006/relationships" id="281" r:id="R28468daf522d4b9f"/>
    <p:sldId xmlns:r="http://schemas.openxmlformats.org/officeDocument/2006/relationships" id="282" r:id="R1e9799cc7410458d"/>
    <p:sldId xmlns:r="http://schemas.openxmlformats.org/officeDocument/2006/relationships" id="283" r:id="Ra1b73edf44ca45dc"/>
    <p:sldId xmlns:r="http://schemas.openxmlformats.org/officeDocument/2006/relationships" id="284" r:id="R170f17349fdb49f2"/>
    <p:sldId xmlns:r="http://schemas.openxmlformats.org/officeDocument/2006/relationships" id="285" r:id="Re668d947fccd48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d6529f341149f6" /><Relationship Type="http://schemas.openxmlformats.org/officeDocument/2006/relationships/slideMaster" Target="/ppt/slideMasters/slideMaster1.xml" Id="R633ca09dd1314302" /><Relationship Type="http://schemas.openxmlformats.org/officeDocument/2006/relationships/notesMaster" Target="/ppt/notesMasters/notesMaster1.xml" Id="R2962e70382984481" /><Relationship Type="http://schemas.openxmlformats.org/officeDocument/2006/relationships/presProps" Target="/ppt/presProps.xml" Id="Rcb06c497a1f04cbd" /><Relationship Type="http://schemas.openxmlformats.org/officeDocument/2006/relationships/tableStyles" Target="/ppt/tableStyles.xml" Id="R815d880c636241cc" /><Relationship Type="http://schemas.openxmlformats.org/officeDocument/2006/relationships/slide" Target="/ppt/slides/slide1.xml" Id="Rb98aff73ac04448e" /><Relationship Type="http://schemas.openxmlformats.org/officeDocument/2006/relationships/slide" Target="/ppt/slides/slide2.xml" Id="R83f01613da7a425b" /><Relationship Type="http://schemas.openxmlformats.org/officeDocument/2006/relationships/slide" Target="/ppt/slides/slide3.xml" Id="R60dfb8835b1b4b0f" /><Relationship Type="http://schemas.openxmlformats.org/officeDocument/2006/relationships/slide" Target="/ppt/slides/slide4.xml" Id="Re9136efc7dc84d3e" /><Relationship Type="http://schemas.openxmlformats.org/officeDocument/2006/relationships/slide" Target="/ppt/slides/slide5.xml" Id="Ra2f2be1c63d045a1" /><Relationship Type="http://schemas.openxmlformats.org/officeDocument/2006/relationships/slide" Target="/ppt/slides/slide6.xml" Id="R1cffddab6bcd4989" /><Relationship Type="http://schemas.openxmlformats.org/officeDocument/2006/relationships/slide" Target="/ppt/slides/slide7.xml" Id="R4dac0ae37ba74ee3" /><Relationship Type="http://schemas.openxmlformats.org/officeDocument/2006/relationships/slide" Target="/ppt/slides/slide8.xml" Id="Rf25cc4999e494739" /><Relationship Type="http://schemas.openxmlformats.org/officeDocument/2006/relationships/slide" Target="/ppt/slides/slide9.xml" Id="R650c3424611243e7" /><Relationship Type="http://schemas.openxmlformats.org/officeDocument/2006/relationships/slide" Target="/ppt/slides/slide10.xml" Id="Rd227226672e7423c" /><Relationship Type="http://schemas.openxmlformats.org/officeDocument/2006/relationships/slide" Target="/ppt/slides/slide11.xml" Id="R100c1d9d6daf4bee" /><Relationship Type="http://schemas.openxmlformats.org/officeDocument/2006/relationships/slide" Target="/ppt/slides/slide12.xml" Id="R0d430a660f414db4" /><Relationship Type="http://schemas.openxmlformats.org/officeDocument/2006/relationships/slide" Target="/ppt/slides/slide13.xml" Id="R1b5c67a50518441c" /><Relationship Type="http://schemas.openxmlformats.org/officeDocument/2006/relationships/slide" Target="/ppt/slides/slide14.xml" Id="Rf2ee034447d64d2f" /><Relationship Type="http://schemas.openxmlformats.org/officeDocument/2006/relationships/slide" Target="/ppt/slides/slide15.xml" Id="Rec256276095c4f83" /><Relationship Type="http://schemas.openxmlformats.org/officeDocument/2006/relationships/slide" Target="/ppt/slides/slide16.xml" Id="R937ef58c2ef5485e" /><Relationship Type="http://schemas.openxmlformats.org/officeDocument/2006/relationships/slide" Target="/ppt/slides/slide17.xml" Id="R9407aa850be549c0" /><Relationship Type="http://schemas.openxmlformats.org/officeDocument/2006/relationships/slide" Target="/ppt/slides/slide18.xml" Id="R9c2c69d2aced493a" /><Relationship Type="http://schemas.openxmlformats.org/officeDocument/2006/relationships/slide" Target="/ppt/slides/slide19.xml" Id="Rfc66ece5f1094e1b" /><Relationship Type="http://schemas.openxmlformats.org/officeDocument/2006/relationships/slide" Target="/ppt/slides/slide20.xml" Id="Rd98645fa56e34d70" /><Relationship Type="http://schemas.openxmlformats.org/officeDocument/2006/relationships/slide" Target="/ppt/slides/slide21.xml" Id="R68e374c51e4f439a" /><Relationship Type="http://schemas.openxmlformats.org/officeDocument/2006/relationships/slide" Target="/ppt/slides/slide22.xml" Id="R2e8a1e443d744c45" /><Relationship Type="http://schemas.openxmlformats.org/officeDocument/2006/relationships/slide" Target="/ppt/slides/slide23.xml" Id="R1cd8dca4356f4a50" /><Relationship Type="http://schemas.openxmlformats.org/officeDocument/2006/relationships/slide" Target="/ppt/slides/slide24.xml" Id="R1a605d3c76f74949" /><Relationship Type="http://schemas.openxmlformats.org/officeDocument/2006/relationships/slide" Target="/ppt/slides/slide25.xml" Id="R408e656d95cf4d74" /><Relationship Type="http://schemas.openxmlformats.org/officeDocument/2006/relationships/slide" Target="/ppt/slides/slide26.xml" Id="R28468daf522d4b9f" /><Relationship Type="http://schemas.openxmlformats.org/officeDocument/2006/relationships/slide" Target="/ppt/slides/slide27.xml" Id="R1e9799cc7410458d" /><Relationship Type="http://schemas.openxmlformats.org/officeDocument/2006/relationships/slide" Target="/ppt/slides/slide28.xml" Id="Ra1b73edf44ca45dc" /><Relationship Type="http://schemas.openxmlformats.org/officeDocument/2006/relationships/slide" Target="/ppt/slides/slide29.xml" Id="R170f17349fdb49f2" /><Relationship Type="http://schemas.openxmlformats.org/officeDocument/2006/relationships/slide" Target="/ppt/slides/slide30.xml" Id="Re668d947fccd48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7e66e0622645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f6cc0637154a2a" /><Relationship Type="http://schemas.openxmlformats.org/officeDocument/2006/relationships/notesMaster" Target="/ppt/notesMasters/notesMaster1.xml" Id="R8c5c78a4adf64a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0b7f15cc914314" /><Relationship Type="http://schemas.openxmlformats.org/officeDocument/2006/relationships/notesMaster" Target="/ppt/notesMasters/notesMaster1.xml" Id="R8b0d0d03c98447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3e7656597d49b0" /><Relationship Type="http://schemas.openxmlformats.org/officeDocument/2006/relationships/notesMaster" Target="/ppt/notesMasters/notesMaster1.xml" Id="R70d7ada932ad4e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b357d4bed04aed" /><Relationship Type="http://schemas.openxmlformats.org/officeDocument/2006/relationships/notesMaster" Target="/ppt/notesMasters/notesMaster1.xml" Id="R074fa082205e4b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9e755421d74334" /><Relationship Type="http://schemas.openxmlformats.org/officeDocument/2006/relationships/notesMaster" Target="/ppt/notesMasters/notesMaster1.xml" Id="R885520fb9a604f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378590e9d341ae" /><Relationship Type="http://schemas.openxmlformats.org/officeDocument/2006/relationships/notesMaster" Target="/ppt/notesMasters/notesMaster1.xml" Id="R8f22caf685f440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c4e06f3a444415" /><Relationship Type="http://schemas.openxmlformats.org/officeDocument/2006/relationships/notesMaster" Target="/ppt/notesMasters/notesMaster1.xml" Id="Re55c00d457c34c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ec88e83c5e47a0" /><Relationship Type="http://schemas.openxmlformats.org/officeDocument/2006/relationships/notesMaster" Target="/ppt/notesMasters/notesMaster1.xml" Id="R91c08fe7ad5e44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5fbc9c5857470f" /><Relationship Type="http://schemas.openxmlformats.org/officeDocument/2006/relationships/notesMaster" Target="/ppt/notesMasters/notesMaster1.xml" Id="R7cbb59b8c2c948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8957583a16403c" /><Relationship Type="http://schemas.openxmlformats.org/officeDocument/2006/relationships/notesMaster" Target="/ppt/notesMasters/notesMaster1.xml" Id="Rf0da884ec7c441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ffcfe3676541aa" /><Relationship Type="http://schemas.openxmlformats.org/officeDocument/2006/relationships/notesMaster" Target="/ppt/notesMasters/notesMaster1.xml" Id="Rd03a2137be4c40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6389b7e69c4dfd" /><Relationship Type="http://schemas.openxmlformats.org/officeDocument/2006/relationships/notesMaster" Target="/ppt/notesMasters/notesMaster1.xml" Id="R02b8f5dd290c405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358f996bad4e15" /><Relationship Type="http://schemas.openxmlformats.org/officeDocument/2006/relationships/notesMaster" Target="/ppt/notesMasters/notesMaster1.xml" Id="R9d2b1916b346437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7ebe0c9acf4dc2" /><Relationship Type="http://schemas.openxmlformats.org/officeDocument/2006/relationships/notesMaster" Target="/ppt/notesMasters/notesMaster1.xml" Id="R2737e265340e4b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b2d8751a92f40d6" /><Relationship Type="http://schemas.openxmlformats.org/officeDocument/2006/relationships/notesMaster" Target="/ppt/notesMasters/notesMaster1.xml" Id="R59146b234f364ef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f3e5dda6744a14" /><Relationship Type="http://schemas.openxmlformats.org/officeDocument/2006/relationships/notesMaster" Target="/ppt/notesMasters/notesMaster1.xml" Id="R71a3e8d9448749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59c7ca546b84c15" /><Relationship Type="http://schemas.openxmlformats.org/officeDocument/2006/relationships/notesMaster" Target="/ppt/notesMasters/notesMaster1.xml" Id="R7528898b4980411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37329efa04b490a" /><Relationship Type="http://schemas.openxmlformats.org/officeDocument/2006/relationships/notesMaster" Target="/ppt/notesMasters/notesMaster1.xml" Id="Redf7cee84e3f44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34d5b822e1a4d18" /><Relationship Type="http://schemas.openxmlformats.org/officeDocument/2006/relationships/notesMaster" Target="/ppt/notesMasters/notesMaster1.xml" Id="R881dea67f43348e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7cd9e85bc364ef7" /><Relationship Type="http://schemas.openxmlformats.org/officeDocument/2006/relationships/notesMaster" Target="/ppt/notesMasters/notesMaster1.xml" Id="R33e02f33a25d44d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af613c296c94354" /><Relationship Type="http://schemas.openxmlformats.org/officeDocument/2006/relationships/notesMaster" Target="/ppt/notesMasters/notesMaster1.xml" Id="Rc6acb7c7d8914f1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e5599365e744d64" /><Relationship Type="http://schemas.openxmlformats.org/officeDocument/2006/relationships/notesMaster" Target="/ppt/notesMasters/notesMaster1.xml" Id="Rc70f71c468a4433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88f5889c0bd4ae7" /><Relationship Type="http://schemas.openxmlformats.org/officeDocument/2006/relationships/notesMaster" Target="/ppt/notesMasters/notesMaster1.xml" Id="R26021395707d498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81041c2f6b427c" /><Relationship Type="http://schemas.openxmlformats.org/officeDocument/2006/relationships/notesMaster" Target="/ppt/notesMasters/notesMaster1.xml" Id="Rfa53dd775a2c4b5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3f6545c472d4e03" /><Relationship Type="http://schemas.openxmlformats.org/officeDocument/2006/relationships/notesMaster" Target="/ppt/notesMasters/notesMaster1.xml" Id="Rcf4214653f4745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78050cb230e4dc6" /><Relationship Type="http://schemas.openxmlformats.org/officeDocument/2006/relationships/notesMaster" Target="/ppt/notesMasters/notesMaster1.xml" Id="R66910c76b848406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ee172c7d0494e54" /><Relationship Type="http://schemas.openxmlformats.org/officeDocument/2006/relationships/notesMaster" Target="/ppt/notesMasters/notesMaster1.xml" Id="Raccee8fa65704cb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205348da4344cac" /><Relationship Type="http://schemas.openxmlformats.org/officeDocument/2006/relationships/notesMaster" Target="/ppt/notesMasters/notesMaster1.xml" Id="R0634b7d7f4204c4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c335cbfeaee4b3f" /><Relationship Type="http://schemas.openxmlformats.org/officeDocument/2006/relationships/notesMaster" Target="/ppt/notesMasters/notesMaster1.xml" Id="R0aa69f6cc1734bf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d0eee54829f411b" /><Relationship Type="http://schemas.openxmlformats.org/officeDocument/2006/relationships/notesMaster" Target="/ppt/notesMasters/notesMaster1.xml" Id="Rfc0469095faa40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S1C: Marketing Week — Lloyd Page appointed first CMO (2025), marketingweek.com</a:t>
            </a:r>
          </a:p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thesis:thesis_statement, thesis:growth_opportunity, ev_5c64#s1, ev_5c64#s2,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thesis:commercial_ambition,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S1B: Companies House / Companies in the UK — Anikin Ltd statutory accounts and balance sheet (FY2023), companieshouse.gov.uk; companiesintheuk.co.uk</a:t>
            </a:r>
          </a:p>
          <a:p xmlns:a="http://schemas.openxmlformats.org/drawingml/2006/main">
            <a:r>
              <a:t>S1C: Marketing Week — Lloyd Page appointed first CMO (2025), marketingweek.com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Governed evidence refs: ev_5c64#s1, ev_5c64#s3, ev_5c64#s5,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Governed evidence refs: ev_5c64#s2, ev_5c64#s3, thesis:category_choice, thesis:source_of_difference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Governed evidence refs: thesis:priority_audience, ev_5c64#s4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Governed evidence refs: thesis:priority_audience, ev_5c64#s4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S7: Active Partners — Series B strategy and retail partnership context (30 November 2023), active.partners</a:t>
            </a:r>
          </a:p>
          <a:p xmlns:a="http://schemas.openxmlformats.org/drawingml/2006/main">
            <a:r>
              <a:t>Governed evidence refs: ev_5c64#s4, ev_5c64#s5, ev_5c64#s6, thesis:priority_audience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thesis:source_of_difference, ev_5c64#s2,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S8: Research &amp; Markets — UK cat food market estimate, USD 765.91m (2025 report), researchandmarkets.com</a:t>
            </a:r>
          </a:p>
          <a:p xmlns:a="http://schemas.openxmlformats.org/drawingml/2006/main">
            <a:r>
              <a:t>Governed evidence refs: thesis:growth_opportunity, ev_5c64#s1,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S7: Active Partners — Series B strategy and retail partnership context (30 November 2023), active.partners</a:t>
            </a:r>
          </a:p>
          <a:p xmlns:a="http://schemas.openxmlformats.org/drawingml/2006/main">
            <a:r>
              <a:t>Governed evidence refs: thesis:activation_principles, ev_5c64#s3,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Governed evidence refs: thesis:activation_principles, ev_5c64#s4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S1B: Companies House / Companies in the UK — Anikin Ltd statutory accounts and balance sheet (FY2023), companieshouse.gov.uk; companiesintheuk.co.uk</a:t>
            </a:r>
          </a:p>
          <a:p xmlns:a="http://schemas.openxmlformats.org/drawingml/2006/main">
            <a:r>
              <a:t>Governed evidence refs: ev_5c64#s1, ev_5c64#s5, ev_5c64#s6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from the sourced market-size estimate and KatKin's reported market-share claim.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cost, realised contribution margin, CAC and retention data were not supplied.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Creative direction translates the approved proof-led strategy; it is a proposed territory for founder testing.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from the approved strategy and supplied production direction.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metadata reproduced from the governed KatKin evidence record.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metadata reproduced from the governed KatKin evidence record.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metadata reproduced from the governed KatKin evidence record.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Detailed evidence lineage is retained in the immutable Blueprint Director review record.</a:t>
            </a:r>
          </a:p>
          <a:p xmlns:a="http://schemas.openxmlformats.org/drawingml/2006/main">
            <a:r>
              <a:t>Governed evidence refs: thesis:thesis_statement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8fc9ff597b42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780e15c7504d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50588ad56a47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abb05004ee44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eac89978ed46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10f7236dd04e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F54407-578A-4463-BE91-744524977A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DE10DA8-C334-46BD-9BB2-F832F08035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6E77B2-E268-4E43-B92E-D03E01C3F3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51CF22-D59A-44C8-B31B-63804EF52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DB4BF1D-0C44-4735-B59D-6816B8A378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0A1972-943B-4BED-B25C-07D1910C5F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51A084-85DD-4197-B8A5-7060FE2180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B64A306-B789-49AE-84C4-A10DCA5613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D36D21-69D8-46D9-8401-A829F2C9B3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66C06B-81A5-4582-8328-EFF5DA6319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2914aaa49e42bb" /><Relationship Type="http://schemas.openxmlformats.org/officeDocument/2006/relationships/slideLayout" Target="/ppt/slideLayouts/slideLayout1.xml" Id="R06ad5613317642f4" /><Relationship Type="http://schemas.openxmlformats.org/officeDocument/2006/relationships/slideLayout" Target="/ppt/slideLayouts/slideLayout2.xml" Id="R0b85af7bfb51421a" /><Relationship Type="http://schemas.openxmlformats.org/officeDocument/2006/relationships/slideLayout" Target="/ppt/slideLayouts/slideLayout3.xml" Id="R145d8d9e3b15433b" /><Relationship Type="http://schemas.openxmlformats.org/officeDocument/2006/relationships/slideLayout" Target="/ppt/slideLayouts/slideLayout4.xml" Id="Rb100a1010bd54bf7" /><Relationship Type="http://schemas.openxmlformats.org/officeDocument/2006/relationships/slideLayout" Target="/ppt/slideLayouts/slideLayout5.xml" Id="R659aa9bd02f343b2" /><Relationship Type="http://schemas.openxmlformats.org/officeDocument/2006/relationships/slideLayout" Target="/ppt/slideLayouts/slideLayout6.xml" Id="R086af2407dcc41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ad5613317642f4"/>
    <p:sldLayoutId xmlns:r="http://schemas.openxmlformats.org/officeDocument/2006/relationships" id="2147483650" r:id="R0b85af7bfb51421a"/>
    <p:sldLayoutId xmlns:r="http://schemas.openxmlformats.org/officeDocument/2006/relationships" id="2147483651" r:id="R145d8d9e3b15433b"/>
    <p:sldLayoutId xmlns:r="http://schemas.openxmlformats.org/officeDocument/2006/relationships" id="2147483652" r:id="Rb100a1010bd54bf7"/>
    <p:sldLayoutId xmlns:r="http://schemas.openxmlformats.org/officeDocument/2006/relationships" id="2147483653" r:id="R659aa9bd02f343b2"/>
    <p:sldLayoutId xmlns:r="http://schemas.openxmlformats.org/officeDocument/2006/relationships" id="2147483654" r:id="R086af2407dcc41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75a59cc5e44a68" /><Relationship Type="http://schemas.openxmlformats.org/officeDocument/2006/relationships/image" Target="/ppt/media/image.png" Id="Rc8b6327ff4574cd7" /><Relationship Type="http://schemas.openxmlformats.org/officeDocument/2006/relationships/notesSlide" Target="/ppt/notesSlides/notesSlide1.xml" Id="Rde1388e324d346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8e5a8af3a9453c" /><Relationship Type="http://schemas.openxmlformats.org/officeDocument/2006/relationships/notesSlide" Target="/ppt/notesSlides/notesSlide2.xml" Id="Ra58b2804fa3245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b9df56f1d1440b" /><Relationship Type="http://schemas.openxmlformats.org/officeDocument/2006/relationships/notesSlide" Target="/ppt/notesSlides/notesSlide3.xml" Id="R5c0b6a6de4ca47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940580a1c04323" /><Relationship Type="http://schemas.openxmlformats.org/officeDocument/2006/relationships/image" Target="/ppt/media/image2.png" Id="Rcd646023163946e5" /><Relationship Type="http://schemas.openxmlformats.org/officeDocument/2006/relationships/notesSlide" Target="/ppt/notesSlides/notesSlide4.xml" Id="R527c437c641a45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205de35b204a14" /><Relationship Type="http://schemas.openxmlformats.org/officeDocument/2006/relationships/notesSlide" Target="/ppt/notesSlides/notesSlide5.xml" Id="Rc34a5454588947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51d49e14024b28" /><Relationship Type="http://schemas.openxmlformats.org/officeDocument/2006/relationships/notesSlide" Target="/ppt/notesSlides/notesSlide6.xml" Id="R773f795db26148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371038844a4e6d" /><Relationship Type="http://schemas.openxmlformats.org/officeDocument/2006/relationships/notesSlide" Target="/ppt/notesSlides/notesSlide7.xml" Id="R7cd3ed67309048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c2695a1a4a41f5" /><Relationship Type="http://schemas.openxmlformats.org/officeDocument/2006/relationships/notesSlide" Target="/ppt/notesSlides/notesSlide8.xml" Id="R6146518ec07942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be9552f91f4329" /><Relationship Type="http://schemas.openxmlformats.org/officeDocument/2006/relationships/notesSlide" Target="/ppt/notesSlides/notesSlide9.xml" Id="R730a2f5a35864f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1ca56b78724502" /><Relationship Type="http://schemas.openxmlformats.org/officeDocument/2006/relationships/notesSlide" Target="/ppt/notesSlides/notesSlide10.xml" Id="R3ad4604f00504f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814e5b4fb54c5f" /><Relationship Type="http://schemas.openxmlformats.org/officeDocument/2006/relationships/notesSlide" Target="/ppt/notesSlides/notesSlide11.xml" Id="Rf229053c4bf64c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85b50f9c1e4dbd" /><Relationship Type="http://schemas.openxmlformats.org/officeDocument/2006/relationships/notesSlide" Target="/ppt/notesSlides/notesSlide12.xml" Id="R90becd0ec7aa42d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86d6a9136447c0" /><Relationship Type="http://schemas.openxmlformats.org/officeDocument/2006/relationships/notesSlide" Target="/ppt/notesSlides/notesSlide13.xml" Id="Rdafc62aaca3642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02f86f3ea0401d" /><Relationship Type="http://schemas.openxmlformats.org/officeDocument/2006/relationships/notesSlide" Target="/ppt/notesSlides/notesSlide14.xml" Id="R59a219c0515b41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7c0fef42604486" /><Relationship Type="http://schemas.openxmlformats.org/officeDocument/2006/relationships/notesSlide" Target="/ppt/notesSlides/notesSlide15.xml" Id="R569e0129bfef44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d7f3fce4ec452f" /><Relationship Type="http://schemas.openxmlformats.org/officeDocument/2006/relationships/notesSlide" Target="/ppt/notesSlides/notesSlide16.xml" Id="Rced7d71b3df7402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dc9d9a296b4c67" /><Relationship Type="http://schemas.openxmlformats.org/officeDocument/2006/relationships/notesSlide" Target="/ppt/notesSlides/notesSlide17.xml" Id="Rca16a3940f1f403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9a6ba37108426d" /><Relationship Type="http://schemas.openxmlformats.org/officeDocument/2006/relationships/notesSlide" Target="/ppt/notesSlides/notesSlide18.xml" Id="Raeca01ada6c848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98667ca67e4279" /><Relationship Type="http://schemas.openxmlformats.org/officeDocument/2006/relationships/notesSlide" Target="/ppt/notesSlides/notesSlide19.xml" Id="Rded2136e52664b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b0d0d1f2014996" /><Relationship Type="http://schemas.openxmlformats.org/officeDocument/2006/relationships/notesSlide" Target="/ppt/notesSlides/notesSlide20.xml" Id="Ra24f44a82c514d9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c474b093cb4847" /><Relationship Type="http://schemas.openxmlformats.org/officeDocument/2006/relationships/notesSlide" Target="/ppt/notesSlides/notesSlide21.xml" Id="R1d2c6dfea35844a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e3e1e4839644e9" /><Relationship Type="http://schemas.openxmlformats.org/officeDocument/2006/relationships/notesSlide" Target="/ppt/notesSlides/notesSlide22.xml" Id="R30ceef57555e419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cb593145d475b" /><Relationship Type="http://schemas.openxmlformats.org/officeDocument/2006/relationships/notesSlide" Target="/ppt/notesSlides/notesSlide23.xml" Id="R97588908f2e049d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5dbdc825fb4d81" /><Relationship Type="http://schemas.openxmlformats.org/officeDocument/2006/relationships/notesSlide" Target="/ppt/notesSlides/notesSlide24.xml" Id="R1a98d47ed7024fb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ae8da628644482" /><Relationship Type="http://schemas.openxmlformats.org/officeDocument/2006/relationships/notesSlide" Target="/ppt/notesSlides/notesSlide25.xml" Id="Rf6108e4a8fcc44f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296f74a41e4e12" /><Relationship Type="http://schemas.openxmlformats.org/officeDocument/2006/relationships/notesSlide" Target="/ppt/notesSlides/notesSlide26.xml" Id="R4e2a7463528c4fc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618351c5184420" /><Relationship Type="http://schemas.openxmlformats.org/officeDocument/2006/relationships/notesSlide" Target="/ppt/notesSlides/notesSlide27.xml" Id="R2c816828cbe8436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e71bcfd5b42dd" /><Relationship Type="http://schemas.openxmlformats.org/officeDocument/2006/relationships/notesSlide" Target="/ppt/notesSlides/notesSlide28.xml" Id="R9263f6e3a12640f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30268935534829" /><Relationship Type="http://schemas.openxmlformats.org/officeDocument/2006/relationships/notesSlide" Target="/ppt/notesSlides/notesSlide29.xml" Id="R50d283edb9264e7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0650c7362c4b4d" /><Relationship Type="http://schemas.openxmlformats.org/officeDocument/2006/relationships/notesSlide" Target="/ppt/notesSlides/notesSlide30.xml" Id="R0ba793db132c4b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6A242-F2E4-4EDC-B90B-DBE0311E43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6327ff4574cd7"/>
          <a:srcRect xmlns:a="http://schemas.openxmlformats.org/drawingml/2006/main" l="27723" t="0" r="277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0"/>
            <a:ext cx="5429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92CDD5-C06D-4BD0-AEA5-D469A50D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81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1B">
              <a:alpha val="93725"/>
            </a:srgbClr>
          </a:solidFill>
          <a:ln xmlns:a="http://schemas.openxmlformats.org/drawingml/2006/main" w="0">
            <a:solidFill>
              <a:srgbClr val="15121B">
                <a:alpha val="93725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CA493-84A4-4DDA-941B-74804DF9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61266-8521-40B0-BE76-5819419A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F46CD-922F-4573-8D46-D3562A84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01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GROWTH BLUEPRINT /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D4412-E998-4DCF-83FD-6DC9A49C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71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D4F01-703C-4B56-B519-00CAC0FE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DF53F-D610-4835-B914-CE9573F5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From category claim to category 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62237-CAEC-41D1-8D75-54F30CC5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1505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INTERNAL REVIEW DRAFT - HUMAN APPROVAL REQUIRED</a:t>
            </a:r>
          </a:p>
        </p:txBody>
      </p:sp>
    </p:spTree>
    <p:extLst>
      <p:ext uri="{BB962C8B-B14F-4D97-AF65-F5344CB8AC3E}">
        <p14:creationId xmlns:p14="http://schemas.microsoft.com/office/powerpoint/2010/main" val="15608054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756A3B-B092-42DE-95C8-EE67F3D0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D7D60-DACB-4CE6-9A2B-6317C608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brief isn't 'build more brand awareness' - it's 'find what only KatKin can prove'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F0D4B-135A-49BE-9B95-491CA778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2EAF5-272C-4F3E-BC2F-463F6024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9612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Wrong question: how to out-spend or out-create competitors on reach, given KatKin already runs 300+ active paid-social ads and ships roughly 114 new creatives a week. Right question: what can KatKin claim permanently that a funded rival cannot replicate in one ad cycle, and does that claim still work once personalisation disappears at retail. This Blueprint answers the diagnosis and activation sequencing; full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7F703-DA84-449D-A48E-172991D2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18DE2-FCEE-4191-99D2-0CC8C4FC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9D064-7B9D-467E-9B42-87B077C4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81325"/>
            <a:ext cx="1381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0DE60-C93B-4B8C-8639-680A39C6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86125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Move from awareness as an input to authority as the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773A9-C11E-4CCC-AF8D-7ED057A4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D4979-246D-40D7-9A6D-A383BB43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Redirects the CMO mandate from spend-led awareness building toward asset-led differentiation, changing what gets resourced next quarter.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7FC42-AA11-4DE4-9567-9FF44300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T1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0BD4F-25C0-4D0E-8823-F16D32A6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83886-264C-41A7-81BA-6BD2377E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02A3C-8A79-4AE1-9009-B2787A5E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02 / 30</a:t>
            </a:r>
          </a:p>
        </p:txBody>
      </p:sp>
    </p:spTree>
    <p:extLst>
      <p:ext uri="{BB962C8B-B14F-4D97-AF65-F5344CB8AC3E}">
        <p14:creationId xmlns:p14="http://schemas.microsoft.com/office/powerpoint/2010/main" val="15383920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05A883-9B66-4B16-96F9-3B7FD770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THE PROOF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4C057B-C2B0-4E30-8507-D26D1724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Five forces are closing the window, and none are solved by more paid reach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13463-E871-4F97-B5E9-BDEFFBCD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49497-F86E-4435-9E13-8E9EB789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E1F7F-F052-4378-965A-88FB1B86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SAMENESS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AAC17-9518-46B5-9E7F-1AC83A13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907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Shared functional language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B434EA-64EF-4205-81AC-3D1B573D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02A8E-EC6D-49C3-9BD0-6C544980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7E81C1-A4EB-4D27-A405-AF2637E1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Organic and AI search shift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78028-E553-431C-B852-C46B4B87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2405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5FEAE-5CA1-4F09-BBB4-29D37657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FE8D51-29DF-4A5F-A760-3394C118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907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Paid creative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4B562-F0F5-48F8-A69F-D34B5E68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2900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3CE1F-8D86-4DBB-9057-E3FC3591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0045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F7098-0343-4704-8C19-601B22A4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9572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Build a loved brand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2472C0-AF07-40F6-9203-55FAE9FA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05050"/>
            <a:ext cx="3009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C3EA3-33B5-4567-95DA-0AA6DDE3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PRESSURE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EC3304-435F-4B45-958E-3440D91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099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Category functional language has commoditised across DTC entrants. Discovery is shifting toward organic and AI search, where a lower-funded rival currently leads. Paid-social costs keep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52D531-D642-45D0-A7F0-B8029AD0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515323-04B6-4772-BCEC-4F5A1FB7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Establishes urgency to act within the current planning cycle, directly tied to a loss-making position that shortens the decision window.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7932E4-1B9D-4127-AE0A-7C77EF1B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S1B, S1C, S3, S5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00E39C-B4B2-4475-B291-139C79C2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INTERPRETATION + VERIFIED FACT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5D576E-0290-41C2-9509-C981340A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0594FC-8970-4717-B8ED-677D360A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03 / 30</a:t>
            </a:r>
          </a:p>
        </p:txBody>
      </p:sp>
    </p:spTree>
    <p:extLst>
      <p:ext uri="{BB962C8B-B14F-4D97-AF65-F5344CB8AC3E}">
        <p14:creationId xmlns:p14="http://schemas.microsoft.com/office/powerpoint/2010/main" val="10342288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CC3D4-B95C-4D5F-AC77-87DD78F2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THE PROOF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009A5-2F83-4F4A-8119-68C5158F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Every brand says the same thing; only one has the published proof to say something else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127A3-D807-423B-B016-FD6B0DDB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5AC9D-B5FC-4623-A395-EAF8FEFCF9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46023163946e5"/>
          <a:srcRect xmlns:a="http://schemas.openxmlformats.org/drawingml/2006/main" l="4172" t="0" r="41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714500"/>
            <a:ext cx="5429250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10B97-549F-4752-ADE5-8903B1C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5486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091FA-271F-4414-99C0-A088E23C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HARD PART IS ALREADY DONE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0FE390-8490-4EDA-83DA-556CE07E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4191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Across DTC competitors, 'real meat, no fillers, vet-formulated' is now shared vocabulary - Untamed uses it near-verbatim on a fraction of KatKin's funding. No competitor has claimed independent, peer-reviewed proof as owned territory, because publishing research is slow and costly - which is exactly why it is defensible.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2EC61-CCCD-440E-A2F2-C66AB1C2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D556F-B63C-4BC8-B854-7CA56616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Converting this gap into owned territory could reduce reliance on functional-claim parity and support earned, not only paid, discovery - a mechanism, not a guaranteed outcome.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674E9-C843-413D-A0B4-E7D9E278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B79CF-F8D3-4216-93EF-7B7ECE92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INTERPRETATION + VERIFIED FACT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0C6FA-5FE2-4710-AF4C-670FF79F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569B32-49B3-4DBE-89D0-DA5AF273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04 / 30</a:t>
            </a:r>
          </a:p>
        </p:txBody>
      </p:sp>
    </p:spTree>
    <p:extLst>
      <p:ext uri="{BB962C8B-B14F-4D97-AF65-F5344CB8AC3E}">
        <p14:creationId xmlns:p14="http://schemas.microsoft.com/office/powerpoint/2010/main" val="17771487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61B97-01A9-4EF8-AE00-DF53E76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THE PROOF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B1CC1-66B8-4DC9-99AA-BD731761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 did the hard, expensive part of proof - and is marketing the easy, copyable part instead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F4E58-6C39-44AD-8066-63B29543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81E0D-F71D-43E8-A076-4305C08A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WHAT OWNERS SEE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82E16-0B83-4A5D-9F3C-B4078269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Confident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41260-6C9F-463F-B47C-B6318C11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Fresh. Real meat. Vet formulated.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1C09D8-9049-494F-8CA7-F0D4D974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76450"/>
            <a:ext cx="1562100" cy="1562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70500-FF16-4B40-894A-C69BB224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19375"/>
            <a:ext cx="99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GAP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474A2-9FD7-481C-B8F0-7EC2019A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WHAT KATKIN CAN 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D7DCE-7216-450E-807B-2DC51F0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Independent science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B3C47-2DAD-4046-A7C5-F6A7BA2F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tension at the centre of this Blueprint: owners are shown assertion-led claims when KatKin's real edge is evidence-led. Whether consumers reward independently verified proof over confident assertion, at the speed of a retail glance or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533CD-B6A9-4D39-97DC-BF0889FE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056A75-2521-43B2-AFDA-408C5B51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Forces an explicit choice before committing production budget: build around proof (higher differentiation, higher validation risk) or stay on shared claims (lower risk, no new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B8062-C9DA-4F40-911C-A5C70C1C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CBE9DA-1122-40ED-9893-40F5F339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A12DE-7AE3-47EE-83A1-A4722D08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FDB1F-F143-4F82-9944-8B876860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05 / 30</a:t>
            </a:r>
          </a:p>
        </p:txBody>
      </p:sp>
    </p:spTree>
    <p:extLst>
      <p:ext uri="{BB962C8B-B14F-4D97-AF65-F5344CB8AC3E}">
        <p14:creationId xmlns:p14="http://schemas.microsoft.com/office/powerpoint/2010/main" val="7535329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5C4354-4654-4F05-B674-2EE0C605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THE GROWTH AUDIENCE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C4B90-672D-460B-9959-C1EC71EA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KatKin's loudest signal reaches the one audience it has already won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667F0-9AC0-4410-A907-E9C9EEDE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0AB77-C931-456F-AA66-A2682D22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3ADE4-8964-4464-8F66-70B039CD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AD96E-3B08-4C53-9156-906A9CC1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F6C93-9DBE-43A7-9E92-B5324627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over-resourcing creative for an audience that is already converting, at the expense of the two pools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98A1BD-15C8-4DF8-87EF-C3E94965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99D91-B923-4B88-9359-B072417F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85B5A-C75F-4EC2-8A62-F4A429EA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CONVERT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EEE62-D479-435D-B082-32522BB1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Current messaging centres the committed DTC subscriber who completes a quiz and receives a personalised plan - the audience already captured. Growth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D924E-EDF9-4E95-977A-63A8ECC0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783688-0796-49FB-9D0B-9E005CC2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A41912-32CE-49E6-8DC0-57E15159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MAINSTREAM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E7D16-0ADA-4502-B2FC-F87DC0ED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over-resourcing creative for an audience that is already converting, at the expense of the two pools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EC0776-2511-4167-B71E-9CD23D0B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CE893C-59E2-4B16-AAF9-39A7CFBD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Prevents over-resourcing creative for an audience that is already converting, at the expense of the two pools carrying the real growth prize.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053551-0CD9-4E16-A281-22047A93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468CAA-988D-4D88-AF22-4AFA840B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676020-5A13-4094-BD90-9F2E2C77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EEA05E-0D9F-4FA4-9AD8-31DDF67C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06 / 30</a:t>
            </a:r>
          </a:p>
        </p:txBody>
      </p:sp>
    </p:spTree>
    <p:extLst>
      <p:ext uri="{BB962C8B-B14F-4D97-AF65-F5344CB8AC3E}">
        <p14:creationId xmlns:p14="http://schemas.microsoft.com/office/powerpoint/2010/main" val="19217124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2A589C-76AF-4260-AFD9-7AA50923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THE GROWTH AUDIENCE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31C63-C4D7-41A9-A1EC-1C8FC96D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Three growth pools need three different jobs from the same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FD1870-D939-47D5-9DDC-06C69B00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4A9D0-4C09-4C28-AFE3-B5447F70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E1E94-ECBE-4B4A-B8EB-4F3822B9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02FAC-4512-43C6-AEFC-644A9D0A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F5CB1-BAA8-4FA9-AFBA-F62F47EB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Directs investment sequencing by evidence confidence, not assumed importance - the mainstream pool should 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105AE-C844-4837-ACB8-E1459BBD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C8259-83C0-4CEA-A5CF-B6A4BE97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A43666-4DFF-42E9-A45A-C5785D0A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CONVERT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0DBACC-17AB-4A97-ADED-C8EE1AAD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 (observed): motivated by proof and a cat-as-family belief, already paying a premium. Affluent retail converts (partially observed): buy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CBCED-A307-4585-B3B9-F282D793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85E11-E825-489A-B92C-CE9AAA88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93B58B-F345-4453-969A-9F390498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MAINSTREAM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7B0BC-312D-4684-A5C7-A035C828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Directs investment sequencing by evidence confidence, not assumed importance - the mainstream pool should be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147988-F1A9-476D-BC6A-12C85B37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6FBB4-B123-4368-B9D1-EAF419B1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Directs investment sequencing by evidence confidence, not assumed importance - the mainstream pool should be validated before media spend is committed to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B2CF3F-BA89-4DEA-AE1F-409559FC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3EF70-F19C-4FAE-9FF1-D546C0BD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30DBB2-08DD-458D-A05E-B04742C7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6760DC-261D-42C7-9D1A-0104FEB4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07 / 30</a:t>
            </a:r>
          </a:p>
        </p:txBody>
      </p:sp>
    </p:spTree>
    <p:extLst>
      <p:ext uri="{BB962C8B-B14F-4D97-AF65-F5344CB8AC3E}">
        <p14:creationId xmlns:p14="http://schemas.microsoft.com/office/powerpoint/2010/main" val="8823195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650C1C-3093-4C75-A948-68AC9E2D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THE GROWTH AUDIENCE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5D4C5-1DEC-4CA1-A326-63280408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trust-builder that works in a DTC quiz cannot survive three seconds on a shelf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91866-1516-4501-ABAE-6A73D510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B1258-76E0-4911-8649-EE614BD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00EF5-1921-4AAD-AC0D-0A3709E1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49486-A1E4-4E58-80E0-CF39E927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DFD87-7853-40B7-9D2E-FA396B50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a single creative asset being asked to do five different jobs; each stage gets its own measurable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48D7E-D721-4A20-8904-8A4B8B93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050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96439-ADE8-47FC-90D0-A84ABE34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336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4D0FFE-ADA1-48F3-8A33-C22C4C32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717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29A093-4C1E-44DA-9ED7-FDD24092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623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Mapped by mechanism: discovery happens mostly through paid social and, for competitors, organic and AI search; consideration and trust-building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ADC6DC-F44E-497E-A203-CCFB118F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574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41E86-60A0-4D85-B014-954FB480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860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C1705-BFE7-4785-8465-E8344930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241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REPEAT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4A689-E053-4823-B279-5A2E3EAB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147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a single creative asset being asked to do five different jobs; each stage gets its own measurable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0B705D-41BB-4F09-93DF-3FD4D5A8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92D8A7-D76D-4BCA-84BE-7D7FFD7B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Prevents a single creative asset being asked to do five different jobs; each stage gets its own measurable mechanism and owner.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D433B-137C-4502-A196-2CFCC3B0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S6, S7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F1CDF8-E6B8-44E6-B9BE-B18D4351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3A032-51AD-466C-B9A3-9B243AD7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CC97BA-DC41-487F-8E61-D7D2657C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08 / 30</a:t>
            </a:r>
          </a:p>
        </p:txBody>
      </p:sp>
    </p:spTree>
    <p:extLst>
      <p:ext uri="{BB962C8B-B14F-4D97-AF65-F5344CB8AC3E}">
        <p14:creationId xmlns:p14="http://schemas.microsoft.com/office/powerpoint/2010/main" val="4519543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B64536-608A-4456-87E6-2735ED7B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14CFB-257F-4910-A9BD-C0E0B932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 one: what KatKin stands for - proof, not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A59EAC-F6E8-4697-89A3-7DB40261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7ADD7-2FBA-4D17-9DC8-8730461A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5E33D-C14E-49FC-A8B0-27FF6972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3ACF4-C83E-4733-A65C-90A74930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A6900-8A5A-4AB6-9070-9E80AB5D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D22F5-382A-42F9-A3EB-90DB9E42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0A4DF-0AF9-40C7-8EBC-AD021A89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C8FF6-9E1B-47F3-9995-56AE7E39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11FEA9-48DD-4475-8A98-BFC4E95A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1AC1D9-9CA9-42D0-B781-DCB20F79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06D96-D27D-4B95-8F65-2805934F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50B5B-29F8-48E4-B396-6EF44043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39B4B2-700F-4CB0-A201-FC73B920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0DD80-820B-45E3-A70C-0C8ADB4F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58ECFD-4EC7-40B3-96C3-30BB2CB1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Gives every team one falsifiable sentence to brief from, replacing today's message drift across paid, CRM and retail.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71EBB-EA19-4677-9EAC-CF2426A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4AB94-E751-463D-B1D1-EF0F5624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 + INTERPRETATION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9C52A5-6BE3-4452-B282-C9587E5C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C86CDF-6FAE-4A5F-8675-AAB17DBA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09 / 30</a:t>
            </a:r>
          </a:p>
        </p:txBody>
      </p:sp>
    </p:spTree>
    <p:extLst>
      <p:ext uri="{BB962C8B-B14F-4D97-AF65-F5344CB8AC3E}">
        <p14:creationId xmlns:p14="http://schemas.microsoft.com/office/powerpoint/2010/main" val="20909329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DA70AD-C7ED-4563-9445-ED356DC7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57BC7-8517-4843-A1A8-EE476C90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 two: what the owner should feel - confidence, not persuasion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ABB23-7522-421A-B281-640D0125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49F33-9B1B-4E2E-B95C-85890CED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347A7-07D1-4AF7-8887-0BC60D9D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BEE7E9-666F-4620-BE63-B55A2592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B44A8-3011-4478-95C4-AC7AEE5A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461FA-D999-446D-ABDC-9355BC9A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49629-DC96-4588-87C0-2CA606B9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816B6-C07F-4944-8DF8-4F52F1DD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56A90B-37DD-4510-B394-3C467467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0E60A-76A1-400C-8920-BD474BE0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A10BA-C554-4D62-94C8-92D5EEAE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4C6FC-CED6-4A6D-A9E6-5E8C232D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C2101-DD74-47F3-84AF-3BDC0BDD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727E3-4266-46CF-8EB6-331078ED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26296B-F45D-4EDE-8E4E-CC951692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If validated, shifts creative briefs from 'prove the food works' to 'prove you don't need to take our word for it' - a different commercial case for performance-marketing teams.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614275-5333-4C2E-8E34-A3670205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S2, S4,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149E3-E602-4BDC-A175-C2F46171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 + 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5420A1-2378-487C-AFAC-C357D21D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51CC7E-371E-4F06-BDF4-A4B530C2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10 / 30</a:t>
            </a:r>
          </a:p>
        </p:txBody>
      </p:sp>
    </p:spTree>
    <p:extLst>
      <p:ext uri="{BB962C8B-B14F-4D97-AF65-F5344CB8AC3E}">
        <p14:creationId xmlns:p14="http://schemas.microsoft.com/office/powerpoint/2010/main" val="15899303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B66C9-D541-477E-B22B-25739DFB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3F88D6-34B7-4F9F-B60D-8D68B725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Decision three: the story that carries it - 'The Science Cats Deserve'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170BE-6C0E-4B13-BB3D-48936F17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A14FC-C1FA-460B-9447-588B0F73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3E5BB-1A2B-4A5E-A98A-E83A0640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9378E-90A2-481D-9CC0-23D13C21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FEEA-71EE-4706-8E14-DB6BEF06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category asks owners to trust claims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C527E-0C89-4ABD-B5FF-AC93AC58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7D729-64C0-46EA-BB27-833F40C4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59EA1-DD57-49DE-9905-0F851603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676C35-D672-485C-9EE9-5C99420D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 makes proof the starting 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97F010-2E93-41E9-8002-2B124B34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2BEB77-B8C2-4251-ADE7-42E29052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58A21D-9316-4F20-8D73-8E0116B2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RESOLUTION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DF789-82A9-48E2-9B82-07EB31E1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Independent science carries the 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946A6-1E02-49DC-BEFE-5975D0E9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619625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4042E-CDD9-4260-91EE-6350E466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AE5EE5-E983-4428-9E61-A02034A1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One flexible story could reduce reliance on the current high-volume weekly creative production needed to sustain differentiation, if the shelf and CRM translations hold up under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C4289-F5B0-48AB-BF26-EE41F724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CAAB3E-60AA-42C0-BB97-0D2F9AA8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54FE49-A4FF-46AD-BBB9-6C47A2C4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EE9CA8-4A7C-42B0-A061-EE234E2A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11 / 30</a:t>
            </a:r>
          </a:p>
        </p:txBody>
      </p:sp>
    </p:spTree>
    <p:extLst>
      <p:ext uri="{BB962C8B-B14F-4D97-AF65-F5344CB8AC3E}">
        <p14:creationId xmlns:p14="http://schemas.microsoft.com/office/powerpoint/2010/main" val="7108684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711D85-A297-4F06-B9E6-4BCDE118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B1224-6D15-4B2B-A893-A538A739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Decision four: how it shows up unaided - one proof, three executions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E0309-F72E-40BE-A0C7-B6157895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17BD9-23CA-4A7B-AC2A-21A916A7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MASTER MESSAGE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B7D05-23D9-455A-BD3F-50616509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Nutrition proven, not promised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B2E2D-8B23-419D-B54D-C9F0E7C2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4B2EB-34AB-40DE-9965-0BDC21CB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PUBLISHED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5ADEF-1551-4E6D-8914-3C276C9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Peer-reviewed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28466-5365-4A55-98DD-5EB34855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FORMULATED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59D9E-12B4-4177-8ED2-454C4945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1467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Board-Certified Veterinary Nutritionist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26CBB-DBD1-4C80-A34B-519791F4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00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FB942-88BA-43F0-BE95-127E68A7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14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Vertically integrated production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D5BCA-8A7C-46B5-85DD-DCF4A219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Master message: nutrition proven, not promised. Proof layers: published in a peer-reviewed journal; formulated by a Board-Certified Veterinary Nutritionist; vertically integrated production. Objection to pre-empt: isn't 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1C267B-5E29-40A5-80E0-63D85821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4658B0-C91F-48C5-A2D1-57BE0269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Equips CRM and retail teams with one shared brief instead of two diverging narratives, reducing coordination cost between DTC and retail functions.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80E8D6-94E9-42F2-8B5F-4023D1C7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BC5D5-149D-440B-8C62-8D6250AB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38A6CC-8E1A-461F-989E-5E709218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F4FC04-CEBA-469D-A815-AE668D8A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12 / 30</a:t>
            </a:r>
          </a:p>
        </p:txBody>
      </p:sp>
    </p:spTree>
    <p:extLst>
      <p:ext uri="{BB962C8B-B14F-4D97-AF65-F5344CB8AC3E}">
        <p14:creationId xmlns:p14="http://schemas.microsoft.com/office/powerpoint/2010/main" val="1473827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7E3B64-9827-4FF7-85C2-C30A3381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F8CBC-07F2-4945-9EED-4720E612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prize is pricing power and cheaper growth - not simply more reach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C4A15-0D21-4055-8485-323EAC71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9737D-E514-4EEB-A07E-757BAEFC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AE608-38DF-47AF-8B7A-53B8A03E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EARNED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EAAF9B-2B06-45DF-85A2-8C7222A9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citable point of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B6D94-E0BB-47A0-BFFC-2674491D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42BB3-8E8D-4C62-BFF2-84D1B3BB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9D2C8C-2270-4A5B-8914-36C29189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Premium proof at shelf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56287-974E-44BA-AE60-1E23669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8B9DC-CEE6-415C-B664-FA1F04DE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19A06-EE38-4B81-B483-EA9B7A23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Segmented confidence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7A1CC1-7867-4C84-A4BE-19610FC4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50E98-1D84-4F8C-B209-202B2121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INVESTOR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9B513-4974-4706-82ED-B5586BF7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Earlier leading 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AA36C-18E2-44D4-BA28-B31389B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856211-9C9C-407D-B9E5-82266593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Frames the shift in terms investors already track - pricing power and CAC - without asserting unverified numbers.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32ED6-4368-417F-B875-5567B1D5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S2, S5, S8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4FFCD8-1FB6-4B45-9BD9-07ACCD5D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THIRD PARTY ESTIMATE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FFF209-35DF-41E5-9D92-BB9F3821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D540A-FA7D-4ACA-AF46-96C16EC6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13 / 30</a:t>
            </a:r>
          </a:p>
        </p:txBody>
      </p:sp>
    </p:spTree>
    <p:extLst>
      <p:ext uri="{BB962C8B-B14F-4D97-AF65-F5344CB8AC3E}">
        <p14:creationId xmlns:p14="http://schemas.microsoft.com/office/powerpoint/2010/main" val="13213805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C42D8E-8EF7-4B00-8A0A-13BB20BC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6BC7F-144F-46EC-B519-87269CC4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has three seconds to do what CRM does in three emails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96219-F22F-430D-A8B1-E1898F56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0F178-6147-415B-AEE3-A18CD097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DTC QUIZ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9DA80-39BA-45F2-AB9D-DD4BB022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Discovery and education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5C793-C010-423E-9F69-B90487E4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14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Personalised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8A455-662C-4C10-891E-03BF5D36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A7E43-E828-4FB1-A385-60E88049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6D6007-08BA-4EF5-A89A-05D44EE7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241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Trust and retention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14E7F1-B8E6-45BE-8D79-DEB30C1E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622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First party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6BB8B-DAAE-4F1A-B48A-05DC6EBC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2C3DA-D361-430C-B407-20D192E9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896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C6F50-8FCC-4BBD-A6CD-FB24F007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5EB2A-6F80-49DD-970D-C22C14CD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718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07177C-2E5A-4BA4-8AB0-6EAC8256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Unaided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250E83-56BE-4517-805C-A63A4AE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9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24FAB-6282-4C01-8610-D1F9F6A1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EARNED / 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31432A-6329-458A-BCA5-ABC7BCBF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195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Scale discovery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4D67B-01A5-41C3-A5F2-563621C0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Citable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E25B81-9560-432A-A060-9068032D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941651-861A-48B8-920C-214D4AA2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PAID SOCIAL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EDFA54-C78E-455D-8CE4-8A51FA21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672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061537-CE86-42FB-9EE7-560B6153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Rebalanced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075F33-4D33-4E54-8F7B-BE775163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38607D-6577-426F-BE76-315D4DA7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Rebalances channel investment toward mechanisms that can compound without continuous paid spend, directly answering the rising-CAC constraint named earlier.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9B50EC-BC13-4769-AC83-A0F6EB36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S6, S7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CF0A2F-C52A-4834-92C5-CC247FEE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CB6332-45F8-4569-9387-1ECFD36B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562007-D0DD-464E-85A7-5F5BBD25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14 / 30</a:t>
            </a:r>
          </a:p>
        </p:txBody>
      </p:sp>
    </p:spTree>
    <p:extLst>
      <p:ext uri="{BB962C8B-B14F-4D97-AF65-F5344CB8AC3E}">
        <p14:creationId xmlns:p14="http://schemas.microsoft.com/office/powerpoint/2010/main" val="19180975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F491CA-1C57-4B15-A6D7-3CA9BF96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0BF85-B674-4298-93B6-FF7CBB77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Validate before you commit - founder sign-off gates the final narrative lock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27B15-2D07-42D1-83DD-06E094AF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896DC-40CD-47A8-B262-84E76ACB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59C3D-58D9-467B-A9DB-D0908523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1-30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D8234-1441-49E4-93C1-EEDE33A1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DBD579-C0C2-4480-AF35-7B21A63E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pressure-test and evidence audit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158CB-E191-4CF9-9931-644A3C9E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CF4F7-74CC-4B5C-A193-0F37415F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31-60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958B8-6301-461D-888A-DF32A906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18148-1F6F-494F-8914-1D10F9A6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translation and CRM 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427A69-7966-44A6-96C9-30BEE9A2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8E426C-9B48-4C72-A8B5-244E7D8A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61-90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BCBDE-707D-4D5D-8C02-88B46A93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Scale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65C34B-1C6E-4741-9908-21B3570B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 spend only when leading signals move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B517FB-7A43-49A9-BA9E-FBD08B1B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559DA8-B743-4AE2-AE0E-2E25546C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Sequences spend so the cheapest, highest-confidence validation step happens before any retail or creative production investment is committed.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00D7AD-CE2D-479D-AF7C-42044F2E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AE3CED-88D9-46EE-A534-5E75CCD1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D0C0B-0F72-4083-B908-E69E2E8A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C70791-6524-402D-94B2-D3078816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15 / 30</a:t>
            </a:r>
          </a:p>
        </p:txBody>
      </p:sp>
    </p:spTree>
    <p:extLst>
      <p:ext uri="{BB962C8B-B14F-4D97-AF65-F5344CB8AC3E}">
        <p14:creationId xmlns:p14="http://schemas.microsoft.com/office/powerpoint/2010/main" val="155460268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D2B74D-DCF2-47ED-8ABD-760F3D9B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340B9-1560-41E0-A2C7-AFE1D324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Prove the shift is working before revenue can show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7EA34C-127C-425C-AAC6-97945B4C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B5098-CEED-444A-9C15-A6B9671F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6ED6D-3230-4B1D-97CA-2220CE48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LEADING / 3-6 MONTHS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61E2C8-0746-4A2C-B4AB-FA210A31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431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Claim recognition, shelf comprehension, earned search share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4CDD0-BE3B-4542-AB7C-8E13FF82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860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50BD12-0569-4205-A5C6-22BF88E6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9417D-D29D-4949-82ED-C431A464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LAGGING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07E4A-2CC6-423F-BE6B-77AC3DB3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99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sell-through, blended CAC trend, subscriber retention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3AE8D-AB2A-421A-8B2E-0BCC505D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A8C6D-5C2E-4B13-8A04-7CC38BF4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AAA6A-1DBD-4149-90ED-A9F0A7CA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COMMERCIAL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63C39A-92B4-44B8-9538-929CEAA5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6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Price realisation versus discount dependency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F9ABAD-D678-4CC3-9FED-572B75B4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DDC2C-5ED5-41E2-800B-1BB707F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Gives the founder and investors a credible early read on strategy health ahead of the stated runway checkpoint, directly addressing the loss-making position named at the outset.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59EE9-5321-46B2-964A-4DE39707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C48F2-1FF3-45CA-BDEF-200AE01B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C52714-EF3D-4F04-A051-618F7AEF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9D0E22-ABFA-4E2C-8729-CA40711D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16 / 30</a:t>
            </a:r>
          </a:p>
        </p:txBody>
      </p:sp>
    </p:spTree>
    <p:extLst>
      <p:ext uri="{BB962C8B-B14F-4D97-AF65-F5344CB8AC3E}">
        <p14:creationId xmlns:p14="http://schemas.microsoft.com/office/powerpoint/2010/main" val="10220438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3245E-9907-4507-9C0B-3BC276E9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COMMERCIAL PRIZE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AE9B7-6EA0-4634-8DD8-1864AFEB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quantified opportunity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B48BC-0BEA-43C3-85C0-9426BD58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D41ED-9766-42E9-91B2-7EC607D6EA6E}"/>
              </a:ext>
            </a:extLst>
          </p:cNvPr>
          <p:cNvGraphicFramePr/>
          <p:nvPr/>
        </p:nvGraphicFramePr>
        <p:xfrm>
          <a:off xmlns:a="http://schemas.openxmlformats.org/drawingml/2006/main" x="647700" y="1885950"/>
          <a:ext xmlns:a="http://schemas.openxmlformats.org/drawingml/2006/main" cx="10896600" cy="25241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179320"/>
                <a:gridCol w="2179320"/>
                <a:gridCol w="2179320"/>
                <a:gridCol w="2179320"/>
                <a:gridCol w="2179320"/>
              </a:tblGrid>
              <a:tr h="63103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Scenario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Target share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Revenue upside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Contribution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Margin 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Conservative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2.25%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£1.50m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£0.45m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30%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Base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£3.00m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£1.20m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40%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Ambitious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3.00%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£6.00m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£3.00m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E81EF-5DC8-4411-9D85-13B3C5FF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0896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ILLUSTRATIVE SCENARIOS. MARKET SHARE AND CONTRIBUTION MARGIN ARE ASSUMPTIONS, NOT COMPANY FORECASTS.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6A417C-2F6C-49FA-996D-72013AE3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0F5E5-77AB-4815-A6BB-FF610627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0.5-point share gain implies about £3.0m in incremental annual revenue in the base scenario.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CBA9F-14FE-41C3-8D53-166C9924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S8, S1A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B687F-6716-443F-ACED-C34E00A7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ESTIMATE +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28825-F233-4B07-A55B-55E419E6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74D67-B776-41A7-9232-C121972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17 / 30</a:t>
            </a:r>
          </a:p>
        </p:txBody>
      </p:sp>
    </p:spTree>
    <p:extLst>
      <p:ext uri="{BB962C8B-B14F-4D97-AF65-F5344CB8AC3E}">
        <p14:creationId xmlns:p14="http://schemas.microsoft.com/office/powerpoint/2010/main" val="13959021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B2E8F-3565-447F-9304-46E14DB1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COMMERCIAL PRIZE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19741-D2D8-4E16-8FA3-4A98DCE3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What the model can and cannot say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77F618-5659-42A9-9FB8-9455F930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DFB70-C481-4247-BA07-E656D301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4953000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A97DBF-9C39-422A-A889-DF107D70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SOURCED INPUTS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6F7D4-122E-43A9-9300-0E4CC7CD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2619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Estimated UK cat food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DEB1C-0BAC-4C07-9C2C-6D27A126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33650"/>
            <a:ext cx="133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£600.00m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71436-7BAB-40FA-8445-1D75FF50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619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 reported UK cat food market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0DEC8-0464-46E1-98F5-51EB3749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38525"/>
            <a:ext cx="133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C88DE-F3B7-4973-935E-848EC972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638800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6A31BF-E866-4895-A634-ADA0D94B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WHAT REMAINS UNKNOWN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0D29C3-1444-4A51-80F2-D8F5CB55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Implementation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35F44-DB71-405D-B192-4142A21B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Not supplied. Net value and payback cannot be calculated responsibly.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0B7B30-D3C3-4A11-A7FA-EEC40860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43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Required next: actual margin, CAC, retention and scoped delivery budget.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2B689-4268-46F9-BE59-773A1AC3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BF44E-1B37-41C0-9D78-C9CF96EE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Revenue and contribution are scenario estimates; net value remains unavailable until KatKin supplies implementation cost and unit economics.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28810-E79A-4067-AE67-06EC62D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S8, S1A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74708-F9E4-40D1-9986-262F3BA7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ESTIMATE + EVIDENCE GAP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E4B795-A5E9-4707-9AB7-92181C8F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DE9CA9-B266-44CF-8634-26088F2C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18 / 30</a:t>
            </a:r>
          </a:p>
        </p:txBody>
      </p:sp>
    </p:spTree>
    <p:extLst>
      <p:ext uri="{BB962C8B-B14F-4D97-AF65-F5344CB8AC3E}">
        <p14:creationId xmlns:p14="http://schemas.microsoft.com/office/powerpoint/2010/main" val="19864156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A09BD5-FFE8-473B-8CCD-0F27FE11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CREATIVE TRANSLATION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F4D4F3-95A7-4479-81EC-09B8F118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Creative direction: make proof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CE4F4-399F-4924-859F-96D9A9D2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229EB-2C32-43CB-B58F-8642E9D4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CLINICAL PRECISION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DBE3C-6C25-4D1D-9755-ABBECB4D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meets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BE887C-8E76-434F-B354-1E647E3D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INTIMATE CAT BEHAVIOUR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B2057-3C27-47B7-A490-145F31C1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478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86BE36-A2A0-4E41-8A44-E1DABBE2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478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A41DC-F54E-43BF-BAEE-6E685A2A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145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Tight crops and watchful eyes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FE2C4-4E1C-4AF3-A629-C99CA3DC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479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D511D-BEBE-479E-8E67-B25A9D0A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4797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4BE1F-DA9F-4C7C-B67A-E0744BE4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146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marks that show what was checked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8F391-94B8-448A-94F4-8B2E3551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481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CFA31E-5AE3-4CAD-962A-3BFF8429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8481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994DBF-6488-478C-84C0-EE996DDF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14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One coral cue points to the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0A59B-3F11-4185-BE0F-19904A6D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731395-A70F-431F-B7A4-86FA32CA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distinctive world turns the published science into a recognisable visual behaviour, not another nutrition claim.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EA747-5917-4859-9BE6-6BDD6AAB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T1, S2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91C896-14FB-4D2F-83C8-660F64E4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PROPOSED CREATIVE TERRITORY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634A7A-157C-4C2E-AE93-8DC951C7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4E433-B162-4710-A075-D5A0666F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19 / 30</a:t>
            </a:r>
          </a:p>
        </p:txBody>
      </p:sp>
    </p:spTree>
    <p:extLst>
      <p:ext uri="{BB962C8B-B14F-4D97-AF65-F5344CB8AC3E}">
        <p14:creationId xmlns:p14="http://schemas.microsoft.com/office/powerpoint/2010/main" val="10579116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AA5F1-A2D4-48F1-B255-20B54C77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AF56D-A31C-44FC-99FB-CFEEE113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proof has to travel in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85627-81B9-4F68-8375-49EE94F8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1F2ED-ABDF-4C26-B9E5-3E7A7947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476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AB35C-D429-4489-A0C7-B7B9046D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01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3A4BC-2130-4013-933A-7376B2D5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6225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9F1C67-B36F-4061-A7FC-0A6951BA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813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02 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C7D0B-5DDB-499A-994F-0DFC5798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2381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8F334-6FA5-40EC-8AD7-AB1E64D8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33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03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2BF5E-820D-4747-803B-A810AD93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Evidence becomes an acquisition asset only when it is both quick to grasp and deep enough to inspect.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D2A01-7606-4D46-922E-3FA98E18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266AE-D9FE-42FE-8984-1C205085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Lead with one human-readable claim, reveal the published evidence behind it, then offer the full method for those who want to inspect 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927012-A75F-46B7-A5BA-3491353F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896E21-2D18-44E2-9DFD-D80FF44F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30B98-44C3-4CED-AC42-22AB1C2E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1886B3-397E-466D-B5A3-24421997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20 / 30</a:t>
            </a:r>
          </a:p>
        </p:txBody>
      </p:sp>
    </p:spTree>
    <p:extLst>
      <p:ext uri="{BB962C8B-B14F-4D97-AF65-F5344CB8AC3E}">
        <p14:creationId xmlns:p14="http://schemas.microsoft.com/office/powerpoint/2010/main" val="193700107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84D1D5-85C1-4B69-9206-9418F04A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63ACE-AF1B-4E3D-AF28-A63AF8DC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Share gain, not storytelling optimism, drives the upside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5D4C6-5DEA-4486-A190-998520E9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48CED-4E63-4FED-AF84-169CF55A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7B0DC-F855-484D-BB59-C6A7A308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717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8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8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85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0.25pt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2256E-DED4-4699-959D-9754CFD0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≈ £1.5m revenue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9C9E1-1361-4553-A597-20F9330F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43125"/>
            <a:ext cx="24765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EE493E-7DAF-4325-8960-318475C0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8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8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8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0.5pt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D0BEC-03AC-4C89-93BC-50780E6E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81375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≈ £3.0m revenue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8C85A-F148-41A4-A42C-D38450C3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43125"/>
            <a:ext cx="2476500" cy="2762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A7EC0-2166-4623-902D-2F55BF67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717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8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8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8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1pt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1C1B1-C9A1-4224-A5A1-CAB64ECD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81375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≈ £6.0m revenue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964E4-F641-4B25-8AE7-0F24540E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D56B8-7692-47E3-8A82-401FB5B2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Every 0.25 percentage-point move in a £600m market represents roughly £1.5m in annual revenue before contribution assumptions.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6A810B-3354-4AF9-B21B-2AB4C733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S8, S1A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B9C7A7-2EEF-4FE3-ABF4-686762C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ESTIMATE + ASSUMPTION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C32A9-B273-4D28-AC78-799B3961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7812BA-2371-492C-B38F-60D6242C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21 / 30</a:t>
            </a:r>
          </a:p>
        </p:txBody>
      </p:sp>
    </p:spTree>
    <p:extLst>
      <p:ext uri="{BB962C8B-B14F-4D97-AF65-F5344CB8AC3E}">
        <p14:creationId xmlns:p14="http://schemas.microsoft.com/office/powerpoint/2010/main" val="6632624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45BAFB-41AB-4BC8-B946-FE715257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8BB62-67A2-4EF0-9627-5C886218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Three numbers unlock an investable business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29A8D-4D32-4C36-9689-7456543F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FBF38-D0F3-4948-9F42-421F2CFB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238375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DBDB4-B309-4144-A49B-7691FC79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95500"/>
            <a:ext cx="1762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MARGIN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4B588-1136-4233-883F-D8D12CB5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716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Actual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75B54-ECE6-4CC9-A54B-6E14D9E6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027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9AF97-148B-4484-AF3B-B920C875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05125"/>
            <a:ext cx="2238375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BC3AC-87F9-478C-95AB-88BBA5A9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190875"/>
            <a:ext cx="1762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073FD-4D3C-40FC-91BB-8D748B4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Scoped implementation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C88EB-8223-41B6-B86E-5A819CBE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956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2FED2-924A-4504-8B49-04DE9F3F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2238375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B1063A-CA52-4B9F-827F-B7B776D3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286250"/>
            <a:ext cx="1762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RETENTION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9E384-F03E-4AB4-9FB4-A4091419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624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Observed behaviour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06C7A2-F66C-4D09-BB5F-60A17F08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910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35BF58-5385-472D-8E14-03D28457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987DFA-22ED-43D0-825D-262AAEEE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Actual contribution margin, the scoped implementation budget and observed retention are the missing inputs needed to calculate net value and payback.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103E50-C087-4AF1-9121-E79E55B8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F8817D-5C76-448D-9D2F-CBA92A52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EVIDENCE GAP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F53C1F-6F89-4BF4-B5B0-F9BA6FCB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4B002B-638A-49F7-BA60-6BD0C9C5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22 / 30</a:t>
            </a:r>
          </a:p>
        </p:txBody>
      </p:sp>
    </p:spTree>
    <p:extLst>
      <p:ext uri="{BB962C8B-B14F-4D97-AF65-F5344CB8AC3E}">
        <p14:creationId xmlns:p14="http://schemas.microsoft.com/office/powerpoint/2010/main" val="114696425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F8A1F-8DD3-4231-B4EF-991A4AB6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491B9-7571-4D3A-B69F-D324DFB3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creative system behaves like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16E6D-E8BD-4D68-A1E5-620D6955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30671F-56BC-4C4F-91E4-2AD2ED05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14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9525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0497C-DA5B-4916-AE74-700CCB13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18EDA-9C54-41E0-8336-10ADAAA1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OBSERVE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5CC74-9748-4668-8855-1CD6C5BD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Distinctiveness comes from a repeatable behaviour, not decorative variety.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D8EC2-DB93-4C97-BFEB-8F2DDF94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314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9525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5531D-CBB6-43CF-9D86-C65B0D5B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574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FB43E-4C5C-4B5B-889E-EB146BDE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2895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09443-4FF9-42AA-B7BE-382DED56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528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Distinctiveness comes from a repeatable behaviour, not decorative variety.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90196-9998-4B95-90D0-1F96B8FA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43150"/>
            <a:ext cx="314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9525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A965A5-513D-4A1C-B436-F701B3C9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289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8FE98-38D8-4F95-9CCA-1755110B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004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88125-092F-4652-850F-B60BCA9C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2427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Distinctiveness comes from a repeatable behaviour, not decorative variety.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AB00E3-30B0-4A68-89E1-4C47AC26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01F729-78CC-491F-9F62-327287E3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Observation draws the eye; an explicit evidence mark shows what was checked; one coral signal carries the proof across formats.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C6680-D3C3-4283-982C-494C29B2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4EF798-B718-4365-87DC-5C8802EE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PROPOSED CREATIVE TERRITORY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5CC53-87EB-4752-832C-8E2B96CA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6D284F-1D13-4AF0-BA15-AE8B2FFC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23 / 30</a:t>
            </a:r>
          </a:p>
        </p:txBody>
      </p:sp>
    </p:spTree>
    <p:extLst>
      <p:ext uri="{BB962C8B-B14F-4D97-AF65-F5344CB8AC3E}">
        <p14:creationId xmlns:p14="http://schemas.microsoft.com/office/powerpoint/2010/main" val="21198561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74B9F4-F6F2-4991-A1DB-3589C90D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A82F36-8E29-4319-96CA-FD439131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One proof, translated for each decision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FD62A-CF85-4835-9AFD-8484795D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AD884-DEFB-484E-AA84-AC57CA49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154FC2-5228-4C73-B6A1-9E2312C2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8FF7A-D64C-4AFA-8755-051DA6BD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90800"/>
            <a:ext cx="6715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667642-7658-43AE-B7D5-1B2190B7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42793-F7CA-442E-9DF7-582861DF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71850"/>
            <a:ext cx="561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65C04-056D-473E-A350-11D3814C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433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EARNED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02BAA-9FA2-49EF-AE87-64B6457E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152900"/>
            <a:ext cx="4524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1C617-746A-454C-BAD8-2CC36B73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243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PAID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13A34F-74D6-4B05-99F0-9560C47F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Retail needs instant comprehension, CRM can reveal depth, earned media needs a citable point of view and paid social should create the first moment of intrigue.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86F75-271A-42C1-BF87-A18D3617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4CACD-E187-4BF8-9BDA-6C9C926B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needs instant comprehension, CRM can reveal depth, earned media needs a citable point of view and paid social should create the first moment of intrigue.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465E71-2A06-4D8B-9BFA-1E50F38F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S6, T1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3A04C-4A77-4899-A4D8-7B2DEDA8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A395E-37D8-466A-9AA7-44A35AE3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09C6DE-5E2B-498E-AD4B-523D787F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24 / 30</a:t>
            </a:r>
          </a:p>
        </p:txBody>
      </p:sp>
    </p:spTree>
    <p:extLst>
      <p:ext uri="{BB962C8B-B14F-4D97-AF65-F5344CB8AC3E}">
        <p14:creationId xmlns:p14="http://schemas.microsoft.com/office/powerpoint/2010/main" val="2714773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D0C82-AA3D-415C-B778-7E6D04CB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9B19C-7265-447D-998E-D740E347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Test recognition before buying reach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CC7B-F8CC-4954-A79C-2A84AF0C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90242A-C5D2-4E7E-8DB4-2C15C9CD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385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070B8-E196-4CFF-B43A-5F1516E4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462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BC664-3DC6-46D5-BB05-8299023F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241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C44F6-6C8C-44AE-9F45-DBD1EE4B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FOUNDER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863D9-469C-439F-BD6B-546B13F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1462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A4DD0-C7D9-4D19-B79D-426767BB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241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67B72-5E90-4D84-B536-4369D0BB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0481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C74125-0FBB-4B1B-B9E6-CA7FCCF1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BDAA7-34D5-40E1-A491-6BDA9FB3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241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89672-A3CA-4E68-AB05-DCBAD210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481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501F3-D267-47E3-BEA9-848CA59E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Scale only after the proof-led idea improves leading indicators without weakening conversion.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7F890-6391-4207-8F8D-6CA0E894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A37C4C-33DE-4C52-AA8C-84CDB261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Run a founder pressure-test, a retail comprehension test and a controlled CRM pilot before moving material media investment.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6983A-0823-411E-B195-84767FE0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63D7FC-0CA9-4FB6-AC5D-F384CC9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TEST 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15AE96-1DD4-497E-8C64-59BD7138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7BEDC-6556-42A0-A3BB-2B9001AA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25 / 30</a:t>
            </a:r>
          </a:p>
        </p:txBody>
      </p:sp>
    </p:spTree>
    <p:extLst>
      <p:ext uri="{BB962C8B-B14F-4D97-AF65-F5344CB8AC3E}">
        <p14:creationId xmlns:p14="http://schemas.microsoft.com/office/powerpoint/2010/main" val="207425693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261A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99108C-DA83-41D1-B0DA-170B4FB9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A9363-FC54-48F1-85E6-0A4AAF3F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founder decision is deliberately narrow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C57B6-9AF4-40A4-9A1A-87734E07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8D124-78E0-43D0-B224-F18A7252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APPROVE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01C37-C79E-450E-B881-EE23CC9B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764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strategic territory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08757-3ADD-4143-A3F0-7DB43867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333625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49A2E-382B-46CD-9C14-F4E457B3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COMMISSION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92237-D8DA-40B7-9ECC-F0EE0DDD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717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missing economics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E1FC5B-B315-4C1F-9019-AE922941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429000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5631C-DFA7-4E58-A8F9-FD77E81C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AUTHORISE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91C60-C84A-448A-BD20-C914ABCD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8671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bounded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FDE6A1-1F29-4D88-8EF0-8F8300E9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24375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3FAA1-013D-40A7-9378-8D56DC5B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C6636A-445C-429C-8E8D-234ECBE6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Approve the proof-led strategic territory, commission the missing unit-economics inputs and authorise a bounded retail-and-CRM validation programme.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2AC5B-7CB9-4941-ACAB-685C3D69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5498CC-988F-4795-9105-20D4BE62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HUMAN DECISION REQUIRED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40402-E2A1-4270-9586-F15528CB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CCA16D-ED4B-4347-8E37-17062710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26 / 30</a:t>
            </a:r>
          </a:p>
        </p:txBody>
      </p:sp>
    </p:spTree>
    <p:extLst>
      <p:ext uri="{BB962C8B-B14F-4D97-AF65-F5344CB8AC3E}">
        <p14:creationId xmlns:p14="http://schemas.microsoft.com/office/powerpoint/2010/main" val="59599297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3D84AA-837F-485D-B0A3-5C66D50F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APPENDIX / EVIDENCE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415FB-05BE-4F2E-92D2-1E1D9625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09166-671A-4E3E-A48F-6309BF76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F190D-2638-4AAE-B870-CF8F1C1B590F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685800"/>
                <a:gridCol w="1619250"/>
                <a:gridCol w="4953000"/>
                <a:gridCol w="3638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Classification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Original source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Location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S1A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 Grocer: Series C, market share and 100m-meal scale report (December 2025)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thegrocer.co.uk (Series C report)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S1B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Companies House / Companies in the UK: Anikin Ltd statutory accounts and balance sheet (FY2023)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companieshouse.gov.uk; companiesintheuk.co.uk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S1C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Marketing Week: Lloyd Page appointed first CMO (2025)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marketingweek.com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 / Journal of Animal Science: KatKin heat-damage study and peer-reviewed AGE research (accessed 11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katkin.com/articles/katkins-heat-damage-study; Journal of Animal Science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2E64-6311-42EB-A9C2-2033E9FA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Classification describes how the Blueprint uses each source. Source URLs and dates remain editable in this deck.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EDC213-59B4-4034-8865-366543C4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S1B, S1C, S2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84C47-55DC-423A-84B5-B593E20F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C9D803-9DFD-4BDA-97A3-189C56DD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994CB1-680A-4B61-9262-BBA4EC0A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27 / 30</a:t>
            </a:r>
          </a:p>
        </p:txBody>
      </p:sp>
    </p:spTree>
    <p:extLst>
      <p:ext uri="{BB962C8B-B14F-4D97-AF65-F5344CB8AC3E}">
        <p14:creationId xmlns:p14="http://schemas.microsoft.com/office/powerpoint/2010/main" val="38572559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4DC209-3C95-42CD-964E-2A812454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APPENDIX / EVIDENCE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F814C-4032-4414-84F2-DF7D3EA3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Source register continued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D081C-F077-4484-A72A-A6380939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880C9-0D58-4FEE-B2CF-65092C553AD0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685800"/>
                <a:gridCol w="1619250"/>
                <a:gridCol w="4953000"/>
                <a:gridCol w="3638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Classification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Original source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Location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interpretation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Untamed / Bubblegum Search: Competitor claims and organic-search comparison (Q3 2025 to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untamed.com; bubblegumsearch.com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mixed fact and hypothesis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 / Trustpilot / Cats.com: Pricing, reviews and customer-friction evidence (accessed 11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katkin.com/our-pricing; uk.trustpilot.com/review/katkin.com; cats.com/katkin-cat-food-review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Motion / Marketing Week: Paid-social volume and creative analysis (accessed 11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motionapp.com/library/katkin; marketingweek.com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Pet Business World: Jollyes retail rollout across 80 stores (August 2025)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petbusinessworld.co.uk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D8B4B-0F0F-44EB-A1BB-9486A821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Classification describes how the Blueprint uses each source. Source URLs and dates remain editable in this deck.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4F9879-3E33-43EA-BC6B-8035D127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S3, S4, S5, S6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0EB99-EC58-452D-9046-C785E72F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F1BA49-7AA6-4E9E-AE8C-BEDCFE80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0F619-4140-4DB9-A962-1D288488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28 / 30</a:t>
            </a:r>
          </a:p>
        </p:txBody>
      </p:sp>
    </p:spTree>
    <p:extLst>
      <p:ext uri="{BB962C8B-B14F-4D97-AF65-F5344CB8AC3E}">
        <p14:creationId xmlns:p14="http://schemas.microsoft.com/office/powerpoint/2010/main" val="40739311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168C8A-A458-432B-ACF2-7781A520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APPENDIX / EVIDENCE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74A22-964D-4425-A534-E0EEFF85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Source register continued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3F74C9-7800-4E1F-B13A-0AF0958B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94067-B43F-4457-94C5-87557FCB03CB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685800"/>
                <a:gridCol w="1619250"/>
                <a:gridCol w="4953000"/>
                <a:gridCol w="3638550"/>
              </a:tblGrid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Classification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Original source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Location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Active Partners: Series B strategy and retail partnership context (30 November 2023)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active.partners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third party estimate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Research &amp; Markets: UK cat food market estimate, USD 765.91m (2025 report)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researchandmarkets.com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approved strategy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Narratiive governed workflow: Approved KatKin Strategy Thesis (September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artifact-63f71c6bacf78fe6-92b790e0f4def86f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D1AA1-9AD4-4C91-A749-9AE9B3FA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Classification describes how the Blueprint uses each source. Source URLs and dates remain editable in this deck.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7D8FB4-C513-42E7-AA3A-FAE5FBFF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S7, S8, T1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FCC67-81F4-4FC9-A79A-DC129A1F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E8FA1-3A35-42FB-9E2F-3943A308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8D92D-3619-4BC2-B210-3B3A2CD0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29 / 30</a:t>
            </a:r>
          </a:p>
        </p:txBody>
      </p:sp>
    </p:spTree>
    <p:extLst>
      <p:ext uri="{BB962C8B-B14F-4D97-AF65-F5344CB8AC3E}">
        <p14:creationId xmlns:p14="http://schemas.microsoft.com/office/powerpoint/2010/main" val="204580862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261A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E94BA-138D-4FBF-ADAB-E712A861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B64CA-AE24-4EBC-BC4E-7CC102FA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Stop competing on the claim anyone can copy. Compete on the proof no one else has.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BE5D51-3FF8-4B95-B33C-8377BB95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69CD5-9B9E-47FC-A96E-4E98952A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Own the proof.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D3115-55F7-4FDA-86A2-DA7D0C0F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Make it easy to feel.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9E8CE-4C9D-4BC3-AAAA-A8D65244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Then earn the right to scale.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3817B9-94D2-4922-A4A3-CDE1E601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IMMEDIATE NEXT 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32CB9-D573-430C-9A98-627C4215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876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pressure-test and retail translation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BC9B68-28FA-4494-BA70-1DF240A1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97BC5-06B0-4E07-9D59-2508884D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DC90B6-7FCE-47CA-BE3D-A7E596CE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D2FB2-ADA4-476D-8C25-B0870762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30 / 30</a:t>
            </a:r>
          </a:p>
        </p:txBody>
      </p:sp>
    </p:spTree>
    <p:extLst>
      <p:ext uri="{BB962C8B-B14F-4D97-AF65-F5344CB8AC3E}">
        <p14:creationId xmlns:p14="http://schemas.microsoft.com/office/powerpoint/2010/main" val="9027470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2026-10-12T22:23:17.3080000Z</dcterms:created>
  <dcterms:modified xsi:type="dcterms:W3CDTF">2026-10-12T22:23:17.3080000Z</dcterms:modified>
</coreProperties>
</file>