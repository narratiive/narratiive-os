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c32588f83574076" /><Relationship Type="http://schemas.openxmlformats.org/officeDocument/2006/relationships/extended-properties" Target="/docProps/app.xml" Id="R2c3ead1b8e554bd4" /><Relationship Type="http://schemas.openxmlformats.org/officeDocument/2006/relationships/officeDocument" Target="/ppt/presentation.xml" Id="Rba182b06b7bc4d2c" /></Relationships>
</file>

<file path=ppt/presentation.xml><?xml version="1.0" encoding="utf-8"?>
<p:presentation xmlns:p="http://schemas.openxmlformats.org/presentationml/2006/main">
  <p:sldMasterIdLst>
    <p:sldMasterId xmlns:r="http://schemas.openxmlformats.org/officeDocument/2006/relationships" id="2147483648" r:id="R91537bb8cd0c43f0"/>
  </p:sldMasterIdLst>
  <p:notesMasterIdLst>
    <p:notesMasterId xmlns:r="http://schemas.openxmlformats.org/officeDocument/2006/relationships" r:id="Re96b5cdd9dc94810"/>
  </p:notesMasterIdLst>
  <p:sldIdLst>
    <p:sldId xmlns:r="http://schemas.openxmlformats.org/officeDocument/2006/relationships" id="256" r:id="R694fd18930f741b7"/>
    <p:sldId xmlns:r="http://schemas.openxmlformats.org/officeDocument/2006/relationships" id="257" r:id="Rb655a281a6c94861"/>
    <p:sldId xmlns:r="http://schemas.openxmlformats.org/officeDocument/2006/relationships" id="258" r:id="Rc17181bb4baf4473"/>
    <p:sldId xmlns:r="http://schemas.openxmlformats.org/officeDocument/2006/relationships" id="259" r:id="R0733b3e9110342fa"/>
    <p:sldId xmlns:r="http://schemas.openxmlformats.org/officeDocument/2006/relationships" id="260" r:id="R01ce01cfd14940b9"/>
    <p:sldId xmlns:r="http://schemas.openxmlformats.org/officeDocument/2006/relationships" id="261" r:id="Ra1d466558d2a4204"/>
    <p:sldId xmlns:r="http://schemas.openxmlformats.org/officeDocument/2006/relationships" id="262" r:id="R15bacb70746d4500"/>
    <p:sldId xmlns:r="http://schemas.openxmlformats.org/officeDocument/2006/relationships" id="263" r:id="R78db97c312e24f19"/>
    <p:sldId xmlns:r="http://schemas.openxmlformats.org/officeDocument/2006/relationships" id="264" r:id="R714033c317d54c50"/>
    <p:sldId xmlns:r="http://schemas.openxmlformats.org/officeDocument/2006/relationships" id="265" r:id="R9d18dcb3ab8a468b"/>
    <p:sldId xmlns:r="http://schemas.openxmlformats.org/officeDocument/2006/relationships" id="266" r:id="R2eb83e9ee68848cd"/>
    <p:sldId xmlns:r="http://schemas.openxmlformats.org/officeDocument/2006/relationships" id="267" r:id="R80b5867055fe44f5"/>
    <p:sldId xmlns:r="http://schemas.openxmlformats.org/officeDocument/2006/relationships" id="268" r:id="Rbbe33b66c74949e7"/>
    <p:sldId xmlns:r="http://schemas.openxmlformats.org/officeDocument/2006/relationships" id="269" r:id="R4dbf921eb09249c2"/>
    <p:sldId xmlns:r="http://schemas.openxmlformats.org/officeDocument/2006/relationships" id="270" r:id="R8e9e1a6ecf624d44"/>
    <p:sldId xmlns:r="http://schemas.openxmlformats.org/officeDocument/2006/relationships" id="271" r:id="R5d42b62c2a064d92"/>
    <p:sldId xmlns:r="http://schemas.openxmlformats.org/officeDocument/2006/relationships" id="272" r:id="Rec2e6dbac21645bb"/>
    <p:sldId xmlns:r="http://schemas.openxmlformats.org/officeDocument/2006/relationships" id="273" r:id="Re54e43331e50424c"/>
    <p:sldId xmlns:r="http://schemas.openxmlformats.org/officeDocument/2006/relationships" id="274" r:id="R48e0ba2f05f1424b"/>
    <p:sldId xmlns:r="http://schemas.openxmlformats.org/officeDocument/2006/relationships" id="275" r:id="Rcd23ffc7518f46ce"/>
    <p:sldId xmlns:r="http://schemas.openxmlformats.org/officeDocument/2006/relationships" id="276" r:id="Rfadd2618a7de41e0"/>
    <p:sldId xmlns:r="http://schemas.openxmlformats.org/officeDocument/2006/relationships" id="277" r:id="R8781f65f039c4c1f"/>
    <p:sldId xmlns:r="http://schemas.openxmlformats.org/officeDocument/2006/relationships" id="278" r:id="R1471ac970236431d"/>
    <p:sldId xmlns:r="http://schemas.openxmlformats.org/officeDocument/2006/relationships" id="279" r:id="R3d0ab8dffe3a471f"/>
    <p:sldId xmlns:r="http://schemas.openxmlformats.org/officeDocument/2006/relationships" id="280" r:id="Re845be4857664a53"/>
    <p:sldId xmlns:r="http://schemas.openxmlformats.org/officeDocument/2006/relationships" id="281" r:id="R9d6c3d681ef84172"/>
    <p:sldId xmlns:r="http://schemas.openxmlformats.org/officeDocument/2006/relationships" id="282" r:id="Ra9276d2dc71945bb"/>
    <p:sldId xmlns:r="http://schemas.openxmlformats.org/officeDocument/2006/relationships" id="283" r:id="R6b68284a9d1d4daa"/>
    <p:sldId xmlns:r="http://schemas.openxmlformats.org/officeDocument/2006/relationships" id="284" r:id="R7e598dc04dee418d"/>
    <p:sldId xmlns:r="http://schemas.openxmlformats.org/officeDocument/2006/relationships" id="285" r:id="Rdc94fb07e3a6456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3c16e3d903e4d9a" /><Relationship Type="http://schemas.openxmlformats.org/officeDocument/2006/relationships/slideMaster" Target="/ppt/slideMasters/slideMaster1.xml" Id="R91537bb8cd0c43f0" /><Relationship Type="http://schemas.openxmlformats.org/officeDocument/2006/relationships/notesMaster" Target="/ppt/notesMasters/notesMaster1.xml" Id="Re96b5cdd9dc94810" /><Relationship Type="http://schemas.openxmlformats.org/officeDocument/2006/relationships/presProps" Target="/ppt/presProps.xml" Id="Raa3248b2cefc4a5d" /><Relationship Type="http://schemas.openxmlformats.org/officeDocument/2006/relationships/tableStyles" Target="/ppt/tableStyles.xml" Id="R6d8a6007185b404a" /><Relationship Type="http://schemas.openxmlformats.org/officeDocument/2006/relationships/slide" Target="/ppt/slides/slide1.xml" Id="R694fd18930f741b7" /><Relationship Type="http://schemas.openxmlformats.org/officeDocument/2006/relationships/slide" Target="/ppt/slides/slide2.xml" Id="Rb655a281a6c94861" /><Relationship Type="http://schemas.openxmlformats.org/officeDocument/2006/relationships/slide" Target="/ppt/slides/slide3.xml" Id="Rc17181bb4baf4473" /><Relationship Type="http://schemas.openxmlformats.org/officeDocument/2006/relationships/slide" Target="/ppt/slides/slide4.xml" Id="R0733b3e9110342fa" /><Relationship Type="http://schemas.openxmlformats.org/officeDocument/2006/relationships/slide" Target="/ppt/slides/slide5.xml" Id="R01ce01cfd14940b9" /><Relationship Type="http://schemas.openxmlformats.org/officeDocument/2006/relationships/slide" Target="/ppt/slides/slide6.xml" Id="Ra1d466558d2a4204" /><Relationship Type="http://schemas.openxmlformats.org/officeDocument/2006/relationships/slide" Target="/ppt/slides/slide7.xml" Id="R15bacb70746d4500" /><Relationship Type="http://schemas.openxmlformats.org/officeDocument/2006/relationships/slide" Target="/ppt/slides/slide8.xml" Id="R78db97c312e24f19" /><Relationship Type="http://schemas.openxmlformats.org/officeDocument/2006/relationships/slide" Target="/ppt/slides/slide9.xml" Id="R714033c317d54c50" /><Relationship Type="http://schemas.openxmlformats.org/officeDocument/2006/relationships/slide" Target="/ppt/slides/slide10.xml" Id="R9d18dcb3ab8a468b" /><Relationship Type="http://schemas.openxmlformats.org/officeDocument/2006/relationships/slide" Target="/ppt/slides/slide11.xml" Id="R2eb83e9ee68848cd" /><Relationship Type="http://schemas.openxmlformats.org/officeDocument/2006/relationships/slide" Target="/ppt/slides/slide12.xml" Id="R80b5867055fe44f5" /><Relationship Type="http://schemas.openxmlformats.org/officeDocument/2006/relationships/slide" Target="/ppt/slides/slide13.xml" Id="Rbbe33b66c74949e7" /><Relationship Type="http://schemas.openxmlformats.org/officeDocument/2006/relationships/slide" Target="/ppt/slides/slide14.xml" Id="R4dbf921eb09249c2" /><Relationship Type="http://schemas.openxmlformats.org/officeDocument/2006/relationships/slide" Target="/ppt/slides/slide15.xml" Id="R8e9e1a6ecf624d44" /><Relationship Type="http://schemas.openxmlformats.org/officeDocument/2006/relationships/slide" Target="/ppt/slides/slide16.xml" Id="R5d42b62c2a064d92" /><Relationship Type="http://schemas.openxmlformats.org/officeDocument/2006/relationships/slide" Target="/ppt/slides/slide17.xml" Id="Rec2e6dbac21645bb" /><Relationship Type="http://schemas.openxmlformats.org/officeDocument/2006/relationships/slide" Target="/ppt/slides/slide18.xml" Id="Re54e43331e50424c" /><Relationship Type="http://schemas.openxmlformats.org/officeDocument/2006/relationships/slide" Target="/ppt/slides/slide19.xml" Id="R48e0ba2f05f1424b" /><Relationship Type="http://schemas.openxmlformats.org/officeDocument/2006/relationships/slide" Target="/ppt/slides/slide20.xml" Id="Rcd23ffc7518f46ce" /><Relationship Type="http://schemas.openxmlformats.org/officeDocument/2006/relationships/slide" Target="/ppt/slides/slide21.xml" Id="Rfadd2618a7de41e0" /><Relationship Type="http://schemas.openxmlformats.org/officeDocument/2006/relationships/slide" Target="/ppt/slides/slide22.xml" Id="R8781f65f039c4c1f" /><Relationship Type="http://schemas.openxmlformats.org/officeDocument/2006/relationships/slide" Target="/ppt/slides/slide23.xml" Id="R1471ac970236431d" /><Relationship Type="http://schemas.openxmlformats.org/officeDocument/2006/relationships/slide" Target="/ppt/slides/slide24.xml" Id="R3d0ab8dffe3a471f" /><Relationship Type="http://schemas.openxmlformats.org/officeDocument/2006/relationships/slide" Target="/ppt/slides/slide25.xml" Id="Re845be4857664a53" /><Relationship Type="http://schemas.openxmlformats.org/officeDocument/2006/relationships/slide" Target="/ppt/slides/slide26.xml" Id="R9d6c3d681ef84172" /><Relationship Type="http://schemas.openxmlformats.org/officeDocument/2006/relationships/slide" Target="/ppt/slides/slide27.xml" Id="Ra9276d2dc71945bb" /><Relationship Type="http://schemas.openxmlformats.org/officeDocument/2006/relationships/slide" Target="/ppt/slides/slide28.xml" Id="R6b68284a9d1d4daa" /><Relationship Type="http://schemas.openxmlformats.org/officeDocument/2006/relationships/slide" Target="/ppt/slides/slide29.xml" Id="R7e598dc04dee418d" /><Relationship Type="http://schemas.openxmlformats.org/officeDocument/2006/relationships/slide" Target="/ppt/slides/slide30.xml" Id="Rdc94fb07e3a6456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04e0e5a726d4d5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76296126d2e4f46" /><Relationship Type="http://schemas.openxmlformats.org/officeDocument/2006/relationships/notesMaster" Target="/ppt/notesMasters/notesMaster1.xml" Id="R3d0d7d795fdc4a83" /></Relationships>
</file>

<file path=ppt/notesSlides/_rels/notesSlide2.xml.rels>&#65279;<?xml version="1.0" encoding="utf-8"?><Relationships xmlns="http://schemas.openxmlformats.org/package/2006/relationships"><Relationship Type="http://schemas.openxmlformats.org/officeDocument/2006/relationships/slide" Target="/ppt/slides/slide2.xml" Id="Re81c57751c904168" /><Relationship Type="http://schemas.openxmlformats.org/officeDocument/2006/relationships/notesMaster" Target="/ppt/notesMasters/notesMaster1.xml" Id="Re77a8fe5053e4a9a" /></Relationships>
</file>

<file path=ppt/notesSlides/_rels/notesSlide3.xml.rels>&#65279;<?xml version="1.0" encoding="utf-8"?><Relationships xmlns="http://schemas.openxmlformats.org/package/2006/relationships"><Relationship Type="http://schemas.openxmlformats.org/officeDocument/2006/relationships/slide" Target="/ppt/slides/slide3.xml" Id="R3f63387b93fb46bf" /><Relationship Type="http://schemas.openxmlformats.org/officeDocument/2006/relationships/notesMaster" Target="/ppt/notesMasters/notesMaster1.xml" Id="R782d9bc7908f448c" /></Relationships>
</file>

<file path=ppt/notesSlides/_rels/notesSlide4.xml.rels>&#65279;<?xml version="1.0" encoding="utf-8"?><Relationships xmlns="http://schemas.openxmlformats.org/package/2006/relationships"><Relationship Type="http://schemas.openxmlformats.org/officeDocument/2006/relationships/slide" Target="/ppt/slides/slide4.xml" Id="R55cf8f83f05949c6" /><Relationship Type="http://schemas.openxmlformats.org/officeDocument/2006/relationships/notesMaster" Target="/ppt/notesMasters/notesMaster1.xml" Id="Rb033c0175d624ddb" /></Relationships>
</file>

<file path=ppt/notesSlides/_rels/notesSlide5.xml.rels>&#65279;<?xml version="1.0" encoding="utf-8"?><Relationships xmlns="http://schemas.openxmlformats.org/package/2006/relationships"><Relationship Type="http://schemas.openxmlformats.org/officeDocument/2006/relationships/slide" Target="/ppt/slides/slide5.xml" Id="R36fc23560e7546e7" /><Relationship Type="http://schemas.openxmlformats.org/officeDocument/2006/relationships/notesMaster" Target="/ppt/notesMasters/notesMaster1.xml" Id="R24c3c7638ccc407d" /></Relationships>
</file>

<file path=ppt/notesSlides/_rels/notesSlide6.xml.rels>&#65279;<?xml version="1.0" encoding="utf-8"?><Relationships xmlns="http://schemas.openxmlformats.org/package/2006/relationships"><Relationship Type="http://schemas.openxmlformats.org/officeDocument/2006/relationships/slide" Target="/ppt/slides/slide6.xml" Id="Rc45813f70d2c46a1" /><Relationship Type="http://schemas.openxmlformats.org/officeDocument/2006/relationships/notesMaster" Target="/ppt/notesMasters/notesMaster1.xml" Id="Rcce615e2cc434c1a" /></Relationships>
</file>

<file path=ppt/notesSlides/_rels/notesSlide7.xml.rels>&#65279;<?xml version="1.0" encoding="utf-8"?><Relationships xmlns="http://schemas.openxmlformats.org/package/2006/relationships"><Relationship Type="http://schemas.openxmlformats.org/officeDocument/2006/relationships/slide" Target="/ppt/slides/slide7.xml" Id="R5362c3c2bbc34055" /><Relationship Type="http://schemas.openxmlformats.org/officeDocument/2006/relationships/notesMaster" Target="/ppt/notesMasters/notesMaster1.xml" Id="Rae216c9337754661" /></Relationships>
</file>

<file path=ppt/notesSlides/_rels/notesSlide8.xml.rels>&#65279;<?xml version="1.0" encoding="utf-8"?><Relationships xmlns="http://schemas.openxmlformats.org/package/2006/relationships"><Relationship Type="http://schemas.openxmlformats.org/officeDocument/2006/relationships/slide" Target="/ppt/slides/slide8.xml" Id="R2a06268082c84005" /><Relationship Type="http://schemas.openxmlformats.org/officeDocument/2006/relationships/notesMaster" Target="/ppt/notesMasters/notesMaster1.xml" Id="Rf1e6fc91e1f145b3" /></Relationships>
</file>

<file path=ppt/notesSlides/_rels/notesSlide9.xml.rels>&#65279;<?xml version="1.0" encoding="utf-8"?><Relationships xmlns="http://schemas.openxmlformats.org/package/2006/relationships"><Relationship Type="http://schemas.openxmlformats.org/officeDocument/2006/relationships/slide" Target="/ppt/slides/slide9.xml" Id="Rca23b386c0e34d50" /><Relationship Type="http://schemas.openxmlformats.org/officeDocument/2006/relationships/notesMaster" Target="/ppt/notesMasters/notesMaster1.xml" Id="R5ceff719163f4eb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331c69ae742452e" /><Relationship Type="http://schemas.openxmlformats.org/officeDocument/2006/relationships/notesMaster" Target="/ppt/notesMasters/notesMaster1.xml" Id="Rdd9d27edd008438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5ead7e2b3644a7f" /><Relationship Type="http://schemas.openxmlformats.org/officeDocument/2006/relationships/notesMaster" Target="/ppt/notesMasters/notesMaster1.xml" Id="R9f47916e31d6475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02fb73456793437e" /><Relationship Type="http://schemas.openxmlformats.org/officeDocument/2006/relationships/notesMaster" Target="/ppt/notesMasters/notesMaster1.xml" Id="Rf52c1e9667054589"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077f720ce23f49b0" /><Relationship Type="http://schemas.openxmlformats.org/officeDocument/2006/relationships/notesMaster" Target="/ppt/notesMasters/notesMaster1.xml" Id="Rf5338f37152f4c65"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09567a47a4449bb" /><Relationship Type="http://schemas.openxmlformats.org/officeDocument/2006/relationships/notesMaster" Target="/ppt/notesMasters/notesMaster1.xml" Id="R5f77b6025c804352"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496f61dccf6246f3" /><Relationship Type="http://schemas.openxmlformats.org/officeDocument/2006/relationships/notesMaster" Target="/ppt/notesMasters/notesMaster1.xml" Id="R398cf128392d4f05"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15a49eb3a5664900" /><Relationship Type="http://schemas.openxmlformats.org/officeDocument/2006/relationships/notesMaster" Target="/ppt/notesMasters/notesMaster1.xml" Id="Ra3fcc87aee274550"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14f6c37a3ffb4616" /><Relationship Type="http://schemas.openxmlformats.org/officeDocument/2006/relationships/notesMaster" Target="/ppt/notesMasters/notesMaster1.xml" Id="R007f5cea584c45d1"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cb191bd218bf4820" /><Relationship Type="http://schemas.openxmlformats.org/officeDocument/2006/relationships/notesMaster" Target="/ppt/notesMasters/notesMaster1.xml" Id="R1705ba40af6c4f22"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95a42406ad5a482f" /><Relationship Type="http://schemas.openxmlformats.org/officeDocument/2006/relationships/notesMaster" Target="/ppt/notesMasters/notesMaster1.xml" Id="Rce29061e5db345d1"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92ddccef63b34f84" /><Relationship Type="http://schemas.openxmlformats.org/officeDocument/2006/relationships/notesMaster" Target="/ppt/notesMasters/notesMaster1.xml" Id="R772810dd419a4813"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5ede02cca4f84cfb" /><Relationship Type="http://schemas.openxmlformats.org/officeDocument/2006/relationships/notesMaster" Target="/ppt/notesMasters/notesMaster1.xml" Id="R402469a644f24921"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059f058427494ba2" /><Relationship Type="http://schemas.openxmlformats.org/officeDocument/2006/relationships/notesMaster" Target="/ppt/notesMasters/notesMaster1.xml" Id="Rcd49a5eead374892"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a4336ee7066c4fc6" /><Relationship Type="http://schemas.openxmlformats.org/officeDocument/2006/relationships/notesMaster" Target="/ppt/notesMasters/notesMaster1.xml" Id="R6f503ae3e6824fb1"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b709a89d1f71412d" /><Relationship Type="http://schemas.openxmlformats.org/officeDocument/2006/relationships/notesMaster" Target="/ppt/notesMasters/notesMaster1.xml" Id="R40b87ad0e1a74995"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3fc367cf66f345c5" /><Relationship Type="http://schemas.openxmlformats.org/officeDocument/2006/relationships/notesMaster" Target="/ppt/notesMasters/notesMaster1.xml" Id="Rd0bbf1a7ece741b0"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e24f9e04f00a4dfc" /><Relationship Type="http://schemas.openxmlformats.org/officeDocument/2006/relationships/notesMaster" Target="/ppt/notesMasters/notesMaster1.xml" Id="R014485b6a6bd4027"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1ad1f9492ce14167" /><Relationship Type="http://schemas.openxmlformats.org/officeDocument/2006/relationships/notesMaster" Target="/ppt/notesMasters/notesMaster1.xml" Id="R8d715f5a0a804676"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d363079378af49a2" /><Relationship Type="http://schemas.openxmlformats.org/officeDocument/2006/relationships/notesMaster" Target="/ppt/notesMasters/notesMaster1.xml" Id="Ra1529814b088473d"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5f6770475a6f49f0" /><Relationship Type="http://schemas.openxmlformats.org/officeDocument/2006/relationships/notesMaster" Target="/ppt/notesMasters/notesMaster1.xml" Id="R7a1f49d50e4b4b8b"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a50fda4bb06e4f48" /><Relationship Type="http://schemas.openxmlformats.org/officeDocument/2006/relationships/notesMaster" Target="/ppt/notesMasters/notesMaster1.xml" Id="R6279a0b319874e7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S1A: The Grocer — Series C, market share and 100m-meal scale report (December 2025), thegrocer.co.uk (Series C report)</a:t>
            </a:r>
          </a:p>
          <a:p xmlns:a="http://schemas.openxmlformats.org/drawingml/2006/main">
            <a:r>
              <a:t>S1C: Marketing Week — Lloyd Page appointed first CMO (2025), marketingweek.com</a:t>
            </a:r>
          </a:p>
          <a:p xmlns:a="http://schemas.openxmlformats.org/drawingml/2006/main">
            <a:r>
              <a:t>S2: KatKin / Journal of Animal Science — KatKin heat-damage study and peer-reviewed AGE research (accessed 11 September 2026), katkin.com/articles/katkins-heat-damage-study; Journal of Animal Science</a:t>
            </a:r>
          </a:p>
          <a:p xmlns:a="http://schemas.openxmlformats.org/drawingml/2006/main">
            <a:r>
              <a:t>S3: Untamed / Bubblegum Search — Competitor claims and organic-search comparison (Q3 2025 to September 2026), untamed.com; bubblegumsearch.com</a:t>
            </a:r>
          </a:p>
          <a:p xmlns:a="http://schemas.openxmlformats.org/drawingml/2006/main">
            <a:r>
              <a:t>S5: Motion / Marketing Week — Paid-social volume and creative analysis (accessed 11 September 2026), motionapp.com/library/katkin; marketingweek.com</a:t>
            </a:r>
          </a:p>
          <a:p xmlns:a="http://schemas.openxmlformats.org/drawingml/2006/main">
            <a:r>
              <a:t>T1: Narratiive governed workflow — Approved KatKin Strategy Thesis (September 2026), artifact-63f71c6bacf78fe6-92b790e0f4def86f</a:t>
            </a:r>
          </a:p>
          <a:p xmlns:a="http://schemas.openxmlformats.org/drawingml/2006/main">
            <a:r>
              <a:t>Governed evidence refs: thesis:growth_opportunity, ev_5c64#s5, ev_5c64#s7</a:t>
            </a:r>
          </a:p>
          <a:p xmlns:a="http://schemas.openxmlformats.org/drawingml/2006/main">
            <a:r>
              <a:t>INTERNAL REVIEW DRAFT - HUMAN APPROVAL REQUIRED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S5: Motion / Marketing Week — Paid-social volume and creative analysis (accessed 11 September 2026), motionapp.com/library/katkin; marketingweek.com</a:t>
            </a:r>
          </a:p>
          <a:p xmlns:a="http://schemas.openxmlformats.org/drawingml/2006/main">
            <a:r>
              <a:t>T1: Narratiive governed workflow — Approved KatKin Strategy Thesis (September 2026), artifact-63f71c6bacf78fe6-92b790e0f4def86f</a:t>
            </a:r>
          </a:p>
          <a:p xmlns:a="http://schemas.openxmlformats.org/drawingml/2006/main">
            <a:r>
              <a:t>Governed evidence refs: thesis:growth_opportunity, ev_5c64#s5, ev_5c64#s7</a:t>
            </a:r>
          </a:p>
          <a:p xmlns:a="http://schemas.openxmlformats.org/drawingml/2006/main">
            <a:r>
              <a:t>INTERNAL REVIEW DRAFT - HUMAN APPROVAL REQUIRED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S1A: The Grocer — Series C, market share and 100m-meal scale report (December 2025), thegrocer.co.uk (Series C report)</a:t>
            </a:r>
          </a:p>
          <a:p xmlns:a="http://schemas.openxmlformats.org/drawingml/2006/main">
            <a:r>
              <a:t>S1B: Companies House / Companies in the UK — Anikin Ltd statutory accounts and balance sheet (FY2023), companieshouse.gov.uk; companiesintheuk.co.uk</a:t>
            </a:r>
          </a:p>
          <a:p xmlns:a="http://schemas.openxmlformats.org/drawingml/2006/main">
            <a:r>
              <a:t>S1C: Marketing Week — Lloyd Page appointed first CMO (2025), marketingweek.com</a:t>
            </a:r>
          </a:p>
          <a:p xmlns:a="http://schemas.openxmlformats.org/drawingml/2006/main">
            <a:r>
              <a:t>S3: Untamed / Bubblegum Search — Competitor claims and organic-search comparison (Q3 2025 to September 2026), untamed.com; bubblegumsearch.com</a:t>
            </a:r>
          </a:p>
          <a:p xmlns:a="http://schemas.openxmlformats.org/drawingml/2006/main">
            <a:r>
              <a:t>S5: Motion / Marketing Week — Paid-social volume and creative analysis (accessed 11 September 2026), motionapp.com/library/katkin; marketingweek.com</a:t>
            </a:r>
          </a:p>
          <a:p xmlns:a="http://schemas.openxmlformats.org/drawingml/2006/main">
            <a:r>
              <a:t>Governed evidence refs: none</a:t>
            </a:r>
          </a:p>
          <a:p xmlns:a="http://schemas.openxmlformats.org/drawingml/2006/main">
            <a:r>
              <a:t>INTERNAL REVIEW DRAFT - HUMAN APPROVAL REQUIRED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S2: KatKin / Journal of Animal Science — KatKin heat-damage study and peer-reviewed AGE research (accessed 11 September 2026), katkin.com/articles/katkins-heat-damage-study; Journal of Animal Science</a:t>
            </a:r>
          </a:p>
          <a:p xmlns:a="http://schemas.openxmlformats.org/drawingml/2006/main">
            <a:r>
              <a:t>S3: Untamed / Bubblegum Search — Competitor claims and organic-search comparison (Q3 2025 to September 2026), untamed.com; bubblegumsearch.com</a:t>
            </a:r>
          </a:p>
          <a:p xmlns:a="http://schemas.openxmlformats.org/drawingml/2006/main">
            <a:r>
              <a:t>Governed evidence refs: ev_5c64#s1, ev_5c64#s3</a:t>
            </a:r>
          </a:p>
          <a:p xmlns:a="http://schemas.openxmlformats.org/drawingml/2006/main">
            <a:r>
              <a:t>INTERNAL REVIEW DRAFT - HUMAN APPROVAL REQUIRED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S2: KatKin / Journal of Animal Science — KatKin heat-damage study and peer-reviewed AGE research (accessed 11 September 2026), katkin.com/articles/katkins-heat-damage-study; Journal of Animal Science</a:t>
            </a:r>
          </a:p>
          <a:p xmlns:a="http://schemas.openxmlformats.org/drawingml/2006/main">
            <a:r>
              <a:t>Governed evidence refs: ev_5c64#s1, ev_5c64#s3</a:t>
            </a:r>
          </a:p>
          <a:p xmlns:a="http://schemas.openxmlformats.org/drawingml/2006/main">
            <a:r>
              <a:t>INTERNAL REVIEW DRAFT - HUMAN APPROVAL REQUIRED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S4: KatKin / Trustpilot / Cats.com — Pricing, reviews and customer-friction evidence (accessed 11 September 2026), katkin.com/our-pricing; uk.trustpilot.com/review/katkin.com; cats.com/katkin-cat-food-review</a:t>
            </a:r>
          </a:p>
          <a:p xmlns:a="http://schemas.openxmlformats.org/drawingml/2006/main">
            <a:r>
              <a:t>S6: Pet Business World — Jollyes retail rollout across 80 stores (August 2025), petbusinessworld.co.uk</a:t>
            </a:r>
          </a:p>
          <a:p xmlns:a="http://schemas.openxmlformats.org/drawingml/2006/main">
            <a:r>
              <a:t>Governed evidence refs: ev_5c64#s2, thesis:source_of_difference</a:t>
            </a:r>
          </a:p>
          <a:p xmlns:a="http://schemas.openxmlformats.org/drawingml/2006/main">
            <a:r>
              <a:t>INTERNAL REVIEW DRAFT - HUMAN APPROVAL REQUIRED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S4: KatKin / Trustpilot / Cats.com — Pricing, reviews and customer-friction evidence (accessed 11 September 2026), katkin.com/our-pricing; uk.trustpilot.com/review/katkin.com; cats.com/katkin-cat-food-review</a:t>
            </a:r>
          </a:p>
          <a:p xmlns:a="http://schemas.openxmlformats.org/drawingml/2006/main">
            <a:r>
              <a:t>Governed evidence refs: ev_5c64#s2, thesis:source_of_difference</a:t>
            </a:r>
          </a:p>
          <a:p xmlns:a="http://schemas.openxmlformats.org/drawingml/2006/main">
            <a:r>
              <a:t>INTERNAL REVIEW DRAFT - HUMAN APPROVAL REQUIRED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S4: KatKin / Trustpilot / Cats.com — Pricing, reviews and customer-friction evidence (accessed 11 September 2026), katkin.com/our-pricing; uk.trustpilot.com/review/katkin.com; cats.com/katkin-cat-food-review</a:t>
            </a:r>
          </a:p>
          <a:p xmlns:a="http://schemas.openxmlformats.org/drawingml/2006/main">
            <a:r>
              <a:t>S6: Pet Business World — Jollyes retail rollout across 80 stores (August 2025), petbusinessworld.co.uk</a:t>
            </a:r>
          </a:p>
          <a:p xmlns:a="http://schemas.openxmlformats.org/drawingml/2006/main">
            <a:r>
              <a:t>S7: Active Partners — Series B strategy and retail partnership context (30 November 2023), active.partners</a:t>
            </a:r>
          </a:p>
          <a:p xmlns:a="http://schemas.openxmlformats.org/drawingml/2006/main">
            <a:r>
              <a:t>Governed evidence refs: thesis:growth_opportunity, ev_5c64#s5, ev_5c64#s7</a:t>
            </a:r>
          </a:p>
          <a:p xmlns:a="http://schemas.openxmlformats.org/drawingml/2006/main">
            <a:r>
              <a:t>INTERNAL REVIEW DRAFT - HUMAN APPROVAL REQUIRED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S2: KatKin / Journal of Animal Science — KatKin heat-damage study and peer-reviewed AGE research (accessed 11 September 2026), katkin.com/articles/katkins-heat-damage-study; Journal of Animal Science</a:t>
            </a:r>
          </a:p>
          <a:p xmlns:a="http://schemas.openxmlformats.org/drawingml/2006/main">
            <a:r>
              <a:t>S3: Untamed / Bubblegum Search — Competitor claims and organic-search comparison (Q3 2025 to September 2026), untamed.com; bubblegumsearch.com</a:t>
            </a:r>
          </a:p>
          <a:p xmlns:a="http://schemas.openxmlformats.org/drawingml/2006/main">
            <a:r>
              <a:t>T1: Narratiive governed workflow — Approved KatKin Strategy Thesis (September 2026), artifact-63f71c6bacf78fe6-92b790e0f4def86f</a:t>
            </a:r>
          </a:p>
          <a:p xmlns:a="http://schemas.openxmlformats.org/drawingml/2006/main">
            <a:r>
              <a:t>Governed evidence refs: ev_5c64#s1, ev_5c64#s5, ev_5c64#s6</a:t>
            </a:r>
          </a:p>
          <a:p xmlns:a="http://schemas.openxmlformats.org/drawingml/2006/main">
            <a:r>
              <a:t>INTERNAL REVIEW DRAFT - HUMAN APPROVAL REQUIRED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S2: KatKin / Journal of Animal Science — KatKin heat-damage study and peer-reviewed AGE research (accessed 11 September 2026), katkin.com/articles/katkins-heat-damage-study; Journal of Animal Science</a:t>
            </a:r>
          </a:p>
          <a:p xmlns:a="http://schemas.openxmlformats.org/drawingml/2006/main">
            <a:r>
              <a:t>S4: KatKin / Trustpilot / Cats.com — Pricing, reviews and customer-friction evidence (accessed 11 September 2026), katkin.com/our-pricing; uk.trustpilot.com/review/katkin.com; cats.com/katkin-cat-food-review</a:t>
            </a:r>
          </a:p>
          <a:p xmlns:a="http://schemas.openxmlformats.org/drawingml/2006/main">
            <a:r>
              <a:t>T1: Narratiive governed workflow — Approved KatKin Strategy Thesis (September 2026), artifact-63f71c6bacf78fe6-92b790e0f4def86f</a:t>
            </a:r>
          </a:p>
          <a:p xmlns:a="http://schemas.openxmlformats.org/drawingml/2006/main">
            <a:r>
              <a:t>Governed evidence refs: ev_5c64#s1, ev_5c64#s5, ev_5c64#s6</a:t>
            </a:r>
          </a:p>
          <a:p xmlns:a="http://schemas.openxmlformats.org/drawingml/2006/main">
            <a:r>
              <a:t>INTERNAL REVIEW DRAFT - HUMAN APPROVAL REQUIRED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S2: KatKin / Journal of Animal Science — KatKin heat-damage study and peer-reviewed AGE research (accessed 11 September 2026), katkin.com/articles/katkins-heat-damage-study; Journal of Animal Science</a:t>
            </a:r>
          </a:p>
          <a:p xmlns:a="http://schemas.openxmlformats.org/drawingml/2006/main">
            <a:r>
              <a:t>T1: Narratiive governed workflow — Approved KatKin Strategy Thesis (September 2026), artifact-63f71c6bacf78fe6-92b790e0f4def86f</a:t>
            </a:r>
          </a:p>
          <a:p xmlns:a="http://schemas.openxmlformats.org/drawingml/2006/main">
            <a:r>
              <a:t>Governed evidence refs: ev_5c64#s4, thesis:priority_audience</a:t>
            </a:r>
          </a:p>
          <a:p xmlns:a="http://schemas.openxmlformats.org/drawingml/2006/main">
            <a:r>
              <a:t>INTERNAL REVIEW DRAFT - HUMAN APPROVAL REQUIRED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S2: KatKin / Journal of Animal Science — KatKin heat-damage study and peer-reviewed AGE research (accessed 11 September 2026), katkin.com/articles/katkins-heat-damage-study; Journal of Animal Science</a:t>
            </a:r>
          </a:p>
          <a:p xmlns:a="http://schemas.openxmlformats.org/drawingml/2006/main">
            <a:r>
              <a:t>T1: Narratiive governed workflow — Approved KatKin Strategy Thesis (September 2026), artifact-63f71c6bacf78fe6-92b790e0f4def86f</a:t>
            </a:r>
          </a:p>
          <a:p xmlns:a="http://schemas.openxmlformats.org/drawingml/2006/main">
            <a:r>
              <a:t>Governed evidence refs: ev_5c64#s4, thesis:priority_audience</a:t>
            </a:r>
          </a:p>
          <a:p xmlns:a="http://schemas.openxmlformats.org/drawingml/2006/main">
            <a:r>
              <a:t>INTERNAL REVIEW DRAFT - HUMAN APPROVAL REQUIRED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S1A: The Grocer — Series C, market share and 100m-meal scale report (December 2025), thegrocer.co.uk (Series C report)</a:t>
            </a:r>
          </a:p>
          <a:p xmlns:a="http://schemas.openxmlformats.org/drawingml/2006/main">
            <a:r>
              <a:t>S2: KatKin / Journal of Animal Science — KatKin heat-damage study and peer-reviewed AGE research (accessed 11 September 2026), katkin.com/articles/katkins-heat-damage-study; Journal of Animal Science</a:t>
            </a:r>
          </a:p>
          <a:p xmlns:a="http://schemas.openxmlformats.org/drawingml/2006/main">
            <a:r>
              <a:t>S5: Motion / Marketing Week — Paid-social volume and creative analysis (accessed 11 September 2026), motionapp.com/library/katkin; marketingweek.com</a:t>
            </a:r>
          </a:p>
          <a:p xmlns:a="http://schemas.openxmlformats.org/drawingml/2006/main">
            <a:r>
              <a:t>S8: Research &amp; Markets — UK cat food market estimate, USD 765.91m (2025 report), researchandmarkets.com</a:t>
            </a:r>
          </a:p>
          <a:p xmlns:a="http://schemas.openxmlformats.org/drawingml/2006/main">
            <a:r>
              <a:t>Governed evidence refs: ev_5c64#s4, thesis:priority_audience</a:t>
            </a:r>
          </a:p>
          <a:p xmlns:a="http://schemas.openxmlformats.org/drawingml/2006/main">
            <a:r>
              <a:t>INTERNAL REVIEW DRAFT - HUMAN APPROVAL REQUIRED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S5: Motion / Marketing Week — Paid-social volume and creative analysis (accessed 11 September 2026), motionapp.com/library/katkin; marketingweek.com</a:t>
            </a:r>
          </a:p>
          <a:p xmlns:a="http://schemas.openxmlformats.org/drawingml/2006/main">
            <a:r>
              <a:t>S6: Pet Business World — Jollyes retail rollout across 80 stores (August 2025), petbusinessworld.co.uk</a:t>
            </a:r>
          </a:p>
          <a:p xmlns:a="http://schemas.openxmlformats.org/drawingml/2006/main">
            <a:r>
              <a:t>S7: Active Partners — Series B strategy and retail partnership context (30 November 2023), active.partners</a:t>
            </a:r>
          </a:p>
          <a:p xmlns:a="http://schemas.openxmlformats.org/drawingml/2006/main">
            <a:r>
              <a:t>Governed evidence refs: ev_5c64#s4, thesis:priority_audience</a:t>
            </a:r>
          </a:p>
          <a:p xmlns:a="http://schemas.openxmlformats.org/drawingml/2006/main">
            <a:r>
              <a:t>INTERNAL REVIEW DRAFT - HUMAN APPROVAL REQUIRED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S4: KatKin / Trustpilot / Cats.com — Pricing, reviews and customer-friction evidence (accessed 11 September 2026), katkin.com/our-pricing; uk.trustpilot.com/review/katkin.com; cats.com/katkin-cat-food-review</a:t>
            </a:r>
          </a:p>
          <a:p xmlns:a="http://schemas.openxmlformats.org/drawingml/2006/main">
            <a:r>
              <a:t>S6: Pet Business World — Jollyes retail rollout across 80 stores (August 2025), petbusinessworld.co.uk</a:t>
            </a:r>
          </a:p>
          <a:p xmlns:a="http://schemas.openxmlformats.org/drawingml/2006/main">
            <a:r>
              <a:t>Governed evidence refs: thesis:positioning_choice, ev_5c64#s2, ev_5c64#s3</a:t>
            </a:r>
          </a:p>
          <a:p xmlns:a="http://schemas.openxmlformats.org/drawingml/2006/main">
            <a:r>
              <a:t>INTERNAL REVIEW DRAFT - HUMAN APPROVAL REQUIRED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S1A: The Grocer — Series C, market share and 100m-meal scale report (December 2025), thegrocer.co.uk (Series C report)</a:t>
            </a:r>
          </a:p>
          <a:p xmlns:a="http://schemas.openxmlformats.org/drawingml/2006/main">
            <a:r>
              <a:t>S1B: Companies House / Companies in the UK — Anikin Ltd statutory accounts and balance sheet (FY2023), companieshouse.gov.uk; companiesintheuk.co.uk</a:t>
            </a:r>
          </a:p>
          <a:p xmlns:a="http://schemas.openxmlformats.org/drawingml/2006/main">
            <a:r>
              <a:t>Governed evidence refs: ev_5c64#s2, thesis:source_of_difference</a:t>
            </a:r>
          </a:p>
          <a:p xmlns:a="http://schemas.openxmlformats.org/drawingml/2006/main">
            <a:r>
              <a:t>INTERNAL REVIEW DRAFT - HUMAN APPROVAL REQUIRED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T1: Narratiive governed workflow — Approved KatKin Strategy Thesis (September 2026), artifact-63f71c6bacf78fe6-92b790e0f4def86f</a:t>
            </a:r>
          </a:p>
          <a:p xmlns:a="http://schemas.openxmlformats.org/drawingml/2006/main">
            <a:r>
              <a:t>Governed evidence refs: thesis:positioning_choice, ev_5c64#s2, ev_5c64#s3</a:t>
            </a:r>
          </a:p>
          <a:p xmlns:a="http://schemas.openxmlformats.org/drawingml/2006/main">
            <a:r>
              <a:t>INTERNAL REVIEW DRAFT - HUMAN APPROVAL REQUIRED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S2: KatKin / Journal of Animal Science — KatKin heat-damage study and peer-reviewed AGE research (accessed 11 September 2026), katkin.com/articles/katkins-heat-damage-study; Journal of Animal Science</a:t>
            </a:r>
          </a:p>
          <a:p xmlns:a="http://schemas.openxmlformats.org/drawingml/2006/main">
            <a:r>
              <a:t>S3: Untamed / Bubblegum Search — Competitor claims and organic-search comparison (Q3 2025 to September 2026), untamed.com; bubblegumsearch.com</a:t>
            </a:r>
          </a:p>
          <a:p xmlns:a="http://schemas.openxmlformats.org/drawingml/2006/main">
            <a:r>
              <a:t>T1: Narratiive governed workflow — Approved KatKin Strategy Thesis (September 2026), artifact-63f71c6bacf78fe6-92b790e0f4def86f</a:t>
            </a:r>
          </a:p>
          <a:p xmlns:a="http://schemas.openxmlformats.org/drawingml/2006/main">
            <a:r>
              <a:t>Governed evidence refs: thesis:positioning_choice, ev_5c64#s2, ev_5c64#s3</a:t>
            </a:r>
          </a:p>
          <a:p xmlns:a="http://schemas.openxmlformats.org/drawingml/2006/main">
            <a:r>
              <a:t>INTERNAL REVIEW DRAFT - HUMAN APPROVAL REQUIRED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S2: KatKin / Journal of Animal Science — KatKin heat-damage study and peer-reviewed AGE research (accessed 11 September 2026), katkin.com/articles/katkins-heat-damage-study; Journal of Animal Science</a:t>
            </a:r>
          </a:p>
          <a:p xmlns:a="http://schemas.openxmlformats.org/drawingml/2006/main">
            <a:r>
              <a:t>S3: Untamed / Bubblegum Search — Competitor claims and organic-search comparison (Q3 2025 to September 2026), untamed.com; bubblegumsearch.com</a:t>
            </a:r>
          </a:p>
          <a:p xmlns:a="http://schemas.openxmlformats.org/drawingml/2006/main">
            <a:r>
              <a:t>T1: Narratiive governed workflow — Approved KatKin Strategy Thesis (September 2026), artifact-63f71c6bacf78fe6-92b790e0f4def86f</a:t>
            </a:r>
          </a:p>
          <a:p xmlns:a="http://schemas.openxmlformats.org/drawingml/2006/main">
            <a:r>
              <a:t>Governed evidence refs: thesis:positioning_choice, ev_5c64#s2, ev_5c64#s3</a:t>
            </a:r>
          </a:p>
          <a:p xmlns:a="http://schemas.openxmlformats.org/drawingml/2006/main">
            <a:r>
              <a:t>INTERNAL REVIEW DRAFT - HUMAN APPROVAL REQUIRED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S2: KatKin / Journal of Animal Science — KatKin heat-damage study and peer-reviewed AGE research (accessed 11 September 2026), katkin.com/articles/katkins-heat-damage-study; Journal of Animal Science</a:t>
            </a:r>
          </a:p>
          <a:p xmlns:a="http://schemas.openxmlformats.org/drawingml/2006/main">
            <a:r>
              <a:t>T1: Narratiive governed workflow — Approved KatKin Strategy Thesis (September 2026), artifact-63f71c6bacf78fe6-92b790e0f4def86f</a:t>
            </a:r>
          </a:p>
          <a:p xmlns:a="http://schemas.openxmlformats.org/drawingml/2006/main">
            <a:r>
              <a:t>Governed evidence refs: thesis:narrative_platform, ev_5c64#s2</a:t>
            </a:r>
          </a:p>
          <a:p xmlns:a="http://schemas.openxmlformats.org/drawingml/2006/main">
            <a:r>
              <a:t>INTERNAL REVIEW DRAFT - HUMAN APPROVAL REQUIRED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S2: KatKin / Journal of Animal Science — KatKin heat-damage study and peer-reviewed AGE research (accessed 11 September 2026), katkin.com/articles/katkins-heat-damage-study; Journal of Animal Science</a:t>
            </a:r>
          </a:p>
          <a:p xmlns:a="http://schemas.openxmlformats.org/drawingml/2006/main">
            <a:r>
              <a:t>T1: Narratiive governed workflow — Approved KatKin Strategy Thesis (September 2026), artifact-63f71c6bacf78fe6-92b790e0f4def86f</a:t>
            </a:r>
          </a:p>
          <a:p xmlns:a="http://schemas.openxmlformats.org/drawingml/2006/main">
            <a:r>
              <a:t>Governed evidence refs: thesis:narrative_platform, ev_5c64#s2</a:t>
            </a:r>
          </a:p>
          <a:p xmlns:a="http://schemas.openxmlformats.org/drawingml/2006/main">
            <a:r>
              <a:t>INTERNAL REVIEW DRAFT - HUMAN APPROVAL REQUIRED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S2: KatKin / Journal of Animal Science — KatKin heat-damage study and peer-reviewed AGE research (accessed 11 September 2026), katkin.com/articles/katkins-heat-damage-study; Journal of Animal Science</a:t>
            </a:r>
          </a:p>
          <a:p xmlns:a="http://schemas.openxmlformats.org/drawingml/2006/main">
            <a:r>
              <a:t>T1: Narratiive governed workflow — Approved KatKin Strategy Thesis (September 2026), artifact-63f71c6bacf78fe6-92b790e0f4def86f</a:t>
            </a:r>
          </a:p>
          <a:p xmlns:a="http://schemas.openxmlformats.org/drawingml/2006/main">
            <a:r>
              <a:t>Governed evidence refs: thesis:narrative_platform, ev_5c64#s2</a:t>
            </a:r>
          </a:p>
          <a:p xmlns:a="http://schemas.openxmlformats.org/drawingml/2006/main">
            <a:r>
              <a:t>INTERNAL REVIEW DRAFT - HUMAN APPROVAL REQUIRED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S1A: The Grocer — Series C, market share and 100m-meal scale report (December 2025), thegrocer.co.uk (Series C report)</a:t>
            </a:r>
          </a:p>
          <a:p xmlns:a="http://schemas.openxmlformats.org/drawingml/2006/main">
            <a:r>
              <a:t>S8: Research &amp; Markets — UK cat food market estimate, USD 765.91m (2025 report), researchandmarkets.com</a:t>
            </a:r>
          </a:p>
          <a:p xmlns:a="http://schemas.openxmlformats.org/drawingml/2006/main">
            <a:r>
              <a:t>Governed evidence refs: thesis:growth_opportunity, ev_5c64#s5, ev_5c64#s7</a:t>
            </a:r>
          </a:p>
          <a:p xmlns:a="http://schemas.openxmlformats.org/drawingml/2006/main">
            <a:r>
              <a:t>INTERNAL REVIEW DRAFT - HUMAN APPROVAL REQUIRED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T1: Narratiive governed workflow — Approved KatKin Strategy Thesis (September 2026), artifact-63f71c6bacf78fe6-92b790e0f4def86f</a:t>
            </a:r>
          </a:p>
          <a:p xmlns:a="http://schemas.openxmlformats.org/drawingml/2006/main">
            <a:r>
              <a:t>Governed evidence refs: thesis:activation_principles</a:t>
            </a:r>
          </a:p>
          <a:p xmlns:a="http://schemas.openxmlformats.org/drawingml/2006/main">
            <a:r>
              <a:t>INTERNAL REVIEW DRAFT - HUMAN APPROVAL REQUIRED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T1: Narratiive governed workflow — Approved KatKin Strategy Thesis (September 2026), artifact-63f71c6bacf78fe6-92b790e0f4def86f</a:t>
            </a:r>
          </a:p>
          <a:p xmlns:a="http://schemas.openxmlformats.org/drawingml/2006/main">
            <a:r>
              <a:t>Governed evidence refs: thesis:activation_principles</a:t>
            </a:r>
          </a:p>
          <a:p xmlns:a="http://schemas.openxmlformats.org/drawingml/2006/main">
            <a:r>
              <a:t>INTERNAL REVIEW DRAFT - HUMAN APPROVAL REQUIRED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T1: Narratiive governed workflow — Approved KatKin Strategy Thesis (September 2026), artifact-63f71c6bacf78fe6-92b790e0f4def86f</a:t>
            </a:r>
          </a:p>
          <a:p xmlns:a="http://schemas.openxmlformats.org/drawingml/2006/main">
            <a:r>
              <a:t>Governed evidence refs: thesis:activation_principles</a:t>
            </a:r>
          </a:p>
          <a:p xmlns:a="http://schemas.openxmlformats.org/drawingml/2006/main">
            <a:r>
              <a:t>INTERNAL REVIEW DRAFT - HUMAN APPROVAL REQUIRED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S2: KatKin / Journal of Animal Science — KatKin heat-damage study and peer-reviewed AGE research (accessed 11 September 2026), katkin.com/articles/katkins-heat-damage-study; Journal of Animal Science</a:t>
            </a:r>
          </a:p>
          <a:p xmlns:a="http://schemas.openxmlformats.org/drawingml/2006/main">
            <a:r>
              <a:t>T1: Narratiive governed workflow — Approved KatKin Strategy Thesis (September 2026), artifact-63f71c6bacf78fe6-92b790e0f4def86f</a:t>
            </a:r>
          </a:p>
          <a:p xmlns:a="http://schemas.openxmlformats.org/drawingml/2006/main">
            <a:r>
              <a:t>Governed evidence refs: thesis:activation_principles</a:t>
            </a:r>
          </a:p>
          <a:p xmlns:a="http://schemas.openxmlformats.org/drawingml/2006/main">
            <a:r>
              <a:t>INTERNAL REVIEW DRAFT - HUMAN APPROVAL REQUIRED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T1: Narratiive governed workflow — Approved KatKin Strategy Thesis (September 2026), artifact-63f71c6bacf78fe6-92b790e0f4def86f</a:t>
            </a:r>
          </a:p>
          <a:p xmlns:a="http://schemas.openxmlformats.org/drawingml/2006/main">
            <a:r>
              <a:t>Governed evidence refs: thesis:activation_principles</a:t>
            </a:r>
          </a:p>
          <a:p xmlns:a="http://schemas.openxmlformats.org/drawingml/2006/main">
            <a:r>
              <a:t>INTERNAL REVIEW DRAFT - HUMAN APPROVAL REQUIRED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T1: Narratiive governed workflow — Approved KatKin Strategy Thesis (September 2026), artifact-63f71c6bacf78fe6-92b790e0f4def86f</a:t>
            </a:r>
          </a:p>
          <a:p xmlns:a="http://schemas.openxmlformats.org/drawingml/2006/main">
            <a:r>
              <a:t>Governed evidence refs: thesis:growth_opportunity, ev_5c64#s5, ev_5c64#s7</a:t>
            </a:r>
          </a:p>
          <a:p xmlns:a="http://schemas.openxmlformats.org/drawingml/2006/main">
            <a:r>
              <a:t>INTERNAL REVIEW DRAFT - HUMAN APPROVAL REQUIRED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T1: Narratiive governed workflow — Approved KatKin Strategy Thesis (September 2026), artifact-63f71c6bacf78fe6-92b790e0f4def86f</a:t>
            </a:r>
          </a:p>
          <a:p xmlns:a="http://schemas.openxmlformats.org/drawingml/2006/main">
            <a:r>
              <a:t>Governed evidence refs: none</a:t>
            </a:r>
          </a:p>
          <a:p xmlns:a="http://schemas.openxmlformats.org/drawingml/2006/main">
            <a:r>
              <a:t>INTERNAL REVIEW DRAFT - HUMAN APPROVAL REQUIRED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5d05aa360e84d4f"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404aab1f59ea4ddd"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21e89f15ca784f79"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8ca1c6f12e6b4652"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c78de91a123342dd"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38067b7d2c4462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7D53C06-B0CC-4D23-BAE6-24A3BAA1ED8F}"/>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F426453C-0A80-447E-A6F4-365D3D09162E}"/>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6CDDAFFD-C654-444F-BE52-52A71DBFA2A4}"/>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222429F-87FA-4BDC-A380-C4FE9C4022C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25E5B06B-17D6-4665-BE1D-9B1EA479269A}"/>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4254A493-7C5F-4D70-B123-1C1CD3F212B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E06413F-62EC-4F14-BF70-D9445F97DA8A}"/>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DF35D502-D930-4B26-B861-2A63AE9B449D}"/>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525E6E7-AD74-4158-88E9-75B8F1CD76D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862CBB4-D61A-4804-A779-A4615AF6CD8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1ac1c5c76ea42f3" /><Relationship Type="http://schemas.openxmlformats.org/officeDocument/2006/relationships/slideLayout" Target="/ppt/slideLayouts/slideLayout1.xml" Id="Rd3759eae55904d06" /><Relationship Type="http://schemas.openxmlformats.org/officeDocument/2006/relationships/slideLayout" Target="/ppt/slideLayouts/slideLayout2.xml" Id="R62e507009f304779" /><Relationship Type="http://schemas.openxmlformats.org/officeDocument/2006/relationships/slideLayout" Target="/ppt/slideLayouts/slideLayout3.xml" Id="Rd1f54d78dcfd446a" /><Relationship Type="http://schemas.openxmlformats.org/officeDocument/2006/relationships/slideLayout" Target="/ppt/slideLayouts/slideLayout4.xml" Id="R1262a166c13c413e" /><Relationship Type="http://schemas.openxmlformats.org/officeDocument/2006/relationships/slideLayout" Target="/ppt/slideLayouts/slideLayout5.xml" Id="R824630f46068487e" /><Relationship Type="http://schemas.openxmlformats.org/officeDocument/2006/relationships/slideLayout" Target="/ppt/slideLayouts/slideLayout6.xml" Id="R4102835a24bf433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3759eae55904d06"/>
    <p:sldLayoutId xmlns:r="http://schemas.openxmlformats.org/officeDocument/2006/relationships" id="2147483650" r:id="R62e507009f304779"/>
    <p:sldLayoutId xmlns:r="http://schemas.openxmlformats.org/officeDocument/2006/relationships" id="2147483651" r:id="Rd1f54d78dcfd446a"/>
    <p:sldLayoutId xmlns:r="http://schemas.openxmlformats.org/officeDocument/2006/relationships" id="2147483652" r:id="R1262a166c13c413e"/>
    <p:sldLayoutId xmlns:r="http://schemas.openxmlformats.org/officeDocument/2006/relationships" id="2147483653" r:id="R824630f46068487e"/>
    <p:sldLayoutId xmlns:r="http://schemas.openxmlformats.org/officeDocument/2006/relationships" id="2147483654" r:id="R4102835a24bf433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0da55ab6b668427e" /><Relationship Type="http://schemas.openxmlformats.org/officeDocument/2006/relationships/image" Target="/ppt/media/image.png" Id="Rf99da166414a43e9" /><Relationship Type="http://schemas.openxmlformats.org/officeDocument/2006/relationships/notesSlide" Target="/ppt/notesSlides/notesSlide1.xml" Id="Rec37632931b24a50"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abab93efd6a44773" /><Relationship Type="http://schemas.openxmlformats.org/officeDocument/2006/relationships/notesSlide" Target="/ppt/notesSlides/notesSlide2.xml" Id="R58ca06ed3c08477a"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f05fe39f36ee427f" /><Relationship Type="http://schemas.openxmlformats.org/officeDocument/2006/relationships/notesSlide" Target="/ppt/notesSlides/notesSlide3.xml" Id="R7ebf1b8cc6b646a0"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f9607286aba44ecd" /><Relationship Type="http://schemas.openxmlformats.org/officeDocument/2006/relationships/notesSlide" Target="/ppt/notesSlides/notesSlide4.xml" Id="Rfa342efec4ee4ed4"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5affc05ee06d4d1a" /><Relationship Type="http://schemas.openxmlformats.org/officeDocument/2006/relationships/notesSlide" Target="/ppt/notesSlides/notesSlide5.xml" Id="R701b134d252845e2"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1a45c07aa8e64f8a" /><Relationship Type="http://schemas.openxmlformats.org/officeDocument/2006/relationships/notesSlide" Target="/ppt/notesSlides/notesSlide6.xml" Id="R01365e1ec78f469c"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09f8b81f09864c89" /><Relationship Type="http://schemas.openxmlformats.org/officeDocument/2006/relationships/image" Target="/ppt/media/image2.png" Id="R86eeee9ece5f4d29" /><Relationship Type="http://schemas.openxmlformats.org/officeDocument/2006/relationships/notesSlide" Target="/ppt/notesSlides/notesSlide7.xml" Id="R36a2aeb5b5ec4205"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eab1992d8f494cdd" /><Relationship Type="http://schemas.openxmlformats.org/officeDocument/2006/relationships/notesSlide" Target="/ppt/notesSlides/notesSlide8.xml" Id="R7c36208306d34153"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91cdb99d855f49fd" /><Relationship Type="http://schemas.openxmlformats.org/officeDocument/2006/relationships/notesSlide" Target="/ppt/notesSlides/notesSlide9.xml" Id="Rf7d19a18f97d45d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2b6ef396543e4d1a" /><Relationship Type="http://schemas.openxmlformats.org/officeDocument/2006/relationships/notesSlide" Target="/ppt/notesSlides/notesSlide10.xml" Id="R6c14100408f2477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e7e660d29a8f4beb" /><Relationship Type="http://schemas.openxmlformats.org/officeDocument/2006/relationships/notesSlide" Target="/ppt/notesSlides/notesSlide11.xml" Id="R84c8386fc626466d"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8bb3895c4979419b" /><Relationship Type="http://schemas.openxmlformats.org/officeDocument/2006/relationships/notesSlide" Target="/ppt/notesSlides/notesSlide12.xml" Id="Rd02e0133452147a1"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dd54a97f65a14b84" /><Relationship Type="http://schemas.openxmlformats.org/officeDocument/2006/relationships/image" Target="/ppt/media/image3.png" Id="Rba2b0c52b63a405a" /><Relationship Type="http://schemas.openxmlformats.org/officeDocument/2006/relationships/notesSlide" Target="/ppt/notesSlides/notesSlide13.xml" Id="Rbef937e46f974f77"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6a5a0929987b4ab0" /><Relationship Type="http://schemas.openxmlformats.org/officeDocument/2006/relationships/notesSlide" Target="/ppt/notesSlides/notesSlide14.xml" Id="R2e10d41d93ea40a3"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9cde723157854483" /><Relationship Type="http://schemas.openxmlformats.org/officeDocument/2006/relationships/notesSlide" Target="/ppt/notesSlides/notesSlide15.xml" Id="Rba53862feb374d4c"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debe6744cb3a4c94" /><Relationship Type="http://schemas.openxmlformats.org/officeDocument/2006/relationships/notesSlide" Target="/ppt/notesSlides/notesSlide16.xml" Id="Re58e279ddfab4c26"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52536dd4e1e84181" /><Relationship Type="http://schemas.openxmlformats.org/officeDocument/2006/relationships/notesSlide" Target="/ppt/notesSlides/notesSlide17.xml" Id="Rf9554ef8e1c646be"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428d81fa5c1349ea" /><Relationship Type="http://schemas.openxmlformats.org/officeDocument/2006/relationships/notesSlide" Target="/ppt/notesSlides/notesSlide18.xml" Id="R11d1aca3a8084e60"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805c84ba851a4701" /><Relationship Type="http://schemas.openxmlformats.org/officeDocument/2006/relationships/notesSlide" Target="/ppt/notesSlides/notesSlide19.xml" Id="R0b7292ebc16844cb"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dcb93c8594d04b94" /><Relationship Type="http://schemas.openxmlformats.org/officeDocument/2006/relationships/notesSlide" Target="/ppt/notesSlides/notesSlide20.xml" Id="R7d924aec9af043da"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83364267cb5841c0" /><Relationship Type="http://schemas.openxmlformats.org/officeDocument/2006/relationships/notesSlide" Target="/ppt/notesSlides/notesSlide21.xml" Id="R360c0fb4efe746aa"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a951018007f04a3c" /><Relationship Type="http://schemas.openxmlformats.org/officeDocument/2006/relationships/notesSlide" Target="/ppt/notesSlides/notesSlide22.xml" Id="Rc5038077c1004e6f"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7627cb6a6e1a42fe" /><Relationship Type="http://schemas.openxmlformats.org/officeDocument/2006/relationships/notesSlide" Target="/ppt/notesSlides/notesSlide23.xml" Id="Redc59e33e1124108"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8ed34c2b884e4d7c" /><Relationship Type="http://schemas.openxmlformats.org/officeDocument/2006/relationships/notesSlide" Target="/ppt/notesSlides/notesSlide24.xml" Id="R3a8ac263d5bf4328"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9916b5cc74e04e4e" /><Relationship Type="http://schemas.openxmlformats.org/officeDocument/2006/relationships/notesSlide" Target="/ppt/notesSlides/notesSlide25.xml" Id="R34aca5ea9d7641ad"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bf94a3e5b6334047" /><Relationship Type="http://schemas.openxmlformats.org/officeDocument/2006/relationships/notesSlide" Target="/ppt/notesSlides/notesSlide26.xml" Id="Ra9393c3923b542cf"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4112c1321bad4dba" /><Relationship Type="http://schemas.openxmlformats.org/officeDocument/2006/relationships/notesSlide" Target="/ppt/notesSlides/notesSlide27.xml" Id="Rbc5c74fb13134705"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1fb699770fa04fb4" /><Relationship Type="http://schemas.openxmlformats.org/officeDocument/2006/relationships/notesSlide" Target="/ppt/notesSlides/notesSlide28.xml" Id="R88e1ba92f3a842d6"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63e8bedf703942bf" /><Relationship Type="http://schemas.openxmlformats.org/officeDocument/2006/relationships/notesSlide" Target="/ppt/notesSlides/notesSlide29.xml" Id="R5ab192e37a5b4781"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c2e6ee2d02e44feb" /><Relationship Type="http://schemas.openxmlformats.org/officeDocument/2006/relationships/notesSlide" Target="/ppt/notesSlides/notesSlide30.xml" Id="R11a50b4199e54ebb" /></Relationships>
</file>

<file path=ppt/slides/slide1.xml><?xml version="1.0" encoding="utf-8"?>
<p:sld xmlns:p="http://schemas.openxmlformats.org/presentationml/2006/main">
  <p:cSld>
    <p:bg>
      <p:bgPr>
        <a:solidFill xmlns:a="http://schemas.openxmlformats.org/drawingml/2006/main">
          <a:srgbClr val="15121B"/>
        </a:solidFill>
      </p:bgPr>
    </p:bg>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EF7ACCB7-4857-4506-BCC6-64C291C346B0}"/>
              </a:ext>
            </a:extLst>
          </p:cNvPr>
          <p:cNvPicPr>
            <a:picLocks xmlns:a="http://schemas.openxmlformats.org/drawingml/2006/main" noChangeAspect="1"/>
          </p:cNvPicPr>
          <p:nvPr/>
        </p:nvPicPr>
        <p:blipFill>
          <a:blip xmlns:r="http://schemas.openxmlformats.org/officeDocument/2006/relationships" xmlns:a="http://schemas.openxmlformats.org/drawingml/2006/main" r:embed="Rf99da166414a43e9"/>
          <a:srcRect xmlns:a="http://schemas.openxmlformats.org/drawingml/2006/main" l="27723" t="0" r="27723" b="0"/>
          <a:stretch xmlns:a="http://schemas.openxmlformats.org/drawingml/2006/main">
            <a:fillRect l="0" t="0" r="0" b="0"/>
          </a:stretch>
        </p:blipFill>
        <p:spPr>
          <a:xfrm xmlns:a="http://schemas.openxmlformats.org/drawingml/2006/main">
            <a:off x="6762750" y="0"/>
            <a:ext cx="542925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ECB112A-8A4F-424A-83A3-BEF2868D91FD}"/>
              </a:ext>
            </a:extLst>
          </p:cNvPr>
          <p:cNvSpPr>
            <a:spLocks xmlns:a="http://schemas.openxmlformats.org/drawingml/2006/main" noGrp="1"/>
          </p:cNvSpPr>
          <p:nvPr/>
        </p:nvSpPr>
        <p:spPr>
          <a:xfrm xmlns:a="http://schemas.openxmlformats.org/drawingml/2006/main">
            <a:off x="0" y="0"/>
            <a:ext cx="7810500" cy="6858000"/>
          </a:xfrm>
          <a:prstGeom xmlns:a="http://schemas.openxmlformats.org/drawingml/2006/main" prst="rect">
            <a:avLst/>
          </a:prstGeom>
          <a:solidFill xmlns:a="http://schemas.openxmlformats.org/drawingml/2006/main">
            <a:srgbClr val="15121B">
              <a:alpha val="93725"/>
            </a:srgbClr>
          </a:solidFill>
          <a:ln xmlns:a="http://schemas.openxmlformats.org/drawingml/2006/main" w="0">
            <a:solidFill>
              <a:srgbClr val="15121B">
                <a:alpha val="93725"/>
              </a:srgbClr>
            </a:solidFill>
          </a:ln>
        </p:spPr>
      </p:sp>
      <p:sp>
        <p:nvSpPr>
          <p:cNvPr id="3" name="">
            <a:extLst xmlns:a="http://schemas.openxmlformats.org/drawingml/2006/main">
              <a:ext uri="{FF2B5EF4-FFF2-40B4-BE49-F238E27FC236}">
                <a16:creationId xmlns:a16="http://schemas.microsoft.com/office/drawing/2014/main" id="{93B22EE8-B88B-435A-99B1-57EFC77BA198}"/>
              </a:ext>
            </a:extLst>
          </p:cNvPr>
          <p:cNvSpPr>
            <a:spLocks xmlns:a="http://schemas.openxmlformats.org/drawingml/2006/main" noGrp="1"/>
          </p:cNvSpPr>
          <p:nvPr/>
        </p:nvSpPr>
        <p:spPr>
          <a:xfrm xmlns:a="http://schemas.openxmlformats.org/drawingml/2006/main">
            <a:off x="0" y="0"/>
            <a:ext cx="133350" cy="6858000"/>
          </a:xfrm>
          <a:prstGeom xmlns:a="http://schemas.openxmlformats.org/drawingml/2006/main" prst="rect">
            <a:avLst/>
          </a:prstGeom>
          <a:solidFill xmlns:a="http://schemas.openxmlformats.org/drawingml/2006/main">
            <a:srgbClr val="FF654F"/>
          </a:solidFill>
          <a:ln xmlns:a="http://schemas.openxmlformats.org/drawingml/2006/main" w="0">
            <a:solidFill>
              <a:srgbClr val="FF654F"/>
            </a:solidFill>
          </a:ln>
        </p:spPr>
      </p:sp>
      <p:sp>
        <p:nvSpPr>
          <p:cNvPr id="4" name="">
            <a:extLst xmlns:a="http://schemas.openxmlformats.org/drawingml/2006/main">
              <a:ext uri="{FF2B5EF4-FFF2-40B4-BE49-F238E27FC236}">
                <a16:creationId xmlns:a16="http://schemas.microsoft.com/office/drawing/2014/main" id="{BB1B6D3D-3470-425B-84CC-1B0EB6FC5B5F}"/>
              </a:ext>
            </a:extLst>
          </p:cNvPr>
          <p:cNvSpPr>
            <a:spLocks xmlns:a="http://schemas.openxmlformats.org/drawingml/2006/main" noGrp="1"/>
          </p:cNvSpPr>
          <p:nvPr/>
        </p:nvSpPr>
        <p:spPr>
          <a:xfrm xmlns:a="http://schemas.openxmlformats.org/drawingml/2006/main">
            <a:off x="781050" y="628650"/>
            <a:ext cx="2286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125" b="1" i="0">
                <a:solidFill>
                  <a:srgbClr val="FFFDFC"/>
                </a:solidFill>
                <a:latin typeface="Helvetica"/>
                <a:ea typeface="Helvetica"/>
                <a:cs typeface="Helvetica"/>
              </a:defRPr>
            </a:defPPr>
          </a:lstStyle>
          <a:p xmlns:a="http://schemas.openxmlformats.org/drawingml/2006/main">
            <a:pPr algn="l">
              <a:defRPr sz="1125" b="1" i="0">
                <a:solidFill>
                  <a:srgbClr val="FFFDFC"/>
                </a:solidFill>
                <a:latin typeface="Helvetica"/>
                <a:ea typeface="Helvetica"/>
                <a:cs typeface="Helvetica"/>
              </a:defRPr>
            </a:pPr>
            <a:r>
              <a:rPr sz="1125" b="1" i="0">
                <a:solidFill>
                  <a:srgbClr val="FFFDFC"/>
                </a:solidFill>
                <a:latin typeface="Helvetica"/>
                <a:ea typeface="Helvetica"/>
                <a:cs typeface="Helvetica"/>
              </a:rPr>
              <a:t>NARRATIIVE</a:t>
            </a:r>
          </a:p>
        </p:txBody>
      </p:sp>
      <p:sp>
        <p:nvSpPr>
          <p:cNvPr id="5" name="">
            <a:extLst xmlns:a="http://schemas.openxmlformats.org/drawingml/2006/main">
              <a:ext uri="{FF2B5EF4-FFF2-40B4-BE49-F238E27FC236}">
                <a16:creationId xmlns:a16="http://schemas.microsoft.com/office/drawing/2014/main" id="{5F4457FE-6774-4B80-AD3D-902B3901DD61}"/>
              </a:ext>
            </a:extLst>
          </p:cNvPr>
          <p:cNvSpPr>
            <a:spLocks xmlns:a="http://schemas.openxmlformats.org/drawingml/2006/main" noGrp="1"/>
          </p:cNvSpPr>
          <p:nvPr/>
        </p:nvSpPr>
        <p:spPr>
          <a:xfrm xmlns:a="http://schemas.openxmlformats.org/drawingml/2006/main">
            <a:off x="781050" y="1000125"/>
            <a:ext cx="3429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750" b="1" i="0">
                <a:solidFill>
                  <a:srgbClr val="C8B7E8"/>
                </a:solidFill>
                <a:latin typeface="Helvetica"/>
                <a:ea typeface="Helvetica"/>
                <a:cs typeface="Helvetica"/>
              </a:defRPr>
            </a:defPPr>
          </a:lstStyle>
          <a:p xmlns:a="http://schemas.openxmlformats.org/drawingml/2006/main">
            <a:pPr algn="l">
              <a:defRPr sz="750" b="1" i="0">
                <a:solidFill>
                  <a:srgbClr val="C8B7E8"/>
                </a:solidFill>
                <a:latin typeface="Helvetica"/>
                <a:ea typeface="Helvetica"/>
                <a:cs typeface="Helvetica"/>
              </a:defRPr>
            </a:pPr>
            <a:r>
              <a:rPr sz="750" b="1" i="0">
                <a:solidFill>
                  <a:srgbClr val="C8B7E8"/>
                </a:solidFill>
                <a:latin typeface="Helvetica"/>
                <a:ea typeface="Helvetica"/>
                <a:cs typeface="Helvetica"/>
              </a:rPr>
              <a:t>GROWTH BLUEPRINT / 2026</a:t>
            </a:r>
          </a:p>
        </p:txBody>
      </p:sp>
      <p:sp>
        <p:nvSpPr>
          <p:cNvPr id="6" name="">
            <a:extLst xmlns:a="http://schemas.openxmlformats.org/drawingml/2006/main">
              <a:ext uri="{FF2B5EF4-FFF2-40B4-BE49-F238E27FC236}">
                <a16:creationId xmlns:a16="http://schemas.microsoft.com/office/drawing/2014/main" id="{2A59BE42-A93F-420E-A29D-0874D32A099A}"/>
              </a:ext>
            </a:extLst>
          </p:cNvPr>
          <p:cNvSpPr>
            <a:spLocks xmlns:a="http://schemas.openxmlformats.org/drawingml/2006/main" noGrp="1"/>
          </p:cNvSpPr>
          <p:nvPr/>
        </p:nvSpPr>
        <p:spPr>
          <a:xfrm xmlns:a="http://schemas.openxmlformats.org/drawingml/2006/main">
            <a:off x="781050" y="2266950"/>
            <a:ext cx="5715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5100" b="1" i="0">
                <a:solidFill>
                  <a:srgbClr val="FFFDFC"/>
                </a:solidFill>
                <a:latin typeface="Helvetica"/>
                <a:ea typeface="Helvetica"/>
                <a:cs typeface="Helvetica"/>
              </a:defRPr>
            </a:defPPr>
          </a:lstStyle>
          <a:p xmlns:a="http://schemas.openxmlformats.org/drawingml/2006/main">
            <a:pPr algn="l">
              <a:defRPr sz="5100" b="1" i="0">
                <a:solidFill>
                  <a:srgbClr val="FFFDFC"/>
                </a:solidFill>
                <a:latin typeface="Helvetica"/>
                <a:ea typeface="Helvetica"/>
                <a:cs typeface="Helvetica"/>
              </a:defRPr>
            </a:pPr>
            <a:r>
              <a:rPr sz="5100" b="1" i="0">
                <a:solidFill>
                  <a:srgbClr val="FFFDFC"/>
                </a:solidFill>
                <a:latin typeface="Helvetica"/>
                <a:ea typeface="Helvetica"/>
                <a:cs typeface="Helvetica"/>
              </a:rPr>
              <a:t>KatKin</a:t>
            </a:r>
          </a:p>
        </p:txBody>
      </p:sp>
      <p:sp>
        <p:nvSpPr>
          <p:cNvPr id="7" name="">
            <a:extLst xmlns:a="http://schemas.openxmlformats.org/drawingml/2006/main">
              <a:ext uri="{FF2B5EF4-FFF2-40B4-BE49-F238E27FC236}">
                <a16:creationId xmlns:a16="http://schemas.microsoft.com/office/drawing/2014/main" id="{3885B126-7693-4B92-AAF3-266F82E7C1A1}"/>
              </a:ext>
            </a:extLst>
          </p:cNvPr>
          <p:cNvSpPr>
            <a:spLocks xmlns:a="http://schemas.openxmlformats.org/drawingml/2006/main" noGrp="1"/>
          </p:cNvSpPr>
          <p:nvPr/>
        </p:nvSpPr>
        <p:spPr>
          <a:xfrm xmlns:a="http://schemas.openxmlformats.org/drawingml/2006/main">
            <a:off x="800100" y="3238500"/>
            <a:ext cx="6096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2100" b="1" i="0">
                <a:solidFill>
                  <a:srgbClr val="FF654F"/>
                </a:solidFill>
                <a:latin typeface="Helvetica"/>
                <a:ea typeface="Helvetica"/>
                <a:cs typeface="Helvetica"/>
              </a:defRPr>
            </a:defPPr>
          </a:lstStyle>
          <a:p xmlns:a="http://schemas.openxmlformats.org/drawingml/2006/main">
            <a:pPr algn="l">
              <a:defRPr sz="2100" b="1" i="0">
                <a:solidFill>
                  <a:srgbClr val="FF654F"/>
                </a:solidFill>
                <a:latin typeface="Helvetica"/>
                <a:ea typeface="Helvetica"/>
                <a:cs typeface="Helvetica"/>
              </a:defRPr>
            </a:pPr>
            <a:r>
              <a:rPr sz="2100" b="1" i="0">
                <a:solidFill>
                  <a:srgbClr val="FF654F"/>
                </a:solidFill>
                <a:latin typeface="Helvetica"/>
                <a:ea typeface="Helvetica"/>
                <a:cs typeface="Helvetica"/>
              </a:rPr>
              <a:t>The science cats deserve</a:t>
            </a:r>
          </a:p>
        </p:txBody>
      </p:sp>
      <p:sp>
        <p:nvSpPr>
          <p:cNvPr id="8" name="">
            <a:extLst xmlns:a="http://schemas.openxmlformats.org/drawingml/2006/main">
              <a:ext uri="{FF2B5EF4-FFF2-40B4-BE49-F238E27FC236}">
                <a16:creationId xmlns:a16="http://schemas.microsoft.com/office/drawing/2014/main" id="{274B5165-F87E-4D0F-B596-DE4DFAC05499}"/>
              </a:ext>
            </a:extLst>
          </p:cNvPr>
          <p:cNvSpPr>
            <a:spLocks xmlns:a="http://schemas.openxmlformats.org/drawingml/2006/main" noGrp="1"/>
          </p:cNvSpPr>
          <p:nvPr/>
        </p:nvSpPr>
        <p:spPr>
          <a:xfrm xmlns:a="http://schemas.openxmlformats.org/drawingml/2006/main">
            <a:off x="800100" y="3924300"/>
            <a:ext cx="5905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350" b="0" i="0">
                <a:solidFill>
                  <a:srgbClr val="FFFDFC"/>
                </a:solidFill>
                <a:latin typeface="Helvetica"/>
                <a:ea typeface="Helvetica"/>
                <a:cs typeface="Helvetica"/>
              </a:defRPr>
            </a:defPPr>
          </a:lstStyle>
          <a:p xmlns:a="http://schemas.openxmlformats.org/drawingml/2006/main">
            <a:pPr algn="l">
              <a:defRPr sz="1350" b="0" i="0">
                <a:solidFill>
                  <a:srgbClr val="FFFDFC"/>
                </a:solidFill>
                <a:latin typeface="Helvetica"/>
                <a:ea typeface="Helvetica"/>
                <a:cs typeface="Helvetica"/>
              </a:defRPr>
            </a:pPr>
            <a:r>
              <a:rPr sz="1350" b="0" i="0">
                <a:solidFill>
                  <a:srgbClr val="FFFDFC"/>
                </a:solidFill>
                <a:latin typeface="Helvetica"/>
                <a:ea typeface="Helvetica"/>
                <a:cs typeface="Helvetica"/>
              </a:rPr>
              <a:t>From category claim to category authority</a:t>
            </a:r>
          </a:p>
        </p:txBody>
      </p:sp>
      <p:sp>
        <p:nvSpPr>
          <p:cNvPr id="9" name="">
            <a:extLst xmlns:a="http://schemas.openxmlformats.org/drawingml/2006/main">
              <a:ext uri="{FF2B5EF4-FFF2-40B4-BE49-F238E27FC236}">
                <a16:creationId xmlns:a16="http://schemas.microsoft.com/office/drawing/2014/main" id="{9C76536C-25C8-4D8B-A5D3-440F89AC6B75}"/>
              </a:ext>
            </a:extLst>
          </p:cNvPr>
          <p:cNvSpPr>
            <a:spLocks xmlns:a="http://schemas.openxmlformats.org/drawingml/2006/main" noGrp="1"/>
          </p:cNvSpPr>
          <p:nvPr/>
        </p:nvSpPr>
        <p:spPr>
          <a:xfrm xmlns:a="http://schemas.openxmlformats.org/drawingml/2006/main">
            <a:off x="800100" y="6115050"/>
            <a:ext cx="6477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675" b="1" i="0">
                <a:solidFill>
                  <a:srgbClr val="C8B7E8"/>
                </a:solidFill>
                <a:latin typeface="Helvetica"/>
                <a:ea typeface="Helvetica"/>
                <a:cs typeface="Helvetica"/>
              </a:defRPr>
            </a:defPPr>
          </a:lstStyle>
          <a:p xmlns:a="http://schemas.openxmlformats.org/drawingml/2006/main">
            <a:pPr algn="l">
              <a:defRPr sz="675" b="1" i="0">
                <a:solidFill>
                  <a:srgbClr val="C8B7E8"/>
                </a:solidFill>
                <a:latin typeface="Helvetica"/>
                <a:ea typeface="Helvetica"/>
                <a:cs typeface="Helvetica"/>
              </a:defRPr>
            </a:pPr>
            <a:r>
              <a:rPr sz="675" b="1" i="0">
                <a:solidFill>
                  <a:srgbClr val="C8B7E8"/>
                </a:solidFill>
                <a:latin typeface="Helvetica"/>
                <a:ea typeface="Helvetica"/>
                <a:cs typeface="Helvetica"/>
              </a:rPr>
              <a:t>INTERNAL REVIEW DRAFT - HUMAN APPROVAL REQUIRED</a:t>
            </a:r>
          </a:p>
        </p:txBody>
      </p:sp>
    </p:spTree>
    <p:extLst>
      <p:ext uri="{BB962C8B-B14F-4D97-AF65-F5344CB8AC3E}">
        <p14:creationId xmlns:p14="http://schemas.microsoft.com/office/powerpoint/2010/main" val="1854542011"/>
      </p:ext>
    </p:extLst>
  </p:cSld>
</p:sld>
</file>

<file path=ppt/slides/slide2.xml><?xml version="1.0" encoding="utf-8"?>
<p:sld xmlns:p="http://schemas.openxmlformats.org/presentationml/2006/main">
  <p:cSld>
    <p:bg>
      <p:bgPr>
        <a:solidFill xmlns:a="http://schemas.openxmlformats.org/drawingml/2006/main">
          <a:srgbClr val="F6F0E8"/>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25EA1760-AEE9-4009-B98C-36A6EBFDFD6C}"/>
              </a:ext>
            </a:extLst>
          </p:cNvPr>
          <p:cNvSpPr>
            <a:spLocks xmlns:a="http://schemas.openxmlformats.org/drawingml/2006/main" noGrp="1"/>
          </p:cNvSpPr>
          <p:nvPr/>
        </p:nvSpPr>
        <p:spPr>
          <a:xfrm xmlns:a="http://schemas.openxmlformats.org/drawingml/2006/main">
            <a:off x="647700" y="333375"/>
            <a:ext cx="57150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675" b="1" i="0">
                <a:solidFill>
                  <a:srgbClr val="FF654F"/>
                </a:solidFill>
                <a:latin typeface="Helvetica"/>
                <a:ea typeface="Helvetica"/>
                <a:cs typeface="Helvetica"/>
              </a:defRPr>
            </a:defPPr>
          </a:lstStyle>
          <a:p xmlns:a="http://schemas.openxmlformats.org/drawingml/2006/main">
            <a:pPr algn="l">
              <a:defRPr sz="675" b="1" i="0">
                <a:solidFill>
                  <a:srgbClr val="FF654F"/>
                </a:solidFill>
                <a:latin typeface="Helvetica"/>
                <a:ea typeface="Helvetica"/>
                <a:cs typeface="Helvetica"/>
              </a:defRPr>
            </a:pPr>
            <a:r>
              <a:rPr sz="675" b="1" i="0">
                <a:solidFill>
                  <a:srgbClr val="FF654F"/>
                </a:solidFill>
                <a:latin typeface="Helvetica"/>
                <a:ea typeface="Helvetica"/>
                <a:cs typeface="Helvetica"/>
              </a:rPr>
              <a:t>ACT 1 / THE CASE FOR CHANGE</a:t>
            </a:r>
          </a:p>
        </p:txBody>
      </p:sp>
      <p:sp>
        <p:nvSpPr>
          <p:cNvPr id="2" name="">
            <a:extLst xmlns:a="http://schemas.openxmlformats.org/drawingml/2006/main">
              <a:ext uri="{FF2B5EF4-FFF2-40B4-BE49-F238E27FC236}">
                <a16:creationId xmlns:a16="http://schemas.microsoft.com/office/drawing/2014/main" id="{2DE31550-19B9-4EEE-91E5-AB872D5700F3}"/>
              </a:ext>
            </a:extLst>
          </p:cNvPr>
          <p:cNvSpPr>
            <a:spLocks xmlns:a="http://schemas.openxmlformats.org/drawingml/2006/main" noGrp="1"/>
          </p:cNvSpPr>
          <p:nvPr/>
        </p:nvSpPr>
        <p:spPr>
          <a:xfrm xmlns:a="http://schemas.openxmlformats.org/drawingml/2006/main">
            <a:off x="647700" y="685800"/>
            <a:ext cx="1047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2325" b="1" i="0">
                <a:solidFill>
                  <a:srgbClr val="15121B"/>
                </a:solidFill>
                <a:latin typeface="Helvetica"/>
                <a:ea typeface="Helvetica"/>
                <a:cs typeface="Helvetica"/>
              </a:defRPr>
            </a:defPPr>
          </a:lstStyle>
          <a:p xmlns:a="http://schemas.openxmlformats.org/drawingml/2006/main">
            <a:pPr algn="l">
              <a:defRPr sz="2325" b="1" i="0">
                <a:solidFill>
                  <a:srgbClr val="15121B"/>
                </a:solidFill>
                <a:latin typeface="Helvetica"/>
                <a:ea typeface="Helvetica"/>
                <a:cs typeface="Helvetica"/>
              </a:defRPr>
            </a:pPr>
            <a:r>
              <a:rPr sz="2325" b="1" i="0">
                <a:solidFill>
                  <a:srgbClr val="15121B"/>
                </a:solidFill>
                <a:latin typeface="Helvetica"/>
                <a:ea typeface="Helvetica"/>
                <a:cs typeface="Helvetica"/>
              </a:rPr>
              <a:t>Executive Thesis</a:t>
            </a:r>
          </a:p>
        </p:txBody>
      </p:sp>
      <p:sp>
        <p:nvSpPr>
          <p:cNvPr id="3" name="">
            <a:extLst xmlns:a="http://schemas.openxmlformats.org/drawingml/2006/main">
              <a:ext uri="{FF2B5EF4-FFF2-40B4-BE49-F238E27FC236}">
                <a16:creationId xmlns:a16="http://schemas.microsoft.com/office/drawing/2014/main" id="{68D723DC-E250-41CD-8DC6-EE2BC528011E}"/>
              </a:ext>
            </a:extLst>
          </p:cNvPr>
          <p:cNvSpPr>
            <a:spLocks xmlns:a="http://schemas.openxmlformats.org/drawingml/2006/main" noGrp="1"/>
          </p:cNvSpPr>
          <p:nvPr/>
        </p:nvSpPr>
        <p:spPr>
          <a:xfrm xmlns:a="http://schemas.openxmlformats.org/drawingml/2006/main">
            <a:off x="647700" y="1400175"/>
            <a:ext cx="10896600" cy="19050"/>
          </a:xfrm>
          <a:prstGeom xmlns:a="http://schemas.openxmlformats.org/drawingml/2006/main" prst="rect">
            <a:avLst/>
          </a:prstGeom>
          <a:solidFill xmlns:a="http://schemas.openxmlformats.org/drawingml/2006/main">
            <a:srgbClr val="D9CFD5"/>
          </a:solidFill>
          <a:ln xmlns:a="http://schemas.openxmlformats.org/drawingml/2006/main" w="0">
            <a:solidFill>
              <a:srgbClr val="D9CFD5"/>
            </a:solidFill>
          </a:ln>
        </p:spPr>
      </p:sp>
      <p:sp>
        <p:nvSpPr>
          <p:cNvPr id="4" name="">
            <a:extLst xmlns:a="http://schemas.openxmlformats.org/drawingml/2006/main">
              <a:ext uri="{FF2B5EF4-FFF2-40B4-BE49-F238E27FC236}">
                <a16:creationId xmlns:a16="http://schemas.microsoft.com/office/drawing/2014/main" id="{B77FA576-9EE7-48AA-9F5F-026630683AD9}"/>
              </a:ext>
            </a:extLst>
          </p:cNvPr>
          <p:cNvSpPr>
            <a:spLocks xmlns:a="http://schemas.openxmlformats.org/drawingml/2006/main" noGrp="1"/>
          </p:cNvSpPr>
          <p:nvPr/>
        </p:nvSpPr>
        <p:spPr>
          <a:xfrm xmlns:a="http://schemas.openxmlformats.org/drawingml/2006/main">
            <a:off x="647700" y="1790700"/>
            <a:ext cx="7096125" cy="2724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2025" b="1" i="0">
                <a:solidFill>
                  <a:srgbClr val="15121B"/>
                </a:solidFill>
                <a:latin typeface="Helvetica"/>
                <a:ea typeface="Helvetica"/>
                <a:cs typeface="Helvetica"/>
              </a:defRPr>
            </a:defPPr>
          </a:lstStyle>
          <a:p xmlns:a="http://schemas.openxmlformats.org/drawingml/2006/main">
            <a:pPr algn="l">
              <a:defRPr sz="2025" b="1" i="0">
                <a:solidFill>
                  <a:srgbClr val="15121B"/>
                </a:solidFill>
                <a:latin typeface="Helvetica"/>
                <a:ea typeface="Helvetica"/>
                <a:cs typeface="Helvetica"/>
              </a:defRPr>
            </a:pPr>
            <a:r>
              <a:rPr sz="2025" b="1" i="0">
                <a:solidFill>
                  <a:srgbClr val="15121B"/>
                </a:solidFill>
                <a:latin typeface="Helvetica"/>
                <a:ea typeface="Helvetica"/>
                <a:cs typeface="Helvetica"/>
              </a:rPr>
              <a:t>Deploy the underutilised peer-reviewed research asset as the anchor for a distinctive brand platform, closing the self-diagnosed awareness gap behind the first CMO hire, ahead of rising paid-social CAC and competitor SEO/AI-search gains eroding the DTC funnel.</a:t>
            </a:r>
          </a:p>
        </p:txBody>
      </p:sp>
      <p:sp>
        <p:nvSpPr>
          <p:cNvPr id="5" name="">
            <a:extLst xmlns:a="http://schemas.openxmlformats.org/drawingml/2006/main">
              <a:ext uri="{FF2B5EF4-FFF2-40B4-BE49-F238E27FC236}">
                <a16:creationId xmlns:a16="http://schemas.microsoft.com/office/drawing/2014/main" id="{74934A27-04E7-4C0C-9746-47AC50E94652}"/>
              </a:ext>
            </a:extLst>
          </p:cNvPr>
          <p:cNvSpPr>
            <a:spLocks xmlns:a="http://schemas.openxmlformats.org/drawingml/2006/main" noGrp="1"/>
          </p:cNvSpPr>
          <p:nvPr/>
        </p:nvSpPr>
        <p:spPr>
          <a:xfrm xmlns:a="http://schemas.openxmlformats.org/drawingml/2006/main">
            <a:off x="8334375" y="1809750"/>
            <a:ext cx="2667000" cy="2667000"/>
          </a:xfrm>
          <a:prstGeom xmlns:a="http://schemas.openxmlformats.org/drawingml/2006/main" prst="ellipse">
            <a:avLst/>
          </a:prstGeom>
          <a:solidFill xmlns:a="http://schemas.openxmlformats.org/drawingml/2006/main">
            <a:srgbClr val="261A31"/>
          </a:solidFill>
          <a:ln xmlns:a="http://schemas.openxmlformats.org/drawingml/2006/main" w="0">
            <a:solidFill>
              <a:srgbClr val="261A31"/>
            </a:solidFill>
          </a:ln>
        </p:spPr>
      </p:sp>
      <p:sp>
        <p:nvSpPr>
          <p:cNvPr id="6" name="">
            <a:extLst xmlns:a="http://schemas.openxmlformats.org/drawingml/2006/main">
              <a:ext uri="{FF2B5EF4-FFF2-40B4-BE49-F238E27FC236}">
                <a16:creationId xmlns:a16="http://schemas.microsoft.com/office/drawing/2014/main" id="{F12E0860-502F-4362-B8D0-72C0CE6E5B65}"/>
              </a:ext>
            </a:extLst>
          </p:cNvPr>
          <p:cNvSpPr>
            <a:spLocks xmlns:a="http://schemas.openxmlformats.org/drawingml/2006/main" noGrp="1"/>
          </p:cNvSpPr>
          <p:nvPr/>
        </p:nvSpPr>
        <p:spPr>
          <a:xfrm xmlns:a="http://schemas.openxmlformats.org/drawingml/2006/main">
            <a:off x="8791575" y="2419350"/>
            <a:ext cx="1762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ctr">
              <a:defRPr sz="1800" b="1" i="0">
                <a:solidFill>
                  <a:srgbClr val="FFFDFC"/>
                </a:solidFill>
                <a:latin typeface="Helvetica"/>
                <a:ea typeface="Helvetica"/>
                <a:cs typeface="Helvetica"/>
              </a:defRPr>
            </a:defPPr>
          </a:lstStyle>
          <a:p xmlns:a="http://schemas.openxmlformats.org/drawingml/2006/main">
            <a:pPr algn="ctr">
              <a:defRPr sz="1800" b="1" i="0">
                <a:solidFill>
                  <a:srgbClr val="FFFDFC"/>
                </a:solidFill>
                <a:latin typeface="Helvetica"/>
                <a:ea typeface="Helvetica"/>
                <a:cs typeface="Helvetica"/>
              </a:defRPr>
            </a:pPr>
            <a:r>
              <a:rPr sz="1800" b="1" i="0">
                <a:solidFill>
                  <a:srgbClr val="FFFDFC"/>
                </a:solidFill>
                <a:latin typeface="Helvetica"/>
                <a:ea typeface="Helvetica"/>
                <a:cs typeface="Helvetica"/>
              </a:rPr>
              <a:t>PROOF</a:t>
            </a:r>
          </a:p>
        </p:txBody>
      </p:sp>
      <p:sp>
        <p:nvSpPr>
          <p:cNvPr id="7" name="">
            <a:extLst xmlns:a="http://schemas.openxmlformats.org/drawingml/2006/main">
              <a:ext uri="{FF2B5EF4-FFF2-40B4-BE49-F238E27FC236}">
                <a16:creationId xmlns:a16="http://schemas.microsoft.com/office/drawing/2014/main" id="{F22C75C9-F2B1-43EF-8585-E5FBA71DDFC9}"/>
              </a:ext>
            </a:extLst>
          </p:cNvPr>
          <p:cNvSpPr>
            <a:spLocks xmlns:a="http://schemas.openxmlformats.org/drawingml/2006/main" noGrp="1"/>
          </p:cNvSpPr>
          <p:nvPr/>
        </p:nvSpPr>
        <p:spPr>
          <a:xfrm xmlns:a="http://schemas.openxmlformats.org/drawingml/2006/main">
            <a:off x="8972550" y="2981325"/>
            <a:ext cx="1381125" cy="19050"/>
          </a:xfrm>
          <a:prstGeom xmlns:a="http://schemas.openxmlformats.org/drawingml/2006/main" prst="rect">
            <a:avLst/>
          </a:prstGeom>
          <a:solidFill xmlns:a="http://schemas.openxmlformats.org/drawingml/2006/main">
            <a:srgbClr val="FF654F"/>
          </a:solidFill>
          <a:ln xmlns:a="http://schemas.openxmlformats.org/drawingml/2006/main" w="0">
            <a:solidFill>
              <a:srgbClr val="FF654F"/>
            </a:solidFill>
          </a:ln>
        </p:spPr>
      </p:sp>
      <p:sp>
        <p:nvSpPr>
          <p:cNvPr id="8" name="">
            <a:extLst xmlns:a="http://schemas.openxmlformats.org/drawingml/2006/main">
              <a:ext uri="{FF2B5EF4-FFF2-40B4-BE49-F238E27FC236}">
                <a16:creationId xmlns:a16="http://schemas.microsoft.com/office/drawing/2014/main" id="{4CB8EB6E-573B-4EA2-A832-D1548EC2DB17}"/>
              </a:ext>
            </a:extLst>
          </p:cNvPr>
          <p:cNvSpPr>
            <a:spLocks xmlns:a="http://schemas.openxmlformats.org/drawingml/2006/main" noGrp="1"/>
          </p:cNvSpPr>
          <p:nvPr/>
        </p:nvSpPr>
        <p:spPr>
          <a:xfrm xmlns:a="http://schemas.openxmlformats.org/drawingml/2006/main">
            <a:off x="8734425" y="3286125"/>
            <a:ext cx="18859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ctr">
              <a:defRPr sz="1275" b="1" i="0">
                <a:solidFill>
                  <a:srgbClr val="C8B7E8"/>
                </a:solidFill>
                <a:latin typeface="Helvetica"/>
                <a:ea typeface="Helvetica"/>
                <a:cs typeface="Helvetica"/>
              </a:defRPr>
            </a:defPPr>
          </a:lstStyle>
          <a:p xmlns:a="http://schemas.openxmlformats.org/drawingml/2006/main">
            <a:pPr algn="ctr">
              <a:defRPr sz="1275" b="1" i="0">
                <a:solidFill>
                  <a:srgbClr val="C8B7E8"/>
                </a:solidFill>
                <a:latin typeface="Helvetica"/>
                <a:ea typeface="Helvetica"/>
                <a:cs typeface="Helvetica"/>
              </a:defRPr>
            </a:pPr>
            <a:r>
              <a:rPr sz="1275" b="1" i="0">
                <a:solidFill>
                  <a:srgbClr val="C8B7E8"/>
                </a:solidFill>
                <a:latin typeface="Helvetica"/>
                <a:ea typeface="Helvetica"/>
                <a:cs typeface="Helvetica"/>
              </a:rPr>
              <a:t>A claim competitors cannot copy in one ad cycle</a:t>
            </a:r>
          </a:p>
        </p:txBody>
      </p:sp>
      <p:sp>
        <p:nvSpPr>
          <p:cNvPr id="9" name="">
            <a:extLst xmlns:a="http://schemas.openxmlformats.org/drawingml/2006/main">
              <a:ext uri="{FF2B5EF4-FFF2-40B4-BE49-F238E27FC236}">
                <a16:creationId xmlns:a16="http://schemas.microsoft.com/office/drawing/2014/main" id="{094CD964-944D-4441-872E-43449721CC82}"/>
              </a:ext>
            </a:extLst>
          </p:cNvPr>
          <p:cNvSpPr>
            <a:spLocks xmlns:a="http://schemas.openxmlformats.org/drawingml/2006/main" noGrp="1"/>
          </p:cNvSpPr>
          <p:nvPr/>
        </p:nvSpPr>
        <p:spPr>
          <a:xfrm xmlns:a="http://schemas.openxmlformats.org/drawingml/2006/main">
            <a:off x="647700" y="5572125"/>
            <a:ext cx="209550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675" b="1" i="0">
                <a:solidFill>
                  <a:srgbClr val="FF654F"/>
                </a:solidFill>
                <a:latin typeface="Helvetica"/>
                <a:ea typeface="Helvetica"/>
                <a:cs typeface="Helvetica"/>
              </a:defRPr>
            </a:defPPr>
          </a:lstStyle>
          <a:p xmlns:a="http://schemas.openxmlformats.org/drawingml/2006/main">
            <a:pPr algn="l">
              <a:defRPr sz="675" b="1" i="0">
                <a:solidFill>
                  <a:srgbClr val="FF654F"/>
                </a:solidFill>
                <a:latin typeface="Helvetica"/>
                <a:ea typeface="Helvetica"/>
                <a:cs typeface="Helvetica"/>
              </a:defRPr>
            </a:pPr>
            <a:r>
              <a:rPr sz="675" b="1" i="0">
                <a:solidFill>
                  <a:srgbClr val="FF654F"/>
                </a:solidFill>
                <a:latin typeface="Helvetica"/>
                <a:ea typeface="Helvetica"/>
                <a:cs typeface="Helvetica"/>
              </a:rPr>
              <a:t>COMMERCIAL CONSEQUENCE</a:t>
            </a:r>
          </a:p>
        </p:txBody>
      </p:sp>
      <p:sp>
        <p:nvSpPr>
          <p:cNvPr id="10" name="">
            <a:extLst xmlns:a="http://schemas.openxmlformats.org/drawingml/2006/main">
              <a:ext uri="{FF2B5EF4-FFF2-40B4-BE49-F238E27FC236}">
                <a16:creationId xmlns:a16="http://schemas.microsoft.com/office/drawing/2014/main" id="{8D681281-E395-4407-9337-2020A720BD56}"/>
              </a:ext>
            </a:extLst>
          </p:cNvPr>
          <p:cNvSpPr>
            <a:spLocks xmlns:a="http://schemas.openxmlformats.org/drawingml/2006/main" noGrp="1"/>
          </p:cNvSpPr>
          <p:nvPr/>
        </p:nvSpPr>
        <p:spPr>
          <a:xfrm xmlns:a="http://schemas.openxmlformats.org/drawingml/2006/main">
            <a:off x="2619375" y="5505450"/>
            <a:ext cx="8382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200" b="1" i="0">
                <a:solidFill>
                  <a:srgbClr val="15121B"/>
                </a:solidFill>
                <a:latin typeface="Helvetica"/>
                <a:ea typeface="Helvetica"/>
                <a:cs typeface="Helvetica"/>
              </a:defRPr>
            </a:defPPr>
          </a:lstStyle>
          <a:p xmlns:a="http://schemas.openxmlformats.org/drawingml/2006/main">
            <a:pPr algn="l">
              <a:defRPr sz="1200" b="1" i="0">
                <a:solidFill>
                  <a:srgbClr val="15121B"/>
                </a:solidFill>
                <a:latin typeface="Helvetica"/>
                <a:ea typeface="Helvetica"/>
                <a:cs typeface="Helvetica"/>
              </a:defRPr>
            </a:pPr>
            <a:r>
              <a:rPr sz="1200" b="1" i="0">
                <a:solidFill>
                  <a:srgbClr val="15121B"/>
                </a:solidFill>
                <a:latin typeface="Helvetica"/>
                <a:ea typeface="Helvetica"/>
                <a:cs typeface="Helvetica"/>
              </a:rPr>
              <a:t>KatKin's next growth question is about where existing strengths can compound.</a:t>
            </a:r>
          </a:p>
        </p:txBody>
      </p:sp>
      <p:sp>
        <p:nvSpPr>
          <p:cNvPr id="11" name="">
            <a:extLst xmlns:a="http://schemas.openxmlformats.org/drawingml/2006/main">
              <a:ext uri="{FF2B5EF4-FFF2-40B4-BE49-F238E27FC236}">
                <a16:creationId xmlns:a16="http://schemas.microsoft.com/office/drawing/2014/main" id="{27E5C19A-47F6-4968-AFE2-CC33969D90A3}"/>
              </a:ext>
            </a:extLst>
          </p:cNvPr>
          <p:cNvSpPr>
            <a:spLocks xmlns:a="http://schemas.openxmlformats.org/drawingml/2006/main" noGrp="1"/>
          </p:cNvSpPr>
          <p:nvPr/>
        </p:nvSpPr>
        <p:spPr>
          <a:xfrm xmlns:a="http://schemas.openxmlformats.org/drawingml/2006/main">
            <a:off x="647700" y="6134100"/>
            <a:ext cx="4953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825" b="1" i="0">
                <a:solidFill>
                  <a:srgbClr val="756D7A"/>
                </a:solidFill>
                <a:latin typeface="Helvetica"/>
                <a:ea typeface="Helvetica"/>
                <a:cs typeface="Helvetica"/>
              </a:defRPr>
            </a:defPPr>
          </a:lstStyle>
          <a:p xmlns:a="http://schemas.openxmlformats.org/drawingml/2006/main">
            <a:pPr algn="l">
              <a:defRPr sz="825" b="1" i="0">
                <a:solidFill>
                  <a:srgbClr val="756D7A"/>
                </a:solidFill>
                <a:latin typeface="Helvetica"/>
                <a:ea typeface="Helvetica"/>
                <a:cs typeface="Helvetica"/>
              </a:defRPr>
            </a:pPr>
            <a:r>
              <a:rPr sz="825" b="1" i="0">
                <a:solidFill>
                  <a:srgbClr val="756D7A"/>
                </a:solidFill>
                <a:latin typeface="Helvetica"/>
                <a:ea typeface="Helvetica"/>
                <a:cs typeface="Helvetica"/>
              </a:rPr>
              <a:t>SOURCES: S5, T1</a:t>
            </a:r>
          </a:p>
        </p:txBody>
      </p:sp>
      <p:sp>
        <p:nvSpPr>
          <p:cNvPr id="12" name="">
            <a:extLst xmlns:a="http://schemas.openxmlformats.org/drawingml/2006/main">
              <a:ext uri="{FF2B5EF4-FFF2-40B4-BE49-F238E27FC236}">
                <a16:creationId xmlns:a16="http://schemas.microsoft.com/office/drawing/2014/main" id="{76E6B8FB-107D-4188-9E1E-23909CB09E4F}"/>
              </a:ext>
            </a:extLst>
          </p:cNvPr>
          <p:cNvSpPr>
            <a:spLocks xmlns:a="http://schemas.openxmlformats.org/drawingml/2006/main" noGrp="1"/>
          </p:cNvSpPr>
          <p:nvPr/>
        </p:nvSpPr>
        <p:spPr>
          <a:xfrm xmlns:a="http://schemas.openxmlformats.org/drawingml/2006/main">
            <a:off x="5715000" y="6134100"/>
            <a:ext cx="48768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r">
              <a:defRPr sz="825" b="1" i="0">
                <a:solidFill>
                  <a:srgbClr val="5A2E78"/>
                </a:solidFill>
                <a:latin typeface="Helvetica"/>
                <a:ea typeface="Helvetica"/>
                <a:cs typeface="Helvetica"/>
              </a:defRPr>
            </a:defPPr>
          </a:lstStyle>
          <a:p xmlns:a="http://schemas.openxmlformats.org/drawingml/2006/main">
            <a:pPr algn="r">
              <a:defRPr sz="825" b="1" i="0">
                <a:solidFill>
                  <a:srgbClr val="5A2E78"/>
                </a:solidFill>
                <a:latin typeface="Helvetica"/>
                <a:ea typeface="Helvetica"/>
                <a:cs typeface="Helvetica"/>
              </a:defRPr>
            </a:pPr>
            <a:r>
              <a:rPr sz="825" b="1" i="0">
                <a:solidFill>
                  <a:srgbClr val="5A2E78"/>
                </a:solidFill>
                <a:latin typeface="Helvetica"/>
                <a:ea typeface="Helvetica"/>
                <a:cs typeface="Helvetica"/>
              </a:rPr>
              <a:t>APPROVED STRATEGY + VERIFIED FACT</a:t>
            </a:r>
          </a:p>
        </p:txBody>
      </p:sp>
      <p:sp>
        <p:nvSpPr>
          <p:cNvPr id="13" name="">
            <a:extLst xmlns:a="http://schemas.openxmlformats.org/drawingml/2006/main">
              <a:ext uri="{FF2B5EF4-FFF2-40B4-BE49-F238E27FC236}">
                <a16:creationId xmlns:a16="http://schemas.microsoft.com/office/drawing/2014/main" id="{DA9E9F63-9A19-4810-85B9-38B848480A70}"/>
              </a:ext>
            </a:extLst>
          </p:cNvPr>
          <p:cNvSpPr>
            <a:spLocks xmlns:a="http://schemas.openxmlformats.org/drawingml/2006/main" noGrp="1"/>
          </p:cNvSpPr>
          <p:nvPr/>
        </p:nvSpPr>
        <p:spPr>
          <a:xfrm xmlns:a="http://schemas.openxmlformats.org/drawingml/2006/main">
            <a:off x="647700" y="6515100"/>
            <a:ext cx="17145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675" b="1" i="0">
                <a:solidFill>
                  <a:srgbClr val="756D7A"/>
                </a:solidFill>
                <a:latin typeface="Helvetica"/>
                <a:ea typeface="Helvetica"/>
                <a:cs typeface="Helvetica"/>
              </a:defRPr>
            </a:defPPr>
          </a:lstStyle>
          <a:p xmlns:a="http://schemas.openxmlformats.org/drawingml/2006/main">
            <a:pPr algn="l">
              <a:defRPr sz="675" b="1" i="0">
                <a:solidFill>
                  <a:srgbClr val="756D7A"/>
                </a:solidFill>
                <a:latin typeface="Helvetica"/>
                <a:ea typeface="Helvetica"/>
                <a:cs typeface="Helvetica"/>
              </a:defRPr>
            </a:pPr>
            <a:r>
              <a:rPr sz="675" b="1" i="0">
                <a:solidFill>
                  <a:srgbClr val="756D7A"/>
                </a:solidFill>
                <a:latin typeface="Helvetica"/>
                <a:ea typeface="Helvetica"/>
                <a:cs typeface="Helvetica"/>
              </a:rPr>
              <a:t>NARRATIIVE</a:t>
            </a:r>
          </a:p>
        </p:txBody>
      </p:sp>
      <p:sp>
        <p:nvSpPr>
          <p:cNvPr id="14" name="">
            <a:extLst xmlns:a="http://schemas.openxmlformats.org/drawingml/2006/main">
              <a:ext uri="{FF2B5EF4-FFF2-40B4-BE49-F238E27FC236}">
                <a16:creationId xmlns:a16="http://schemas.microsoft.com/office/drawing/2014/main" id="{FC5D9912-F020-4841-B284-571F3EF1B148}"/>
              </a:ext>
            </a:extLst>
          </p:cNvPr>
          <p:cNvSpPr>
            <a:spLocks xmlns:a="http://schemas.openxmlformats.org/drawingml/2006/main" noGrp="1"/>
          </p:cNvSpPr>
          <p:nvPr/>
        </p:nvSpPr>
        <p:spPr>
          <a:xfrm xmlns:a="http://schemas.openxmlformats.org/drawingml/2006/main">
            <a:off x="10668000" y="6515100"/>
            <a:ext cx="8763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r">
              <a:defRPr sz="675" b="0" i="0">
                <a:solidFill>
                  <a:srgbClr val="756D7A"/>
                </a:solidFill>
                <a:latin typeface="Helvetica"/>
                <a:ea typeface="Helvetica"/>
                <a:cs typeface="Helvetica"/>
              </a:defRPr>
            </a:defPPr>
          </a:lstStyle>
          <a:p xmlns:a="http://schemas.openxmlformats.org/drawingml/2006/main">
            <a:pPr algn="r">
              <a:defRPr sz="675" b="0" i="0">
                <a:solidFill>
                  <a:srgbClr val="756D7A"/>
                </a:solidFill>
                <a:latin typeface="Helvetica"/>
                <a:ea typeface="Helvetica"/>
                <a:cs typeface="Helvetica"/>
              </a:defRPr>
            </a:pPr>
            <a:r>
              <a:rPr sz="675" b="0" i="0">
                <a:solidFill>
                  <a:srgbClr val="756D7A"/>
                </a:solidFill>
                <a:latin typeface="Helvetica"/>
                <a:ea typeface="Helvetica"/>
                <a:cs typeface="Helvetica"/>
              </a:rPr>
              <a:t>02 / 30</a:t>
            </a:r>
          </a:p>
        </p:txBody>
      </p:sp>
    </p:spTree>
    <p:extLst>
      <p:ext uri="{BB962C8B-B14F-4D97-AF65-F5344CB8AC3E}">
        <p14:creationId xmlns:p14="http://schemas.microsoft.com/office/powerpoint/2010/main" val="437915262"/>
      </p:ext>
    </p:extLst>
  </p:cSld>
</p:sld>
</file>

<file path=ppt/slides/slide3.xml><?xml version="1.0" encoding="utf-8"?>
<p:sld xmlns:p="http://schemas.openxmlformats.org/presentationml/2006/main">
  <p:cSld>
    <p:bg>
      <p:bgPr>
        <a:solidFill xmlns:a="http://schemas.openxmlformats.org/drawingml/2006/main">
          <a:srgbClr val="F6F0E8"/>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2627192F-5474-4DD3-80B0-8A660C164AAF}"/>
              </a:ext>
            </a:extLst>
          </p:cNvPr>
          <p:cNvSpPr>
            <a:spLocks xmlns:a="http://schemas.openxmlformats.org/drawingml/2006/main" noGrp="1"/>
          </p:cNvSpPr>
          <p:nvPr/>
        </p:nvSpPr>
        <p:spPr>
          <a:xfrm xmlns:a="http://schemas.openxmlformats.org/drawingml/2006/main">
            <a:off x="647700" y="333375"/>
            <a:ext cx="57150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675" b="1" i="0">
                <a:solidFill>
                  <a:srgbClr val="FF654F"/>
                </a:solidFill>
                <a:latin typeface="Helvetica"/>
                <a:ea typeface="Helvetica"/>
                <a:cs typeface="Helvetica"/>
              </a:defRPr>
            </a:defPPr>
          </a:lstStyle>
          <a:p xmlns:a="http://schemas.openxmlformats.org/drawingml/2006/main">
            <a:pPr algn="l">
              <a:defRPr sz="675" b="1" i="0">
                <a:solidFill>
                  <a:srgbClr val="FF654F"/>
                </a:solidFill>
                <a:latin typeface="Helvetica"/>
                <a:ea typeface="Helvetica"/>
                <a:cs typeface="Helvetica"/>
              </a:defRPr>
            </a:pPr>
            <a:r>
              <a:rPr sz="675" b="1" i="0">
                <a:solidFill>
                  <a:srgbClr val="FF654F"/>
                </a:solidFill>
                <a:latin typeface="Helvetica"/>
                <a:ea typeface="Helvetica"/>
                <a:cs typeface="Helvetica"/>
              </a:rPr>
              <a:t>ACT 1 / THE CASE FOR CHANGE</a:t>
            </a:r>
          </a:p>
        </p:txBody>
      </p:sp>
      <p:sp>
        <p:nvSpPr>
          <p:cNvPr id="2" name="">
            <a:extLst xmlns:a="http://schemas.openxmlformats.org/drawingml/2006/main">
              <a:ext uri="{FF2B5EF4-FFF2-40B4-BE49-F238E27FC236}">
                <a16:creationId xmlns:a16="http://schemas.microsoft.com/office/drawing/2014/main" id="{45CA309B-753B-4724-8599-7760A26D884C}"/>
              </a:ext>
            </a:extLst>
          </p:cNvPr>
          <p:cNvSpPr>
            <a:spLocks xmlns:a="http://schemas.openxmlformats.org/drawingml/2006/main" noGrp="1"/>
          </p:cNvSpPr>
          <p:nvPr/>
        </p:nvSpPr>
        <p:spPr>
          <a:xfrm xmlns:a="http://schemas.openxmlformats.org/drawingml/2006/main">
            <a:off x="647700" y="685800"/>
            <a:ext cx="1047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2325" b="1" i="0">
                <a:solidFill>
                  <a:srgbClr val="15121B"/>
                </a:solidFill>
                <a:latin typeface="Helvetica"/>
                <a:ea typeface="Helvetica"/>
                <a:cs typeface="Helvetica"/>
              </a:defRPr>
            </a:defPPr>
          </a:lstStyle>
          <a:p xmlns:a="http://schemas.openxmlformats.org/drawingml/2006/main">
            <a:pPr algn="l">
              <a:defRPr sz="2325" b="1" i="0">
                <a:solidFill>
                  <a:srgbClr val="15121B"/>
                </a:solidFill>
                <a:latin typeface="Helvetica"/>
                <a:ea typeface="Helvetica"/>
                <a:cs typeface="Helvetica"/>
              </a:defRPr>
            </a:pPr>
            <a:r>
              <a:rPr sz="2325" b="1" i="0">
                <a:solidFill>
                  <a:srgbClr val="15121B"/>
                </a:solidFill>
                <a:latin typeface="Helvetica"/>
                <a:ea typeface="Helvetica"/>
                <a:cs typeface="Helvetica"/>
              </a:rPr>
              <a:t>The Commercial Question</a:t>
            </a:r>
          </a:p>
        </p:txBody>
      </p:sp>
      <p:sp>
        <p:nvSpPr>
          <p:cNvPr id="3" name="">
            <a:extLst xmlns:a="http://schemas.openxmlformats.org/drawingml/2006/main">
              <a:ext uri="{FF2B5EF4-FFF2-40B4-BE49-F238E27FC236}">
                <a16:creationId xmlns:a16="http://schemas.microsoft.com/office/drawing/2014/main" id="{9EF436C1-DD2E-42EE-AD19-8A1E5FE9AA5A}"/>
              </a:ext>
            </a:extLst>
          </p:cNvPr>
          <p:cNvSpPr>
            <a:spLocks xmlns:a="http://schemas.openxmlformats.org/drawingml/2006/main" noGrp="1"/>
          </p:cNvSpPr>
          <p:nvPr/>
        </p:nvSpPr>
        <p:spPr>
          <a:xfrm xmlns:a="http://schemas.openxmlformats.org/drawingml/2006/main">
            <a:off x="647700" y="1400175"/>
            <a:ext cx="10896600" cy="19050"/>
          </a:xfrm>
          <a:prstGeom xmlns:a="http://schemas.openxmlformats.org/drawingml/2006/main" prst="rect">
            <a:avLst/>
          </a:prstGeom>
          <a:solidFill xmlns:a="http://schemas.openxmlformats.org/drawingml/2006/main">
            <a:srgbClr val="D9CFD5"/>
          </a:solidFill>
          <a:ln xmlns:a="http://schemas.openxmlformats.org/drawingml/2006/main" w="0">
            <a:solidFill>
              <a:srgbClr val="D9CFD5"/>
            </a:solidFill>
          </a:ln>
        </p:spPr>
      </p:sp>
      <p:sp>
        <p:nvSpPr>
          <p:cNvPr id="4" name="">
            <a:extLst xmlns:a="http://schemas.openxmlformats.org/drawingml/2006/main">
              <a:ext uri="{FF2B5EF4-FFF2-40B4-BE49-F238E27FC236}">
                <a16:creationId xmlns:a16="http://schemas.microsoft.com/office/drawing/2014/main" id="{79F3BA72-8A89-4287-BB4A-97AF921DA757}"/>
              </a:ext>
            </a:extLst>
          </p:cNvPr>
          <p:cNvSpPr>
            <a:spLocks xmlns:a="http://schemas.openxmlformats.org/drawingml/2006/main" noGrp="1"/>
          </p:cNvSpPr>
          <p:nvPr/>
        </p:nvSpPr>
        <p:spPr>
          <a:xfrm xmlns:a="http://schemas.openxmlformats.org/drawingml/2006/main">
            <a:off x="647700" y="1790700"/>
            <a:ext cx="7096125" cy="2724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2025" b="1" i="0">
                <a:solidFill>
                  <a:srgbClr val="15121B"/>
                </a:solidFill>
                <a:latin typeface="Helvetica"/>
                <a:ea typeface="Helvetica"/>
                <a:cs typeface="Helvetica"/>
              </a:defRPr>
            </a:defPPr>
          </a:lstStyle>
          <a:p xmlns:a="http://schemas.openxmlformats.org/drawingml/2006/main">
            <a:pPr algn="l">
              <a:defRPr sz="2025" b="1" i="0">
                <a:solidFill>
                  <a:srgbClr val="15121B"/>
                </a:solidFill>
                <a:latin typeface="Helvetica"/>
                <a:ea typeface="Helvetica"/>
                <a:cs typeface="Helvetica"/>
              </a:defRPr>
            </a:pPr>
            <a:r>
              <a:rPr sz="2025" b="1" i="0">
                <a:solidFill>
                  <a:srgbClr val="15121B"/>
                </a:solidFill>
                <a:latin typeface="Helvetica"/>
                <a:ea typeface="Helvetica"/>
                <a:cs typeface="Helvetica"/>
              </a:rPr>
              <a:t>This deck separates what outside-in evidence supports from what only company access can answer.</a:t>
            </a:r>
          </a:p>
        </p:txBody>
      </p:sp>
      <p:sp>
        <p:nvSpPr>
          <p:cNvPr id="5" name="">
            <a:extLst xmlns:a="http://schemas.openxmlformats.org/drawingml/2006/main">
              <a:ext uri="{FF2B5EF4-FFF2-40B4-BE49-F238E27FC236}">
                <a16:creationId xmlns:a16="http://schemas.microsoft.com/office/drawing/2014/main" id="{F17E684D-F63E-4FDB-A02E-1E0699445708}"/>
              </a:ext>
            </a:extLst>
          </p:cNvPr>
          <p:cNvSpPr>
            <a:spLocks xmlns:a="http://schemas.openxmlformats.org/drawingml/2006/main" noGrp="1"/>
          </p:cNvSpPr>
          <p:nvPr/>
        </p:nvSpPr>
        <p:spPr>
          <a:xfrm xmlns:a="http://schemas.openxmlformats.org/drawingml/2006/main">
            <a:off x="8334375" y="1809750"/>
            <a:ext cx="2667000" cy="2667000"/>
          </a:xfrm>
          <a:prstGeom xmlns:a="http://schemas.openxmlformats.org/drawingml/2006/main" prst="ellipse">
            <a:avLst/>
          </a:prstGeom>
          <a:solidFill xmlns:a="http://schemas.openxmlformats.org/drawingml/2006/main">
            <a:srgbClr val="261A31"/>
          </a:solidFill>
          <a:ln xmlns:a="http://schemas.openxmlformats.org/drawingml/2006/main" w="0">
            <a:solidFill>
              <a:srgbClr val="261A31"/>
            </a:solidFill>
          </a:ln>
        </p:spPr>
      </p:sp>
      <p:sp>
        <p:nvSpPr>
          <p:cNvPr id="6" name="">
            <a:extLst xmlns:a="http://schemas.openxmlformats.org/drawingml/2006/main">
              <a:ext uri="{FF2B5EF4-FFF2-40B4-BE49-F238E27FC236}">
                <a16:creationId xmlns:a16="http://schemas.microsoft.com/office/drawing/2014/main" id="{8B8CE611-26F6-466B-96BF-C9B09E6DCA87}"/>
              </a:ext>
            </a:extLst>
          </p:cNvPr>
          <p:cNvSpPr>
            <a:spLocks xmlns:a="http://schemas.openxmlformats.org/drawingml/2006/main" noGrp="1"/>
          </p:cNvSpPr>
          <p:nvPr/>
        </p:nvSpPr>
        <p:spPr>
          <a:xfrm xmlns:a="http://schemas.openxmlformats.org/drawingml/2006/main">
            <a:off x="8791575" y="2419350"/>
            <a:ext cx="1762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ctr">
              <a:defRPr sz="1800" b="1" i="0">
                <a:solidFill>
                  <a:srgbClr val="FFFDFC"/>
                </a:solidFill>
                <a:latin typeface="Helvetica"/>
                <a:ea typeface="Helvetica"/>
                <a:cs typeface="Helvetica"/>
              </a:defRPr>
            </a:defPPr>
          </a:lstStyle>
          <a:p xmlns:a="http://schemas.openxmlformats.org/drawingml/2006/main">
            <a:pPr algn="ctr">
              <a:defRPr sz="1800" b="1" i="0">
                <a:solidFill>
                  <a:srgbClr val="FFFDFC"/>
                </a:solidFill>
                <a:latin typeface="Helvetica"/>
                <a:ea typeface="Helvetica"/>
                <a:cs typeface="Helvetica"/>
              </a:defRPr>
            </a:pPr>
            <a:r>
              <a:rPr sz="1800" b="1" i="0">
                <a:solidFill>
                  <a:srgbClr val="FFFDFC"/>
                </a:solidFill>
                <a:latin typeface="Helvetica"/>
                <a:ea typeface="Helvetica"/>
                <a:cs typeface="Helvetica"/>
              </a:rPr>
              <a:t>ONLY</a:t>
            </a:r>
          </a:p>
        </p:txBody>
      </p:sp>
      <p:sp>
        <p:nvSpPr>
          <p:cNvPr id="7" name="">
            <a:extLst xmlns:a="http://schemas.openxmlformats.org/drawingml/2006/main">
              <a:ext uri="{FF2B5EF4-FFF2-40B4-BE49-F238E27FC236}">
                <a16:creationId xmlns:a16="http://schemas.microsoft.com/office/drawing/2014/main" id="{EA924FF3-8F4D-482D-B07F-8A42BCAD7620}"/>
              </a:ext>
            </a:extLst>
          </p:cNvPr>
          <p:cNvSpPr>
            <a:spLocks xmlns:a="http://schemas.openxmlformats.org/drawingml/2006/main" noGrp="1"/>
          </p:cNvSpPr>
          <p:nvPr/>
        </p:nvSpPr>
        <p:spPr>
          <a:xfrm xmlns:a="http://schemas.openxmlformats.org/drawingml/2006/main">
            <a:off x="8972550" y="2981325"/>
            <a:ext cx="1381125" cy="19050"/>
          </a:xfrm>
          <a:prstGeom xmlns:a="http://schemas.openxmlformats.org/drawingml/2006/main" prst="rect">
            <a:avLst/>
          </a:prstGeom>
          <a:solidFill xmlns:a="http://schemas.openxmlformats.org/drawingml/2006/main">
            <a:srgbClr val="FF654F"/>
          </a:solidFill>
          <a:ln xmlns:a="http://schemas.openxmlformats.org/drawingml/2006/main" w="0">
            <a:solidFill>
              <a:srgbClr val="FF654F"/>
            </a:solidFill>
          </a:ln>
        </p:spPr>
      </p:sp>
      <p:sp>
        <p:nvSpPr>
          <p:cNvPr id="8" name="">
            <a:extLst xmlns:a="http://schemas.openxmlformats.org/drawingml/2006/main">
              <a:ext uri="{FF2B5EF4-FFF2-40B4-BE49-F238E27FC236}">
                <a16:creationId xmlns:a16="http://schemas.microsoft.com/office/drawing/2014/main" id="{5100EE0F-EAAF-4E2C-BD71-AB6538981B57}"/>
              </a:ext>
            </a:extLst>
          </p:cNvPr>
          <p:cNvSpPr>
            <a:spLocks xmlns:a="http://schemas.openxmlformats.org/drawingml/2006/main" noGrp="1"/>
          </p:cNvSpPr>
          <p:nvPr/>
        </p:nvSpPr>
        <p:spPr>
          <a:xfrm xmlns:a="http://schemas.openxmlformats.org/drawingml/2006/main">
            <a:off x="8734425" y="3286125"/>
            <a:ext cx="18859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ctr">
              <a:defRPr sz="1275" b="1" i="0">
                <a:solidFill>
                  <a:srgbClr val="C8B7E8"/>
                </a:solidFill>
                <a:latin typeface="Helvetica"/>
                <a:ea typeface="Helvetica"/>
                <a:cs typeface="Helvetica"/>
              </a:defRPr>
            </a:defPPr>
          </a:lstStyle>
          <a:p xmlns:a="http://schemas.openxmlformats.org/drawingml/2006/main">
            <a:pPr algn="ctr">
              <a:defRPr sz="1275" b="1" i="0">
                <a:solidFill>
                  <a:srgbClr val="C8B7E8"/>
                </a:solidFill>
                <a:latin typeface="Helvetica"/>
                <a:ea typeface="Helvetica"/>
                <a:cs typeface="Helvetica"/>
              </a:defRPr>
            </a:pPr>
            <a:r>
              <a:rPr sz="1275" b="1" i="0">
                <a:solidFill>
                  <a:srgbClr val="C8B7E8"/>
                </a:solidFill>
                <a:latin typeface="Helvetica"/>
                <a:ea typeface="Helvetica"/>
                <a:cs typeface="Helvetica"/>
              </a:rPr>
              <a:t>Move from awareness as an input to authority as the outcome</a:t>
            </a:r>
          </a:p>
        </p:txBody>
      </p:sp>
      <p:sp>
        <p:nvSpPr>
          <p:cNvPr id="9" name="">
            <a:extLst xmlns:a="http://schemas.openxmlformats.org/drawingml/2006/main">
              <a:ext uri="{FF2B5EF4-FFF2-40B4-BE49-F238E27FC236}">
                <a16:creationId xmlns:a16="http://schemas.microsoft.com/office/drawing/2014/main" id="{AD025EDF-D5FE-4BAD-AAAB-11FD68E2BC28}"/>
              </a:ext>
            </a:extLst>
          </p:cNvPr>
          <p:cNvSpPr>
            <a:spLocks xmlns:a="http://schemas.openxmlformats.org/drawingml/2006/main" noGrp="1"/>
          </p:cNvSpPr>
          <p:nvPr/>
        </p:nvSpPr>
        <p:spPr>
          <a:xfrm xmlns:a="http://schemas.openxmlformats.org/drawingml/2006/main">
            <a:off x="647700" y="5572125"/>
            <a:ext cx="209550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675" b="1" i="0">
                <a:solidFill>
                  <a:srgbClr val="FF654F"/>
                </a:solidFill>
                <a:latin typeface="Helvetica"/>
                <a:ea typeface="Helvetica"/>
                <a:cs typeface="Helvetica"/>
              </a:defRPr>
            </a:defPPr>
          </a:lstStyle>
          <a:p xmlns:a="http://schemas.openxmlformats.org/drawingml/2006/main">
            <a:pPr algn="l">
              <a:defRPr sz="675" b="1" i="0">
                <a:solidFill>
                  <a:srgbClr val="FF654F"/>
                </a:solidFill>
                <a:latin typeface="Helvetica"/>
                <a:ea typeface="Helvetica"/>
                <a:cs typeface="Helvetica"/>
              </a:defRPr>
            </a:pPr>
            <a:r>
              <a:rPr sz="675" b="1" i="0">
                <a:solidFill>
                  <a:srgbClr val="FF654F"/>
                </a:solidFill>
                <a:latin typeface="Helvetica"/>
                <a:ea typeface="Helvetica"/>
                <a:cs typeface="Helvetica"/>
              </a:rPr>
              <a:t>COMMERCIAL CONSEQUENCE</a:t>
            </a:r>
          </a:p>
        </p:txBody>
      </p:sp>
      <p:sp>
        <p:nvSpPr>
          <p:cNvPr id="10" name="">
            <a:extLst xmlns:a="http://schemas.openxmlformats.org/drawingml/2006/main">
              <a:ext uri="{FF2B5EF4-FFF2-40B4-BE49-F238E27FC236}">
                <a16:creationId xmlns:a16="http://schemas.microsoft.com/office/drawing/2014/main" id="{F4566DA1-6D85-429C-A8DB-31954A69A311}"/>
              </a:ext>
            </a:extLst>
          </p:cNvPr>
          <p:cNvSpPr>
            <a:spLocks xmlns:a="http://schemas.openxmlformats.org/drawingml/2006/main" noGrp="1"/>
          </p:cNvSpPr>
          <p:nvPr/>
        </p:nvSpPr>
        <p:spPr>
          <a:xfrm xmlns:a="http://schemas.openxmlformats.org/drawingml/2006/main">
            <a:off x="2619375" y="5505450"/>
            <a:ext cx="8382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200" b="1" i="0">
                <a:solidFill>
                  <a:srgbClr val="15121B"/>
                </a:solidFill>
                <a:latin typeface="Helvetica"/>
                <a:ea typeface="Helvetica"/>
                <a:cs typeface="Helvetica"/>
              </a:defRPr>
            </a:defPPr>
          </a:lstStyle>
          <a:p xmlns:a="http://schemas.openxmlformats.org/drawingml/2006/main">
            <a:pPr algn="l">
              <a:defRPr sz="1200" b="1" i="0">
                <a:solidFill>
                  <a:srgbClr val="15121B"/>
                </a:solidFill>
                <a:latin typeface="Helvetica"/>
                <a:ea typeface="Helvetica"/>
                <a:cs typeface="Helvetica"/>
              </a:defRPr>
            </a:pPr>
            <a:r>
              <a:rPr sz="1200" b="1" i="0">
                <a:solidFill>
                  <a:srgbClr val="15121B"/>
                </a:solidFill>
                <a:latin typeface="Helvetica"/>
                <a:ea typeface="Helvetica"/>
                <a:cs typeface="Helvetica"/>
              </a:rPr>
              <a:t>Where could KatKin's next meaningful growth come from?</a:t>
            </a:r>
          </a:p>
        </p:txBody>
      </p:sp>
      <p:sp>
        <p:nvSpPr>
          <p:cNvPr id="11" name="">
            <a:extLst xmlns:a="http://schemas.openxmlformats.org/drawingml/2006/main">
              <a:ext uri="{FF2B5EF4-FFF2-40B4-BE49-F238E27FC236}">
                <a16:creationId xmlns:a16="http://schemas.microsoft.com/office/drawing/2014/main" id="{9E217DDC-3921-4045-95EF-569E85CFDB7A}"/>
              </a:ext>
            </a:extLst>
          </p:cNvPr>
          <p:cNvSpPr>
            <a:spLocks xmlns:a="http://schemas.openxmlformats.org/drawingml/2006/main" noGrp="1"/>
          </p:cNvSpPr>
          <p:nvPr/>
        </p:nvSpPr>
        <p:spPr>
          <a:xfrm xmlns:a="http://schemas.openxmlformats.org/drawingml/2006/main">
            <a:off x="647700" y="6134100"/>
            <a:ext cx="4953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825" b="1" i="0">
                <a:solidFill>
                  <a:srgbClr val="756D7A"/>
                </a:solidFill>
                <a:latin typeface="Helvetica"/>
                <a:ea typeface="Helvetica"/>
                <a:cs typeface="Helvetica"/>
              </a:defRPr>
            </a:defPPr>
          </a:lstStyle>
          <a:p xmlns:a="http://schemas.openxmlformats.org/drawingml/2006/main">
            <a:pPr algn="l">
              <a:defRPr sz="825" b="1" i="0">
                <a:solidFill>
                  <a:srgbClr val="756D7A"/>
                </a:solidFill>
                <a:latin typeface="Helvetica"/>
                <a:ea typeface="Helvetica"/>
                <a:cs typeface="Helvetica"/>
              </a:defRPr>
            </a:pPr>
            <a:r>
              <a:rPr sz="825" b="1" i="0">
                <a:solidFill>
                  <a:srgbClr val="756D7A"/>
                </a:solidFill>
                <a:latin typeface="Helvetica"/>
                <a:ea typeface="Helvetica"/>
                <a:cs typeface="Helvetica"/>
              </a:rPr>
              <a:t>SOURCES: S1A, S1B, S1C, S3, S5</a:t>
            </a:r>
          </a:p>
        </p:txBody>
      </p:sp>
      <p:sp>
        <p:nvSpPr>
          <p:cNvPr id="12" name="">
            <a:extLst xmlns:a="http://schemas.openxmlformats.org/drawingml/2006/main">
              <a:ext uri="{FF2B5EF4-FFF2-40B4-BE49-F238E27FC236}">
                <a16:creationId xmlns:a16="http://schemas.microsoft.com/office/drawing/2014/main" id="{344C8F44-82DD-4537-9E93-5045884D9761}"/>
              </a:ext>
            </a:extLst>
          </p:cNvPr>
          <p:cNvSpPr>
            <a:spLocks xmlns:a="http://schemas.openxmlformats.org/drawingml/2006/main" noGrp="1"/>
          </p:cNvSpPr>
          <p:nvPr/>
        </p:nvSpPr>
        <p:spPr>
          <a:xfrm xmlns:a="http://schemas.openxmlformats.org/drawingml/2006/main">
            <a:off x="5715000" y="6134100"/>
            <a:ext cx="48768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r">
              <a:defRPr sz="825" b="1" i="0">
                <a:solidFill>
                  <a:srgbClr val="5A2E78"/>
                </a:solidFill>
                <a:latin typeface="Helvetica"/>
                <a:ea typeface="Helvetica"/>
                <a:cs typeface="Helvetica"/>
              </a:defRPr>
            </a:defPPr>
          </a:lstStyle>
          <a:p xmlns:a="http://schemas.openxmlformats.org/drawingml/2006/main">
            <a:pPr algn="r">
              <a:defRPr sz="825" b="1" i="0">
                <a:solidFill>
                  <a:srgbClr val="5A2E78"/>
                </a:solidFill>
                <a:latin typeface="Helvetica"/>
                <a:ea typeface="Helvetica"/>
                <a:cs typeface="Helvetica"/>
              </a:defRPr>
            </a:pPr>
            <a:r>
              <a:rPr sz="825" b="1" i="0">
                <a:solidFill>
                  <a:srgbClr val="5A2E78"/>
                </a:solidFill>
                <a:latin typeface="Helvetica"/>
                <a:ea typeface="Helvetica"/>
                <a:cs typeface="Helvetica"/>
              </a:rPr>
              <a:t>INTERPRETATION + VERIFIED FACT</a:t>
            </a:r>
          </a:p>
        </p:txBody>
      </p:sp>
      <p:sp>
        <p:nvSpPr>
          <p:cNvPr id="13" name="">
            <a:extLst xmlns:a="http://schemas.openxmlformats.org/drawingml/2006/main">
              <a:ext uri="{FF2B5EF4-FFF2-40B4-BE49-F238E27FC236}">
                <a16:creationId xmlns:a16="http://schemas.microsoft.com/office/drawing/2014/main" id="{B70F0866-2271-4A40-A291-F8C1DF02AE91}"/>
              </a:ext>
            </a:extLst>
          </p:cNvPr>
          <p:cNvSpPr>
            <a:spLocks xmlns:a="http://schemas.openxmlformats.org/drawingml/2006/main" noGrp="1"/>
          </p:cNvSpPr>
          <p:nvPr/>
        </p:nvSpPr>
        <p:spPr>
          <a:xfrm xmlns:a="http://schemas.openxmlformats.org/drawingml/2006/main">
            <a:off x="647700" y="6515100"/>
            <a:ext cx="17145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675" b="1" i="0">
                <a:solidFill>
                  <a:srgbClr val="756D7A"/>
                </a:solidFill>
                <a:latin typeface="Helvetica"/>
                <a:ea typeface="Helvetica"/>
                <a:cs typeface="Helvetica"/>
              </a:defRPr>
            </a:defPPr>
          </a:lstStyle>
          <a:p xmlns:a="http://schemas.openxmlformats.org/drawingml/2006/main">
            <a:pPr algn="l">
              <a:defRPr sz="675" b="1" i="0">
                <a:solidFill>
                  <a:srgbClr val="756D7A"/>
                </a:solidFill>
                <a:latin typeface="Helvetica"/>
                <a:ea typeface="Helvetica"/>
                <a:cs typeface="Helvetica"/>
              </a:defRPr>
            </a:pPr>
            <a:r>
              <a:rPr sz="675" b="1" i="0">
                <a:solidFill>
                  <a:srgbClr val="756D7A"/>
                </a:solidFill>
                <a:latin typeface="Helvetica"/>
                <a:ea typeface="Helvetica"/>
                <a:cs typeface="Helvetica"/>
              </a:rPr>
              <a:t>NARRATIIVE</a:t>
            </a:r>
          </a:p>
        </p:txBody>
      </p:sp>
      <p:sp>
        <p:nvSpPr>
          <p:cNvPr id="14" name="">
            <a:extLst xmlns:a="http://schemas.openxmlformats.org/drawingml/2006/main">
              <a:ext uri="{FF2B5EF4-FFF2-40B4-BE49-F238E27FC236}">
                <a16:creationId xmlns:a16="http://schemas.microsoft.com/office/drawing/2014/main" id="{E5B670DA-EF24-46EE-92FC-7AA1D5AD5776}"/>
              </a:ext>
            </a:extLst>
          </p:cNvPr>
          <p:cNvSpPr>
            <a:spLocks xmlns:a="http://schemas.openxmlformats.org/drawingml/2006/main" noGrp="1"/>
          </p:cNvSpPr>
          <p:nvPr/>
        </p:nvSpPr>
        <p:spPr>
          <a:xfrm xmlns:a="http://schemas.openxmlformats.org/drawingml/2006/main">
            <a:off x="10668000" y="6515100"/>
            <a:ext cx="8763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r">
              <a:defRPr sz="675" b="0" i="0">
                <a:solidFill>
                  <a:srgbClr val="756D7A"/>
                </a:solidFill>
                <a:latin typeface="Helvetica"/>
                <a:ea typeface="Helvetica"/>
                <a:cs typeface="Helvetica"/>
              </a:defRPr>
            </a:defPPr>
          </a:lstStyle>
          <a:p xmlns:a="http://schemas.openxmlformats.org/drawingml/2006/main">
            <a:pPr algn="r">
              <a:defRPr sz="675" b="0" i="0">
                <a:solidFill>
                  <a:srgbClr val="756D7A"/>
                </a:solidFill>
                <a:latin typeface="Helvetica"/>
                <a:ea typeface="Helvetica"/>
                <a:cs typeface="Helvetica"/>
              </a:defRPr>
            </a:pPr>
            <a:r>
              <a:rPr sz="675" b="0" i="0">
                <a:solidFill>
                  <a:srgbClr val="756D7A"/>
                </a:solidFill>
                <a:latin typeface="Helvetica"/>
                <a:ea typeface="Helvetica"/>
                <a:cs typeface="Helvetica"/>
              </a:rPr>
              <a:t>03 / 30</a:t>
            </a:r>
          </a:p>
        </p:txBody>
      </p:sp>
    </p:spTree>
    <p:extLst>
      <p:ext uri="{BB962C8B-B14F-4D97-AF65-F5344CB8AC3E}">
        <p14:creationId xmlns:p14="http://schemas.microsoft.com/office/powerpoint/2010/main" val="2049864220"/>
      </p:ext>
    </p:extLst>
  </p:cSld>
</p:sld>
</file>

<file path=ppt/slides/slide4.xml><?xml version="1.0" encoding="utf-8"?>
<p:sld xmlns:p="http://schemas.openxmlformats.org/presentationml/2006/main">
  <p:cSld>
    <p:bg>
      <p:bgPr>
        <a:solidFill xmlns:a="http://schemas.openxmlformats.org/drawingml/2006/main">
          <a:srgbClr val="F6F0E8"/>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9F165348-FAA7-4225-8EC4-5F41F9EBEBEB}"/>
              </a:ext>
            </a:extLst>
          </p:cNvPr>
          <p:cNvSpPr>
            <a:spLocks xmlns:a="http://schemas.openxmlformats.org/drawingml/2006/main" noGrp="1"/>
          </p:cNvSpPr>
          <p:nvPr/>
        </p:nvSpPr>
        <p:spPr>
          <a:xfrm xmlns:a="http://schemas.openxmlformats.org/drawingml/2006/main">
            <a:off x="647700" y="333375"/>
            <a:ext cx="57150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675" b="1" i="0">
                <a:solidFill>
                  <a:srgbClr val="FF654F"/>
                </a:solidFill>
                <a:latin typeface="Helvetica"/>
                <a:ea typeface="Helvetica"/>
                <a:cs typeface="Helvetica"/>
              </a:defRPr>
            </a:defPPr>
          </a:lstStyle>
          <a:p xmlns:a="http://schemas.openxmlformats.org/drawingml/2006/main">
            <a:pPr algn="l">
              <a:defRPr sz="675" b="1" i="0">
                <a:solidFill>
                  <a:srgbClr val="FF654F"/>
                </a:solidFill>
                <a:latin typeface="Helvetica"/>
                <a:ea typeface="Helvetica"/>
                <a:cs typeface="Helvetica"/>
              </a:defRPr>
            </a:pPr>
            <a:r>
              <a:rPr sz="675" b="1" i="0">
                <a:solidFill>
                  <a:srgbClr val="FF654F"/>
                </a:solidFill>
                <a:latin typeface="Helvetica"/>
                <a:ea typeface="Helvetica"/>
                <a:cs typeface="Helvetica"/>
              </a:rPr>
              <a:t>ACT 1 / THE CASE FOR CHANGE</a:t>
            </a:r>
          </a:p>
        </p:txBody>
      </p:sp>
      <p:sp>
        <p:nvSpPr>
          <p:cNvPr id="2" name="">
            <a:extLst xmlns:a="http://schemas.openxmlformats.org/drawingml/2006/main">
              <a:ext uri="{FF2B5EF4-FFF2-40B4-BE49-F238E27FC236}">
                <a16:creationId xmlns:a16="http://schemas.microsoft.com/office/drawing/2014/main" id="{B8E1ACB5-361B-46A6-AEB9-28BE769E5880}"/>
              </a:ext>
            </a:extLst>
          </p:cNvPr>
          <p:cNvSpPr>
            <a:spLocks xmlns:a="http://schemas.openxmlformats.org/drawingml/2006/main" noGrp="1"/>
          </p:cNvSpPr>
          <p:nvPr/>
        </p:nvSpPr>
        <p:spPr>
          <a:xfrm xmlns:a="http://schemas.openxmlformats.org/drawingml/2006/main">
            <a:off x="647700" y="685800"/>
            <a:ext cx="1047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2325" b="1" i="0">
                <a:solidFill>
                  <a:srgbClr val="15121B"/>
                </a:solidFill>
                <a:latin typeface="Helvetica"/>
                <a:ea typeface="Helvetica"/>
                <a:cs typeface="Helvetica"/>
              </a:defRPr>
            </a:defPPr>
          </a:lstStyle>
          <a:p xmlns:a="http://schemas.openxmlformats.org/drawingml/2006/main">
            <a:pPr algn="l">
              <a:defRPr sz="2325" b="1" i="0">
                <a:solidFill>
                  <a:srgbClr val="15121B"/>
                </a:solidFill>
                <a:latin typeface="Helvetica"/>
                <a:ea typeface="Helvetica"/>
                <a:cs typeface="Helvetica"/>
              </a:defRPr>
            </a:pPr>
            <a:r>
              <a:rPr sz="2325" b="1" i="0">
                <a:solidFill>
                  <a:srgbClr val="15121B"/>
                </a:solidFill>
                <a:latin typeface="Helvetica"/>
                <a:ea typeface="Helvetica"/>
                <a:cs typeface="Helvetica"/>
              </a:rPr>
              <a:t>Market Reality</a:t>
            </a:r>
          </a:p>
        </p:txBody>
      </p:sp>
      <p:sp>
        <p:nvSpPr>
          <p:cNvPr id="3" name="">
            <a:extLst xmlns:a="http://schemas.openxmlformats.org/drawingml/2006/main">
              <a:ext uri="{FF2B5EF4-FFF2-40B4-BE49-F238E27FC236}">
                <a16:creationId xmlns:a16="http://schemas.microsoft.com/office/drawing/2014/main" id="{3C618C83-6FBD-48E0-B4ED-C81BE6D69201}"/>
              </a:ext>
            </a:extLst>
          </p:cNvPr>
          <p:cNvSpPr>
            <a:spLocks xmlns:a="http://schemas.openxmlformats.org/drawingml/2006/main" noGrp="1"/>
          </p:cNvSpPr>
          <p:nvPr/>
        </p:nvSpPr>
        <p:spPr>
          <a:xfrm xmlns:a="http://schemas.openxmlformats.org/drawingml/2006/main">
            <a:off x="647700" y="1400175"/>
            <a:ext cx="10896600" cy="19050"/>
          </a:xfrm>
          <a:prstGeom xmlns:a="http://schemas.openxmlformats.org/drawingml/2006/main" prst="rect">
            <a:avLst/>
          </a:prstGeom>
          <a:solidFill xmlns:a="http://schemas.openxmlformats.org/drawingml/2006/main">
            <a:srgbClr val="D9CFD5"/>
          </a:solidFill>
          <a:ln xmlns:a="http://schemas.openxmlformats.org/drawingml/2006/main" w="0">
            <a:solidFill>
              <a:srgbClr val="D9CFD5"/>
            </a:solidFill>
          </a:ln>
        </p:spPr>
      </p:sp>
      <p:sp>
        <p:nvSpPr>
          <p:cNvPr id="4" name="">
            <a:extLst xmlns:a="http://schemas.openxmlformats.org/drawingml/2006/main">
              <a:ext uri="{FF2B5EF4-FFF2-40B4-BE49-F238E27FC236}">
                <a16:creationId xmlns:a16="http://schemas.microsoft.com/office/drawing/2014/main" id="{9A794A34-9D52-4CF5-9D76-889EDB3CE6D5}"/>
              </a:ext>
            </a:extLst>
          </p:cNvPr>
          <p:cNvSpPr>
            <a:spLocks xmlns:a="http://schemas.openxmlformats.org/drawingml/2006/main" noGrp="1"/>
          </p:cNvSpPr>
          <p:nvPr/>
        </p:nvSpPr>
        <p:spPr>
          <a:xfrm xmlns:a="http://schemas.openxmlformats.org/drawingml/2006/main">
            <a:off x="742950" y="1924050"/>
            <a:ext cx="3162300" cy="1143000"/>
          </a:xfrm>
          <a:prstGeom xmlns:a="http://schemas.openxmlformats.org/drawingml/2006/main" prst="roundRect">
            <a:avLst>
              <a:gd name="adj" fmla="val 6667"/>
            </a:avLst>
          </a:prstGeom>
          <a:solidFill xmlns:a="http://schemas.openxmlformats.org/drawingml/2006/main">
            <a:srgbClr val="FFFDFC"/>
          </a:solidFill>
          <a:ln xmlns:a="http://schemas.openxmlformats.org/drawingml/2006/main" w="0">
            <a:solidFill>
              <a:srgbClr val="FFFDFC"/>
            </a:solidFill>
          </a:ln>
        </p:spPr>
      </p:sp>
      <p:sp>
        <p:nvSpPr>
          <p:cNvPr id="5" name="">
            <a:extLst xmlns:a="http://schemas.openxmlformats.org/drawingml/2006/main">
              <a:ext uri="{FF2B5EF4-FFF2-40B4-BE49-F238E27FC236}">
                <a16:creationId xmlns:a16="http://schemas.microsoft.com/office/drawing/2014/main" id="{65DA1735-4098-4330-BFAD-23BADD35350B}"/>
              </a:ext>
            </a:extLst>
          </p:cNvPr>
          <p:cNvSpPr>
            <a:spLocks xmlns:a="http://schemas.openxmlformats.org/drawingml/2006/main" noGrp="1"/>
          </p:cNvSpPr>
          <p:nvPr/>
        </p:nvSpPr>
        <p:spPr>
          <a:xfrm xmlns:a="http://schemas.openxmlformats.org/drawingml/2006/main">
            <a:off x="952500" y="2095500"/>
            <a:ext cx="27241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750" b="1" i="0">
                <a:solidFill>
                  <a:srgbClr val="FF654F"/>
                </a:solidFill>
                <a:latin typeface="Helvetica"/>
                <a:ea typeface="Helvetica"/>
                <a:cs typeface="Helvetica"/>
              </a:defRPr>
            </a:defPPr>
          </a:lstStyle>
          <a:p xmlns:a="http://schemas.openxmlformats.org/drawingml/2006/main">
            <a:pPr algn="l">
              <a:defRPr sz="750" b="1" i="0">
                <a:solidFill>
                  <a:srgbClr val="FF654F"/>
                </a:solidFill>
                <a:latin typeface="Helvetica"/>
                <a:ea typeface="Helvetica"/>
                <a:cs typeface="Helvetica"/>
              </a:defRPr>
            </a:pPr>
            <a:r>
              <a:rPr sz="750" b="1" i="0">
                <a:solidFill>
                  <a:srgbClr val="FF654F"/>
                </a:solidFill>
                <a:latin typeface="Helvetica"/>
                <a:ea typeface="Helvetica"/>
                <a:cs typeface="Helvetica"/>
              </a:rPr>
              <a:t>SAMENESS</a:t>
            </a:r>
          </a:p>
        </p:txBody>
      </p:sp>
      <p:sp>
        <p:nvSpPr>
          <p:cNvPr id="6" name="">
            <a:extLst xmlns:a="http://schemas.openxmlformats.org/drawingml/2006/main">
              <a:ext uri="{FF2B5EF4-FFF2-40B4-BE49-F238E27FC236}">
                <a16:creationId xmlns:a16="http://schemas.microsoft.com/office/drawing/2014/main" id="{F62D444A-D268-46F4-8377-9A5C46FEE760}"/>
              </a:ext>
            </a:extLst>
          </p:cNvPr>
          <p:cNvSpPr>
            <a:spLocks xmlns:a="http://schemas.openxmlformats.org/drawingml/2006/main" noGrp="1"/>
          </p:cNvSpPr>
          <p:nvPr/>
        </p:nvSpPr>
        <p:spPr>
          <a:xfrm xmlns:a="http://schemas.openxmlformats.org/drawingml/2006/main">
            <a:off x="952500" y="2390775"/>
            <a:ext cx="27241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350" b="1" i="0">
                <a:solidFill>
                  <a:srgbClr val="15121B"/>
                </a:solidFill>
                <a:latin typeface="Helvetica"/>
                <a:ea typeface="Helvetica"/>
                <a:cs typeface="Helvetica"/>
              </a:defRPr>
            </a:defPPr>
          </a:lstStyle>
          <a:p xmlns:a="http://schemas.openxmlformats.org/drawingml/2006/main">
            <a:pPr algn="l">
              <a:defRPr sz="1350" b="1" i="0">
                <a:solidFill>
                  <a:srgbClr val="15121B"/>
                </a:solidFill>
                <a:latin typeface="Helvetica"/>
                <a:ea typeface="Helvetica"/>
                <a:cs typeface="Helvetica"/>
              </a:defRPr>
            </a:pPr>
            <a:r>
              <a:rPr sz="1350" b="1" i="0">
                <a:solidFill>
                  <a:srgbClr val="15121B"/>
                </a:solidFill>
                <a:latin typeface="Helvetica"/>
                <a:ea typeface="Helvetica"/>
                <a:cs typeface="Helvetica"/>
              </a:rPr>
              <a:t>Shared functional language</a:t>
            </a:r>
          </a:p>
        </p:txBody>
      </p:sp>
      <p:sp>
        <p:nvSpPr>
          <p:cNvPr id="7" name="">
            <a:extLst xmlns:a="http://schemas.openxmlformats.org/drawingml/2006/main">
              <a:ext uri="{FF2B5EF4-FFF2-40B4-BE49-F238E27FC236}">
                <a16:creationId xmlns:a16="http://schemas.microsoft.com/office/drawing/2014/main" id="{14063DA6-7AA7-453F-BD9A-99C9AA0DD29D}"/>
              </a:ext>
            </a:extLst>
          </p:cNvPr>
          <p:cNvSpPr>
            <a:spLocks xmlns:a="http://schemas.openxmlformats.org/drawingml/2006/main" noGrp="1"/>
          </p:cNvSpPr>
          <p:nvPr/>
        </p:nvSpPr>
        <p:spPr>
          <a:xfrm xmlns:a="http://schemas.openxmlformats.org/drawingml/2006/main">
            <a:off x="742950" y="3429000"/>
            <a:ext cx="3162300" cy="1143000"/>
          </a:xfrm>
          <a:prstGeom xmlns:a="http://schemas.openxmlformats.org/drawingml/2006/main" prst="roundRect">
            <a:avLst>
              <a:gd name="adj" fmla="val 6667"/>
            </a:avLst>
          </a:prstGeom>
          <a:solidFill xmlns:a="http://schemas.openxmlformats.org/drawingml/2006/main">
            <a:srgbClr val="F8D8D2"/>
          </a:solidFill>
          <a:ln xmlns:a="http://schemas.openxmlformats.org/drawingml/2006/main" w="0">
            <a:solidFill>
              <a:srgbClr val="F8D8D2"/>
            </a:solidFill>
          </a:ln>
        </p:spPr>
      </p:sp>
      <p:sp>
        <p:nvSpPr>
          <p:cNvPr id="8" name="">
            <a:extLst xmlns:a="http://schemas.openxmlformats.org/drawingml/2006/main">
              <a:ext uri="{FF2B5EF4-FFF2-40B4-BE49-F238E27FC236}">
                <a16:creationId xmlns:a16="http://schemas.microsoft.com/office/drawing/2014/main" id="{C005E906-EB1D-4A09-A248-6C328114E638}"/>
              </a:ext>
            </a:extLst>
          </p:cNvPr>
          <p:cNvSpPr>
            <a:spLocks xmlns:a="http://schemas.openxmlformats.org/drawingml/2006/main" noGrp="1"/>
          </p:cNvSpPr>
          <p:nvPr/>
        </p:nvSpPr>
        <p:spPr>
          <a:xfrm xmlns:a="http://schemas.openxmlformats.org/drawingml/2006/main">
            <a:off x="952500" y="3600450"/>
            <a:ext cx="27241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750" b="1" i="0">
                <a:solidFill>
                  <a:srgbClr val="FF654F"/>
                </a:solidFill>
                <a:latin typeface="Helvetica"/>
                <a:ea typeface="Helvetica"/>
                <a:cs typeface="Helvetica"/>
              </a:defRPr>
            </a:defPPr>
          </a:lstStyle>
          <a:p xmlns:a="http://schemas.openxmlformats.org/drawingml/2006/main">
            <a:pPr algn="l">
              <a:defRPr sz="750" b="1" i="0">
                <a:solidFill>
                  <a:srgbClr val="FF654F"/>
                </a:solidFill>
                <a:latin typeface="Helvetica"/>
                <a:ea typeface="Helvetica"/>
                <a:cs typeface="Helvetica"/>
              </a:defRPr>
            </a:pPr>
            <a:r>
              <a:rPr sz="750" b="1" i="0">
                <a:solidFill>
                  <a:srgbClr val="FF654F"/>
                </a:solidFill>
                <a:latin typeface="Helvetica"/>
                <a:ea typeface="Helvetica"/>
                <a:cs typeface="Helvetica"/>
              </a:rPr>
              <a:t>DISCOVERY</a:t>
            </a:r>
          </a:p>
        </p:txBody>
      </p:sp>
      <p:sp>
        <p:nvSpPr>
          <p:cNvPr id="9" name="">
            <a:extLst xmlns:a="http://schemas.openxmlformats.org/drawingml/2006/main">
              <a:ext uri="{FF2B5EF4-FFF2-40B4-BE49-F238E27FC236}">
                <a16:creationId xmlns:a16="http://schemas.microsoft.com/office/drawing/2014/main" id="{9FF851F8-92FE-4D97-AA20-ECC5A634AD75}"/>
              </a:ext>
            </a:extLst>
          </p:cNvPr>
          <p:cNvSpPr>
            <a:spLocks xmlns:a="http://schemas.openxmlformats.org/drawingml/2006/main" noGrp="1"/>
          </p:cNvSpPr>
          <p:nvPr/>
        </p:nvSpPr>
        <p:spPr>
          <a:xfrm xmlns:a="http://schemas.openxmlformats.org/drawingml/2006/main">
            <a:off x="952500" y="3895725"/>
            <a:ext cx="27241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350" b="1" i="0">
                <a:solidFill>
                  <a:srgbClr val="15121B"/>
                </a:solidFill>
                <a:latin typeface="Helvetica"/>
                <a:ea typeface="Helvetica"/>
                <a:cs typeface="Helvetica"/>
              </a:defRPr>
            </a:defPPr>
          </a:lstStyle>
          <a:p xmlns:a="http://schemas.openxmlformats.org/drawingml/2006/main">
            <a:pPr algn="l">
              <a:defRPr sz="1350" b="1" i="0">
                <a:solidFill>
                  <a:srgbClr val="15121B"/>
                </a:solidFill>
                <a:latin typeface="Helvetica"/>
                <a:ea typeface="Helvetica"/>
                <a:cs typeface="Helvetica"/>
              </a:defRPr>
            </a:pPr>
            <a:r>
              <a:rPr sz="1350" b="1" i="0">
                <a:solidFill>
                  <a:srgbClr val="15121B"/>
                </a:solidFill>
                <a:latin typeface="Helvetica"/>
                <a:ea typeface="Helvetica"/>
                <a:cs typeface="Helvetica"/>
              </a:rPr>
              <a:t>Organic and AI search shift</a:t>
            </a:r>
          </a:p>
        </p:txBody>
      </p:sp>
      <p:sp>
        <p:nvSpPr>
          <p:cNvPr id="10" name="">
            <a:extLst xmlns:a="http://schemas.openxmlformats.org/drawingml/2006/main">
              <a:ext uri="{FF2B5EF4-FFF2-40B4-BE49-F238E27FC236}">
                <a16:creationId xmlns:a16="http://schemas.microsoft.com/office/drawing/2014/main" id="{3660B0AB-9845-4EEE-9C3A-7010DF21D146}"/>
              </a:ext>
            </a:extLst>
          </p:cNvPr>
          <p:cNvSpPr>
            <a:spLocks xmlns:a="http://schemas.openxmlformats.org/drawingml/2006/main" noGrp="1"/>
          </p:cNvSpPr>
          <p:nvPr/>
        </p:nvSpPr>
        <p:spPr>
          <a:xfrm xmlns:a="http://schemas.openxmlformats.org/drawingml/2006/main">
            <a:off x="8210550" y="1924050"/>
            <a:ext cx="3162300" cy="1143000"/>
          </a:xfrm>
          <a:prstGeom xmlns:a="http://schemas.openxmlformats.org/drawingml/2006/main" prst="roundRect">
            <a:avLst>
              <a:gd name="adj" fmla="val 6667"/>
            </a:avLst>
          </a:prstGeom>
          <a:solidFill xmlns:a="http://schemas.openxmlformats.org/drawingml/2006/main">
            <a:srgbClr val="FFFDFC"/>
          </a:solidFill>
          <a:ln xmlns:a="http://schemas.openxmlformats.org/drawingml/2006/main" w="0">
            <a:solidFill>
              <a:srgbClr val="FFFDFC"/>
            </a:solidFill>
          </a:ln>
        </p:spPr>
      </p:sp>
      <p:sp>
        <p:nvSpPr>
          <p:cNvPr id="11" name="">
            <a:extLst xmlns:a="http://schemas.openxmlformats.org/drawingml/2006/main">
              <a:ext uri="{FF2B5EF4-FFF2-40B4-BE49-F238E27FC236}">
                <a16:creationId xmlns:a16="http://schemas.microsoft.com/office/drawing/2014/main" id="{89377F2E-2E61-4FC5-AE08-D0B4BBA2634A}"/>
              </a:ext>
            </a:extLst>
          </p:cNvPr>
          <p:cNvSpPr>
            <a:spLocks xmlns:a="http://schemas.openxmlformats.org/drawingml/2006/main" noGrp="1"/>
          </p:cNvSpPr>
          <p:nvPr/>
        </p:nvSpPr>
        <p:spPr>
          <a:xfrm xmlns:a="http://schemas.openxmlformats.org/drawingml/2006/main">
            <a:off x="8420100" y="2095500"/>
            <a:ext cx="27241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750" b="1" i="0">
                <a:solidFill>
                  <a:srgbClr val="FF654F"/>
                </a:solidFill>
                <a:latin typeface="Helvetica"/>
                <a:ea typeface="Helvetica"/>
                <a:cs typeface="Helvetica"/>
              </a:defRPr>
            </a:defPPr>
          </a:lstStyle>
          <a:p xmlns:a="http://schemas.openxmlformats.org/drawingml/2006/main">
            <a:pPr algn="l">
              <a:defRPr sz="750" b="1" i="0">
                <a:solidFill>
                  <a:srgbClr val="FF654F"/>
                </a:solidFill>
                <a:latin typeface="Helvetica"/>
                <a:ea typeface="Helvetica"/>
                <a:cs typeface="Helvetica"/>
              </a:defRPr>
            </a:pPr>
            <a:r>
              <a:rPr sz="750" b="1" i="0">
                <a:solidFill>
                  <a:srgbClr val="FF654F"/>
                </a:solidFill>
                <a:latin typeface="Helvetica"/>
                <a:ea typeface="Helvetica"/>
                <a:cs typeface="Helvetica"/>
              </a:rPr>
              <a:t>ECONOMICS</a:t>
            </a:r>
          </a:p>
        </p:txBody>
      </p:sp>
      <p:sp>
        <p:nvSpPr>
          <p:cNvPr id="12" name="">
            <a:extLst xmlns:a="http://schemas.openxmlformats.org/drawingml/2006/main">
              <a:ext uri="{FF2B5EF4-FFF2-40B4-BE49-F238E27FC236}">
                <a16:creationId xmlns:a16="http://schemas.microsoft.com/office/drawing/2014/main" id="{2B6B365E-E0B2-49A3-A0FC-9866338F03C3}"/>
              </a:ext>
            </a:extLst>
          </p:cNvPr>
          <p:cNvSpPr>
            <a:spLocks xmlns:a="http://schemas.openxmlformats.org/drawingml/2006/main" noGrp="1"/>
          </p:cNvSpPr>
          <p:nvPr/>
        </p:nvSpPr>
        <p:spPr>
          <a:xfrm xmlns:a="http://schemas.openxmlformats.org/drawingml/2006/main">
            <a:off x="8420100" y="2390775"/>
            <a:ext cx="27241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350" b="1" i="0">
                <a:solidFill>
                  <a:srgbClr val="15121B"/>
                </a:solidFill>
                <a:latin typeface="Helvetica"/>
                <a:ea typeface="Helvetica"/>
                <a:cs typeface="Helvetica"/>
              </a:defRPr>
            </a:defPPr>
          </a:lstStyle>
          <a:p xmlns:a="http://schemas.openxmlformats.org/drawingml/2006/main">
            <a:pPr algn="l">
              <a:defRPr sz="1350" b="1" i="0">
                <a:solidFill>
                  <a:srgbClr val="15121B"/>
                </a:solidFill>
                <a:latin typeface="Helvetica"/>
                <a:ea typeface="Helvetica"/>
                <a:cs typeface="Helvetica"/>
              </a:defRPr>
            </a:pPr>
            <a:r>
              <a:rPr sz="1350" b="1" i="0">
                <a:solidFill>
                  <a:srgbClr val="15121B"/>
                </a:solidFill>
                <a:latin typeface="Helvetica"/>
                <a:ea typeface="Helvetica"/>
                <a:cs typeface="Helvetica"/>
              </a:rPr>
              <a:t>Paid creative pressure</a:t>
            </a:r>
          </a:p>
        </p:txBody>
      </p:sp>
      <p:sp>
        <p:nvSpPr>
          <p:cNvPr id="13" name="">
            <a:extLst xmlns:a="http://schemas.openxmlformats.org/drawingml/2006/main">
              <a:ext uri="{FF2B5EF4-FFF2-40B4-BE49-F238E27FC236}">
                <a16:creationId xmlns:a16="http://schemas.microsoft.com/office/drawing/2014/main" id="{5112E36B-81ED-4700-8CCE-FE35ADC21D46}"/>
              </a:ext>
            </a:extLst>
          </p:cNvPr>
          <p:cNvSpPr>
            <a:spLocks xmlns:a="http://schemas.openxmlformats.org/drawingml/2006/main" noGrp="1"/>
          </p:cNvSpPr>
          <p:nvPr/>
        </p:nvSpPr>
        <p:spPr>
          <a:xfrm xmlns:a="http://schemas.openxmlformats.org/drawingml/2006/main">
            <a:off x="8210550" y="3429000"/>
            <a:ext cx="3162300" cy="1143000"/>
          </a:xfrm>
          <a:prstGeom xmlns:a="http://schemas.openxmlformats.org/drawingml/2006/main" prst="roundRect">
            <a:avLst>
              <a:gd name="adj" fmla="val 6667"/>
            </a:avLst>
          </a:prstGeom>
          <a:solidFill xmlns:a="http://schemas.openxmlformats.org/drawingml/2006/main">
            <a:srgbClr val="F8D8D2"/>
          </a:solidFill>
          <a:ln xmlns:a="http://schemas.openxmlformats.org/drawingml/2006/main" w="0">
            <a:solidFill>
              <a:srgbClr val="F8D8D2"/>
            </a:solidFill>
          </a:ln>
        </p:spPr>
      </p:sp>
      <p:sp>
        <p:nvSpPr>
          <p:cNvPr id="14" name="">
            <a:extLst xmlns:a="http://schemas.openxmlformats.org/drawingml/2006/main">
              <a:ext uri="{FF2B5EF4-FFF2-40B4-BE49-F238E27FC236}">
                <a16:creationId xmlns:a16="http://schemas.microsoft.com/office/drawing/2014/main" id="{521BE9A5-0215-460F-99FE-3200F2130A2B}"/>
              </a:ext>
            </a:extLst>
          </p:cNvPr>
          <p:cNvSpPr>
            <a:spLocks xmlns:a="http://schemas.openxmlformats.org/drawingml/2006/main" noGrp="1"/>
          </p:cNvSpPr>
          <p:nvPr/>
        </p:nvSpPr>
        <p:spPr>
          <a:xfrm xmlns:a="http://schemas.openxmlformats.org/drawingml/2006/main">
            <a:off x="8420100" y="3600450"/>
            <a:ext cx="272415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750" b="1" i="0">
                <a:solidFill>
                  <a:srgbClr val="FF654F"/>
                </a:solidFill>
                <a:latin typeface="Helvetica"/>
                <a:ea typeface="Helvetica"/>
                <a:cs typeface="Helvetica"/>
              </a:defRPr>
            </a:defPPr>
          </a:lstStyle>
          <a:p xmlns:a="http://schemas.openxmlformats.org/drawingml/2006/main">
            <a:pPr algn="l">
              <a:defRPr sz="750" b="1" i="0">
                <a:solidFill>
                  <a:srgbClr val="FF654F"/>
                </a:solidFill>
                <a:latin typeface="Helvetica"/>
                <a:ea typeface="Helvetica"/>
                <a:cs typeface="Helvetica"/>
              </a:defRPr>
            </a:pPr>
            <a:r>
              <a:rPr sz="750" b="1" i="0">
                <a:solidFill>
                  <a:srgbClr val="FF654F"/>
                </a:solidFill>
                <a:latin typeface="Helvetica"/>
                <a:ea typeface="Helvetica"/>
                <a:cs typeface="Helvetica"/>
              </a:rPr>
              <a:t>MANDATE</a:t>
            </a:r>
          </a:p>
        </p:txBody>
      </p:sp>
      <p:sp>
        <p:nvSpPr>
          <p:cNvPr id="15" name="">
            <a:extLst xmlns:a="http://schemas.openxmlformats.org/drawingml/2006/main">
              <a:ext uri="{FF2B5EF4-FFF2-40B4-BE49-F238E27FC236}">
                <a16:creationId xmlns:a16="http://schemas.microsoft.com/office/drawing/2014/main" id="{E4E72144-D470-4506-AE83-7276C7F4638D}"/>
              </a:ext>
            </a:extLst>
          </p:cNvPr>
          <p:cNvSpPr>
            <a:spLocks xmlns:a="http://schemas.openxmlformats.org/drawingml/2006/main" noGrp="1"/>
          </p:cNvSpPr>
          <p:nvPr/>
        </p:nvSpPr>
        <p:spPr>
          <a:xfrm xmlns:a="http://schemas.openxmlformats.org/drawingml/2006/main">
            <a:off x="8420100" y="3895725"/>
            <a:ext cx="27241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350" b="1" i="0">
                <a:solidFill>
                  <a:srgbClr val="15121B"/>
                </a:solidFill>
                <a:latin typeface="Helvetica"/>
                <a:ea typeface="Helvetica"/>
                <a:cs typeface="Helvetica"/>
              </a:defRPr>
            </a:defPPr>
          </a:lstStyle>
          <a:p xmlns:a="http://schemas.openxmlformats.org/drawingml/2006/main">
            <a:pPr algn="l">
              <a:defRPr sz="1350" b="1" i="0">
                <a:solidFill>
                  <a:srgbClr val="15121B"/>
                </a:solidFill>
                <a:latin typeface="Helvetica"/>
                <a:ea typeface="Helvetica"/>
                <a:cs typeface="Helvetica"/>
              </a:defRPr>
            </a:pPr>
            <a:r>
              <a:rPr sz="1350" b="1" i="0">
                <a:solidFill>
                  <a:srgbClr val="15121B"/>
                </a:solidFill>
                <a:latin typeface="Helvetica"/>
                <a:ea typeface="Helvetica"/>
                <a:cs typeface="Helvetica"/>
              </a:rPr>
              <a:t>Build a loved brand</a:t>
            </a:r>
          </a:p>
        </p:txBody>
      </p:sp>
      <p:sp>
        <p:nvSpPr>
          <p:cNvPr id="16" name="">
            <a:extLst xmlns:a="http://schemas.openxmlformats.org/drawingml/2006/main">
              <a:ext uri="{FF2B5EF4-FFF2-40B4-BE49-F238E27FC236}">
                <a16:creationId xmlns:a16="http://schemas.microsoft.com/office/drawing/2014/main" id="{D48A22FF-38D7-48F7-A80C-63347B7E02B2}"/>
              </a:ext>
            </a:extLst>
          </p:cNvPr>
          <p:cNvSpPr>
            <a:spLocks xmlns:a="http://schemas.openxmlformats.org/drawingml/2006/main" noGrp="1"/>
          </p:cNvSpPr>
          <p:nvPr/>
        </p:nvSpPr>
        <p:spPr>
          <a:xfrm xmlns:a="http://schemas.openxmlformats.org/drawingml/2006/main">
            <a:off x="4591050" y="2305050"/>
            <a:ext cx="3009900" cy="1952625"/>
          </a:xfrm>
          <a:prstGeom xmlns:a="http://schemas.openxmlformats.org/drawingml/2006/main" prst="roundRect">
            <a:avLst>
              <a:gd name="adj" fmla="val 3902"/>
            </a:avLst>
          </a:prstGeom>
          <a:solidFill xmlns:a="http://schemas.openxmlformats.org/drawingml/2006/main">
            <a:srgbClr val="15121B"/>
          </a:solidFill>
          <a:ln xmlns:a="http://schemas.openxmlformats.org/drawingml/2006/main" w="0">
            <a:solidFill>
              <a:srgbClr val="15121B"/>
            </a:solidFill>
          </a:ln>
        </p:spPr>
      </p:sp>
      <p:sp>
        <p:nvSpPr>
          <p:cNvPr id="17" name="">
            <a:extLst xmlns:a="http://schemas.openxmlformats.org/drawingml/2006/main">
              <a:ext uri="{FF2B5EF4-FFF2-40B4-BE49-F238E27FC236}">
                <a16:creationId xmlns:a16="http://schemas.microsoft.com/office/drawing/2014/main" id="{84C1539E-BC6B-42A4-BEF2-69519E71C966}"/>
              </a:ext>
            </a:extLst>
          </p:cNvPr>
          <p:cNvSpPr>
            <a:spLocks xmlns:a="http://schemas.openxmlformats.org/drawingml/2006/main" noGrp="1"/>
          </p:cNvSpPr>
          <p:nvPr/>
        </p:nvSpPr>
        <p:spPr>
          <a:xfrm xmlns:a="http://schemas.openxmlformats.org/drawingml/2006/main">
            <a:off x="4953000" y="2647950"/>
            <a:ext cx="2286000"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ctr">
              <a:defRPr sz="750" b="1" i="0">
                <a:solidFill>
                  <a:srgbClr val="FF654F"/>
                </a:solidFill>
                <a:latin typeface="Helvetica"/>
                <a:ea typeface="Helvetica"/>
                <a:cs typeface="Helvetica"/>
              </a:defRPr>
            </a:defPPr>
          </a:lstStyle>
          <a:p xmlns:a="http://schemas.openxmlformats.org/drawingml/2006/main">
            <a:pPr algn="ctr">
              <a:defRPr sz="750" b="1" i="0">
                <a:solidFill>
                  <a:srgbClr val="FF654F"/>
                </a:solidFill>
                <a:latin typeface="Helvetica"/>
                <a:ea typeface="Helvetica"/>
                <a:cs typeface="Helvetica"/>
              </a:defRPr>
            </a:pPr>
            <a:r>
              <a:rPr sz="750" b="1" i="0">
                <a:solidFill>
                  <a:srgbClr val="FF654F"/>
                </a:solidFill>
                <a:latin typeface="Helvetica"/>
                <a:ea typeface="Helvetica"/>
                <a:cs typeface="Helvetica"/>
              </a:rPr>
              <a:t>THE PRESSURE</a:t>
            </a:r>
          </a:p>
        </p:txBody>
      </p:sp>
      <p:sp>
        <p:nvSpPr>
          <p:cNvPr id="18" name="">
            <a:extLst xmlns:a="http://schemas.openxmlformats.org/drawingml/2006/main">
              <a:ext uri="{FF2B5EF4-FFF2-40B4-BE49-F238E27FC236}">
                <a16:creationId xmlns:a16="http://schemas.microsoft.com/office/drawing/2014/main" id="{997C9BA7-4C92-453D-AF07-5939C4C038A4}"/>
              </a:ext>
            </a:extLst>
          </p:cNvPr>
          <p:cNvSpPr>
            <a:spLocks xmlns:a="http://schemas.openxmlformats.org/drawingml/2006/main" noGrp="1"/>
          </p:cNvSpPr>
          <p:nvPr/>
        </p:nvSpPr>
        <p:spPr>
          <a:xfrm xmlns:a="http://schemas.openxmlformats.org/drawingml/2006/main">
            <a:off x="4953000" y="3009900"/>
            <a:ext cx="2286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ctr">
              <a:defRPr sz="1425" b="1" i="0">
                <a:solidFill>
                  <a:srgbClr val="FFFDFC"/>
                </a:solidFill>
                <a:latin typeface="Helvetica"/>
                <a:ea typeface="Helvetica"/>
                <a:cs typeface="Helvetica"/>
              </a:defRPr>
            </a:defPPr>
          </a:lstStyle>
          <a:p xmlns:a="http://schemas.openxmlformats.org/drawingml/2006/main">
            <a:pPr algn="ctr">
              <a:defRPr sz="1425" b="1" i="0">
                <a:solidFill>
                  <a:srgbClr val="FFFDFC"/>
                </a:solidFill>
                <a:latin typeface="Helvetica"/>
                <a:ea typeface="Helvetica"/>
                <a:cs typeface="Helvetica"/>
              </a:defRPr>
            </a:pPr>
            <a:r>
              <a:rPr sz="1425" b="1" i="0">
                <a:solidFill>
                  <a:srgbClr val="FFFDFC"/>
                </a:solidFill>
                <a:latin typeface="Helvetica"/>
                <a:ea typeface="Helvetica"/>
                <a:cs typeface="Helvetica"/>
              </a:rPr>
              <a:t>UK fresh-frozen cat food functional vocabulary ('real meat, no fillers, vet-formulated') has commoditised across DTC entrants; Untamed matches near-identical claims with roughly a quarter</a:t>
            </a:r>
          </a:p>
        </p:txBody>
      </p:sp>
      <p:sp>
        <p:nvSpPr>
          <p:cNvPr id="19" name="">
            <a:extLst xmlns:a="http://schemas.openxmlformats.org/drawingml/2006/main">
              <a:ext uri="{FF2B5EF4-FFF2-40B4-BE49-F238E27FC236}">
                <a16:creationId xmlns:a16="http://schemas.microsoft.com/office/drawing/2014/main" id="{B87F5284-720D-45A4-BA77-8DE91FB4D1C8}"/>
              </a:ext>
            </a:extLst>
          </p:cNvPr>
          <p:cNvSpPr>
            <a:spLocks xmlns:a="http://schemas.openxmlformats.org/drawingml/2006/main" noGrp="1"/>
          </p:cNvSpPr>
          <p:nvPr/>
        </p:nvSpPr>
        <p:spPr>
          <a:xfrm xmlns:a="http://schemas.openxmlformats.org/drawingml/2006/main">
            <a:off x="647700" y="5572125"/>
            <a:ext cx="209550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675" b="1" i="0">
                <a:solidFill>
                  <a:srgbClr val="FF654F"/>
                </a:solidFill>
                <a:latin typeface="Helvetica"/>
                <a:ea typeface="Helvetica"/>
                <a:cs typeface="Helvetica"/>
              </a:defRPr>
            </a:defPPr>
          </a:lstStyle>
          <a:p xmlns:a="http://schemas.openxmlformats.org/drawingml/2006/main">
            <a:pPr algn="l">
              <a:defRPr sz="675" b="1" i="0">
                <a:solidFill>
                  <a:srgbClr val="FF654F"/>
                </a:solidFill>
                <a:latin typeface="Helvetica"/>
                <a:ea typeface="Helvetica"/>
                <a:cs typeface="Helvetica"/>
              </a:defRPr>
            </a:pPr>
            <a:r>
              <a:rPr sz="675" b="1" i="0">
                <a:solidFill>
                  <a:srgbClr val="FF654F"/>
                </a:solidFill>
                <a:latin typeface="Helvetica"/>
                <a:ea typeface="Helvetica"/>
                <a:cs typeface="Helvetica"/>
              </a:rPr>
              <a:t>COMMERCIAL CONSEQUENCE</a:t>
            </a:r>
          </a:p>
        </p:txBody>
      </p:sp>
      <p:sp>
        <p:nvSpPr>
          <p:cNvPr id="20" name="">
            <a:extLst xmlns:a="http://schemas.openxmlformats.org/drawingml/2006/main">
              <a:ext uri="{FF2B5EF4-FFF2-40B4-BE49-F238E27FC236}">
                <a16:creationId xmlns:a16="http://schemas.microsoft.com/office/drawing/2014/main" id="{367570E6-9F34-4F0A-98C5-47A66332028F}"/>
              </a:ext>
            </a:extLst>
          </p:cNvPr>
          <p:cNvSpPr>
            <a:spLocks xmlns:a="http://schemas.openxmlformats.org/drawingml/2006/main" noGrp="1"/>
          </p:cNvSpPr>
          <p:nvPr/>
        </p:nvSpPr>
        <p:spPr>
          <a:xfrm xmlns:a="http://schemas.openxmlformats.org/drawingml/2006/main">
            <a:off x="2619375" y="5505450"/>
            <a:ext cx="8382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200" b="1" i="0">
                <a:solidFill>
                  <a:srgbClr val="15121B"/>
                </a:solidFill>
                <a:latin typeface="Helvetica"/>
                <a:ea typeface="Helvetica"/>
                <a:cs typeface="Helvetica"/>
              </a:defRPr>
            </a:defPPr>
          </a:lstStyle>
          <a:p xmlns:a="http://schemas.openxmlformats.org/drawingml/2006/main">
            <a:pPr algn="l">
              <a:defRPr sz="1200" b="1" i="0">
                <a:solidFill>
                  <a:srgbClr val="15121B"/>
                </a:solidFill>
                <a:latin typeface="Helvetica"/>
                <a:ea typeface="Helvetica"/>
                <a:cs typeface="Helvetica"/>
              </a:defRPr>
            </a:pPr>
            <a:r>
              <a:rPr sz="1200" b="1" i="0">
                <a:solidFill>
                  <a:srgbClr val="15121B"/>
                </a:solidFill>
                <a:latin typeface="Helvetica"/>
                <a:ea typeface="Helvetica"/>
                <a:cs typeface="Helvetica"/>
              </a:rPr>
              <a:t>Category context creates pressure, but does not diagnose KatKin by itself.</a:t>
            </a:r>
          </a:p>
        </p:txBody>
      </p:sp>
      <p:sp>
        <p:nvSpPr>
          <p:cNvPr id="21" name="">
            <a:extLst xmlns:a="http://schemas.openxmlformats.org/drawingml/2006/main">
              <a:ext uri="{FF2B5EF4-FFF2-40B4-BE49-F238E27FC236}">
                <a16:creationId xmlns:a16="http://schemas.microsoft.com/office/drawing/2014/main" id="{62C42D18-ECC1-4704-866B-870EDFB29B0B}"/>
              </a:ext>
            </a:extLst>
          </p:cNvPr>
          <p:cNvSpPr>
            <a:spLocks xmlns:a="http://schemas.openxmlformats.org/drawingml/2006/main" noGrp="1"/>
          </p:cNvSpPr>
          <p:nvPr/>
        </p:nvSpPr>
        <p:spPr>
          <a:xfrm xmlns:a="http://schemas.openxmlformats.org/drawingml/2006/main">
            <a:off x="647700" y="6134100"/>
            <a:ext cx="4953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825" b="1" i="0">
                <a:solidFill>
                  <a:srgbClr val="756D7A"/>
                </a:solidFill>
                <a:latin typeface="Helvetica"/>
                <a:ea typeface="Helvetica"/>
                <a:cs typeface="Helvetica"/>
              </a:defRPr>
            </a:defPPr>
          </a:lstStyle>
          <a:p xmlns:a="http://schemas.openxmlformats.org/drawingml/2006/main">
            <a:pPr algn="l">
              <a:defRPr sz="825" b="1" i="0">
                <a:solidFill>
                  <a:srgbClr val="756D7A"/>
                </a:solidFill>
                <a:latin typeface="Helvetica"/>
                <a:ea typeface="Helvetica"/>
                <a:cs typeface="Helvetica"/>
              </a:defRPr>
            </a:pPr>
            <a:r>
              <a:rPr sz="825" b="1" i="0">
                <a:solidFill>
                  <a:srgbClr val="756D7A"/>
                </a:solidFill>
                <a:latin typeface="Helvetica"/>
                <a:ea typeface="Helvetica"/>
                <a:cs typeface="Helvetica"/>
              </a:rPr>
              <a:t>SOURCES: S2, S3</a:t>
            </a:r>
          </a:p>
        </p:txBody>
      </p:sp>
      <p:sp>
        <p:nvSpPr>
          <p:cNvPr id="22" name="">
            <a:extLst xmlns:a="http://schemas.openxmlformats.org/drawingml/2006/main">
              <a:ext uri="{FF2B5EF4-FFF2-40B4-BE49-F238E27FC236}">
                <a16:creationId xmlns:a16="http://schemas.microsoft.com/office/drawing/2014/main" id="{652A05B8-4245-4C9E-99C0-DE1FA25B1540}"/>
              </a:ext>
            </a:extLst>
          </p:cNvPr>
          <p:cNvSpPr>
            <a:spLocks xmlns:a="http://schemas.openxmlformats.org/drawingml/2006/main" noGrp="1"/>
          </p:cNvSpPr>
          <p:nvPr/>
        </p:nvSpPr>
        <p:spPr>
          <a:xfrm xmlns:a="http://schemas.openxmlformats.org/drawingml/2006/main">
            <a:off x="5715000" y="6134100"/>
            <a:ext cx="48768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r">
              <a:defRPr sz="825" b="1" i="0">
                <a:solidFill>
                  <a:srgbClr val="5A2E78"/>
                </a:solidFill>
                <a:latin typeface="Helvetica"/>
                <a:ea typeface="Helvetica"/>
                <a:cs typeface="Helvetica"/>
              </a:defRPr>
            </a:defPPr>
          </a:lstStyle>
          <a:p xmlns:a="http://schemas.openxmlformats.org/drawingml/2006/main">
            <a:pPr algn="r">
              <a:defRPr sz="825" b="1" i="0">
                <a:solidFill>
                  <a:srgbClr val="5A2E78"/>
                </a:solidFill>
                <a:latin typeface="Helvetica"/>
                <a:ea typeface="Helvetica"/>
                <a:cs typeface="Helvetica"/>
              </a:defRPr>
            </a:pPr>
            <a:r>
              <a:rPr sz="825" b="1" i="0">
                <a:solidFill>
                  <a:srgbClr val="5A2E78"/>
                </a:solidFill>
                <a:latin typeface="Helvetica"/>
                <a:ea typeface="Helvetica"/>
                <a:cs typeface="Helvetica"/>
              </a:rPr>
              <a:t>INTERPRETATION + VERIFIED FACT</a:t>
            </a:r>
          </a:p>
        </p:txBody>
      </p:sp>
      <p:sp>
        <p:nvSpPr>
          <p:cNvPr id="23" name="">
            <a:extLst xmlns:a="http://schemas.openxmlformats.org/drawingml/2006/main">
              <a:ext uri="{FF2B5EF4-FFF2-40B4-BE49-F238E27FC236}">
                <a16:creationId xmlns:a16="http://schemas.microsoft.com/office/drawing/2014/main" id="{F0592C58-B407-4DFA-A32E-4B5278954924}"/>
              </a:ext>
            </a:extLst>
          </p:cNvPr>
          <p:cNvSpPr>
            <a:spLocks xmlns:a="http://schemas.openxmlformats.org/drawingml/2006/main" noGrp="1"/>
          </p:cNvSpPr>
          <p:nvPr/>
        </p:nvSpPr>
        <p:spPr>
          <a:xfrm xmlns:a="http://schemas.openxmlformats.org/drawingml/2006/main">
            <a:off x="647700" y="6515100"/>
            <a:ext cx="17145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675" b="1" i="0">
                <a:solidFill>
                  <a:srgbClr val="756D7A"/>
                </a:solidFill>
                <a:latin typeface="Helvetica"/>
                <a:ea typeface="Helvetica"/>
                <a:cs typeface="Helvetica"/>
              </a:defRPr>
            </a:defPPr>
          </a:lstStyle>
          <a:p xmlns:a="http://schemas.openxmlformats.org/drawingml/2006/main">
            <a:pPr algn="l">
              <a:defRPr sz="675" b="1" i="0">
                <a:solidFill>
                  <a:srgbClr val="756D7A"/>
                </a:solidFill>
                <a:latin typeface="Helvetica"/>
                <a:ea typeface="Helvetica"/>
                <a:cs typeface="Helvetica"/>
              </a:defRPr>
            </a:pPr>
            <a:r>
              <a:rPr sz="675" b="1" i="0">
                <a:solidFill>
                  <a:srgbClr val="756D7A"/>
                </a:solidFill>
                <a:latin typeface="Helvetica"/>
                <a:ea typeface="Helvetica"/>
                <a:cs typeface="Helvetica"/>
              </a:rPr>
              <a:t>NARRATIIVE</a:t>
            </a:r>
          </a:p>
        </p:txBody>
      </p:sp>
      <p:sp>
        <p:nvSpPr>
          <p:cNvPr id="24" name="">
            <a:extLst xmlns:a="http://schemas.openxmlformats.org/drawingml/2006/main">
              <a:ext uri="{FF2B5EF4-FFF2-40B4-BE49-F238E27FC236}">
                <a16:creationId xmlns:a16="http://schemas.microsoft.com/office/drawing/2014/main" id="{602C6211-BEEF-4AC9-BC9E-581D778E17F3}"/>
              </a:ext>
            </a:extLst>
          </p:cNvPr>
          <p:cNvSpPr>
            <a:spLocks xmlns:a="http://schemas.openxmlformats.org/drawingml/2006/main" noGrp="1"/>
          </p:cNvSpPr>
          <p:nvPr/>
        </p:nvSpPr>
        <p:spPr>
          <a:xfrm xmlns:a="http://schemas.openxmlformats.org/drawingml/2006/main">
            <a:off x="10668000" y="6515100"/>
            <a:ext cx="8763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r">
              <a:defRPr sz="675" b="0" i="0">
                <a:solidFill>
                  <a:srgbClr val="756D7A"/>
                </a:solidFill>
                <a:latin typeface="Helvetica"/>
                <a:ea typeface="Helvetica"/>
                <a:cs typeface="Helvetica"/>
              </a:defRPr>
            </a:defPPr>
          </a:lstStyle>
          <a:p xmlns:a="http://schemas.openxmlformats.org/drawingml/2006/main">
            <a:pPr algn="r">
              <a:defRPr sz="675" b="0" i="0">
                <a:solidFill>
                  <a:srgbClr val="756D7A"/>
                </a:solidFill>
                <a:latin typeface="Helvetica"/>
                <a:ea typeface="Helvetica"/>
                <a:cs typeface="Helvetica"/>
              </a:defRPr>
            </a:pPr>
            <a:r>
              <a:rPr sz="675" b="0" i="0">
                <a:solidFill>
                  <a:srgbClr val="756D7A"/>
                </a:solidFill>
                <a:latin typeface="Helvetica"/>
                <a:ea typeface="Helvetica"/>
                <a:cs typeface="Helvetica"/>
              </a:rPr>
              <a:t>04 / 30</a:t>
            </a:r>
          </a:p>
        </p:txBody>
      </p:sp>
    </p:spTree>
    <p:extLst>
      <p:ext uri="{BB962C8B-B14F-4D97-AF65-F5344CB8AC3E}">
        <p14:creationId xmlns:p14="http://schemas.microsoft.com/office/powerpoint/2010/main" val="1087242305"/>
      </p:ext>
    </p:extLst>
  </p:cSld>
</p:sld>
</file>

<file path=ppt/slides/slide5.xml><?xml version="1.0" encoding="utf-8"?>
<p:sld xmlns:p="http://schemas.openxmlformats.org/presentationml/2006/main">
  <p:cSld>
    <p:bg>
      <p:bgPr>
        <a:solidFill xmlns:a="http://schemas.openxmlformats.org/drawingml/2006/main">
          <a:srgbClr val="F6F0E8"/>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9D3A69CB-0574-44E3-8D80-0AB827555ADD}"/>
              </a:ext>
            </a:extLst>
          </p:cNvPr>
          <p:cNvSpPr>
            <a:spLocks xmlns:a="http://schemas.openxmlformats.org/drawingml/2006/main" noGrp="1"/>
          </p:cNvSpPr>
          <p:nvPr/>
        </p:nvSpPr>
        <p:spPr>
          <a:xfrm xmlns:a="http://schemas.openxmlformats.org/drawingml/2006/main">
            <a:off x="647700" y="333375"/>
            <a:ext cx="57150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675" b="1" i="0">
                <a:solidFill>
                  <a:srgbClr val="FF654F"/>
                </a:solidFill>
                <a:latin typeface="Helvetica"/>
                <a:ea typeface="Helvetica"/>
                <a:cs typeface="Helvetica"/>
              </a:defRPr>
            </a:defPPr>
          </a:lstStyle>
          <a:p xmlns:a="http://schemas.openxmlformats.org/drawingml/2006/main">
            <a:pPr algn="l">
              <a:defRPr sz="675" b="1" i="0">
                <a:solidFill>
                  <a:srgbClr val="FF654F"/>
                </a:solidFill>
                <a:latin typeface="Helvetica"/>
                <a:ea typeface="Helvetica"/>
                <a:cs typeface="Helvetica"/>
              </a:defRPr>
            </a:pPr>
            <a:r>
              <a:rPr sz="675" b="1" i="0">
                <a:solidFill>
                  <a:srgbClr val="FF654F"/>
                </a:solidFill>
                <a:latin typeface="Helvetica"/>
                <a:ea typeface="Helvetica"/>
                <a:cs typeface="Helvetica"/>
              </a:rPr>
              <a:t>ACT 1 / THE CASE FOR CHANGE</a:t>
            </a:r>
          </a:p>
        </p:txBody>
      </p:sp>
      <p:sp>
        <p:nvSpPr>
          <p:cNvPr id="2" name="">
            <a:extLst xmlns:a="http://schemas.openxmlformats.org/drawingml/2006/main">
              <a:ext uri="{FF2B5EF4-FFF2-40B4-BE49-F238E27FC236}">
                <a16:creationId xmlns:a16="http://schemas.microsoft.com/office/drawing/2014/main" id="{B797B254-D86D-4DC0-BDB7-08ACE6BDB253}"/>
              </a:ext>
            </a:extLst>
          </p:cNvPr>
          <p:cNvSpPr>
            <a:spLocks xmlns:a="http://schemas.openxmlformats.org/drawingml/2006/main" noGrp="1"/>
          </p:cNvSpPr>
          <p:nvPr/>
        </p:nvSpPr>
        <p:spPr>
          <a:xfrm xmlns:a="http://schemas.openxmlformats.org/drawingml/2006/main">
            <a:off x="647700" y="685800"/>
            <a:ext cx="1047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2325" b="1" i="0">
                <a:solidFill>
                  <a:srgbClr val="15121B"/>
                </a:solidFill>
                <a:latin typeface="Helvetica"/>
                <a:ea typeface="Helvetica"/>
                <a:cs typeface="Helvetica"/>
              </a:defRPr>
            </a:defPPr>
          </a:lstStyle>
          <a:p xmlns:a="http://schemas.openxmlformats.org/drawingml/2006/main">
            <a:pPr algn="l">
              <a:defRPr sz="2325" b="1" i="0">
                <a:solidFill>
                  <a:srgbClr val="15121B"/>
                </a:solidFill>
                <a:latin typeface="Helvetica"/>
                <a:ea typeface="Helvetica"/>
                <a:cs typeface="Helvetica"/>
              </a:defRPr>
            </a:pPr>
            <a:r>
              <a:rPr sz="2325" b="1" i="0">
                <a:solidFill>
                  <a:srgbClr val="15121B"/>
                </a:solidFill>
                <a:latin typeface="Helvetica"/>
                <a:ea typeface="Helvetica"/>
                <a:cs typeface="Helvetica"/>
              </a:rPr>
              <a:t>Category Growth Dynamics</a:t>
            </a:r>
          </a:p>
        </p:txBody>
      </p:sp>
      <p:sp>
        <p:nvSpPr>
          <p:cNvPr id="3" name="">
            <a:extLst xmlns:a="http://schemas.openxmlformats.org/drawingml/2006/main">
              <a:ext uri="{FF2B5EF4-FFF2-40B4-BE49-F238E27FC236}">
                <a16:creationId xmlns:a16="http://schemas.microsoft.com/office/drawing/2014/main" id="{15034312-338E-4F84-B07D-D31192694323}"/>
              </a:ext>
            </a:extLst>
          </p:cNvPr>
          <p:cNvSpPr>
            <a:spLocks xmlns:a="http://schemas.openxmlformats.org/drawingml/2006/main" noGrp="1"/>
          </p:cNvSpPr>
          <p:nvPr/>
        </p:nvSpPr>
        <p:spPr>
          <a:xfrm xmlns:a="http://schemas.openxmlformats.org/drawingml/2006/main">
            <a:off x="647700" y="1400175"/>
            <a:ext cx="10896600" cy="19050"/>
          </a:xfrm>
          <a:prstGeom xmlns:a="http://schemas.openxmlformats.org/drawingml/2006/main" prst="rect">
            <a:avLst/>
          </a:prstGeom>
          <a:solidFill xmlns:a="http://schemas.openxmlformats.org/drawingml/2006/main">
            <a:srgbClr val="D9CFD5"/>
          </a:solidFill>
          <a:ln xmlns:a="http://schemas.openxmlformats.org/drawingml/2006/main" w="0">
            <a:solidFill>
              <a:srgbClr val="D9CFD5"/>
            </a:solidFill>
          </a:ln>
        </p:spPr>
      </p:sp>
      <p:sp>
        <p:nvSpPr>
          <p:cNvPr id="4" name="">
            <a:extLst xmlns:a="http://schemas.openxmlformats.org/drawingml/2006/main">
              <a:ext uri="{FF2B5EF4-FFF2-40B4-BE49-F238E27FC236}">
                <a16:creationId xmlns:a16="http://schemas.microsoft.com/office/drawing/2014/main" id="{035BB812-BF04-4C73-852C-5A6C1A8D1E08}"/>
              </a:ext>
            </a:extLst>
          </p:cNvPr>
          <p:cNvSpPr>
            <a:spLocks xmlns:a="http://schemas.openxmlformats.org/drawingml/2006/main" noGrp="1"/>
          </p:cNvSpPr>
          <p:nvPr/>
        </p:nvSpPr>
        <p:spPr>
          <a:xfrm xmlns:a="http://schemas.openxmlformats.org/drawingml/2006/main">
            <a:off x="1047750" y="1809750"/>
            <a:ext cx="4476750" cy="685800"/>
          </a:xfrm>
          <a:prstGeom xmlns:a="http://schemas.openxmlformats.org/drawingml/2006/main" prst="roundRect">
            <a:avLst>
              <a:gd name="adj" fmla="val 11111"/>
            </a:avLst>
          </a:prstGeom>
          <a:solidFill xmlns:a="http://schemas.openxmlformats.org/drawingml/2006/main">
            <a:srgbClr val="FF654F"/>
          </a:solidFill>
          <a:ln xmlns:a="http://schemas.openxmlformats.org/drawingml/2006/main" w="0">
            <a:solidFill>
              <a:srgbClr val="FF654F"/>
            </a:solidFill>
          </a:ln>
        </p:spPr>
      </p:sp>
      <p:sp>
        <p:nvSpPr>
          <p:cNvPr id="5" name="">
            <a:extLst xmlns:a="http://schemas.openxmlformats.org/drawingml/2006/main">
              <a:ext uri="{FF2B5EF4-FFF2-40B4-BE49-F238E27FC236}">
                <a16:creationId xmlns:a16="http://schemas.microsoft.com/office/drawing/2014/main" id="{0EC7B7E0-C3E9-4C11-993A-7BC8463A588C}"/>
              </a:ext>
            </a:extLst>
          </p:cNvPr>
          <p:cNvSpPr>
            <a:spLocks xmlns:a="http://schemas.openxmlformats.org/drawingml/2006/main" noGrp="1"/>
          </p:cNvSpPr>
          <p:nvPr/>
        </p:nvSpPr>
        <p:spPr>
          <a:xfrm xmlns:a="http://schemas.openxmlformats.org/drawingml/2006/main">
            <a:off x="1333500" y="2028825"/>
            <a:ext cx="3905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200" b="1" i="0">
                <a:solidFill>
                  <a:srgbClr val="FFFDFC"/>
                </a:solidFill>
                <a:latin typeface="Helvetica"/>
                <a:ea typeface="Helvetica"/>
                <a:cs typeface="Helvetica"/>
              </a:defRPr>
            </a:defPPr>
          </a:lstStyle>
          <a:p xmlns:a="http://schemas.openxmlformats.org/drawingml/2006/main">
            <a:pPr algn="l">
              <a:defRPr sz="1200" b="1" i="0">
                <a:solidFill>
                  <a:srgbClr val="FFFDFC"/>
                </a:solidFill>
                <a:latin typeface="Helvetica"/>
                <a:ea typeface="Helvetica"/>
                <a:cs typeface="Helvetica"/>
              </a:defRPr>
            </a:pPr>
            <a:r>
              <a:rPr sz="1200" b="1" i="0">
                <a:solidFill>
                  <a:srgbClr val="FFFDFC"/>
                </a:solidFill>
                <a:latin typeface="Helvetica"/>
                <a:ea typeface="Helvetica"/>
                <a:cs typeface="Helvetica"/>
              </a:rPr>
              <a:t>01 CLAIM</a:t>
            </a:r>
          </a:p>
        </p:txBody>
      </p:sp>
      <p:sp>
        <p:nvSpPr>
          <p:cNvPr id="6" name="">
            <a:extLst xmlns:a="http://schemas.openxmlformats.org/drawingml/2006/main">
              <a:ext uri="{FF2B5EF4-FFF2-40B4-BE49-F238E27FC236}">
                <a16:creationId xmlns:a16="http://schemas.microsoft.com/office/drawing/2014/main" id="{FCBEA9A3-A5C2-4C31-8AD3-FF4DE3948045}"/>
              </a:ext>
            </a:extLst>
          </p:cNvPr>
          <p:cNvSpPr>
            <a:spLocks xmlns:a="http://schemas.openxmlformats.org/drawingml/2006/main" noGrp="1"/>
          </p:cNvSpPr>
          <p:nvPr/>
        </p:nvSpPr>
        <p:spPr>
          <a:xfrm xmlns:a="http://schemas.openxmlformats.org/drawingml/2006/main">
            <a:off x="1571625" y="2762250"/>
            <a:ext cx="3429000" cy="685800"/>
          </a:xfrm>
          <a:prstGeom xmlns:a="http://schemas.openxmlformats.org/drawingml/2006/main" prst="roundRect">
            <a:avLst>
              <a:gd name="adj" fmla="val 11111"/>
            </a:avLst>
          </a:prstGeom>
          <a:solidFill xmlns:a="http://schemas.openxmlformats.org/drawingml/2006/main">
            <a:srgbClr val="5A2E78"/>
          </a:solidFill>
          <a:ln xmlns:a="http://schemas.openxmlformats.org/drawingml/2006/main" w="0">
            <a:solidFill>
              <a:srgbClr val="5A2E78"/>
            </a:solidFill>
          </a:ln>
        </p:spPr>
      </p:sp>
      <p:sp>
        <p:nvSpPr>
          <p:cNvPr id="7" name="">
            <a:extLst xmlns:a="http://schemas.openxmlformats.org/drawingml/2006/main">
              <a:ext uri="{FF2B5EF4-FFF2-40B4-BE49-F238E27FC236}">
                <a16:creationId xmlns:a16="http://schemas.microsoft.com/office/drawing/2014/main" id="{999B071E-948A-4EF1-A595-A6A9D048F288}"/>
              </a:ext>
            </a:extLst>
          </p:cNvPr>
          <p:cNvSpPr>
            <a:spLocks xmlns:a="http://schemas.openxmlformats.org/drawingml/2006/main" noGrp="1"/>
          </p:cNvSpPr>
          <p:nvPr/>
        </p:nvSpPr>
        <p:spPr>
          <a:xfrm xmlns:a="http://schemas.openxmlformats.org/drawingml/2006/main">
            <a:off x="1857375" y="2981325"/>
            <a:ext cx="285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200" b="1" i="0">
                <a:solidFill>
                  <a:srgbClr val="FFFDFC"/>
                </a:solidFill>
                <a:latin typeface="Helvetica"/>
                <a:ea typeface="Helvetica"/>
                <a:cs typeface="Helvetica"/>
              </a:defRPr>
            </a:defPPr>
          </a:lstStyle>
          <a:p xmlns:a="http://schemas.openxmlformats.org/drawingml/2006/main">
            <a:pPr algn="l">
              <a:defRPr sz="1200" b="1" i="0">
                <a:solidFill>
                  <a:srgbClr val="FFFDFC"/>
                </a:solidFill>
                <a:latin typeface="Helvetica"/>
                <a:ea typeface="Helvetica"/>
                <a:cs typeface="Helvetica"/>
              </a:defRPr>
            </a:pPr>
            <a:r>
              <a:rPr sz="1200" b="1" i="0">
                <a:solidFill>
                  <a:srgbClr val="FFFDFC"/>
                </a:solidFill>
                <a:latin typeface="Helvetica"/>
                <a:ea typeface="Helvetica"/>
                <a:cs typeface="Helvetica"/>
              </a:rPr>
              <a:t>02 PROOF</a:t>
            </a:r>
          </a:p>
        </p:txBody>
      </p:sp>
      <p:sp>
        <p:nvSpPr>
          <p:cNvPr id="8" name="">
            <a:extLst xmlns:a="http://schemas.openxmlformats.org/drawingml/2006/main">
              <a:ext uri="{FF2B5EF4-FFF2-40B4-BE49-F238E27FC236}">
                <a16:creationId xmlns:a16="http://schemas.microsoft.com/office/drawing/2014/main" id="{79EB28A9-74C7-4121-89DE-D01433CFFE89}"/>
              </a:ext>
            </a:extLst>
          </p:cNvPr>
          <p:cNvSpPr>
            <a:spLocks xmlns:a="http://schemas.openxmlformats.org/drawingml/2006/main" noGrp="1"/>
          </p:cNvSpPr>
          <p:nvPr/>
        </p:nvSpPr>
        <p:spPr>
          <a:xfrm xmlns:a="http://schemas.openxmlformats.org/drawingml/2006/main">
            <a:off x="2095500" y="3714750"/>
            <a:ext cx="2381250" cy="685800"/>
          </a:xfrm>
          <a:prstGeom xmlns:a="http://schemas.openxmlformats.org/drawingml/2006/main" prst="roundRect">
            <a:avLst>
              <a:gd name="adj" fmla="val 11111"/>
            </a:avLst>
          </a:prstGeom>
          <a:solidFill xmlns:a="http://schemas.openxmlformats.org/drawingml/2006/main">
            <a:srgbClr val="261A31"/>
          </a:solidFill>
          <a:ln xmlns:a="http://schemas.openxmlformats.org/drawingml/2006/main" w="0">
            <a:solidFill>
              <a:srgbClr val="261A31"/>
            </a:solidFill>
          </a:ln>
        </p:spPr>
      </p:sp>
      <p:sp>
        <p:nvSpPr>
          <p:cNvPr id="9" name="">
            <a:extLst xmlns:a="http://schemas.openxmlformats.org/drawingml/2006/main">
              <a:ext uri="{FF2B5EF4-FFF2-40B4-BE49-F238E27FC236}">
                <a16:creationId xmlns:a16="http://schemas.microsoft.com/office/drawing/2014/main" id="{CC53DD1A-4351-42E6-8190-30E60BBD411F}"/>
              </a:ext>
            </a:extLst>
          </p:cNvPr>
          <p:cNvSpPr>
            <a:spLocks xmlns:a="http://schemas.openxmlformats.org/drawingml/2006/main" noGrp="1"/>
          </p:cNvSpPr>
          <p:nvPr/>
        </p:nvSpPr>
        <p:spPr>
          <a:xfrm xmlns:a="http://schemas.openxmlformats.org/drawingml/2006/main">
            <a:off x="2381250" y="3933825"/>
            <a:ext cx="1809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200" b="1" i="0">
                <a:solidFill>
                  <a:srgbClr val="FFFDFC"/>
                </a:solidFill>
                <a:latin typeface="Helvetica"/>
                <a:ea typeface="Helvetica"/>
                <a:cs typeface="Helvetica"/>
              </a:defRPr>
            </a:defPPr>
          </a:lstStyle>
          <a:p xmlns:a="http://schemas.openxmlformats.org/drawingml/2006/main">
            <a:pPr algn="l">
              <a:defRPr sz="1200" b="1" i="0">
                <a:solidFill>
                  <a:srgbClr val="FFFDFC"/>
                </a:solidFill>
                <a:latin typeface="Helvetica"/>
                <a:ea typeface="Helvetica"/>
                <a:cs typeface="Helvetica"/>
              </a:defRPr>
            </a:pPr>
            <a:r>
              <a:rPr sz="1200" b="1" i="0">
                <a:solidFill>
                  <a:srgbClr val="FFFDFC"/>
                </a:solidFill>
                <a:latin typeface="Helvetica"/>
                <a:ea typeface="Helvetica"/>
                <a:cs typeface="Helvetica"/>
              </a:rPr>
              <a:t>03 METHOD</a:t>
            </a:r>
          </a:p>
        </p:txBody>
      </p:sp>
      <p:sp>
        <p:nvSpPr>
          <p:cNvPr id="10" name="">
            <a:extLst xmlns:a="http://schemas.openxmlformats.org/drawingml/2006/main">
              <a:ext uri="{FF2B5EF4-FFF2-40B4-BE49-F238E27FC236}">
                <a16:creationId xmlns:a16="http://schemas.microsoft.com/office/drawing/2014/main" id="{EE4F72D9-1A30-4BFD-B350-3A777C42A786}"/>
              </a:ext>
            </a:extLst>
          </p:cNvPr>
          <p:cNvSpPr>
            <a:spLocks xmlns:a="http://schemas.openxmlformats.org/drawingml/2006/main" noGrp="1"/>
          </p:cNvSpPr>
          <p:nvPr/>
        </p:nvSpPr>
        <p:spPr>
          <a:xfrm xmlns:a="http://schemas.openxmlformats.org/drawingml/2006/main">
            <a:off x="6858000" y="2095500"/>
            <a:ext cx="400050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800" b="1" i="0">
                <a:solidFill>
                  <a:srgbClr val="15121B"/>
                </a:solidFill>
                <a:latin typeface="Helvetica"/>
                <a:ea typeface="Helvetica"/>
                <a:cs typeface="Helvetica"/>
              </a:defRPr>
            </a:defPPr>
          </a:lstStyle>
          <a:p xmlns:a="http://schemas.openxmlformats.org/drawingml/2006/main">
            <a:pPr algn="l">
              <a:defRPr sz="1800" b="1" i="0">
                <a:solidFill>
                  <a:srgbClr val="15121B"/>
                </a:solidFill>
                <a:latin typeface="Helvetica"/>
                <a:ea typeface="Helvetica"/>
                <a:cs typeface="Helvetica"/>
              </a:defRPr>
            </a:pPr>
            <a:r>
              <a:rPr sz="1800" b="1" i="0">
                <a:solidFill>
                  <a:srgbClr val="15121B"/>
                </a:solidFill>
                <a:latin typeface="Helvetica"/>
                <a:ea typeface="Helvetica"/>
                <a:cs typeface="Helvetica"/>
              </a:rPr>
              <a:t>No independent verification of KatKin's claimed 2% market share beyond trade press reporting</a:t>
            </a:r>
          </a:p>
        </p:txBody>
      </p:sp>
      <p:sp>
        <p:nvSpPr>
          <p:cNvPr id="11" name="">
            <a:extLst xmlns:a="http://schemas.openxmlformats.org/drawingml/2006/main">
              <a:ext uri="{FF2B5EF4-FFF2-40B4-BE49-F238E27FC236}">
                <a16:creationId xmlns:a16="http://schemas.microsoft.com/office/drawing/2014/main" id="{143D7390-0DAC-4EAA-9D5D-50D3110C1265}"/>
              </a:ext>
            </a:extLst>
          </p:cNvPr>
          <p:cNvSpPr>
            <a:spLocks xmlns:a="http://schemas.openxmlformats.org/drawingml/2006/main" noGrp="1"/>
          </p:cNvSpPr>
          <p:nvPr/>
        </p:nvSpPr>
        <p:spPr>
          <a:xfrm xmlns:a="http://schemas.openxmlformats.org/drawingml/2006/main">
            <a:off x="647700" y="5572125"/>
            <a:ext cx="209550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675" b="1" i="0">
                <a:solidFill>
                  <a:srgbClr val="FF654F"/>
                </a:solidFill>
                <a:latin typeface="Helvetica"/>
                <a:ea typeface="Helvetica"/>
                <a:cs typeface="Helvetica"/>
              </a:defRPr>
            </a:defPPr>
          </a:lstStyle>
          <a:p xmlns:a="http://schemas.openxmlformats.org/drawingml/2006/main">
            <a:pPr algn="l">
              <a:defRPr sz="675" b="1" i="0">
                <a:solidFill>
                  <a:srgbClr val="FF654F"/>
                </a:solidFill>
                <a:latin typeface="Helvetica"/>
                <a:ea typeface="Helvetica"/>
                <a:cs typeface="Helvetica"/>
              </a:defRPr>
            </a:pPr>
            <a:r>
              <a:rPr sz="675" b="1" i="0">
                <a:solidFill>
                  <a:srgbClr val="FF654F"/>
                </a:solidFill>
                <a:latin typeface="Helvetica"/>
                <a:ea typeface="Helvetica"/>
                <a:cs typeface="Helvetica"/>
              </a:rPr>
              <a:t>COMMERCIAL CONSEQUENCE</a:t>
            </a:r>
          </a:p>
        </p:txBody>
      </p:sp>
      <p:sp>
        <p:nvSpPr>
          <p:cNvPr id="12" name="">
            <a:extLst xmlns:a="http://schemas.openxmlformats.org/drawingml/2006/main">
              <a:ext uri="{FF2B5EF4-FFF2-40B4-BE49-F238E27FC236}">
                <a16:creationId xmlns:a16="http://schemas.microsoft.com/office/drawing/2014/main" id="{33A28F1F-BF92-4F71-852B-F51E8DC687B2}"/>
              </a:ext>
            </a:extLst>
          </p:cNvPr>
          <p:cNvSpPr>
            <a:spLocks xmlns:a="http://schemas.openxmlformats.org/drawingml/2006/main" noGrp="1"/>
          </p:cNvSpPr>
          <p:nvPr/>
        </p:nvSpPr>
        <p:spPr>
          <a:xfrm xmlns:a="http://schemas.openxmlformats.org/drawingml/2006/main">
            <a:off x="2619375" y="5505450"/>
            <a:ext cx="8382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200" b="1" i="0">
                <a:solidFill>
                  <a:srgbClr val="15121B"/>
                </a:solidFill>
                <a:latin typeface="Helvetica"/>
                <a:ea typeface="Helvetica"/>
                <a:cs typeface="Helvetica"/>
              </a:defRPr>
            </a:defPPr>
          </a:lstStyle>
          <a:p xmlns:a="http://schemas.openxmlformats.org/drawingml/2006/main">
            <a:pPr algn="l">
              <a:defRPr sz="1200" b="1" i="0">
                <a:solidFill>
                  <a:srgbClr val="15121B"/>
                </a:solidFill>
                <a:latin typeface="Helvetica"/>
                <a:ea typeface="Helvetica"/>
                <a:cs typeface="Helvetica"/>
              </a:defRPr>
            </a:pPr>
            <a:r>
              <a:rPr sz="1200" b="1" i="0">
                <a:solidFill>
                  <a:srgbClr val="15121B"/>
                </a:solidFill>
                <a:latin typeface="Helvetica"/>
                <a:ea typeface="Helvetica"/>
                <a:cs typeface="Helvetica"/>
              </a:rPr>
              <a:t>Premiumisation and category polarisation make the middle harder to defend.</a:t>
            </a:r>
          </a:p>
        </p:txBody>
      </p:sp>
      <p:sp>
        <p:nvSpPr>
          <p:cNvPr id="13" name="">
            <a:extLst xmlns:a="http://schemas.openxmlformats.org/drawingml/2006/main">
              <a:ext uri="{FF2B5EF4-FFF2-40B4-BE49-F238E27FC236}">
                <a16:creationId xmlns:a16="http://schemas.microsoft.com/office/drawing/2014/main" id="{856F82BA-A9F4-4D6B-A0DC-D9A59AF91826}"/>
              </a:ext>
            </a:extLst>
          </p:cNvPr>
          <p:cNvSpPr>
            <a:spLocks xmlns:a="http://schemas.openxmlformats.org/drawingml/2006/main" noGrp="1"/>
          </p:cNvSpPr>
          <p:nvPr/>
        </p:nvSpPr>
        <p:spPr>
          <a:xfrm xmlns:a="http://schemas.openxmlformats.org/drawingml/2006/main">
            <a:off x="647700" y="6134100"/>
            <a:ext cx="4953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825" b="1" i="0">
                <a:solidFill>
                  <a:srgbClr val="756D7A"/>
                </a:solidFill>
                <a:latin typeface="Helvetica"/>
                <a:ea typeface="Helvetica"/>
                <a:cs typeface="Helvetica"/>
              </a:defRPr>
            </a:defPPr>
          </a:lstStyle>
          <a:p xmlns:a="http://schemas.openxmlformats.org/drawingml/2006/main">
            <a:pPr algn="l">
              <a:defRPr sz="825" b="1" i="0">
                <a:solidFill>
                  <a:srgbClr val="756D7A"/>
                </a:solidFill>
                <a:latin typeface="Helvetica"/>
                <a:ea typeface="Helvetica"/>
                <a:cs typeface="Helvetica"/>
              </a:defRPr>
            </a:pPr>
            <a:r>
              <a:rPr sz="825" b="1" i="0">
                <a:solidFill>
                  <a:srgbClr val="756D7A"/>
                </a:solidFill>
                <a:latin typeface="Helvetica"/>
                <a:ea typeface="Helvetica"/>
                <a:cs typeface="Helvetica"/>
              </a:rPr>
              <a:t>SOURCES: S2</a:t>
            </a:r>
          </a:p>
        </p:txBody>
      </p:sp>
      <p:sp>
        <p:nvSpPr>
          <p:cNvPr id="14" name="">
            <a:extLst xmlns:a="http://schemas.openxmlformats.org/drawingml/2006/main">
              <a:ext uri="{FF2B5EF4-FFF2-40B4-BE49-F238E27FC236}">
                <a16:creationId xmlns:a16="http://schemas.microsoft.com/office/drawing/2014/main" id="{949A4A7E-7588-4530-9E0E-031DD3531F5B}"/>
              </a:ext>
            </a:extLst>
          </p:cNvPr>
          <p:cNvSpPr>
            <a:spLocks xmlns:a="http://schemas.openxmlformats.org/drawingml/2006/main" noGrp="1"/>
          </p:cNvSpPr>
          <p:nvPr/>
        </p:nvSpPr>
        <p:spPr>
          <a:xfrm xmlns:a="http://schemas.openxmlformats.org/drawingml/2006/main">
            <a:off x="5715000" y="6134100"/>
            <a:ext cx="48768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r">
              <a:defRPr sz="825" b="1" i="0">
                <a:solidFill>
                  <a:srgbClr val="5A2E78"/>
                </a:solidFill>
                <a:latin typeface="Helvetica"/>
                <a:ea typeface="Helvetica"/>
                <a:cs typeface="Helvetica"/>
              </a:defRPr>
            </a:defPPr>
          </a:lstStyle>
          <a:p xmlns:a="http://schemas.openxmlformats.org/drawingml/2006/main">
            <a:pPr algn="r">
              <a:defRPr sz="825" b="1" i="0">
                <a:solidFill>
                  <a:srgbClr val="5A2E78"/>
                </a:solidFill>
                <a:latin typeface="Helvetica"/>
                <a:ea typeface="Helvetica"/>
                <a:cs typeface="Helvetica"/>
              </a:defRPr>
            </a:pPr>
            <a:r>
              <a:rPr sz="825" b="1" i="0">
                <a:solidFill>
                  <a:srgbClr val="5A2E78"/>
                </a:solidFill>
                <a:latin typeface="Helvetica"/>
                <a:ea typeface="Helvetica"/>
                <a:cs typeface="Helvetica"/>
              </a:rPr>
              <a:t>VERIFIED FACT</a:t>
            </a:r>
          </a:p>
        </p:txBody>
      </p:sp>
      <p:sp>
        <p:nvSpPr>
          <p:cNvPr id="15" name="">
            <a:extLst xmlns:a="http://schemas.openxmlformats.org/drawingml/2006/main">
              <a:ext uri="{FF2B5EF4-FFF2-40B4-BE49-F238E27FC236}">
                <a16:creationId xmlns:a16="http://schemas.microsoft.com/office/drawing/2014/main" id="{AFB6CDD5-2BC5-43E6-906A-F0938D15733C}"/>
              </a:ext>
            </a:extLst>
          </p:cNvPr>
          <p:cNvSpPr>
            <a:spLocks xmlns:a="http://schemas.openxmlformats.org/drawingml/2006/main" noGrp="1"/>
          </p:cNvSpPr>
          <p:nvPr/>
        </p:nvSpPr>
        <p:spPr>
          <a:xfrm xmlns:a="http://schemas.openxmlformats.org/drawingml/2006/main">
            <a:off x="647700" y="6515100"/>
            <a:ext cx="17145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675" b="1" i="0">
                <a:solidFill>
                  <a:srgbClr val="756D7A"/>
                </a:solidFill>
                <a:latin typeface="Helvetica"/>
                <a:ea typeface="Helvetica"/>
                <a:cs typeface="Helvetica"/>
              </a:defRPr>
            </a:defPPr>
          </a:lstStyle>
          <a:p xmlns:a="http://schemas.openxmlformats.org/drawingml/2006/main">
            <a:pPr algn="l">
              <a:defRPr sz="675" b="1" i="0">
                <a:solidFill>
                  <a:srgbClr val="756D7A"/>
                </a:solidFill>
                <a:latin typeface="Helvetica"/>
                <a:ea typeface="Helvetica"/>
                <a:cs typeface="Helvetica"/>
              </a:defRPr>
            </a:pPr>
            <a:r>
              <a:rPr sz="675" b="1" i="0">
                <a:solidFill>
                  <a:srgbClr val="756D7A"/>
                </a:solidFill>
                <a:latin typeface="Helvetica"/>
                <a:ea typeface="Helvetica"/>
                <a:cs typeface="Helvetica"/>
              </a:rPr>
              <a:t>NARRATIIVE</a:t>
            </a:r>
          </a:p>
        </p:txBody>
      </p:sp>
      <p:sp>
        <p:nvSpPr>
          <p:cNvPr id="16" name="">
            <a:extLst xmlns:a="http://schemas.openxmlformats.org/drawingml/2006/main">
              <a:ext uri="{FF2B5EF4-FFF2-40B4-BE49-F238E27FC236}">
                <a16:creationId xmlns:a16="http://schemas.microsoft.com/office/drawing/2014/main" id="{39E40C3D-A051-4B59-AC39-953B08EE5620}"/>
              </a:ext>
            </a:extLst>
          </p:cNvPr>
          <p:cNvSpPr>
            <a:spLocks xmlns:a="http://schemas.openxmlformats.org/drawingml/2006/main" noGrp="1"/>
          </p:cNvSpPr>
          <p:nvPr/>
        </p:nvSpPr>
        <p:spPr>
          <a:xfrm xmlns:a="http://schemas.openxmlformats.org/drawingml/2006/main">
            <a:off x="10668000" y="6515100"/>
            <a:ext cx="8763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r">
              <a:defRPr sz="675" b="0" i="0">
                <a:solidFill>
                  <a:srgbClr val="756D7A"/>
                </a:solidFill>
                <a:latin typeface="Helvetica"/>
                <a:ea typeface="Helvetica"/>
                <a:cs typeface="Helvetica"/>
              </a:defRPr>
            </a:defPPr>
          </a:lstStyle>
          <a:p xmlns:a="http://schemas.openxmlformats.org/drawingml/2006/main">
            <a:pPr algn="r">
              <a:defRPr sz="675" b="0" i="0">
                <a:solidFill>
                  <a:srgbClr val="756D7A"/>
                </a:solidFill>
                <a:latin typeface="Helvetica"/>
                <a:ea typeface="Helvetica"/>
                <a:cs typeface="Helvetica"/>
              </a:defRPr>
            </a:pPr>
            <a:r>
              <a:rPr sz="675" b="0" i="0">
                <a:solidFill>
                  <a:srgbClr val="756D7A"/>
                </a:solidFill>
                <a:latin typeface="Helvetica"/>
                <a:ea typeface="Helvetica"/>
                <a:cs typeface="Helvetica"/>
              </a:rPr>
              <a:t>05 / 30</a:t>
            </a:r>
          </a:p>
        </p:txBody>
      </p:sp>
    </p:spTree>
    <p:extLst>
      <p:ext uri="{BB962C8B-B14F-4D97-AF65-F5344CB8AC3E}">
        <p14:creationId xmlns:p14="http://schemas.microsoft.com/office/powerpoint/2010/main" val="1794882207"/>
      </p:ext>
    </p:extLst>
  </p:cSld>
</p:sld>
</file>

<file path=ppt/slides/slide6.xml><?xml version="1.0" encoding="utf-8"?>
<p:sld xmlns:p="http://schemas.openxmlformats.org/presentationml/2006/main">
  <p:cSld>
    <p:bg>
      <p:bgPr>
        <a:solidFill xmlns:a="http://schemas.openxmlformats.org/drawingml/2006/main">
          <a:srgbClr val="F6F0E8"/>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0955B47A-FBA4-48C9-9956-A2F9584FB779}"/>
              </a:ext>
            </a:extLst>
          </p:cNvPr>
          <p:cNvSpPr>
            <a:spLocks xmlns:a="http://schemas.openxmlformats.org/drawingml/2006/main" noGrp="1"/>
          </p:cNvSpPr>
          <p:nvPr/>
        </p:nvSpPr>
        <p:spPr>
          <a:xfrm xmlns:a="http://schemas.openxmlformats.org/drawingml/2006/main">
            <a:off x="647700" y="333375"/>
            <a:ext cx="57150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675" b="1" i="0">
                <a:solidFill>
                  <a:srgbClr val="FF654F"/>
                </a:solidFill>
                <a:latin typeface="Helvetica"/>
                <a:ea typeface="Helvetica"/>
                <a:cs typeface="Helvetica"/>
              </a:defRPr>
            </a:defPPr>
          </a:lstStyle>
          <a:p xmlns:a="http://schemas.openxmlformats.org/drawingml/2006/main">
            <a:pPr algn="l">
              <a:defRPr sz="675" b="1" i="0">
                <a:solidFill>
                  <a:srgbClr val="FF654F"/>
                </a:solidFill>
                <a:latin typeface="Helvetica"/>
                <a:ea typeface="Helvetica"/>
                <a:cs typeface="Helvetica"/>
              </a:defRPr>
            </a:pPr>
            <a:r>
              <a:rPr sz="675" b="1" i="0">
                <a:solidFill>
                  <a:srgbClr val="FF654F"/>
                </a:solidFill>
                <a:latin typeface="Helvetica"/>
                <a:ea typeface="Helvetica"/>
                <a:cs typeface="Helvetica"/>
              </a:rPr>
              <a:t>ACT 2 / MARKET + COMPETITIVE DIAGNOSIS</a:t>
            </a:r>
          </a:p>
        </p:txBody>
      </p:sp>
      <p:sp>
        <p:nvSpPr>
          <p:cNvPr id="2" name="">
            <a:extLst xmlns:a="http://schemas.openxmlformats.org/drawingml/2006/main">
              <a:ext uri="{FF2B5EF4-FFF2-40B4-BE49-F238E27FC236}">
                <a16:creationId xmlns:a16="http://schemas.microsoft.com/office/drawing/2014/main" id="{D2C383DC-D157-4A70-A7C6-41814FD8E000}"/>
              </a:ext>
            </a:extLst>
          </p:cNvPr>
          <p:cNvSpPr>
            <a:spLocks xmlns:a="http://schemas.openxmlformats.org/drawingml/2006/main" noGrp="1"/>
          </p:cNvSpPr>
          <p:nvPr/>
        </p:nvSpPr>
        <p:spPr>
          <a:xfrm xmlns:a="http://schemas.openxmlformats.org/drawingml/2006/main">
            <a:off x="647700" y="685800"/>
            <a:ext cx="1047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2325" b="1" i="0">
                <a:solidFill>
                  <a:srgbClr val="15121B"/>
                </a:solidFill>
                <a:latin typeface="Helvetica"/>
                <a:ea typeface="Helvetica"/>
                <a:cs typeface="Helvetica"/>
              </a:defRPr>
            </a:defPPr>
          </a:lstStyle>
          <a:p xmlns:a="http://schemas.openxmlformats.org/drawingml/2006/main">
            <a:pPr algn="l">
              <a:defRPr sz="2325" b="1" i="0">
                <a:solidFill>
                  <a:srgbClr val="15121B"/>
                </a:solidFill>
                <a:latin typeface="Helvetica"/>
                <a:ea typeface="Helvetica"/>
                <a:cs typeface="Helvetica"/>
              </a:defRPr>
            </a:pPr>
            <a:r>
              <a:rPr sz="2325" b="1" i="0">
                <a:solidFill>
                  <a:srgbClr val="15121B"/>
                </a:solidFill>
                <a:latin typeface="Helvetica"/>
                <a:ea typeface="Helvetica"/>
                <a:cs typeface="Helvetica"/>
              </a:rPr>
              <a:t>Competitive Landscape</a:t>
            </a:r>
          </a:p>
        </p:txBody>
      </p:sp>
      <p:sp>
        <p:nvSpPr>
          <p:cNvPr id="3" name="">
            <a:extLst xmlns:a="http://schemas.openxmlformats.org/drawingml/2006/main">
              <a:ext uri="{FF2B5EF4-FFF2-40B4-BE49-F238E27FC236}">
                <a16:creationId xmlns:a16="http://schemas.microsoft.com/office/drawing/2014/main" id="{E1800C7B-43D2-49C8-BD6D-FD30C9A98211}"/>
              </a:ext>
            </a:extLst>
          </p:cNvPr>
          <p:cNvSpPr>
            <a:spLocks xmlns:a="http://schemas.openxmlformats.org/drawingml/2006/main" noGrp="1"/>
          </p:cNvSpPr>
          <p:nvPr/>
        </p:nvSpPr>
        <p:spPr>
          <a:xfrm xmlns:a="http://schemas.openxmlformats.org/drawingml/2006/main">
            <a:off x="647700" y="1400175"/>
            <a:ext cx="10896600" cy="19050"/>
          </a:xfrm>
          <a:prstGeom xmlns:a="http://schemas.openxmlformats.org/drawingml/2006/main" prst="rect">
            <a:avLst/>
          </a:prstGeom>
          <a:solidFill xmlns:a="http://schemas.openxmlformats.org/drawingml/2006/main">
            <a:srgbClr val="D9CFD5"/>
          </a:solidFill>
          <a:ln xmlns:a="http://schemas.openxmlformats.org/drawingml/2006/main" w="0">
            <a:solidFill>
              <a:srgbClr val="D9CFD5"/>
            </a:solidFill>
          </a:ln>
        </p:spPr>
      </p:sp>
      <p:sp>
        <p:nvSpPr>
          <p:cNvPr id="4" name="">
            <a:extLst xmlns:a="http://schemas.openxmlformats.org/drawingml/2006/main">
              <a:ext uri="{FF2B5EF4-FFF2-40B4-BE49-F238E27FC236}">
                <a16:creationId xmlns:a16="http://schemas.microsoft.com/office/drawing/2014/main" id="{35DC3086-D9B0-48BE-BC0E-927C888214F4}"/>
              </a:ext>
            </a:extLst>
          </p:cNvPr>
          <p:cNvSpPr>
            <a:spLocks xmlns:a="http://schemas.openxmlformats.org/drawingml/2006/main" noGrp="1"/>
          </p:cNvSpPr>
          <p:nvPr/>
        </p:nvSpPr>
        <p:spPr>
          <a:xfrm xmlns:a="http://schemas.openxmlformats.org/drawingml/2006/main">
            <a:off x="704850" y="1952625"/>
            <a:ext cx="3200400" cy="2590800"/>
          </a:xfrm>
          <a:prstGeom xmlns:a="http://schemas.openxmlformats.org/drawingml/2006/main" prst="roundRect">
            <a:avLst>
              <a:gd name="adj" fmla="val 2941"/>
            </a:avLst>
          </a:prstGeom>
          <a:solidFill xmlns:a="http://schemas.openxmlformats.org/drawingml/2006/main">
            <a:srgbClr val="261A31"/>
          </a:solidFill>
          <a:ln xmlns:a="http://schemas.openxmlformats.org/drawingml/2006/main" w="0">
            <a:solidFill>
              <a:srgbClr val="261A31"/>
            </a:solidFill>
          </a:ln>
        </p:spPr>
      </p:sp>
      <p:sp>
        <p:nvSpPr>
          <p:cNvPr id="5" name="">
            <a:extLst xmlns:a="http://schemas.openxmlformats.org/drawingml/2006/main">
              <a:ext uri="{FF2B5EF4-FFF2-40B4-BE49-F238E27FC236}">
                <a16:creationId xmlns:a16="http://schemas.microsoft.com/office/drawing/2014/main" id="{5E24FB97-9306-4824-A6A1-04C0D95614CD}"/>
              </a:ext>
            </a:extLst>
          </p:cNvPr>
          <p:cNvSpPr>
            <a:spLocks xmlns:a="http://schemas.openxmlformats.org/drawingml/2006/main" noGrp="1"/>
          </p:cNvSpPr>
          <p:nvPr/>
        </p:nvSpPr>
        <p:spPr>
          <a:xfrm xmlns:a="http://schemas.openxmlformats.org/drawingml/2006/main">
            <a:off x="933450" y="2181225"/>
            <a:ext cx="45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900" b="1" i="0">
                <a:solidFill>
                  <a:srgbClr val="C8B7E8"/>
                </a:solidFill>
                <a:latin typeface="Helvetica"/>
                <a:ea typeface="Helvetica"/>
                <a:cs typeface="Helvetica"/>
              </a:defRPr>
            </a:defPPr>
          </a:lstStyle>
          <a:p xmlns:a="http://schemas.openxmlformats.org/drawingml/2006/main">
            <a:pPr algn="l">
              <a:defRPr sz="900" b="1" i="0">
                <a:solidFill>
                  <a:srgbClr val="C8B7E8"/>
                </a:solidFill>
                <a:latin typeface="Helvetica"/>
                <a:ea typeface="Helvetica"/>
                <a:cs typeface="Helvetica"/>
              </a:defRPr>
            </a:pPr>
            <a:r>
              <a:rPr sz="900" b="1" i="0">
                <a:solidFill>
                  <a:srgbClr val="C8B7E8"/>
                </a:solidFill>
                <a:latin typeface="Helvetica"/>
                <a:ea typeface="Helvetica"/>
                <a:cs typeface="Helvetica"/>
              </a:rPr>
              <a:t>01</a:t>
            </a:r>
          </a:p>
        </p:txBody>
      </p:sp>
      <p:sp>
        <p:nvSpPr>
          <p:cNvPr id="6" name="">
            <a:extLst xmlns:a="http://schemas.openxmlformats.org/drawingml/2006/main">
              <a:ext uri="{FF2B5EF4-FFF2-40B4-BE49-F238E27FC236}">
                <a16:creationId xmlns:a16="http://schemas.microsoft.com/office/drawing/2014/main" id="{D17C55D2-10CF-48D6-BC53-C7E289885E1B}"/>
              </a:ext>
            </a:extLst>
          </p:cNvPr>
          <p:cNvSpPr>
            <a:spLocks xmlns:a="http://schemas.openxmlformats.org/drawingml/2006/main" noGrp="1"/>
          </p:cNvSpPr>
          <p:nvPr/>
        </p:nvSpPr>
        <p:spPr>
          <a:xfrm xmlns:a="http://schemas.openxmlformats.org/drawingml/2006/main">
            <a:off x="933450" y="2619375"/>
            <a:ext cx="2724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575" b="1" i="0">
                <a:solidFill>
                  <a:srgbClr val="FFFDFC"/>
                </a:solidFill>
                <a:latin typeface="Helvetica"/>
                <a:ea typeface="Helvetica"/>
                <a:cs typeface="Helvetica"/>
              </a:defRPr>
            </a:defPPr>
          </a:lstStyle>
          <a:p xmlns:a="http://schemas.openxmlformats.org/drawingml/2006/main">
            <a:pPr algn="l">
              <a:defRPr sz="1575" b="1" i="0">
                <a:solidFill>
                  <a:srgbClr val="FFFDFC"/>
                </a:solidFill>
                <a:latin typeface="Helvetica"/>
                <a:ea typeface="Helvetica"/>
                <a:cs typeface="Helvetica"/>
              </a:defRPr>
            </a:pPr>
            <a:r>
              <a:rPr sz="1575" b="1" i="0">
                <a:solidFill>
                  <a:srgbClr val="FFFDFC"/>
                </a:solidFill>
                <a:latin typeface="Helvetica"/>
                <a:ea typeface="Helvetica"/>
                <a:cs typeface="Helvetica"/>
              </a:rPr>
              <a:t>DISCOVERY</a:t>
            </a:r>
          </a:p>
        </p:txBody>
      </p:sp>
      <p:sp>
        <p:nvSpPr>
          <p:cNvPr id="7" name="">
            <a:extLst xmlns:a="http://schemas.openxmlformats.org/drawingml/2006/main">
              <a:ext uri="{FF2B5EF4-FFF2-40B4-BE49-F238E27FC236}">
                <a16:creationId xmlns:a16="http://schemas.microsoft.com/office/drawing/2014/main" id="{9523AC48-DCCF-4155-9CC2-02729A2B76E4}"/>
              </a:ext>
            </a:extLst>
          </p:cNvPr>
          <p:cNvSpPr>
            <a:spLocks xmlns:a="http://schemas.openxmlformats.org/drawingml/2006/main" noGrp="1"/>
          </p:cNvSpPr>
          <p:nvPr/>
        </p:nvSpPr>
        <p:spPr>
          <a:xfrm xmlns:a="http://schemas.openxmlformats.org/drawingml/2006/main">
            <a:off x="933450" y="3209925"/>
            <a:ext cx="27241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200" b="1" i="0">
                <a:solidFill>
                  <a:srgbClr val="FFFDFC"/>
                </a:solidFill>
                <a:latin typeface="Helvetica"/>
                <a:ea typeface="Helvetica"/>
                <a:cs typeface="Helvetica"/>
              </a:defRPr>
            </a:defPPr>
          </a:lstStyle>
          <a:p xmlns:a="http://schemas.openxmlformats.org/drawingml/2006/main">
            <a:pPr algn="l">
              <a:defRPr sz="1200" b="1" i="0">
                <a:solidFill>
                  <a:srgbClr val="FFFDFC"/>
                </a:solidFill>
                <a:latin typeface="Helvetica"/>
                <a:ea typeface="Helvetica"/>
                <a:cs typeface="Helvetica"/>
              </a:defRPr>
            </a:pPr>
            <a:r>
              <a:rPr sz="1200" b="1" i="0">
                <a:solidFill>
                  <a:srgbClr val="FFFDFC"/>
                </a:solidFill>
                <a:latin typeface="Helvetica"/>
                <a:ea typeface="Helvetica"/>
                <a:cs typeface="Helvetica"/>
              </a:rPr>
              <a:t>Competitors own different trust and value cues; KatKin's combination remains a hypothesis.</a:t>
            </a:r>
          </a:p>
        </p:txBody>
      </p:sp>
      <p:sp>
        <p:nvSpPr>
          <p:cNvPr id="8" name="">
            <a:extLst xmlns:a="http://schemas.openxmlformats.org/drawingml/2006/main">
              <a:ext uri="{FF2B5EF4-FFF2-40B4-BE49-F238E27FC236}">
                <a16:creationId xmlns:a16="http://schemas.microsoft.com/office/drawing/2014/main" id="{DAADFFA9-98A4-406E-A03F-4D0BD3EDA309}"/>
              </a:ext>
            </a:extLst>
          </p:cNvPr>
          <p:cNvSpPr>
            <a:spLocks xmlns:a="http://schemas.openxmlformats.org/drawingml/2006/main" noGrp="1"/>
          </p:cNvSpPr>
          <p:nvPr/>
        </p:nvSpPr>
        <p:spPr>
          <a:xfrm xmlns:a="http://schemas.openxmlformats.org/drawingml/2006/main">
            <a:off x="4419600" y="2105025"/>
            <a:ext cx="3200400" cy="2590800"/>
          </a:xfrm>
          <a:prstGeom xmlns:a="http://schemas.openxmlformats.org/drawingml/2006/main" prst="roundRect">
            <a:avLst>
              <a:gd name="adj" fmla="val 2941"/>
            </a:avLst>
          </a:prstGeom>
          <a:solidFill xmlns:a="http://schemas.openxmlformats.org/drawingml/2006/main">
            <a:srgbClr val="5A2E78"/>
          </a:solidFill>
          <a:ln xmlns:a="http://schemas.openxmlformats.org/drawingml/2006/main" w="0">
            <a:solidFill>
              <a:srgbClr val="5A2E78"/>
            </a:solidFill>
          </a:ln>
        </p:spPr>
      </p:sp>
      <p:sp>
        <p:nvSpPr>
          <p:cNvPr id="9" name="">
            <a:extLst xmlns:a="http://schemas.openxmlformats.org/drawingml/2006/main">
              <a:ext uri="{FF2B5EF4-FFF2-40B4-BE49-F238E27FC236}">
                <a16:creationId xmlns:a16="http://schemas.microsoft.com/office/drawing/2014/main" id="{C94BAC2B-7140-46CF-B54B-CFB510787F59}"/>
              </a:ext>
            </a:extLst>
          </p:cNvPr>
          <p:cNvSpPr>
            <a:spLocks xmlns:a="http://schemas.openxmlformats.org/drawingml/2006/main" noGrp="1"/>
          </p:cNvSpPr>
          <p:nvPr/>
        </p:nvSpPr>
        <p:spPr>
          <a:xfrm xmlns:a="http://schemas.openxmlformats.org/drawingml/2006/main">
            <a:off x="4648200" y="2333625"/>
            <a:ext cx="45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900" b="1" i="0">
                <a:solidFill>
                  <a:srgbClr val="C8B7E8"/>
                </a:solidFill>
                <a:latin typeface="Helvetica"/>
                <a:ea typeface="Helvetica"/>
                <a:cs typeface="Helvetica"/>
              </a:defRPr>
            </a:defPPr>
          </a:lstStyle>
          <a:p xmlns:a="http://schemas.openxmlformats.org/drawingml/2006/main">
            <a:pPr algn="l">
              <a:defRPr sz="900" b="1" i="0">
                <a:solidFill>
                  <a:srgbClr val="C8B7E8"/>
                </a:solidFill>
                <a:latin typeface="Helvetica"/>
                <a:ea typeface="Helvetica"/>
                <a:cs typeface="Helvetica"/>
              </a:defRPr>
            </a:pPr>
            <a:r>
              <a:rPr sz="900" b="1" i="0">
                <a:solidFill>
                  <a:srgbClr val="C8B7E8"/>
                </a:solidFill>
                <a:latin typeface="Helvetica"/>
                <a:ea typeface="Helvetica"/>
                <a:cs typeface="Helvetica"/>
              </a:rPr>
              <a:t>02</a:t>
            </a:r>
          </a:p>
        </p:txBody>
      </p:sp>
      <p:sp>
        <p:nvSpPr>
          <p:cNvPr id="10" name="">
            <a:extLst xmlns:a="http://schemas.openxmlformats.org/drawingml/2006/main">
              <a:ext uri="{FF2B5EF4-FFF2-40B4-BE49-F238E27FC236}">
                <a16:creationId xmlns:a16="http://schemas.microsoft.com/office/drawing/2014/main" id="{F602523F-37D1-407D-8740-1B1F23EAD9C0}"/>
              </a:ext>
            </a:extLst>
          </p:cNvPr>
          <p:cNvSpPr>
            <a:spLocks xmlns:a="http://schemas.openxmlformats.org/drawingml/2006/main" noGrp="1"/>
          </p:cNvSpPr>
          <p:nvPr/>
        </p:nvSpPr>
        <p:spPr>
          <a:xfrm xmlns:a="http://schemas.openxmlformats.org/drawingml/2006/main">
            <a:off x="4648200" y="2771775"/>
            <a:ext cx="2724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575" b="1" i="0">
                <a:solidFill>
                  <a:srgbClr val="FFFDFC"/>
                </a:solidFill>
                <a:latin typeface="Helvetica"/>
                <a:ea typeface="Helvetica"/>
                <a:cs typeface="Helvetica"/>
              </a:defRPr>
            </a:defPPr>
          </a:lstStyle>
          <a:p xmlns:a="http://schemas.openxmlformats.org/drawingml/2006/main">
            <a:pPr algn="l">
              <a:defRPr sz="1575" b="1" i="0">
                <a:solidFill>
                  <a:srgbClr val="FFFDFC"/>
                </a:solidFill>
                <a:latin typeface="Helvetica"/>
                <a:ea typeface="Helvetica"/>
                <a:cs typeface="Helvetica"/>
              </a:defRPr>
            </a:pPr>
            <a:r>
              <a:rPr sz="1575" b="1" i="0">
                <a:solidFill>
                  <a:srgbClr val="FFFDFC"/>
                </a:solidFill>
                <a:latin typeface="Helvetica"/>
                <a:ea typeface="Helvetica"/>
                <a:cs typeface="Helvetica"/>
              </a:rPr>
              <a:t>DECISION</a:t>
            </a:r>
          </a:p>
        </p:txBody>
      </p:sp>
      <p:sp>
        <p:nvSpPr>
          <p:cNvPr id="11" name="">
            <a:extLst xmlns:a="http://schemas.openxmlformats.org/drawingml/2006/main">
              <a:ext uri="{FF2B5EF4-FFF2-40B4-BE49-F238E27FC236}">
                <a16:creationId xmlns:a16="http://schemas.microsoft.com/office/drawing/2014/main" id="{73036C91-D246-4352-A664-D88EF91B8463}"/>
              </a:ext>
            </a:extLst>
          </p:cNvPr>
          <p:cNvSpPr>
            <a:spLocks xmlns:a="http://schemas.openxmlformats.org/drawingml/2006/main" noGrp="1"/>
          </p:cNvSpPr>
          <p:nvPr/>
        </p:nvSpPr>
        <p:spPr>
          <a:xfrm xmlns:a="http://schemas.openxmlformats.org/drawingml/2006/main">
            <a:off x="4648200" y="3362325"/>
            <a:ext cx="27241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200" b="1" i="0">
                <a:solidFill>
                  <a:srgbClr val="FFFDFC"/>
                </a:solidFill>
                <a:latin typeface="Helvetica"/>
                <a:ea typeface="Helvetica"/>
                <a:cs typeface="Helvetica"/>
              </a:defRPr>
            </a:defPPr>
          </a:lstStyle>
          <a:p xmlns:a="http://schemas.openxmlformats.org/drawingml/2006/main">
            <a:pPr algn="l">
              <a:defRPr sz="1200" b="1" i="0">
                <a:solidFill>
                  <a:srgbClr val="FFFDFC"/>
                </a:solidFill>
                <a:latin typeface="Helvetica"/>
                <a:ea typeface="Helvetica"/>
                <a:cs typeface="Helvetica"/>
              </a:defRPr>
            </a:pPr>
            <a:r>
              <a:rPr sz="1200" b="1" i="0">
                <a:solidFill>
                  <a:srgbClr val="FFFDFC"/>
                </a:solidFill>
                <a:latin typeface="Helvetica"/>
                <a:ea typeface="Helvetica"/>
                <a:cs typeface="Helvetica"/>
              </a:rPr>
              <a:t>KatKin's defensible proof points are its peer-reviewed, published AGE research (Journal of Animal Science), Board-Certified Veterinary Nutritionist</a:t>
            </a:r>
          </a:p>
        </p:txBody>
      </p:sp>
      <p:sp>
        <p:nvSpPr>
          <p:cNvPr id="12" name="">
            <a:extLst xmlns:a="http://schemas.openxmlformats.org/drawingml/2006/main">
              <a:ext uri="{FF2B5EF4-FFF2-40B4-BE49-F238E27FC236}">
                <a16:creationId xmlns:a16="http://schemas.microsoft.com/office/drawing/2014/main" id="{954ABD7D-F5D2-4B1D-87EA-D1422014A14F}"/>
              </a:ext>
            </a:extLst>
          </p:cNvPr>
          <p:cNvSpPr>
            <a:spLocks xmlns:a="http://schemas.openxmlformats.org/drawingml/2006/main" noGrp="1"/>
          </p:cNvSpPr>
          <p:nvPr/>
        </p:nvSpPr>
        <p:spPr>
          <a:xfrm xmlns:a="http://schemas.openxmlformats.org/drawingml/2006/main">
            <a:off x="8134350" y="2257425"/>
            <a:ext cx="3200400" cy="2590800"/>
          </a:xfrm>
          <a:prstGeom xmlns:a="http://schemas.openxmlformats.org/drawingml/2006/main" prst="roundRect">
            <a:avLst>
              <a:gd name="adj" fmla="val 2941"/>
            </a:avLst>
          </a:prstGeom>
          <a:solidFill xmlns:a="http://schemas.openxmlformats.org/drawingml/2006/main">
            <a:srgbClr val="FF654F"/>
          </a:solidFill>
          <a:ln xmlns:a="http://schemas.openxmlformats.org/drawingml/2006/main" w="0">
            <a:solidFill>
              <a:srgbClr val="FF654F"/>
            </a:solidFill>
          </a:ln>
        </p:spPr>
      </p:sp>
      <p:sp>
        <p:nvSpPr>
          <p:cNvPr id="13" name="">
            <a:extLst xmlns:a="http://schemas.openxmlformats.org/drawingml/2006/main">
              <a:ext uri="{FF2B5EF4-FFF2-40B4-BE49-F238E27FC236}">
                <a16:creationId xmlns:a16="http://schemas.microsoft.com/office/drawing/2014/main" id="{CDB2D0D0-DF57-4D1C-AECE-71CADE63E0F5}"/>
              </a:ext>
            </a:extLst>
          </p:cNvPr>
          <p:cNvSpPr>
            <a:spLocks xmlns:a="http://schemas.openxmlformats.org/drawingml/2006/main" noGrp="1"/>
          </p:cNvSpPr>
          <p:nvPr/>
        </p:nvSpPr>
        <p:spPr>
          <a:xfrm xmlns:a="http://schemas.openxmlformats.org/drawingml/2006/main">
            <a:off x="8362950" y="2486025"/>
            <a:ext cx="45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900" b="1" i="0">
                <a:solidFill>
                  <a:srgbClr val="C8B7E8"/>
                </a:solidFill>
                <a:latin typeface="Helvetica"/>
                <a:ea typeface="Helvetica"/>
                <a:cs typeface="Helvetica"/>
              </a:defRPr>
            </a:defPPr>
          </a:lstStyle>
          <a:p xmlns:a="http://schemas.openxmlformats.org/drawingml/2006/main">
            <a:pPr algn="l">
              <a:defRPr sz="900" b="1" i="0">
                <a:solidFill>
                  <a:srgbClr val="C8B7E8"/>
                </a:solidFill>
                <a:latin typeface="Helvetica"/>
                <a:ea typeface="Helvetica"/>
                <a:cs typeface="Helvetica"/>
              </a:defRPr>
            </a:pPr>
            <a:r>
              <a:rPr sz="900" b="1" i="0">
                <a:solidFill>
                  <a:srgbClr val="C8B7E8"/>
                </a:solidFill>
                <a:latin typeface="Helvetica"/>
                <a:ea typeface="Helvetica"/>
                <a:cs typeface="Helvetica"/>
              </a:rPr>
              <a:t>03</a:t>
            </a:r>
          </a:p>
        </p:txBody>
      </p:sp>
      <p:sp>
        <p:nvSpPr>
          <p:cNvPr id="14" name="">
            <a:extLst xmlns:a="http://schemas.openxmlformats.org/drawingml/2006/main">
              <a:ext uri="{FF2B5EF4-FFF2-40B4-BE49-F238E27FC236}">
                <a16:creationId xmlns:a16="http://schemas.microsoft.com/office/drawing/2014/main" id="{8456F71D-28B9-49FC-A9EB-2D9503445B9D}"/>
              </a:ext>
            </a:extLst>
          </p:cNvPr>
          <p:cNvSpPr>
            <a:spLocks xmlns:a="http://schemas.openxmlformats.org/drawingml/2006/main" noGrp="1"/>
          </p:cNvSpPr>
          <p:nvPr/>
        </p:nvSpPr>
        <p:spPr>
          <a:xfrm xmlns:a="http://schemas.openxmlformats.org/drawingml/2006/main">
            <a:off x="8362950" y="2924175"/>
            <a:ext cx="2724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575" b="1" i="0">
                <a:solidFill>
                  <a:srgbClr val="FFFDFC"/>
                </a:solidFill>
                <a:latin typeface="Helvetica"/>
                <a:ea typeface="Helvetica"/>
                <a:cs typeface="Helvetica"/>
              </a:defRPr>
            </a:defPPr>
          </a:lstStyle>
          <a:p xmlns:a="http://schemas.openxmlformats.org/drawingml/2006/main">
            <a:pPr algn="l">
              <a:defRPr sz="1575" b="1" i="0">
                <a:solidFill>
                  <a:srgbClr val="FFFDFC"/>
                </a:solidFill>
                <a:latin typeface="Helvetica"/>
                <a:ea typeface="Helvetica"/>
                <a:cs typeface="Helvetica"/>
              </a:defRPr>
            </a:pPr>
            <a:r>
              <a:rPr sz="1575" b="1" i="0">
                <a:solidFill>
                  <a:srgbClr val="FFFDFC"/>
                </a:solidFill>
                <a:latin typeface="Helvetica"/>
                <a:ea typeface="Helvetica"/>
                <a:cs typeface="Helvetica"/>
              </a:rPr>
              <a:t>REPEAT</a:t>
            </a:r>
          </a:p>
        </p:txBody>
      </p:sp>
      <p:sp>
        <p:nvSpPr>
          <p:cNvPr id="15" name="">
            <a:extLst xmlns:a="http://schemas.openxmlformats.org/drawingml/2006/main">
              <a:ext uri="{FF2B5EF4-FFF2-40B4-BE49-F238E27FC236}">
                <a16:creationId xmlns:a16="http://schemas.microsoft.com/office/drawing/2014/main" id="{DFD1CF81-780E-4E78-AC6C-8FD54653E9C8}"/>
              </a:ext>
            </a:extLst>
          </p:cNvPr>
          <p:cNvSpPr>
            <a:spLocks xmlns:a="http://schemas.openxmlformats.org/drawingml/2006/main" noGrp="1"/>
          </p:cNvSpPr>
          <p:nvPr/>
        </p:nvSpPr>
        <p:spPr>
          <a:xfrm xmlns:a="http://schemas.openxmlformats.org/drawingml/2006/main">
            <a:off x="8362950" y="3514725"/>
            <a:ext cx="27241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200" b="1" i="0">
                <a:solidFill>
                  <a:srgbClr val="FFFDFC"/>
                </a:solidFill>
                <a:latin typeface="Helvetica"/>
                <a:ea typeface="Helvetica"/>
                <a:cs typeface="Helvetica"/>
              </a:defRPr>
            </a:defPPr>
          </a:lstStyle>
          <a:p xmlns:a="http://schemas.openxmlformats.org/drawingml/2006/main">
            <a:pPr algn="l">
              <a:defRPr sz="1200" b="1" i="0">
                <a:solidFill>
                  <a:srgbClr val="FFFDFC"/>
                </a:solidFill>
                <a:latin typeface="Helvetica"/>
                <a:ea typeface="Helvetica"/>
                <a:cs typeface="Helvetica"/>
              </a:defRPr>
            </a:pPr>
            <a:r>
              <a:rPr sz="1200" b="1" i="0">
                <a:solidFill>
                  <a:srgbClr val="FFFDFC"/>
                </a:solidFill>
                <a:latin typeface="Helvetica"/>
                <a:ea typeface="Helvetica"/>
                <a:cs typeface="Helvetica"/>
              </a:rPr>
              <a:t>Competitors own different trust and value cues; KatKin's combination remains a hypothesis.</a:t>
            </a:r>
          </a:p>
        </p:txBody>
      </p:sp>
      <p:sp>
        <p:nvSpPr>
          <p:cNvPr id="16" name="">
            <a:extLst xmlns:a="http://schemas.openxmlformats.org/drawingml/2006/main">
              <a:ext uri="{FF2B5EF4-FFF2-40B4-BE49-F238E27FC236}">
                <a16:creationId xmlns:a16="http://schemas.microsoft.com/office/drawing/2014/main" id="{2BB175CD-BDA4-4FE3-80CF-163110D57ACE}"/>
              </a:ext>
            </a:extLst>
          </p:cNvPr>
          <p:cNvSpPr>
            <a:spLocks xmlns:a="http://schemas.openxmlformats.org/drawingml/2006/main" noGrp="1"/>
          </p:cNvSpPr>
          <p:nvPr/>
        </p:nvSpPr>
        <p:spPr>
          <a:xfrm xmlns:a="http://schemas.openxmlformats.org/drawingml/2006/main">
            <a:off x="647700" y="5572125"/>
            <a:ext cx="209550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675" b="1" i="0">
                <a:solidFill>
                  <a:srgbClr val="FF654F"/>
                </a:solidFill>
                <a:latin typeface="Helvetica"/>
                <a:ea typeface="Helvetica"/>
                <a:cs typeface="Helvetica"/>
              </a:defRPr>
            </a:defPPr>
          </a:lstStyle>
          <a:p xmlns:a="http://schemas.openxmlformats.org/drawingml/2006/main">
            <a:pPr algn="l">
              <a:defRPr sz="675" b="1" i="0">
                <a:solidFill>
                  <a:srgbClr val="FF654F"/>
                </a:solidFill>
                <a:latin typeface="Helvetica"/>
                <a:ea typeface="Helvetica"/>
                <a:cs typeface="Helvetica"/>
              </a:defRPr>
            </a:pPr>
            <a:r>
              <a:rPr sz="675" b="1" i="0">
                <a:solidFill>
                  <a:srgbClr val="FF654F"/>
                </a:solidFill>
                <a:latin typeface="Helvetica"/>
                <a:ea typeface="Helvetica"/>
                <a:cs typeface="Helvetica"/>
              </a:rPr>
              <a:t>COMMERCIAL CONSEQUENCE</a:t>
            </a:r>
          </a:p>
        </p:txBody>
      </p:sp>
      <p:sp>
        <p:nvSpPr>
          <p:cNvPr id="17" name="">
            <a:extLst xmlns:a="http://schemas.openxmlformats.org/drawingml/2006/main">
              <a:ext uri="{FF2B5EF4-FFF2-40B4-BE49-F238E27FC236}">
                <a16:creationId xmlns:a16="http://schemas.microsoft.com/office/drawing/2014/main" id="{029679A7-5A8C-4EA2-933C-741B4A42AABB}"/>
              </a:ext>
            </a:extLst>
          </p:cNvPr>
          <p:cNvSpPr>
            <a:spLocks xmlns:a="http://schemas.openxmlformats.org/drawingml/2006/main" noGrp="1"/>
          </p:cNvSpPr>
          <p:nvPr/>
        </p:nvSpPr>
        <p:spPr>
          <a:xfrm xmlns:a="http://schemas.openxmlformats.org/drawingml/2006/main">
            <a:off x="2619375" y="5505450"/>
            <a:ext cx="8382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200" b="1" i="0">
                <a:solidFill>
                  <a:srgbClr val="15121B"/>
                </a:solidFill>
                <a:latin typeface="Helvetica"/>
                <a:ea typeface="Helvetica"/>
                <a:cs typeface="Helvetica"/>
              </a:defRPr>
            </a:defPPr>
          </a:lstStyle>
          <a:p xmlns:a="http://schemas.openxmlformats.org/drawingml/2006/main">
            <a:pPr algn="l">
              <a:defRPr sz="1200" b="1" i="0">
                <a:solidFill>
                  <a:srgbClr val="15121B"/>
                </a:solidFill>
                <a:latin typeface="Helvetica"/>
                <a:ea typeface="Helvetica"/>
                <a:cs typeface="Helvetica"/>
              </a:defRPr>
            </a:pPr>
            <a:r>
              <a:rPr sz="1200" b="1" i="0">
                <a:solidFill>
                  <a:srgbClr val="15121B"/>
                </a:solidFill>
                <a:latin typeface="Helvetica"/>
                <a:ea typeface="Helvetica"/>
                <a:cs typeface="Helvetica"/>
              </a:rPr>
              <a:t>Competitors own different trust and value cues; KatKin's combination remains a hypothesis.</a:t>
            </a:r>
          </a:p>
        </p:txBody>
      </p:sp>
      <p:sp>
        <p:nvSpPr>
          <p:cNvPr id="18" name="">
            <a:extLst xmlns:a="http://schemas.openxmlformats.org/drawingml/2006/main">
              <a:ext uri="{FF2B5EF4-FFF2-40B4-BE49-F238E27FC236}">
                <a16:creationId xmlns:a16="http://schemas.microsoft.com/office/drawing/2014/main" id="{57C4C7A9-F266-46BB-AABF-A410FE47AEC7}"/>
              </a:ext>
            </a:extLst>
          </p:cNvPr>
          <p:cNvSpPr>
            <a:spLocks xmlns:a="http://schemas.openxmlformats.org/drawingml/2006/main" noGrp="1"/>
          </p:cNvSpPr>
          <p:nvPr/>
        </p:nvSpPr>
        <p:spPr>
          <a:xfrm xmlns:a="http://schemas.openxmlformats.org/drawingml/2006/main">
            <a:off x="647700" y="6134100"/>
            <a:ext cx="4953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825" b="1" i="0">
                <a:solidFill>
                  <a:srgbClr val="756D7A"/>
                </a:solidFill>
                <a:latin typeface="Helvetica"/>
                <a:ea typeface="Helvetica"/>
                <a:cs typeface="Helvetica"/>
              </a:defRPr>
            </a:defPPr>
          </a:lstStyle>
          <a:p xmlns:a="http://schemas.openxmlformats.org/drawingml/2006/main">
            <a:pPr algn="l">
              <a:defRPr sz="825" b="1" i="0">
                <a:solidFill>
                  <a:srgbClr val="756D7A"/>
                </a:solidFill>
                <a:latin typeface="Helvetica"/>
                <a:ea typeface="Helvetica"/>
                <a:cs typeface="Helvetica"/>
              </a:defRPr>
            </a:pPr>
            <a:r>
              <a:rPr sz="825" b="1" i="0">
                <a:solidFill>
                  <a:srgbClr val="756D7A"/>
                </a:solidFill>
                <a:latin typeface="Helvetica"/>
                <a:ea typeface="Helvetica"/>
                <a:cs typeface="Helvetica"/>
              </a:rPr>
              <a:t>SOURCES: S4, S6</a:t>
            </a:r>
          </a:p>
        </p:txBody>
      </p:sp>
      <p:sp>
        <p:nvSpPr>
          <p:cNvPr id="19" name="">
            <a:extLst xmlns:a="http://schemas.openxmlformats.org/drawingml/2006/main">
              <a:ext uri="{FF2B5EF4-FFF2-40B4-BE49-F238E27FC236}">
                <a16:creationId xmlns:a16="http://schemas.microsoft.com/office/drawing/2014/main" id="{A2F3C647-7D6F-4BD1-AEC9-76CDDAB2EC42}"/>
              </a:ext>
            </a:extLst>
          </p:cNvPr>
          <p:cNvSpPr>
            <a:spLocks xmlns:a="http://schemas.openxmlformats.org/drawingml/2006/main" noGrp="1"/>
          </p:cNvSpPr>
          <p:nvPr/>
        </p:nvSpPr>
        <p:spPr>
          <a:xfrm xmlns:a="http://schemas.openxmlformats.org/drawingml/2006/main">
            <a:off x="5715000" y="6134100"/>
            <a:ext cx="48768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r">
              <a:defRPr sz="825" b="1" i="0">
                <a:solidFill>
                  <a:srgbClr val="5A2E78"/>
                </a:solidFill>
                <a:latin typeface="Helvetica"/>
                <a:ea typeface="Helvetica"/>
                <a:cs typeface="Helvetica"/>
              </a:defRPr>
            </a:defPPr>
          </a:lstStyle>
          <a:p xmlns:a="http://schemas.openxmlformats.org/drawingml/2006/main">
            <a:pPr algn="r">
              <a:defRPr sz="825" b="1" i="0">
                <a:solidFill>
                  <a:srgbClr val="5A2E78"/>
                </a:solidFill>
                <a:latin typeface="Helvetica"/>
                <a:ea typeface="Helvetica"/>
                <a:cs typeface="Helvetica"/>
              </a:defRPr>
            </a:pPr>
            <a:r>
              <a:rPr sz="825" b="1" i="0">
                <a:solidFill>
                  <a:srgbClr val="5A2E78"/>
                </a:solidFill>
                <a:latin typeface="Helvetica"/>
                <a:ea typeface="Helvetica"/>
                <a:cs typeface="Helvetica"/>
              </a:rPr>
              <a:t>MIXED FACT AND HYPOTHESIS + VERIFIED FACT</a:t>
            </a:r>
          </a:p>
        </p:txBody>
      </p:sp>
      <p:sp>
        <p:nvSpPr>
          <p:cNvPr id="20" name="">
            <a:extLst xmlns:a="http://schemas.openxmlformats.org/drawingml/2006/main">
              <a:ext uri="{FF2B5EF4-FFF2-40B4-BE49-F238E27FC236}">
                <a16:creationId xmlns:a16="http://schemas.microsoft.com/office/drawing/2014/main" id="{5496F459-784C-494C-9352-47EA6DF59FE5}"/>
              </a:ext>
            </a:extLst>
          </p:cNvPr>
          <p:cNvSpPr>
            <a:spLocks xmlns:a="http://schemas.openxmlformats.org/drawingml/2006/main" noGrp="1"/>
          </p:cNvSpPr>
          <p:nvPr/>
        </p:nvSpPr>
        <p:spPr>
          <a:xfrm xmlns:a="http://schemas.openxmlformats.org/drawingml/2006/main">
            <a:off x="647700" y="6515100"/>
            <a:ext cx="17145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675" b="1" i="0">
                <a:solidFill>
                  <a:srgbClr val="756D7A"/>
                </a:solidFill>
                <a:latin typeface="Helvetica"/>
                <a:ea typeface="Helvetica"/>
                <a:cs typeface="Helvetica"/>
              </a:defRPr>
            </a:defPPr>
          </a:lstStyle>
          <a:p xmlns:a="http://schemas.openxmlformats.org/drawingml/2006/main">
            <a:pPr algn="l">
              <a:defRPr sz="675" b="1" i="0">
                <a:solidFill>
                  <a:srgbClr val="756D7A"/>
                </a:solidFill>
                <a:latin typeface="Helvetica"/>
                <a:ea typeface="Helvetica"/>
                <a:cs typeface="Helvetica"/>
              </a:defRPr>
            </a:pPr>
            <a:r>
              <a:rPr sz="675" b="1" i="0">
                <a:solidFill>
                  <a:srgbClr val="756D7A"/>
                </a:solidFill>
                <a:latin typeface="Helvetica"/>
                <a:ea typeface="Helvetica"/>
                <a:cs typeface="Helvetica"/>
              </a:rPr>
              <a:t>NARRATIIVE</a:t>
            </a:r>
          </a:p>
        </p:txBody>
      </p:sp>
      <p:sp>
        <p:nvSpPr>
          <p:cNvPr id="21" name="">
            <a:extLst xmlns:a="http://schemas.openxmlformats.org/drawingml/2006/main">
              <a:ext uri="{FF2B5EF4-FFF2-40B4-BE49-F238E27FC236}">
                <a16:creationId xmlns:a16="http://schemas.microsoft.com/office/drawing/2014/main" id="{D2CE5CBA-F5CF-4E99-BEE7-90A25AAF199F}"/>
              </a:ext>
            </a:extLst>
          </p:cNvPr>
          <p:cNvSpPr>
            <a:spLocks xmlns:a="http://schemas.openxmlformats.org/drawingml/2006/main" noGrp="1"/>
          </p:cNvSpPr>
          <p:nvPr/>
        </p:nvSpPr>
        <p:spPr>
          <a:xfrm xmlns:a="http://schemas.openxmlformats.org/drawingml/2006/main">
            <a:off x="10668000" y="6515100"/>
            <a:ext cx="8763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r">
              <a:defRPr sz="675" b="0" i="0">
                <a:solidFill>
                  <a:srgbClr val="756D7A"/>
                </a:solidFill>
                <a:latin typeface="Helvetica"/>
                <a:ea typeface="Helvetica"/>
                <a:cs typeface="Helvetica"/>
              </a:defRPr>
            </a:defPPr>
          </a:lstStyle>
          <a:p xmlns:a="http://schemas.openxmlformats.org/drawingml/2006/main">
            <a:pPr algn="r">
              <a:defRPr sz="675" b="0" i="0">
                <a:solidFill>
                  <a:srgbClr val="756D7A"/>
                </a:solidFill>
                <a:latin typeface="Helvetica"/>
                <a:ea typeface="Helvetica"/>
                <a:cs typeface="Helvetica"/>
              </a:defRPr>
            </a:pPr>
            <a:r>
              <a:rPr sz="675" b="0" i="0">
                <a:solidFill>
                  <a:srgbClr val="756D7A"/>
                </a:solidFill>
                <a:latin typeface="Helvetica"/>
                <a:ea typeface="Helvetica"/>
                <a:cs typeface="Helvetica"/>
              </a:rPr>
              <a:t>06 / 30</a:t>
            </a:r>
          </a:p>
        </p:txBody>
      </p:sp>
    </p:spTree>
    <p:extLst>
      <p:ext uri="{BB962C8B-B14F-4D97-AF65-F5344CB8AC3E}">
        <p14:creationId xmlns:p14="http://schemas.microsoft.com/office/powerpoint/2010/main" val="411621733"/>
      </p:ext>
    </p:extLst>
  </p:cSld>
</p:sld>
</file>

<file path=ppt/slides/slide7.xml><?xml version="1.0" encoding="utf-8"?>
<p:sld xmlns:p="http://schemas.openxmlformats.org/presentationml/2006/main">
  <p:cSld>
    <p:bg>
      <p:bgPr>
        <a:solidFill xmlns:a="http://schemas.openxmlformats.org/drawingml/2006/main">
          <a:srgbClr val="F6F0E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FC46D68B-5E0C-4C5A-A630-0A799D5F9FE3}"/>
              </a:ext>
            </a:extLst>
          </p:cNvPr>
          <p:cNvSpPr>
            <a:spLocks xmlns:a="http://schemas.openxmlformats.org/drawingml/2006/main" noGrp="1"/>
          </p:cNvSpPr>
          <p:nvPr/>
        </p:nvSpPr>
        <p:spPr>
          <a:xfrm xmlns:a="http://schemas.openxmlformats.org/drawingml/2006/main">
            <a:off x="647700" y="333375"/>
            <a:ext cx="57150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675" b="1" i="0">
                <a:solidFill>
                  <a:srgbClr val="FF654F"/>
                </a:solidFill>
                <a:latin typeface="Helvetica"/>
                <a:ea typeface="Helvetica"/>
                <a:cs typeface="Helvetica"/>
              </a:defRPr>
            </a:defPPr>
          </a:lstStyle>
          <a:p xmlns:a="http://schemas.openxmlformats.org/drawingml/2006/main">
            <a:pPr algn="l">
              <a:defRPr sz="675" b="1" i="0">
                <a:solidFill>
                  <a:srgbClr val="FF654F"/>
                </a:solidFill>
                <a:latin typeface="Helvetica"/>
                <a:ea typeface="Helvetica"/>
                <a:cs typeface="Helvetica"/>
              </a:defRPr>
            </a:pPr>
            <a:r>
              <a:rPr sz="675" b="1" i="0">
                <a:solidFill>
                  <a:srgbClr val="FF654F"/>
                </a:solidFill>
                <a:latin typeface="Helvetica"/>
                <a:ea typeface="Helvetica"/>
                <a:cs typeface="Helvetica"/>
              </a:rPr>
              <a:t>ACT 2 / MARKET + COMPETITIVE DIAGNOSIS</a:t>
            </a:r>
          </a:p>
        </p:txBody>
      </p:sp>
      <p:sp>
        <p:nvSpPr>
          <p:cNvPr id="2" name="">
            <a:extLst xmlns:a="http://schemas.openxmlformats.org/drawingml/2006/main">
              <a:ext uri="{FF2B5EF4-FFF2-40B4-BE49-F238E27FC236}">
                <a16:creationId xmlns:a16="http://schemas.microsoft.com/office/drawing/2014/main" id="{E28687BE-CF49-4E9A-863A-C717EDB2C0B4}"/>
              </a:ext>
            </a:extLst>
          </p:cNvPr>
          <p:cNvSpPr>
            <a:spLocks xmlns:a="http://schemas.openxmlformats.org/drawingml/2006/main" noGrp="1"/>
          </p:cNvSpPr>
          <p:nvPr/>
        </p:nvSpPr>
        <p:spPr>
          <a:xfrm xmlns:a="http://schemas.openxmlformats.org/drawingml/2006/main">
            <a:off x="647700" y="685800"/>
            <a:ext cx="1047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2325" b="1" i="0">
                <a:solidFill>
                  <a:srgbClr val="15121B"/>
                </a:solidFill>
                <a:latin typeface="Helvetica"/>
                <a:ea typeface="Helvetica"/>
                <a:cs typeface="Helvetica"/>
              </a:defRPr>
            </a:defPPr>
          </a:lstStyle>
          <a:p xmlns:a="http://schemas.openxmlformats.org/drawingml/2006/main">
            <a:pPr algn="l">
              <a:defRPr sz="2325" b="1" i="0">
                <a:solidFill>
                  <a:srgbClr val="15121B"/>
                </a:solidFill>
                <a:latin typeface="Helvetica"/>
                <a:ea typeface="Helvetica"/>
                <a:cs typeface="Helvetica"/>
              </a:defRPr>
            </a:pPr>
            <a:r>
              <a:rPr sz="2325" b="1" i="0">
                <a:solidFill>
                  <a:srgbClr val="15121B"/>
                </a:solidFill>
                <a:latin typeface="Helvetica"/>
                <a:ea typeface="Helvetica"/>
                <a:cs typeface="Helvetica"/>
              </a:rPr>
              <a:t>The Sea of Sameness</a:t>
            </a:r>
          </a:p>
        </p:txBody>
      </p:sp>
      <p:sp>
        <p:nvSpPr>
          <p:cNvPr id="3" name="">
            <a:extLst xmlns:a="http://schemas.openxmlformats.org/drawingml/2006/main">
              <a:ext uri="{FF2B5EF4-FFF2-40B4-BE49-F238E27FC236}">
                <a16:creationId xmlns:a16="http://schemas.microsoft.com/office/drawing/2014/main" id="{8DC60E4E-0D92-422E-9EE2-12EAAD8BDD67}"/>
              </a:ext>
            </a:extLst>
          </p:cNvPr>
          <p:cNvSpPr>
            <a:spLocks xmlns:a="http://schemas.openxmlformats.org/drawingml/2006/main" noGrp="1"/>
          </p:cNvSpPr>
          <p:nvPr/>
        </p:nvSpPr>
        <p:spPr>
          <a:xfrm xmlns:a="http://schemas.openxmlformats.org/drawingml/2006/main">
            <a:off x="647700" y="1400175"/>
            <a:ext cx="10896600" cy="19050"/>
          </a:xfrm>
          <a:prstGeom xmlns:a="http://schemas.openxmlformats.org/drawingml/2006/main" prst="rect">
            <a:avLst/>
          </a:prstGeom>
          <a:solidFill xmlns:a="http://schemas.openxmlformats.org/drawingml/2006/main">
            <a:srgbClr val="D9CFD5"/>
          </a:solidFill>
          <a:ln xmlns:a="http://schemas.openxmlformats.org/drawingml/2006/main" w="0">
            <a:solidFill>
              <a:srgbClr val="D9CFD5"/>
            </a:solidFill>
          </a:ln>
        </p:spPr>
      </p:sp>
      <p:pic>
        <p:nvPicPr>
          <p:cNvPr id="4" name="">
            <a:extLst xmlns:a="http://schemas.openxmlformats.org/drawingml/2006/main">
              <a:ext uri="{FF2B5EF4-FFF2-40B4-BE49-F238E27FC236}">
                <a16:creationId xmlns:a16="http://schemas.microsoft.com/office/drawing/2014/main" id="{89D41356-6409-4390-818D-DDEB42F8FBED}"/>
              </a:ext>
            </a:extLst>
          </p:cNvPr>
          <p:cNvPicPr>
            <a:picLocks xmlns:a="http://schemas.openxmlformats.org/drawingml/2006/main" noChangeAspect="1"/>
          </p:cNvPicPr>
          <p:nvPr/>
        </p:nvPicPr>
        <p:blipFill>
          <a:blip xmlns:r="http://schemas.openxmlformats.org/officeDocument/2006/relationships" xmlns:a="http://schemas.openxmlformats.org/drawingml/2006/main" r:embed="R86eeee9ece5f4d29"/>
          <a:srcRect xmlns:a="http://schemas.openxmlformats.org/drawingml/2006/main" l="4172" t="0" r="4172" b="0"/>
          <a:stretch xmlns:a="http://schemas.openxmlformats.org/drawingml/2006/main">
            <a:fillRect l="0" t="0" r="0" b="0"/>
          </a:stretch>
        </p:blipFill>
        <p:spPr>
          <a:xfrm xmlns:a="http://schemas.openxmlformats.org/drawingml/2006/main">
            <a:off x="647700" y="1714500"/>
            <a:ext cx="5429250" cy="33337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D344A66B-36DB-4F30-9969-876417C82103}"/>
              </a:ext>
            </a:extLst>
          </p:cNvPr>
          <p:cNvSpPr>
            <a:spLocks xmlns:a="http://schemas.openxmlformats.org/drawingml/2006/main" noGrp="1"/>
          </p:cNvSpPr>
          <p:nvPr/>
        </p:nvSpPr>
        <p:spPr>
          <a:xfrm xmlns:a="http://schemas.openxmlformats.org/drawingml/2006/main">
            <a:off x="6057900" y="1714500"/>
            <a:ext cx="5486400" cy="3333750"/>
          </a:xfrm>
          <a:prstGeom xmlns:a="http://schemas.openxmlformats.org/drawingml/2006/main" prst="rect">
            <a:avLst/>
          </a:prstGeom>
          <a:solidFill xmlns:a="http://schemas.openxmlformats.org/drawingml/2006/main">
            <a:srgbClr val="261A31"/>
          </a:solidFill>
          <a:ln xmlns:a="http://schemas.openxmlformats.org/drawingml/2006/main" w="0">
            <a:solidFill>
              <a:srgbClr val="261A31"/>
            </a:solidFill>
          </a:ln>
        </p:spPr>
      </p:sp>
      <p:sp>
        <p:nvSpPr>
          <p:cNvPr id="6" name="">
            <a:extLst xmlns:a="http://schemas.openxmlformats.org/drawingml/2006/main">
              <a:ext uri="{FF2B5EF4-FFF2-40B4-BE49-F238E27FC236}">
                <a16:creationId xmlns:a16="http://schemas.microsoft.com/office/drawing/2014/main" id="{B879DD64-BA26-4D78-BE7E-D8C8BDF5587F}"/>
              </a:ext>
            </a:extLst>
          </p:cNvPr>
          <p:cNvSpPr>
            <a:spLocks xmlns:a="http://schemas.openxmlformats.org/drawingml/2006/main" noGrp="1"/>
          </p:cNvSpPr>
          <p:nvPr/>
        </p:nvSpPr>
        <p:spPr>
          <a:xfrm xmlns:a="http://schemas.openxmlformats.org/drawingml/2006/main">
            <a:off x="6515100" y="2076450"/>
            <a:ext cx="4095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750" b="1" i="0">
                <a:solidFill>
                  <a:srgbClr val="FF654F"/>
                </a:solidFill>
                <a:latin typeface="Helvetica"/>
                <a:ea typeface="Helvetica"/>
                <a:cs typeface="Helvetica"/>
              </a:defRPr>
            </a:defPPr>
          </a:lstStyle>
          <a:p xmlns:a="http://schemas.openxmlformats.org/drawingml/2006/main">
            <a:pPr algn="l">
              <a:defRPr sz="750" b="1" i="0">
                <a:solidFill>
                  <a:srgbClr val="FF654F"/>
                </a:solidFill>
                <a:latin typeface="Helvetica"/>
                <a:ea typeface="Helvetica"/>
                <a:cs typeface="Helvetica"/>
              </a:defRPr>
            </a:pPr>
            <a:r>
              <a:rPr sz="750" b="1" i="0">
                <a:solidFill>
                  <a:srgbClr val="FF654F"/>
                </a:solidFill>
                <a:latin typeface="Helvetica"/>
                <a:ea typeface="Helvetica"/>
                <a:cs typeface="Helvetica"/>
              </a:rPr>
              <a:t>THE HARD PART IS ALREADY DONE</a:t>
            </a:r>
          </a:p>
        </p:txBody>
      </p:sp>
      <p:sp>
        <p:nvSpPr>
          <p:cNvPr id="7" name="">
            <a:extLst xmlns:a="http://schemas.openxmlformats.org/drawingml/2006/main">
              <a:ext uri="{FF2B5EF4-FFF2-40B4-BE49-F238E27FC236}">
                <a16:creationId xmlns:a16="http://schemas.microsoft.com/office/drawing/2014/main" id="{6B35A751-2D64-4887-8CE1-D2E3F52FD3C7}"/>
              </a:ext>
            </a:extLst>
          </p:cNvPr>
          <p:cNvSpPr>
            <a:spLocks xmlns:a="http://schemas.openxmlformats.org/drawingml/2006/main" noGrp="1"/>
          </p:cNvSpPr>
          <p:nvPr/>
        </p:nvSpPr>
        <p:spPr>
          <a:xfrm xmlns:a="http://schemas.openxmlformats.org/drawingml/2006/main">
            <a:off x="6515100" y="2476500"/>
            <a:ext cx="419100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725" b="1" i="0">
                <a:solidFill>
                  <a:srgbClr val="FFFDFC"/>
                </a:solidFill>
                <a:latin typeface="Helvetica"/>
                <a:ea typeface="Helvetica"/>
                <a:cs typeface="Helvetica"/>
              </a:defRPr>
            </a:defPPr>
          </a:lstStyle>
          <a:p xmlns:a="http://schemas.openxmlformats.org/drawingml/2006/main">
            <a:pPr algn="l">
              <a:defRPr sz="1725" b="1" i="0">
                <a:solidFill>
                  <a:srgbClr val="FFFDFC"/>
                </a:solidFill>
                <a:latin typeface="Helvetica"/>
                <a:ea typeface="Helvetica"/>
                <a:cs typeface="Helvetica"/>
              </a:defRPr>
            </a:pPr>
            <a:r>
              <a:rPr sz="1725" b="1" i="0">
                <a:solidFill>
                  <a:srgbClr val="FFFDFC"/>
                </a:solidFill>
                <a:latin typeface="Helvetica"/>
                <a:ea typeface="Helvetica"/>
                <a:cs typeface="Helvetica"/>
              </a:rPr>
              <a:t>Brand platform and proof hierarchy should foreground the published research as the lead differentiator, since this is currently underused relative to testimonial-led creative.</a:t>
            </a:r>
          </a:p>
        </p:txBody>
      </p:sp>
      <p:sp>
        <p:nvSpPr>
          <p:cNvPr id="8" name="">
            <a:extLst xmlns:a="http://schemas.openxmlformats.org/drawingml/2006/main">
              <a:ext uri="{FF2B5EF4-FFF2-40B4-BE49-F238E27FC236}">
                <a16:creationId xmlns:a16="http://schemas.microsoft.com/office/drawing/2014/main" id="{73061467-6811-4AD6-89CD-F6CB95794E71}"/>
              </a:ext>
            </a:extLst>
          </p:cNvPr>
          <p:cNvSpPr>
            <a:spLocks xmlns:a="http://schemas.openxmlformats.org/drawingml/2006/main" noGrp="1"/>
          </p:cNvSpPr>
          <p:nvPr/>
        </p:nvSpPr>
        <p:spPr>
          <a:xfrm xmlns:a="http://schemas.openxmlformats.org/drawingml/2006/main">
            <a:off x="647700" y="5572125"/>
            <a:ext cx="209550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675" b="1" i="0">
                <a:solidFill>
                  <a:srgbClr val="FF654F"/>
                </a:solidFill>
                <a:latin typeface="Helvetica"/>
                <a:ea typeface="Helvetica"/>
                <a:cs typeface="Helvetica"/>
              </a:defRPr>
            </a:defPPr>
          </a:lstStyle>
          <a:p xmlns:a="http://schemas.openxmlformats.org/drawingml/2006/main">
            <a:pPr algn="l">
              <a:defRPr sz="675" b="1" i="0">
                <a:solidFill>
                  <a:srgbClr val="FF654F"/>
                </a:solidFill>
                <a:latin typeface="Helvetica"/>
                <a:ea typeface="Helvetica"/>
                <a:cs typeface="Helvetica"/>
              </a:defRPr>
            </a:pPr>
            <a:r>
              <a:rPr sz="675" b="1" i="0">
                <a:solidFill>
                  <a:srgbClr val="FF654F"/>
                </a:solidFill>
                <a:latin typeface="Helvetica"/>
                <a:ea typeface="Helvetica"/>
                <a:cs typeface="Helvetica"/>
              </a:rPr>
              <a:t>COMMERCIAL CONSEQUENCE</a:t>
            </a:r>
          </a:p>
        </p:txBody>
      </p:sp>
      <p:sp>
        <p:nvSpPr>
          <p:cNvPr id="9" name="">
            <a:extLst xmlns:a="http://schemas.openxmlformats.org/drawingml/2006/main">
              <a:ext uri="{FF2B5EF4-FFF2-40B4-BE49-F238E27FC236}">
                <a16:creationId xmlns:a16="http://schemas.microsoft.com/office/drawing/2014/main" id="{E36759DE-DB06-436B-91C6-BA7C1628E74D}"/>
              </a:ext>
            </a:extLst>
          </p:cNvPr>
          <p:cNvSpPr>
            <a:spLocks xmlns:a="http://schemas.openxmlformats.org/drawingml/2006/main" noGrp="1"/>
          </p:cNvSpPr>
          <p:nvPr/>
        </p:nvSpPr>
        <p:spPr>
          <a:xfrm xmlns:a="http://schemas.openxmlformats.org/drawingml/2006/main">
            <a:off x="2619375" y="5505450"/>
            <a:ext cx="8382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200" b="1" i="0">
                <a:solidFill>
                  <a:srgbClr val="15121B"/>
                </a:solidFill>
                <a:latin typeface="Helvetica"/>
                <a:ea typeface="Helvetica"/>
                <a:cs typeface="Helvetica"/>
              </a:defRPr>
            </a:defPPr>
          </a:lstStyle>
          <a:p xmlns:a="http://schemas.openxmlformats.org/drawingml/2006/main">
            <a:pPr algn="l">
              <a:defRPr sz="1200" b="1" i="0">
                <a:solidFill>
                  <a:srgbClr val="15121B"/>
                </a:solidFill>
                <a:latin typeface="Helvetica"/>
                <a:ea typeface="Helvetica"/>
                <a:cs typeface="Helvetica"/>
              </a:defRPr>
            </a:pPr>
            <a:r>
              <a:rPr sz="1200" b="1" i="0">
                <a:solidFill>
                  <a:srgbClr val="15121B"/>
                </a:solidFill>
                <a:latin typeface="Helvetica"/>
                <a:ea typeface="Helvetica"/>
                <a:cs typeface="Helvetica"/>
              </a:rPr>
              <a:t>KatKin needs a reason to be remembered, not another generic category claim.</a:t>
            </a:r>
          </a:p>
        </p:txBody>
      </p:sp>
      <p:sp>
        <p:nvSpPr>
          <p:cNvPr id="10" name="">
            <a:extLst xmlns:a="http://schemas.openxmlformats.org/drawingml/2006/main">
              <a:ext uri="{FF2B5EF4-FFF2-40B4-BE49-F238E27FC236}">
                <a16:creationId xmlns:a16="http://schemas.microsoft.com/office/drawing/2014/main" id="{8B053E0D-F1B2-47CB-B9DA-1FC456A53621}"/>
              </a:ext>
            </a:extLst>
          </p:cNvPr>
          <p:cNvSpPr>
            <a:spLocks xmlns:a="http://schemas.openxmlformats.org/drawingml/2006/main" noGrp="1"/>
          </p:cNvSpPr>
          <p:nvPr/>
        </p:nvSpPr>
        <p:spPr>
          <a:xfrm xmlns:a="http://schemas.openxmlformats.org/drawingml/2006/main">
            <a:off x="647700" y="6134100"/>
            <a:ext cx="4953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825" b="1" i="0">
                <a:solidFill>
                  <a:srgbClr val="756D7A"/>
                </a:solidFill>
                <a:latin typeface="Helvetica"/>
                <a:ea typeface="Helvetica"/>
                <a:cs typeface="Helvetica"/>
              </a:defRPr>
            </a:defPPr>
          </a:lstStyle>
          <a:p xmlns:a="http://schemas.openxmlformats.org/drawingml/2006/main">
            <a:pPr algn="l">
              <a:defRPr sz="825" b="1" i="0">
                <a:solidFill>
                  <a:srgbClr val="756D7A"/>
                </a:solidFill>
                <a:latin typeface="Helvetica"/>
                <a:ea typeface="Helvetica"/>
                <a:cs typeface="Helvetica"/>
              </a:defRPr>
            </a:pPr>
            <a:r>
              <a:rPr sz="825" b="1" i="0">
                <a:solidFill>
                  <a:srgbClr val="756D7A"/>
                </a:solidFill>
                <a:latin typeface="Helvetica"/>
                <a:ea typeface="Helvetica"/>
                <a:cs typeface="Helvetica"/>
              </a:rPr>
              <a:t>SOURCES: S4</a:t>
            </a:r>
          </a:p>
        </p:txBody>
      </p:sp>
      <p:sp>
        <p:nvSpPr>
          <p:cNvPr id="11" name="">
            <a:extLst xmlns:a="http://schemas.openxmlformats.org/drawingml/2006/main">
              <a:ext uri="{FF2B5EF4-FFF2-40B4-BE49-F238E27FC236}">
                <a16:creationId xmlns:a16="http://schemas.microsoft.com/office/drawing/2014/main" id="{801374C7-0B12-464F-8211-6461C2CC33F8}"/>
              </a:ext>
            </a:extLst>
          </p:cNvPr>
          <p:cNvSpPr>
            <a:spLocks xmlns:a="http://schemas.openxmlformats.org/drawingml/2006/main" noGrp="1"/>
          </p:cNvSpPr>
          <p:nvPr/>
        </p:nvSpPr>
        <p:spPr>
          <a:xfrm xmlns:a="http://schemas.openxmlformats.org/drawingml/2006/main">
            <a:off x="5715000" y="6134100"/>
            <a:ext cx="48768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r">
              <a:defRPr sz="825" b="1" i="0">
                <a:solidFill>
                  <a:srgbClr val="5A2E78"/>
                </a:solidFill>
                <a:latin typeface="Helvetica"/>
                <a:ea typeface="Helvetica"/>
                <a:cs typeface="Helvetica"/>
              </a:defRPr>
            </a:defPPr>
          </a:lstStyle>
          <a:p xmlns:a="http://schemas.openxmlformats.org/drawingml/2006/main">
            <a:pPr algn="r">
              <a:defRPr sz="825" b="1" i="0">
                <a:solidFill>
                  <a:srgbClr val="5A2E78"/>
                </a:solidFill>
                <a:latin typeface="Helvetica"/>
                <a:ea typeface="Helvetica"/>
                <a:cs typeface="Helvetica"/>
              </a:defRPr>
            </a:pPr>
            <a:r>
              <a:rPr sz="825" b="1" i="0">
                <a:solidFill>
                  <a:srgbClr val="5A2E78"/>
                </a:solidFill>
                <a:latin typeface="Helvetica"/>
                <a:ea typeface="Helvetica"/>
                <a:cs typeface="Helvetica"/>
              </a:rPr>
              <a:t>MIXED FACT AND HYPOTHESIS</a:t>
            </a:r>
          </a:p>
        </p:txBody>
      </p:sp>
      <p:sp>
        <p:nvSpPr>
          <p:cNvPr id="12" name="">
            <a:extLst xmlns:a="http://schemas.openxmlformats.org/drawingml/2006/main">
              <a:ext uri="{FF2B5EF4-FFF2-40B4-BE49-F238E27FC236}">
                <a16:creationId xmlns:a16="http://schemas.microsoft.com/office/drawing/2014/main" id="{5EB08837-2BED-4D6E-90FD-268677DC6F12}"/>
              </a:ext>
            </a:extLst>
          </p:cNvPr>
          <p:cNvSpPr>
            <a:spLocks xmlns:a="http://schemas.openxmlformats.org/drawingml/2006/main" noGrp="1"/>
          </p:cNvSpPr>
          <p:nvPr/>
        </p:nvSpPr>
        <p:spPr>
          <a:xfrm xmlns:a="http://schemas.openxmlformats.org/drawingml/2006/main">
            <a:off x="647700" y="6515100"/>
            <a:ext cx="17145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675" b="1" i="0">
                <a:solidFill>
                  <a:srgbClr val="756D7A"/>
                </a:solidFill>
                <a:latin typeface="Helvetica"/>
                <a:ea typeface="Helvetica"/>
                <a:cs typeface="Helvetica"/>
              </a:defRPr>
            </a:defPPr>
          </a:lstStyle>
          <a:p xmlns:a="http://schemas.openxmlformats.org/drawingml/2006/main">
            <a:pPr algn="l">
              <a:defRPr sz="675" b="1" i="0">
                <a:solidFill>
                  <a:srgbClr val="756D7A"/>
                </a:solidFill>
                <a:latin typeface="Helvetica"/>
                <a:ea typeface="Helvetica"/>
                <a:cs typeface="Helvetica"/>
              </a:defRPr>
            </a:pPr>
            <a:r>
              <a:rPr sz="675" b="1" i="0">
                <a:solidFill>
                  <a:srgbClr val="756D7A"/>
                </a:solidFill>
                <a:latin typeface="Helvetica"/>
                <a:ea typeface="Helvetica"/>
                <a:cs typeface="Helvetica"/>
              </a:rPr>
              <a:t>NARRATIIVE</a:t>
            </a:r>
          </a:p>
        </p:txBody>
      </p:sp>
      <p:sp>
        <p:nvSpPr>
          <p:cNvPr id="13" name="">
            <a:extLst xmlns:a="http://schemas.openxmlformats.org/drawingml/2006/main">
              <a:ext uri="{FF2B5EF4-FFF2-40B4-BE49-F238E27FC236}">
                <a16:creationId xmlns:a16="http://schemas.microsoft.com/office/drawing/2014/main" id="{833B8E16-8AB1-4EB9-8F4F-19B7D6FBFF31}"/>
              </a:ext>
            </a:extLst>
          </p:cNvPr>
          <p:cNvSpPr>
            <a:spLocks xmlns:a="http://schemas.openxmlformats.org/drawingml/2006/main" noGrp="1"/>
          </p:cNvSpPr>
          <p:nvPr/>
        </p:nvSpPr>
        <p:spPr>
          <a:xfrm xmlns:a="http://schemas.openxmlformats.org/drawingml/2006/main">
            <a:off x="10668000" y="6515100"/>
            <a:ext cx="8763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r">
              <a:defRPr sz="675" b="0" i="0">
                <a:solidFill>
                  <a:srgbClr val="756D7A"/>
                </a:solidFill>
                <a:latin typeface="Helvetica"/>
                <a:ea typeface="Helvetica"/>
                <a:cs typeface="Helvetica"/>
              </a:defRPr>
            </a:defPPr>
          </a:lstStyle>
          <a:p xmlns:a="http://schemas.openxmlformats.org/drawingml/2006/main">
            <a:pPr algn="r">
              <a:defRPr sz="675" b="0" i="0">
                <a:solidFill>
                  <a:srgbClr val="756D7A"/>
                </a:solidFill>
                <a:latin typeface="Helvetica"/>
                <a:ea typeface="Helvetica"/>
                <a:cs typeface="Helvetica"/>
              </a:defRPr>
            </a:pPr>
            <a:r>
              <a:rPr sz="675" b="0" i="0">
                <a:solidFill>
                  <a:srgbClr val="756D7A"/>
                </a:solidFill>
                <a:latin typeface="Helvetica"/>
                <a:ea typeface="Helvetica"/>
                <a:cs typeface="Helvetica"/>
              </a:rPr>
              <a:t>07 / 30</a:t>
            </a:r>
          </a:p>
        </p:txBody>
      </p:sp>
    </p:spTree>
    <p:extLst>
      <p:ext uri="{BB962C8B-B14F-4D97-AF65-F5344CB8AC3E}">
        <p14:creationId xmlns:p14="http://schemas.microsoft.com/office/powerpoint/2010/main" val="1295121533"/>
      </p:ext>
    </p:extLst>
  </p:cSld>
</p:sld>
</file>

<file path=ppt/slides/slide8.xml><?xml version="1.0" encoding="utf-8"?>
<p:sld xmlns:p="http://schemas.openxmlformats.org/presentationml/2006/main">
  <p:cSld>
    <p:bg>
      <p:bgPr>
        <a:solidFill xmlns:a="http://schemas.openxmlformats.org/drawingml/2006/main">
          <a:srgbClr val="F6F0E8"/>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D0DB8550-B653-458F-99C0-A15F1FBE77D3}"/>
              </a:ext>
            </a:extLst>
          </p:cNvPr>
          <p:cNvSpPr>
            <a:spLocks xmlns:a="http://schemas.openxmlformats.org/drawingml/2006/main" noGrp="1"/>
          </p:cNvSpPr>
          <p:nvPr/>
        </p:nvSpPr>
        <p:spPr>
          <a:xfrm xmlns:a="http://schemas.openxmlformats.org/drawingml/2006/main">
            <a:off x="647700" y="333375"/>
            <a:ext cx="57150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675" b="1" i="0">
                <a:solidFill>
                  <a:srgbClr val="FF654F"/>
                </a:solidFill>
                <a:latin typeface="Helvetica"/>
                <a:ea typeface="Helvetica"/>
                <a:cs typeface="Helvetica"/>
              </a:defRPr>
            </a:defPPr>
          </a:lstStyle>
          <a:p xmlns:a="http://schemas.openxmlformats.org/drawingml/2006/main">
            <a:pPr algn="l">
              <a:defRPr sz="675" b="1" i="0">
                <a:solidFill>
                  <a:srgbClr val="FF654F"/>
                </a:solidFill>
                <a:latin typeface="Helvetica"/>
                <a:ea typeface="Helvetica"/>
                <a:cs typeface="Helvetica"/>
              </a:defRPr>
            </a:pPr>
            <a:r>
              <a:rPr sz="675" b="1" i="0">
                <a:solidFill>
                  <a:srgbClr val="FF654F"/>
                </a:solidFill>
                <a:latin typeface="Helvetica"/>
                <a:ea typeface="Helvetica"/>
                <a:cs typeface="Helvetica"/>
              </a:rPr>
              <a:t>ACT 2 / MARKET + COMPETITIVE DIAGNOSIS</a:t>
            </a:r>
          </a:p>
        </p:txBody>
      </p:sp>
      <p:sp>
        <p:nvSpPr>
          <p:cNvPr id="2" name="">
            <a:extLst xmlns:a="http://schemas.openxmlformats.org/drawingml/2006/main">
              <a:ext uri="{FF2B5EF4-FFF2-40B4-BE49-F238E27FC236}">
                <a16:creationId xmlns:a16="http://schemas.microsoft.com/office/drawing/2014/main" id="{60591A25-0DA7-4160-8A91-6EEB06F7E77E}"/>
              </a:ext>
            </a:extLst>
          </p:cNvPr>
          <p:cNvSpPr>
            <a:spLocks xmlns:a="http://schemas.openxmlformats.org/drawingml/2006/main" noGrp="1"/>
          </p:cNvSpPr>
          <p:nvPr/>
        </p:nvSpPr>
        <p:spPr>
          <a:xfrm xmlns:a="http://schemas.openxmlformats.org/drawingml/2006/main">
            <a:off x="647700" y="685800"/>
            <a:ext cx="1047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2325" b="1" i="0">
                <a:solidFill>
                  <a:srgbClr val="15121B"/>
                </a:solidFill>
                <a:latin typeface="Helvetica"/>
                <a:ea typeface="Helvetica"/>
                <a:cs typeface="Helvetica"/>
              </a:defRPr>
            </a:defPPr>
          </a:lstStyle>
          <a:p xmlns:a="http://schemas.openxmlformats.org/drawingml/2006/main">
            <a:pPr algn="l">
              <a:defRPr sz="2325" b="1" i="0">
                <a:solidFill>
                  <a:srgbClr val="15121B"/>
                </a:solidFill>
                <a:latin typeface="Helvetica"/>
                <a:ea typeface="Helvetica"/>
                <a:cs typeface="Helvetica"/>
              </a:defRPr>
            </a:pPr>
            <a:r>
              <a:rPr sz="2325" b="1" i="0">
                <a:solidFill>
                  <a:srgbClr val="15121B"/>
                </a:solidFill>
                <a:latin typeface="Helvetica"/>
                <a:ea typeface="Helvetica"/>
                <a:cs typeface="Helvetica"/>
              </a:rPr>
              <a:t>The Market Gap</a:t>
            </a:r>
          </a:p>
        </p:txBody>
      </p:sp>
      <p:sp>
        <p:nvSpPr>
          <p:cNvPr id="3" name="">
            <a:extLst xmlns:a="http://schemas.openxmlformats.org/drawingml/2006/main">
              <a:ext uri="{FF2B5EF4-FFF2-40B4-BE49-F238E27FC236}">
                <a16:creationId xmlns:a16="http://schemas.microsoft.com/office/drawing/2014/main" id="{841C4F42-FD70-4F22-B78D-8ADB84E77DC2}"/>
              </a:ext>
            </a:extLst>
          </p:cNvPr>
          <p:cNvSpPr>
            <a:spLocks xmlns:a="http://schemas.openxmlformats.org/drawingml/2006/main" noGrp="1"/>
          </p:cNvSpPr>
          <p:nvPr/>
        </p:nvSpPr>
        <p:spPr>
          <a:xfrm xmlns:a="http://schemas.openxmlformats.org/drawingml/2006/main">
            <a:off x="647700" y="1400175"/>
            <a:ext cx="10896600" cy="19050"/>
          </a:xfrm>
          <a:prstGeom xmlns:a="http://schemas.openxmlformats.org/drawingml/2006/main" prst="rect">
            <a:avLst/>
          </a:prstGeom>
          <a:solidFill xmlns:a="http://schemas.openxmlformats.org/drawingml/2006/main">
            <a:srgbClr val="D9CFD5"/>
          </a:solidFill>
          <a:ln xmlns:a="http://schemas.openxmlformats.org/drawingml/2006/main" w="0">
            <a:solidFill>
              <a:srgbClr val="D9CFD5"/>
            </a:solidFill>
          </a:ln>
        </p:spPr>
      </p:sp>
      <p:sp>
        <p:nvSpPr>
          <p:cNvPr id="4" name="">
            <a:extLst xmlns:a="http://schemas.openxmlformats.org/drawingml/2006/main">
              <a:ext uri="{FF2B5EF4-FFF2-40B4-BE49-F238E27FC236}">
                <a16:creationId xmlns:a16="http://schemas.microsoft.com/office/drawing/2014/main" id="{E597D9AB-3965-4869-A9E4-90C52FD859C0}"/>
              </a:ext>
            </a:extLst>
          </p:cNvPr>
          <p:cNvSpPr>
            <a:spLocks xmlns:a="http://schemas.openxmlformats.org/drawingml/2006/main" noGrp="1"/>
          </p:cNvSpPr>
          <p:nvPr/>
        </p:nvSpPr>
        <p:spPr>
          <a:xfrm xmlns:a="http://schemas.openxmlformats.org/drawingml/2006/main">
            <a:off x="704850" y="2000250"/>
            <a:ext cx="2400300" cy="2524125"/>
          </a:xfrm>
          <a:prstGeom xmlns:a="http://schemas.openxmlformats.org/drawingml/2006/main" prst="roundRect">
            <a:avLst>
              <a:gd name="adj" fmla="val 3175"/>
            </a:avLst>
          </a:prstGeom>
          <a:solidFill xmlns:a="http://schemas.openxmlformats.org/drawingml/2006/main">
            <a:srgbClr val="261A31"/>
          </a:solidFill>
          <a:ln xmlns:a="http://schemas.openxmlformats.org/drawingml/2006/main" w="0">
            <a:solidFill>
              <a:srgbClr val="261A31"/>
            </a:solidFill>
          </a:ln>
        </p:spPr>
      </p:sp>
      <p:sp>
        <p:nvSpPr>
          <p:cNvPr id="5" name="">
            <a:extLst xmlns:a="http://schemas.openxmlformats.org/drawingml/2006/main">
              <a:ext uri="{FF2B5EF4-FFF2-40B4-BE49-F238E27FC236}">
                <a16:creationId xmlns:a16="http://schemas.microsoft.com/office/drawing/2014/main" id="{7B28DB71-2EF4-42DB-8B9F-F09B4D5CD622}"/>
              </a:ext>
            </a:extLst>
          </p:cNvPr>
          <p:cNvSpPr>
            <a:spLocks xmlns:a="http://schemas.openxmlformats.org/drawingml/2006/main" noGrp="1"/>
          </p:cNvSpPr>
          <p:nvPr/>
        </p:nvSpPr>
        <p:spPr>
          <a:xfrm xmlns:a="http://schemas.openxmlformats.org/drawingml/2006/main">
            <a:off x="933450" y="2381250"/>
            <a:ext cx="19431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750" b="1" i="0">
                <a:solidFill>
                  <a:srgbClr val="FF654F"/>
                </a:solidFill>
                <a:latin typeface="Helvetica"/>
                <a:ea typeface="Helvetica"/>
                <a:cs typeface="Helvetica"/>
              </a:defRPr>
            </a:defPPr>
          </a:lstStyle>
          <a:p xmlns:a="http://schemas.openxmlformats.org/drawingml/2006/main">
            <a:pPr algn="l">
              <a:defRPr sz="750" b="1" i="0">
                <a:solidFill>
                  <a:srgbClr val="FF654F"/>
                </a:solidFill>
                <a:latin typeface="Helvetica"/>
                <a:ea typeface="Helvetica"/>
                <a:cs typeface="Helvetica"/>
              </a:defRPr>
            </a:pPr>
            <a:r>
              <a:rPr sz="750" b="1" i="0">
                <a:solidFill>
                  <a:srgbClr val="FF654F"/>
                </a:solidFill>
                <a:latin typeface="Helvetica"/>
                <a:ea typeface="Helvetica"/>
                <a:cs typeface="Helvetica"/>
              </a:rPr>
              <a:t>REACH</a:t>
            </a:r>
          </a:p>
        </p:txBody>
      </p:sp>
      <p:sp>
        <p:nvSpPr>
          <p:cNvPr id="6" name="">
            <a:extLst xmlns:a="http://schemas.openxmlformats.org/drawingml/2006/main">
              <a:ext uri="{FF2B5EF4-FFF2-40B4-BE49-F238E27FC236}">
                <a16:creationId xmlns:a16="http://schemas.microsoft.com/office/drawing/2014/main" id="{71D6B37A-DCAA-4465-8A8B-332852CAFA84}"/>
              </a:ext>
            </a:extLst>
          </p:cNvPr>
          <p:cNvSpPr>
            <a:spLocks xmlns:a="http://schemas.openxmlformats.org/drawingml/2006/main" noGrp="1"/>
          </p:cNvSpPr>
          <p:nvPr/>
        </p:nvSpPr>
        <p:spPr>
          <a:xfrm xmlns:a="http://schemas.openxmlformats.org/drawingml/2006/main">
            <a:off x="933450" y="2952750"/>
            <a:ext cx="19431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500" b="1" i="0">
                <a:solidFill>
                  <a:srgbClr val="FFFDFC"/>
                </a:solidFill>
                <a:latin typeface="Helvetica"/>
                <a:ea typeface="Helvetica"/>
                <a:cs typeface="Helvetica"/>
              </a:defRPr>
            </a:defPPr>
          </a:lstStyle>
          <a:p xmlns:a="http://schemas.openxmlformats.org/drawingml/2006/main">
            <a:pPr algn="l">
              <a:defRPr sz="1500" b="1" i="0">
                <a:solidFill>
                  <a:srgbClr val="FFFDFC"/>
                </a:solidFill>
                <a:latin typeface="Helvetica"/>
                <a:ea typeface="Helvetica"/>
                <a:cs typeface="Helvetica"/>
              </a:defRPr>
            </a:pPr>
            <a:r>
              <a:rPr sz="1500" b="1" i="0">
                <a:solidFill>
                  <a:srgbClr val="FFFDFC"/>
                </a:solidFill>
                <a:latin typeface="Helvetica"/>
                <a:ea typeface="Helvetica"/>
                <a:cs typeface="Helvetica"/>
              </a:rPr>
              <a:t>Create attention</a:t>
            </a:r>
          </a:p>
        </p:txBody>
      </p:sp>
      <p:sp>
        <p:nvSpPr>
          <p:cNvPr id="7" name="">
            <a:extLst xmlns:a="http://schemas.openxmlformats.org/drawingml/2006/main">
              <a:ext uri="{FF2B5EF4-FFF2-40B4-BE49-F238E27FC236}">
                <a16:creationId xmlns:a16="http://schemas.microsoft.com/office/drawing/2014/main" id="{757E4795-4C3D-44C7-8CC0-8266128FAAE7}"/>
              </a:ext>
            </a:extLst>
          </p:cNvPr>
          <p:cNvSpPr>
            <a:spLocks xmlns:a="http://schemas.openxmlformats.org/drawingml/2006/main" noGrp="1"/>
          </p:cNvSpPr>
          <p:nvPr/>
        </p:nvSpPr>
        <p:spPr>
          <a:xfrm xmlns:a="http://schemas.openxmlformats.org/drawingml/2006/main">
            <a:off x="3448050" y="2000250"/>
            <a:ext cx="2400300" cy="2524125"/>
          </a:xfrm>
          <a:prstGeom xmlns:a="http://schemas.openxmlformats.org/drawingml/2006/main" prst="roundRect">
            <a:avLst>
              <a:gd name="adj" fmla="val 3175"/>
            </a:avLst>
          </a:prstGeom>
          <a:solidFill xmlns:a="http://schemas.openxmlformats.org/drawingml/2006/main">
            <a:srgbClr val="FFFDFC"/>
          </a:solidFill>
          <a:ln xmlns:a="http://schemas.openxmlformats.org/drawingml/2006/main" w="0">
            <a:solidFill>
              <a:srgbClr val="FFFDFC"/>
            </a:solidFill>
          </a:ln>
        </p:spPr>
      </p:sp>
      <p:sp>
        <p:nvSpPr>
          <p:cNvPr id="8" name="">
            <a:extLst xmlns:a="http://schemas.openxmlformats.org/drawingml/2006/main">
              <a:ext uri="{FF2B5EF4-FFF2-40B4-BE49-F238E27FC236}">
                <a16:creationId xmlns:a16="http://schemas.microsoft.com/office/drawing/2014/main" id="{51AA1BEA-6D2D-4BE4-8910-69CDD5729A5E}"/>
              </a:ext>
            </a:extLst>
          </p:cNvPr>
          <p:cNvSpPr>
            <a:spLocks xmlns:a="http://schemas.openxmlformats.org/drawingml/2006/main" noGrp="1"/>
          </p:cNvSpPr>
          <p:nvPr/>
        </p:nvSpPr>
        <p:spPr>
          <a:xfrm xmlns:a="http://schemas.openxmlformats.org/drawingml/2006/main">
            <a:off x="3676650" y="2381250"/>
            <a:ext cx="19431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750" b="1" i="0">
                <a:solidFill>
                  <a:srgbClr val="756D7A"/>
                </a:solidFill>
                <a:latin typeface="Helvetica"/>
                <a:ea typeface="Helvetica"/>
                <a:cs typeface="Helvetica"/>
              </a:defRPr>
            </a:defPPr>
          </a:lstStyle>
          <a:p xmlns:a="http://schemas.openxmlformats.org/drawingml/2006/main">
            <a:pPr algn="l">
              <a:defRPr sz="750" b="1" i="0">
                <a:solidFill>
                  <a:srgbClr val="756D7A"/>
                </a:solidFill>
                <a:latin typeface="Helvetica"/>
                <a:ea typeface="Helvetica"/>
                <a:cs typeface="Helvetica"/>
              </a:defRPr>
            </a:pPr>
            <a:r>
              <a:rPr sz="750" b="1" i="0">
                <a:solidFill>
                  <a:srgbClr val="756D7A"/>
                </a:solidFill>
                <a:latin typeface="Helvetica"/>
                <a:ea typeface="Helvetica"/>
                <a:cs typeface="Helvetica"/>
              </a:rPr>
              <a:t>CONVERT</a:t>
            </a:r>
          </a:p>
        </p:txBody>
      </p:sp>
      <p:sp>
        <p:nvSpPr>
          <p:cNvPr id="9" name="">
            <a:extLst xmlns:a="http://schemas.openxmlformats.org/drawingml/2006/main">
              <a:ext uri="{FF2B5EF4-FFF2-40B4-BE49-F238E27FC236}">
                <a16:creationId xmlns:a16="http://schemas.microsoft.com/office/drawing/2014/main" id="{1ADDA49E-215E-4DD1-A8F3-50679ECBD4FD}"/>
              </a:ext>
            </a:extLst>
          </p:cNvPr>
          <p:cNvSpPr>
            <a:spLocks xmlns:a="http://schemas.openxmlformats.org/drawingml/2006/main" noGrp="1"/>
          </p:cNvSpPr>
          <p:nvPr/>
        </p:nvSpPr>
        <p:spPr>
          <a:xfrm xmlns:a="http://schemas.openxmlformats.org/drawingml/2006/main">
            <a:off x="3676650" y="2952750"/>
            <a:ext cx="19431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500" b="1" i="0">
                <a:solidFill>
                  <a:srgbClr val="15121B"/>
                </a:solidFill>
                <a:latin typeface="Helvetica"/>
                <a:ea typeface="Helvetica"/>
                <a:cs typeface="Helvetica"/>
              </a:defRPr>
            </a:defPPr>
          </a:lstStyle>
          <a:p xmlns:a="http://schemas.openxmlformats.org/drawingml/2006/main">
            <a:pPr algn="l">
              <a:defRPr sz="1500" b="1" i="0">
                <a:solidFill>
                  <a:srgbClr val="15121B"/>
                </a:solidFill>
                <a:latin typeface="Helvetica"/>
                <a:ea typeface="Helvetica"/>
                <a:cs typeface="Helvetica"/>
              </a:defRPr>
            </a:pPr>
            <a:r>
              <a:rPr sz="1500" b="1" i="0">
                <a:solidFill>
                  <a:srgbClr val="15121B"/>
                </a:solidFill>
                <a:latin typeface="Helvetica"/>
                <a:ea typeface="Helvetica"/>
                <a:cs typeface="Helvetica"/>
              </a:rPr>
              <a:t>Make value legible</a:t>
            </a:r>
          </a:p>
        </p:txBody>
      </p:sp>
      <p:sp>
        <p:nvSpPr>
          <p:cNvPr id="10" name="">
            <a:extLst xmlns:a="http://schemas.openxmlformats.org/drawingml/2006/main">
              <a:ext uri="{FF2B5EF4-FFF2-40B4-BE49-F238E27FC236}">
                <a16:creationId xmlns:a16="http://schemas.microsoft.com/office/drawing/2014/main" id="{8A8C9DCC-6C8A-42C1-ABA8-9E13297BD6EC}"/>
              </a:ext>
            </a:extLst>
          </p:cNvPr>
          <p:cNvSpPr>
            <a:spLocks xmlns:a="http://schemas.openxmlformats.org/drawingml/2006/main" noGrp="1"/>
          </p:cNvSpPr>
          <p:nvPr/>
        </p:nvSpPr>
        <p:spPr>
          <a:xfrm xmlns:a="http://schemas.openxmlformats.org/drawingml/2006/main">
            <a:off x="6191250" y="2000250"/>
            <a:ext cx="2400300" cy="2524125"/>
          </a:xfrm>
          <a:prstGeom xmlns:a="http://schemas.openxmlformats.org/drawingml/2006/main" prst="roundRect">
            <a:avLst>
              <a:gd name="adj" fmla="val 3175"/>
            </a:avLst>
          </a:prstGeom>
          <a:solidFill xmlns:a="http://schemas.openxmlformats.org/drawingml/2006/main">
            <a:srgbClr val="FFFDFC"/>
          </a:solidFill>
          <a:ln xmlns:a="http://schemas.openxmlformats.org/drawingml/2006/main" w="0">
            <a:solidFill>
              <a:srgbClr val="FFFDFC"/>
            </a:solidFill>
          </a:ln>
        </p:spPr>
      </p:sp>
      <p:sp>
        <p:nvSpPr>
          <p:cNvPr id="11" name="">
            <a:extLst xmlns:a="http://schemas.openxmlformats.org/drawingml/2006/main">
              <a:ext uri="{FF2B5EF4-FFF2-40B4-BE49-F238E27FC236}">
                <a16:creationId xmlns:a16="http://schemas.microsoft.com/office/drawing/2014/main" id="{D5B4C0A6-0B0D-46FF-94E5-481CB9D77FC9}"/>
              </a:ext>
            </a:extLst>
          </p:cNvPr>
          <p:cNvSpPr>
            <a:spLocks xmlns:a="http://schemas.openxmlformats.org/drawingml/2006/main" noGrp="1"/>
          </p:cNvSpPr>
          <p:nvPr/>
        </p:nvSpPr>
        <p:spPr>
          <a:xfrm xmlns:a="http://schemas.openxmlformats.org/drawingml/2006/main">
            <a:off x="6419850" y="2381250"/>
            <a:ext cx="19431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750" b="1" i="0">
                <a:solidFill>
                  <a:srgbClr val="756D7A"/>
                </a:solidFill>
                <a:latin typeface="Helvetica"/>
                <a:ea typeface="Helvetica"/>
                <a:cs typeface="Helvetica"/>
              </a:defRPr>
            </a:defPPr>
          </a:lstStyle>
          <a:p xmlns:a="http://schemas.openxmlformats.org/drawingml/2006/main">
            <a:pPr algn="l">
              <a:defRPr sz="750" b="1" i="0">
                <a:solidFill>
                  <a:srgbClr val="756D7A"/>
                </a:solidFill>
                <a:latin typeface="Helvetica"/>
                <a:ea typeface="Helvetica"/>
                <a:cs typeface="Helvetica"/>
              </a:defRPr>
            </a:pPr>
            <a:r>
              <a:rPr sz="750" b="1" i="0">
                <a:solidFill>
                  <a:srgbClr val="756D7A"/>
                </a:solidFill>
                <a:latin typeface="Helvetica"/>
                <a:ea typeface="Helvetica"/>
                <a:cs typeface="Helvetica"/>
              </a:rPr>
              <a:t>RETAIN</a:t>
            </a:r>
          </a:p>
        </p:txBody>
      </p:sp>
      <p:sp>
        <p:nvSpPr>
          <p:cNvPr id="12" name="">
            <a:extLst xmlns:a="http://schemas.openxmlformats.org/drawingml/2006/main">
              <a:ext uri="{FF2B5EF4-FFF2-40B4-BE49-F238E27FC236}">
                <a16:creationId xmlns:a16="http://schemas.microsoft.com/office/drawing/2014/main" id="{9A9925BC-6D2E-4336-9960-4F051FC4AA4C}"/>
              </a:ext>
            </a:extLst>
          </p:cNvPr>
          <p:cNvSpPr>
            <a:spLocks xmlns:a="http://schemas.openxmlformats.org/drawingml/2006/main" noGrp="1"/>
          </p:cNvSpPr>
          <p:nvPr/>
        </p:nvSpPr>
        <p:spPr>
          <a:xfrm xmlns:a="http://schemas.openxmlformats.org/drawingml/2006/main">
            <a:off x="6419850" y="2952750"/>
            <a:ext cx="19431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500" b="1" i="0">
                <a:solidFill>
                  <a:srgbClr val="15121B"/>
                </a:solidFill>
                <a:latin typeface="Helvetica"/>
                <a:ea typeface="Helvetica"/>
                <a:cs typeface="Helvetica"/>
              </a:defRPr>
            </a:defPPr>
          </a:lstStyle>
          <a:p xmlns:a="http://schemas.openxmlformats.org/drawingml/2006/main">
            <a:pPr algn="l">
              <a:defRPr sz="1500" b="1" i="0">
                <a:solidFill>
                  <a:srgbClr val="15121B"/>
                </a:solidFill>
                <a:latin typeface="Helvetica"/>
                <a:ea typeface="Helvetica"/>
                <a:cs typeface="Helvetica"/>
              </a:defRPr>
            </a:pPr>
            <a:r>
              <a:rPr sz="1500" b="1" i="0">
                <a:solidFill>
                  <a:srgbClr val="15121B"/>
                </a:solidFill>
                <a:latin typeface="Helvetica"/>
                <a:ea typeface="Helvetica"/>
                <a:cs typeface="Helvetica"/>
              </a:rPr>
              <a:t>Reinforce confidence</a:t>
            </a:r>
          </a:p>
        </p:txBody>
      </p:sp>
      <p:sp>
        <p:nvSpPr>
          <p:cNvPr id="13" name="">
            <a:extLst xmlns:a="http://schemas.openxmlformats.org/drawingml/2006/main">
              <a:ext uri="{FF2B5EF4-FFF2-40B4-BE49-F238E27FC236}">
                <a16:creationId xmlns:a16="http://schemas.microsoft.com/office/drawing/2014/main" id="{B0A90B77-A088-4BB5-B542-D522B761338A}"/>
              </a:ext>
            </a:extLst>
          </p:cNvPr>
          <p:cNvSpPr>
            <a:spLocks xmlns:a="http://schemas.openxmlformats.org/drawingml/2006/main" noGrp="1"/>
          </p:cNvSpPr>
          <p:nvPr/>
        </p:nvSpPr>
        <p:spPr>
          <a:xfrm xmlns:a="http://schemas.openxmlformats.org/drawingml/2006/main">
            <a:off x="8934450" y="2000250"/>
            <a:ext cx="2400300" cy="2524125"/>
          </a:xfrm>
          <a:prstGeom xmlns:a="http://schemas.openxmlformats.org/drawingml/2006/main" prst="roundRect">
            <a:avLst>
              <a:gd name="adj" fmla="val 3175"/>
            </a:avLst>
          </a:prstGeom>
          <a:solidFill xmlns:a="http://schemas.openxmlformats.org/drawingml/2006/main">
            <a:srgbClr val="FFFDFC"/>
          </a:solidFill>
          <a:ln xmlns:a="http://schemas.openxmlformats.org/drawingml/2006/main" w="0">
            <a:solidFill>
              <a:srgbClr val="FFFDFC"/>
            </a:solidFill>
          </a:ln>
        </p:spPr>
      </p:sp>
      <p:sp>
        <p:nvSpPr>
          <p:cNvPr id="14" name="">
            <a:extLst xmlns:a="http://schemas.openxmlformats.org/drawingml/2006/main">
              <a:ext uri="{FF2B5EF4-FFF2-40B4-BE49-F238E27FC236}">
                <a16:creationId xmlns:a16="http://schemas.microsoft.com/office/drawing/2014/main" id="{FB1C2482-F26C-4AA2-A709-40D89D919A66}"/>
              </a:ext>
            </a:extLst>
          </p:cNvPr>
          <p:cNvSpPr>
            <a:spLocks xmlns:a="http://schemas.openxmlformats.org/drawingml/2006/main" noGrp="1"/>
          </p:cNvSpPr>
          <p:nvPr/>
        </p:nvSpPr>
        <p:spPr>
          <a:xfrm xmlns:a="http://schemas.openxmlformats.org/drawingml/2006/main">
            <a:off x="9163050" y="2381250"/>
            <a:ext cx="19431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750" b="1" i="0">
                <a:solidFill>
                  <a:srgbClr val="756D7A"/>
                </a:solidFill>
                <a:latin typeface="Helvetica"/>
                <a:ea typeface="Helvetica"/>
                <a:cs typeface="Helvetica"/>
              </a:defRPr>
            </a:defPPr>
          </a:lstStyle>
          <a:p xmlns:a="http://schemas.openxmlformats.org/drawingml/2006/main">
            <a:pPr algn="l">
              <a:defRPr sz="750" b="1" i="0">
                <a:solidFill>
                  <a:srgbClr val="756D7A"/>
                </a:solidFill>
                <a:latin typeface="Helvetica"/>
                <a:ea typeface="Helvetica"/>
                <a:cs typeface="Helvetica"/>
              </a:defRPr>
            </a:pPr>
            <a:r>
              <a:rPr sz="750" b="1" i="0">
                <a:solidFill>
                  <a:srgbClr val="756D7A"/>
                </a:solidFill>
                <a:latin typeface="Helvetica"/>
                <a:ea typeface="Helvetica"/>
                <a:cs typeface="Helvetica"/>
              </a:rPr>
              <a:t>LEARN</a:t>
            </a:r>
          </a:p>
        </p:txBody>
      </p:sp>
      <p:sp>
        <p:nvSpPr>
          <p:cNvPr id="15" name="">
            <a:extLst xmlns:a="http://schemas.openxmlformats.org/drawingml/2006/main">
              <a:ext uri="{FF2B5EF4-FFF2-40B4-BE49-F238E27FC236}">
                <a16:creationId xmlns:a16="http://schemas.microsoft.com/office/drawing/2014/main" id="{7A001DD3-9307-4467-BEB1-1A337FADC0CD}"/>
              </a:ext>
            </a:extLst>
          </p:cNvPr>
          <p:cNvSpPr>
            <a:spLocks xmlns:a="http://schemas.openxmlformats.org/drawingml/2006/main" noGrp="1"/>
          </p:cNvSpPr>
          <p:nvPr/>
        </p:nvSpPr>
        <p:spPr>
          <a:xfrm xmlns:a="http://schemas.openxmlformats.org/drawingml/2006/main">
            <a:off x="9163050" y="2952750"/>
            <a:ext cx="19431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500" b="1" i="0">
                <a:solidFill>
                  <a:srgbClr val="15121B"/>
                </a:solidFill>
                <a:latin typeface="Helvetica"/>
                <a:ea typeface="Helvetica"/>
                <a:cs typeface="Helvetica"/>
              </a:defRPr>
            </a:defPPr>
          </a:lstStyle>
          <a:p xmlns:a="http://schemas.openxmlformats.org/drawingml/2006/main">
            <a:pPr algn="l">
              <a:defRPr sz="1500" b="1" i="0">
                <a:solidFill>
                  <a:srgbClr val="15121B"/>
                </a:solidFill>
                <a:latin typeface="Helvetica"/>
                <a:ea typeface="Helvetica"/>
                <a:cs typeface="Helvetica"/>
              </a:defRPr>
            </a:pPr>
            <a:r>
              <a:rPr sz="1500" b="1" i="0">
                <a:solidFill>
                  <a:srgbClr val="15121B"/>
                </a:solidFill>
                <a:latin typeface="Helvetica"/>
                <a:ea typeface="Helvetica"/>
                <a:cs typeface="Helvetica"/>
              </a:rPr>
              <a:t>Create leading signals</a:t>
            </a:r>
          </a:p>
        </p:txBody>
      </p:sp>
      <p:sp>
        <p:nvSpPr>
          <p:cNvPr id="16" name="">
            <a:extLst xmlns:a="http://schemas.openxmlformats.org/drawingml/2006/main">
              <a:ext uri="{FF2B5EF4-FFF2-40B4-BE49-F238E27FC236}">
                <a16:creationId xmlns:a16="http://schemas.microsoft.com/office/drawing/2014/main" id="{5D3FB37D-332F-451B-908E-603549299082}"/>
              </a:ext>
            </a:extLst>
          </p:cNvPr>
          <p:cNvSpPr>
            <a:spLocks xmlns:a="http://schemas.openxmlformats.org/drawingml/2006/main" noGrp="1"/>
          </p:cNvSpPr>
          <p:nvPr/>
        </p:nvSpPr>
        <p:spPr>
          <a:xfrm xmlns:a="http://schemas.openxmlformats.org/drawingml/2006/main">
            <a:off x="647700" y="5572125"/>
            <a:ext cx="209550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675" b="1" i="0">
                <a:solidFill>
                  <a:srgbClr val="FF654F"/>
                </a:solidFill>
                <a:latin typeface="Helvetica"/>
                <a:ea typeface="Helvetica"/>
                <a:cs typeface="Helvetica"/>
              </a:defRPr>
            </a:defPPr>
          </a:lstStyle>
          <a:p xmlns:a="http://schemas.openxmlformats.org/drawingml/2006/main">
            <a:pPr algn="l">
              <a:defRPr sz="675" b="1" i="0">
                <a:solidFill>
                  <a:srgbClr val="FF654F"/>
                </a:solidFill>
                <a:latin typeface="Helvetica"/>
                <a:ea typeface="Helvetica"/>
                <a:cs typeface="Helvetica"/>
              </a:defRPr>
            </a:pPr>
            <a:r>
              <a:rPr sz="675" b="1" i="0">
                <a:solidFill>
                  <a:srgbClr val="FF654F"/>
                </a:solidFill>
                <a:latin typeface="Helvetica"/>
                <a:ea typeface="Helvetica"/>
                <a:cs typeface="Helvetica"/>
              </a:rPr>
              <a:t>COMMERCIAL CONSEQUENCE</a:t>
            </a:r>
          </a:p>
        </p:txBody>
      </p:sp>
      <p:sp>
        <p:nvSpPr>
          <p:cNvPr id="17" name="">
            <a:extLst xmlns:a="http://schemas.openxmlformats.org/drawingml/2006/main">
              <a:ext uri="{FF2B5EF4-FFF2-40B4-BE49-F238E27FC236}">
                <a16:creationId xmlns:a16="http://schemas.microsoft.com/office/drawing/2014/main" id="{72F7B865-FDBD-4980-8C76-F6789077FE12}"/>
              </a:ext>
            </a:extLst>
          </p:cNvPr>
          <p:cNvSpPr>
            <a:spLocks xmlns:a="http://schemas.openxmlformats.org/drawingml/2006/main" noGrp="1"/>
          </p:cNvSpPr>
          <p:nvPr/>
        </p:nvSpPr>
        <p:spPr>
          <a:xfrm xmlns:a="http://schemas.openxmlformats.org/drawingml/2006/main">
            <a:off x="2619375" y="5505450"/>
            <a:ext cx="8382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200" b="1" i="0">
                <a:solidFill>
                  <a:srgbClr val="15121B"/>
                </a:solidFill>
                <a:latin typeface="Helvetica"/>
                <a:ea typeface="Helvetica"/>
                <a:cs typeface="Helvetica"/>
              </a:defRPr>
            </a:defPPr>
          </a:lstStyle>
          <a:p xmlns:a="http://schemas.openxmlformats.org/drawingml/2006/main">
            <a:pPr algn="l">
              <a:defRPr sz="1200" b="1" i="0">
                <a:solidFill>
                  <a:srgbClr val="15121B"/>
                </a:solidFill>
                <a:latin typeface="Helvetica"/>
                <a:ea typeface="Helvetica"/>
                <a:cs typeface="Helvetica"/>
              </a:defRPr>
            </a:pPr>
            <a:r>
              <a:rPr sz="1200" b="1" i="0">
                <a:solidFill>
                  <a:srgbClr val="15121B"/>
                </a:solidFill>
                <a:latin typeface="Helvetica"/>
                <a:ea typeface="Helvetica"/>
                <a:cs typeface="Helvetica"/>
              </a:rPr>
              <a:t>The opportunity is a specific, reversible bet grounded in the evidence available.</a:t>
            </a:r>
          </a:p>
        </p:txBody>
      </p:sp>
      <p:sp>
        <p:nvSpPr>
          <p:cNvPr id="18" name="">
            <a:extLst xmlns:a="http://schemas.openxmlformats.org/drawingml/2006/main">
              <a:ext uri="{FF2B5EF4-FFF2-40B4-BE49-F238E27FC236}">
                <a16:creationId xmlns:a16="http://schemas.microsoft.com/office/drawing/2014/main" id="{7A15B037-E1D2-448F-83CA-4F3ABCF08EF0}"/>
              </a:ext>
            </a:extLst>
          </p:cNvPr>
          <p:cNvSpPr>
            <a:spLocks xmlns:a="http://schemas.openxmlformats.org/drawingml/2006/main" noGrp="1"/>
          </p:cNvSpPr>
          <p:nvPr/>
        </p:nvSpPr>
        <p:spPr>
          <a:xfrm xmlns:a="http://schemas.openxmlformats.org/drawingml/2006/main">
            <a:off x="647700" y="6134100"/>
            <a:ext cx="4953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825" b="1" i="0">
                <a:solidFill>
                  <a:srgbClr val="756D7A"/>
                </a:solidFill>
                <a:latin typeface="Helvetica"/>
                <a:ea typeface="Helvetica"/>
                <a:cs typeface="Helvetica"/>
              </a:defRPr>
            </a:defPPr>
          </a:lstStyle>
          <a:p xmlns:a="http://schemas.openxmlformats.org/drawingml/2006/main">
            <a:pPr algn="l">
              <a:defRPr sz="825" b="1" i="0">
                <a:solidFill>
                  <a:srgbClr val="756D7A"/>
                </a:solidFill>
                <a:latin typeface="Helvetica"/>
                <a:ea typeface="Helvetica"/>
                <a:cs typeface="Helvetica"/>
              </a:defRPr>
            </a:pPr>
            <a:r>
              <a:rPr sz="825" b="1" i="0">
                <a:solidFill>
                  <a:srgbClr val="756D7A"/>
                </a:solidFill>
                <a:latin typeface="Helvetica"/>
                <a:ea typeface="Helvetica"/>
                <a:cs typeface="Helvetica"/>
              </a:rPr>
              <a:t>SOURCES: S4, S6, S7</a:t>
            </a:r>
          </a:p>
        </p:txBody>
      </p:sp>
      <p:sp>
        <p:nvSpPr>
          <p:cNvPr id="19" name="">
            <a:extLst xmlns:a="http://schemas.openxmlformats.org/drawingml/2006/main">
              <a:ext uri="{FF2B5EF4-FFF2-40B4-BE49-F238E27FC236}">
                <a16:creationId xmlns:a16="http://schemas.microsoft.com/office/drawing/2014/main" id="{017DA956-DF42-419D-A341-C166EF4B604D}"/>
              </a:ext>
            </a:extLst>
          </p:cNvPr>
          <p:cNvSpPr>
            <a:spLocks xmlns:a="http://schemas.openxmlformats.org/drawingml/2006/main" noGrp="1"/>
          </p:cNvSpPr>
          <p:nvPr/>
        </p:nvSpPr>
        <p:spPr>
          <a:xfrm xmlns:a="http://schemas.openxmlformats.org/drawingml/2006/main">
            <a:off x="5715000" y="6134100"/>
            <a:ext cx="48768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r">
              <a:defRPr sz="825" b="1" i="0">
                <a:solidFill>
                  <a:srgbClr val="5A2E78"/>
                </a:solidFill>
                <a:latin typeface="Helvetica"/>
                <a:ea typeface="Helvetica"/>
                <a:cs typeface="Helvetica"/>
              </a:defRPr>
            </a:defPPr>
          </a:lstStyle>
          <a:p xmlns:a="http://schemas.openxmlformats.org/drawingml/2006/main">
            <a:pPr algn="r">
              <a:defRPr sz="825" b="1" i="0">
                <a:solidFill>
                  <a:srgbClr val="5A2E78"/>
                </a:solidFill>
                <a:latin typeface="Helvetica"/>
                <a:ea typeface="Helvetica"/>
                <a:cs typeface="Helvetica"/>
              </a:defRPr>
            </a:pPr>
            <a:r>
              <a:rPr sz="825" b="1" i="0">
                <a:solidFill>
                  <a:srgbClr val="5A2E78"/>
                </a:solidFill>
                <a:latin typeface="Helvetica"/>
                <a:ea typeface="Helvetica"/>
                <a:cs typeface="Helvetica"/>
              </a:rPr>
              <a:t>MIXED FACT AND HYPOTHESIS + VERIFIED FACT</a:t>
            </a:r>
          </a:p>
        </p:txBody>
      </p:sp>
      <p:sp>
        <p:nvSpPr>
          <p:cNvPr id="20" name="">
            <a:extLst xmlns:a="http://schemas.openxmlformats.org/drawingml/2006/main">
              <a:ext uri="{FF2B5EF4-FFF2-40B4-BE49-F238E27FC236}">
                <a16:creationId xmlns:a16="http://schemas.microsoft.com/office/drawing/2014/main" id="{D560F976-4C04-409C-BB01-B49461C55213}"/>
              </a:ext>
            </a:extLst>
          </p:cNvPr>
          <p:cNvSpPr>
            <a:spLocks xmlns:a="http://schemas.openxmlformats.org/drawingml/2006/main" noGrp="1"/>
          </p:cNvSpPr>
          <p:nvPr/>
        </p:nvSpPr>
        <p:spPr>
          <a:xfrm xmlns:a="http://schemas.openxmlformats.org/drawingml/2006/main">
            <a:off x="647700" y="6515100"/>
            <a:ext cx="17145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675" b="1" i="0">
                <a:solidFill>
                  <a:srgbClr val="756D7A"/>
                </a:solidFill>
                <a:latin typeface="Helvetica"/>
                <a:ea typeface="Helvetica"/>
                <a:cs typeface="Helvetica"/>
              </a:defRPr>
            </a:defPPr>
          </a:lstStyle>
          <a:p xmlns:a="http://schemas.openxmlformats.org/drawingml/2006/main">
            <a:pPr algn="l">
              <a:defRPr sz="675" b="1" i="0">
                <a:solidFill>
                  <a:srgbClr val="756D7A"/>
                </a:solidFill>
                <a:latin typeface="Helvetica"/>
                <a:ea typeface="Helvetica"/>
                <a:cs typeface="Helvetica"/>
              </a:defRPr>
            </a:pPr>
            <a:r>
              <a:rPr sz="675" b="1" i="0">
                <a:solidFill>
                  <a:srgbClr val="756D7A"/>
                </a:solidFill>
                <a:latin typeface="Helvetica"/>
                <a:ea typeface="Helvetica"/>
                <a:cs typeface="Helvetica"/>
              </a:rPr>
              <a:t>NARRATIIVE</a:t>
            </a:r>
          </a:p>
        </p:txBody>
      </p:sp>
      <p:sp>
        <p:nvSpPr>
          <p:cNvPr id="21" name="">
            <a:extLst xmlns:a="http://schemas.openxmlformats.org/drawingml/2006/main">
              <a:ext uri="{FF2B5EF4-FFF2-40B4-BE49-F238E27FC236}">
                <a16:creationId xmlns:a16="http://schemas.microsoft.com/office/drawing/2014/main" id="{95C30666-0507-4147-88A3-903894931AEA}"/>
              </a:ext>
            </a:extLst>
          </p:cNvPr>
          <p:cNvSpPr>
            <a:spLocks xmlns:a="http://schemas.openxmlformats.org/drawingml/2006/main" noGrp="1"/>
          </p:cNvSpPr>
          <p:nvPr/>
        </p:nvSpPr>
        <p:spPr>
          <a:xfrm xmlns:a="http://schemas.openxmlformats.org/drawingml/2006/main">
            <a:off x="10668000" y="6515100"/>
            <a:ext cx="8763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r">
              <a:defRPr sz="675" b="0" i="0">
                <a:solidFill>
                  <a:srgbClr val="756D7A"/>
                </a:solidFill>
                <a:latin typeface="Helvetica"/>
                <a:ea typeface="Helvetica"/>
                <a:cs typeface="Helvetica"/>
              </a:defRPr>
            </a:defPPr>
          </a:lstStyle>
          <a:p xmlns:a="http://schemas.openxmlformats.org/drawingml/2006/main">
            <a:pPr algn="r">
              <a:defRPr sz="675" b="0" i="0">
                <a:solidFill>
                  <a:srgbClr val="756D7A"/>
                </a:solidFill>
                <a:latin typeface="Helvetica"/>
                <a:ea typeface="Helvetica"/>
                <a:cs typeface="Helvetica"/>
              </a:defRPr>
            </a:pPr>
            <a:r>
              <a:rPr sz="675" b="0" i="0">
                <a:solidFill>
                  <a:srgbClr val="756D7A"/>
                </a:solidFill>
                <a:latin typeface="Helvetica"/>
                <a:ea typeface="Helvetica"/>
                <a:cs typeface="Helvetica"/>
              </a:rPr>
              <a:t>08 / 30</a:t>
            </a:r>
          </a:p>
        </p:txBody>
      </p:sp>
    </p:spTree>
    <p:extLst>
      <p:ext uri="{BB962C8B-B14F-4D97-AF65-F5344CB8AC3E}">
        <p14:creationId xmlns:p14="http://schemas.microsoft.com/office/powerpoint/2010/main" val="2122724693"/>
      </p:ext>
    </p:extLst>
  </p:cSld>
</p:sld>
</file>

<file path=ppt/slides/slide9.xml><?xml version="1.0" encoding="utf-8"?>
<p:sld xmlns:p="http://schemas.openxmlformats.org/presentationml/2006/main">
  <p:cSld>
    <p:bg>
      <p:bgPr>
        <a:solidFill xmlns:a="http://schemas.openxmlformats.org/drawingml/2006/main">
          <a:srgbClr val="15121B"/>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E24223A8-6A45-4158-81D3-41464FED5008}"/>
              </a:ext>
            </a:extLst>
          </p:cNvPr>
          <p:cNvSpPr>
            <a:spLocks xmlns:a="http://schemas.openxmlformats.org/drawingml/2006/main" noGrp="1"/>
          </p:cNvSpPr>
          <p:nvPr/>
        </p:nvSpPr>
        <p:spPr>
          <a:xfrm xmlns:a="http://schemas.openxmlformats.org/drawingml/2006/main">
            <a:off x="647700" y="333375"/>
            <a:ext cx="57150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675" b="1" i="0">
                <a:solidFill>
                  <a:srgbClr val="FF654F"/>
                </a:solidFill>
                <a:latin typeface="Helvetica"/>
                <a:ea typeface="Helvetica"/>
                <a:cs typeface="Helvetica"/>
              </a:defRPr>
            </a:defPPr>
          </a:lstStyle>
          <a:p xmlns:a="http://schemas.openxmlformats.org/drawingml/2006/main">
            <a:pPr algn="l">
              <a:defRPr sz="675" b="1" i="0">
                <a:solidFill>
                  <a:srgbClr val="FF654F"/>
                </a:solidFill>
                <a:latin typeface="Helvetica"/>
                <a:ea typeface="Helvetica"/>
                <a:cs typeface="Helvetica"/>
              </a:defRPr>
            </a:pPr>
            <a:r>
              <a:rPr sz="675" b="1" i="0">
                <a:solidFill>
                  <a:srgbClr val="FF654F"/>
                </a:solidFill>
                <a:latin typeface="Helvetica"/>
                <a:ea typeface="Helvetica"/>
                <a:cs typeface="Helvetica"/>
              </a:rPr>
              <a:t>ACT 2 / MARKET + COMPETITIVE DIAGNOSIS</a:t>
            </a:r>
          </a:p>
        </p:txBody>
      </p:sp>
      <p:sp>
        <p:nvSpPr>
          <p:cNvPr id="2" name="">
            <a:extLst xmlns:a="http://schemas.openxmlformats.org/drawingml/2006/main">
              <a:ext uri="{FF2B5EF4-FFF2-40B4-BE49-F238E27FC236}">
                <a16:creationId xmlns:a16="http://schemas.microsoft.com/office/drawing/2014/main" id="{D578ABC1-EC27-47AF-881C-4CB0CAF3E025}"/>
              </a:ext>
            </a:extLst>
          </p:cNvPr>
          <p:cNvSpPr>
            <a:spLocks xmlns:a="http://schemas.openxmlformats.org/drawingml/2006/main" noGrp="1"/>
          </p:cNvSpPr>
          <p:nvPr/>
        </p:nvSpPr>
        <p:spPr>
          <a:xfrm xmlns:a="http://schemas.openxmlformats.org/drawingml/2006/main">
            <a:off x="647700" y="685800"/>
            <a:ext cx="1047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2325" b="1" i="0">
                <a:solidFill>
                  <a:srgbClr val="FFFDFC"/>
                </a:solidFill>
                <a:latin typeface="Helvetica"/>
                <a:ea typeface="Helvetica"/>
                <a:cs typeface="Helvetica"/>
              </a:defRPr>
            </a:defPPr>
          </a:lstStyle>
          <a:p xmlns:a="http://schemas.openxmlformats.org/drawingml/2006/main">
            <a:pPr algn="l">
              <a:defRPr sz="2325" b="1" i="0">
                <a:solidFill>
                  <a:srgbClr val="FFFDFC"/>
                </a:solidFill>
                <a:latin typeface="Helvetica"/>
                <a:ea typeface="Helvetica"/>
                <a:cs typeface="Helvetica"/>
              </a:defRPr>
            </a:pPr>
            <a:r>
              <a:rPr sz="2325" b="1" i="0">
                <a:solidFill>
                  <a:srgbClr val="FFFDFC"/>
                </a:solidFill>
                <a:latin typeface="Helvetica"/>
                <a:ea typeface="Helvetica"/>
                <a:cs typeface="Helvetica"/>
              </a:rPr>
              <a:t>Growth Constraint Diagnosis</a:t>
            </a:r>
          </a:p>
        </p:txBody>
      </p:sp>
      <p:sp>
        <p:nvSpPr>
          <p:cNvPr id="3" name="">
            <a:extLst xmlns:a="http://schemas.openxmlformats.org/drawingml/2006/main">
              <a:ext uri="{FF2B5EF4-FFF2-40B4-BE49-F238E27FC236}">
                <a16:creationId xmlns:a16="http://schemas.microsoft.com/office/drawing/2014/main" id="{F949B424-474E-4342-9526-B8038FF62296}"/>
              </a:ext>
            </a:extLst>
          </p:cNvPr>
          <p:cNvSpPr>
            <a:spLocks xmlns:a="http://schemas.openxmlformats.org/drawingml/2006/main" noGrp="1"/>
          </p:cNvSpPr>
          <p:nvPr/>
        </p:nvSpPr>
        <p:spPr>
          <a:xfrm xmlns:a="http://schemas.openxmlformats.org/drawingml/2006/main">
            <a:off x="647700" y="1400175"/>
            <a:ext cx="10896600" cy="19050"/>
          </a:xfrm>
          <a:prstGeom xmlns:a="http://schemas.openxmlformats.org/drawingml/2006/main" prst="rect">
            <a:avLst/>
          </a:prstGeom>
          <a:solidFill xmlns:a="http://schemas.openxmlformats.org/drawingml/2006/main">
            <a:srgbClr val="5A2E78"/>
          </a:solidFill>
          <a:ln xmlns:a="http://schemas.openxmlformats.org/drawingml/2006/main" w="0">
            <a:solidFill>
              <a:srgbClr val="5A2E78"/>
            </a:solidFill>
          </a:ln>
        </p:spPr>
      </p:sp>
      <p:sp>
        <p:nvSpPr>
          <p:cNvPr id="4" name="">
            <a:extLst xmlns:a="http://schemas.openxmlformats.org/drawingml/2006/main">
              <a:ext uri="{FF2B5EF4-FFF2-40B4-BE49-F238E27FC236}">
                <a16:creationId xmlns:a16="http://schemas.microsoft.com/office/drawing/2014/main" id="{07DE468F-0AC6-42C5-8279-071249D97E16}"/>
              </a:ext>
            </a:extLst>
          </p:cNvPr>
          <p:cNvSpPr>
            <a:spLocks xmlns:a="http://schemas.openxmlformats.org/drawingml/2006/main" noGrp="1"/>
          </p:cNvSpPr>
          <p:nvPr/>
        </p:nvSpPr>
        <p:spPr>
          <a:xfrm xmlns:a="http://schemas.openxmlformats.org/drawingml/2006/main">
            <a:off x="762000" y="1752600"/>
            <a:ext cx="1428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750" b="1" i="0">
                <a:solidFill>
                  <a:srgbClr val="FF654F"/>
                </a:solidFill>
                <a:latin typeface="Helvetica"/>
                <a:ea typeface="Helvetica"/>
                <a:cs typeface="Helvetica"/>
              </a:defRPr>
            </a:defPPr>
          </a:lstStyle>
          <a:p xmlns:a="http://schemas.openxmlformats.org/drawingml/2006/main">
            <a:pPr algn="l">
              <a:defRPr sz="750" b="1" i="0">
                <a:solidFill>
                  <a:srgbClr val="FF654F"/>
                </a:solidFill>
                <a:latin typeface="Helvetica"/>
                <a:ea typeface="Helvetica"/>
                <a:cs typeface="Helvetica"/>
              </a:defRPr>
            </a:pPr>
            <a:r>
              <a:rPr sz="750" b="1" i="0">
                <a:solidFill>
                  <a:srgbClr val="FF654F"/>
                </a:solidFill>
                <a:latin typeface="Helvetica"/>
                <a:ea typeface="Helvetica"/>
                <a:cs typeface="Helvetica"/>
              </a:rPr>
              <a:t>POSITION</a:t>
            </a:r>
          </a:p>
        </p:txBody>
      </p:sp>
      <p:sp>
        <p:nvSpPr>
          <p:cNvPr id="5" name="">
            <a:extLst xmlns:a="http://schemas.openxmlformats.org/drawingml/2006/main">
              <a:ext uri="{FF2B5EF4-FFF2-40B4-BE49-F238E27FC236}">
                <a16:creationId xmlns:a16="http://schemas.microsoft.com/office/drawing/2014/main" id="{B344B4DA-1950-46C9-934C-559D00A7B3B6}"/>
              </a:ext>
            </a:extLst>
          </p:cNvPr>
          <p:cNvSpPr>
            <a:spLocks xmlns:a="http://schemas.openxmlformats.org/drawingml/2006/main" noGrp="1"/>
          </p:cNvSpPr>
          <p:nvPr/>
        </p:nvSpPr>
        <p:spPr>
          <a:xfrm xmlns:a="http://schemas.openxmlformats.org/drawingml/2006/main">
            <a:off x="2333625" y="1838325"/>
            <a:ext cx="495300" cy="19050"/>
          </a:xfrm>
          <a:prstGeom xmlns:a="http://schemas.openxmlformats.org/drawingml/2006/main" prst="rect">
            <a:avLst/>
          </a:prstGeom>
          <a:solidFill xmlns:a="http://schemas.openxmlformats.org/drawingml/2006/main">
            <a:srgbClr val="5A2E78"/>
          </a:solidFill>
          <a:ln xmlns:a="http://schemas.openxmlformats.org/drawingml/2006/main" w="0">
            <a:solidFill>
              <a:srgbClr val="5A2E78"/>
            </a:solidFill>
          </a:ln>
        </p:spPr>
      </p:sp>
      <p:sp>
        <p:nvSpPr>
          <p:cNvPr id="6" name="">
            <a:extLst xmlns:a="http://schemas.openxmlformats.org/drawingml/2006/main">
              <a:ext uri="{FF2B5EF4-FFF2-40B4-BE49-F238E27FC236}">
                <a16:creationId xmlns:a16="http://schemas.microsoft.com/office/drawing/2014/main" id="{12E53DAD-947E-469E-98C2-F204633D0B45}"/>
              </a:ext>
            </a:extLst>
          </p:cNvPr>
          <p:cNvSpPr>
            <a:spLocks xmlns:a="http://schemas.openxmlformats.org/drawingml/2006/main" noGrp="1"/>
          </p:cNvSpPr>
          <p:nvPr/>
        </p:nvSpPr>
        <p:spPr>
          <a:xfrm xmlns:a="http://schemas.openxmlformats.org/drawingml/2006/main">
            <a:off x="3143250" y="1676400"/>
            <a:ext cx="7334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875" b="1" i="0">
                <a:solidFill>
                  <a:srgbClr val="FFFDFC"/>
                </a:solidFill>
                <a:latin typeface="Helvetica"/>
                <a:ea typeface="Helvetica"/>
                <a:cs typeface="Helvetica"/>
              </a:defRPr>
            </a:defPPr>
          </a:lstStyle>
          <a:p xmlns:a="http://schemas.openxmlformats.org/drawingml/2006/main">
            <a:pPr algn="l">
              <a:defRPr sz="1875" b="1" i="0">
                <a:solidFill>
                  <a:srgbClr val="FFFDFC"/>
                </a:solidFill>
                <a:latin typeface="Helvetica"/>
                <a:ea typeface="Helvetica"/>
                <a:cs typeface="Helvetica"/>
              </a:defRPr>
            </a:pPr>
            <a:r>
              <a:rPr sz="1875" b="1" i="0">
                <a:solidFill>
                  <a:srgbClr val="FFFDFC"/>
                </a:solidFill>
                <a:latin typeface="Helvetica"/>
                <a:ea typeface="Helvetica"/>
                <a:cs typeface="Helvetica"/>
              </a:rPr>
              <a:t>Proof, not promise</a:t>
            </a:r>
          </a:p>
        </p:txBody>
      </p:sp>
      <p:sp>
        <p:nvSpPr>
          <p:cNvPr id="7" name="">
            <a:extLst xmlns:a="http://schemas.openxmlformats.org/drawingml/2006/main">
              <a:ext uri="{FF2B5EF4-FFF2-40B4-BE49-F238E27FC236}">
                <a16:creationId xmlns:a16="http://schemas.microsoft.com/office/drawing/2014/main" id="{70C72E1D-EDAA-40F1-8A96-A073551573C8}"/>
              </a:ext>
            </a:extLst>
          </p:cNvPr>
          <p:cNvSpPr>
            <a:spLocks xmlns:a="http://schemas.openxmlformats.org/drawingml/2006/main" noGrp="1"/>
          </p:cNvSpPr>
          <p:nvPr/>
        </p:nvSpPr>
        <p:spPr>
          <a:xfrm xmlns:a="http://schemas.openxmlformats.org/drawingml/2006/main">
            <a:off x="762000" y="2609850"/>
            <a:ext cx="1428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750" b="1" i="0">
                <a:solidFill>
                  <a:srgbClr val="FF654F"/>
                </a:solidFill>
                <a:latin typeface="Helvetica"/>
                <a:ea typeface="Helvetica"/>
                <a:cs typeface="Helvetica"/>
              </a:defRPr>
            </a:defPPr>
          </a:lstStyle>
          <a:p xmlns:a="http://schemas.openxmlformats.org/drawingml/2006/main">
            <a:pPr algn="l">
              <a:defRPr sz="750" b="1" i="0">
                <a:solidFill>
                  <a:srgbClr val="FF654F"/>
                </a:solidFill>
                <a:latin typeface="Helvetica"/>
                <a:ea typeface="Helvetica"/>
                <a:cs typeface="Helvetica"/>
              </a:defRPr>
            </a:pPr>
            <a:r>
              <a:rPr sz="750" b="1" i="0">
                <a:solidFill>
                  <a:srgbClr val="FF654F"/>
                </a:solidFill>
                <a:latin typeface="Helvetica"/>
                <a:ea typeface="Helvetica"/>
                <a:cs typeface="Helvetica"/>
              </a:rPr>
              <a:t>BENEFIT</a:t>
            </a:r>
          </a:p>
        </p:txBody>
      </p:sp>
      <p:sp>
        <p:nvSpPr>
          <p:cNvPr id="8" name="">
            <a:extLst xmlns:a="http://schemas.openxmlformats.org/drawingml/2006/main">
              <a:ext uri="{FF2B5EF4-FFF2-40B4-BE49-F238E27FC236}">
                <a16:creationId xmlns:a16="http://schemas.microsoft.com/office/drawing/2014/main" id="{0F406028-B844-4A60-83B7-2BECAC2099E7}"/>
              </a:ext>
            </a:extLst>
          </p:cNvPr>
          <p:cNvSpPr>
            <a:spLocks xmlns:a="http://schemas.openxmlformats.org/drawingml/2006/main" noGrp="1"/>
          </p:cNvSpPr>
          <p:nvPr/>
        </p:nvSpPr>
        <p:spPr>
          <a:xfrm xmlns:a="http://schemas.openxmlformats.org/drawingml/2006/main">
            <a:off x="2333625" y="2695575"/>
            <a:ext cx="495300" cy="19050"/>
          </a:xfrm>
          <a:prstGeom xmlns:a="http://schemas.openxmlformats.org/drawingml/2006/main" prst="rect">
            <a:avLst/>
          </a:prstGeom>
          <a:solidFill xmlns:a="http://schemas.openxmlformats.org/drawingml/2006/main">
            <a:srgbClr val="5A2E78"/>
          </a:solidFill>
          <a:ln xmlns:a="http://schemas.openxmlformats.org/drawingml/2006/main" w="0">
            <a:solidFill>
              <a:srgbClr val="5A2E78"/>
            </a:solidFill>
          </a:ln>
        </p:spPr>
      </p:sp>
      <p:sp>
        <p:nvSpPr>
          <p:cNvPr id="9" name="">
            <a:extLst xmlns:a="http://schemas.openxmlformats.org/drawingml/2006/main">
              <a:ext uri="{FF2B5EF4-FFF2-40B4-BE49-F238E27FC236}">
                <a16:creationId xmlns:a16="http://schemas.microsoft.com/office/drawing/2014/main" id="{C71BFE3A-D9A7-4441-89D4-B009A8BC3ADF}"/>
              </a:ext>
            </a:extLst>
          </p:cNvPr>
          <p:cNvSpPr>
            <a:spLocks xmlns:a="http://schemas.openxmlformats.org/drawingml/2006/main" noGrp="1"/>
          </p:cNvSpPr>
          <p:nvPr/>
        </p:nvSpPr>
        <p:spPr>
          <a:xfrm xmlns:a="http://schemas.openxmlformats.org/drawingml/2006/main">
            <a:off x="3143250" y="2533650"/>
            <a:ext cx="7334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875" b="1" i="0">
                <a:solidFill>
                  <a:srgbClr val="FF654F"/>
                </a:solidFill>
                <a:latin typeface="Helvetica"/>
                <a:ea typeface="Helvetica"/>
                <a:cs typeface="Helvetica"/>
              </a:defRPr>
            </a:defPPr>
          </a:lstStyle>
          <a:p xmlns:a="http://schemas.openxmlformats.org/drawingml/2006/main">
            <a:pPr algn="l">
              <a:defRPr sz="1875" b="1" i="0">
                <a:solidFill>
                  <a:srgbClr val="FF654F"/>
                </a:solidFill>
                <a:latin typeface="Helvetica"/>
                <a:ea typeface="Helvetica"/>
                <a:cs typeface="Helvetica"/>
              </a:defRPr>
            </a:pPr>
            <a:r>
              <a:rPr sz="1875" b="1" i="0">
                <a:solidFill>
                  <a:srgbClr val="FF654F"/>
                </a:solidFill>
                <a:latin typeface="Helvetica"/>
                <a:ea typeface="Helvetica"/>
                <a:cs typeface="Helvetica"/>
              </a:rPr>
              <a:t>Confidence without self-audit</a:t>
            </a:r>
          </a:p>
        </p:txBody>
      </p:sp>
      <p:sp>
        <p:nvSpPr>
          <p:cNvPr id="10" name="">
            <a:extLst xmlns:a="http://schemas.openxmlformats.org/drawingml/2006/main">
              <a:ext uri="{FF2B5EF4-FFF2-40B4-BE49-F238E27FC236}">
                <a16:creationId xmlns:a16="http://schemas.microsoft.com/office/drawing/2014/main" id="{D08FA432-D568-49A5-920F-E365974EEFC6}"/>
              </a:ext>
            </a:extLst>
          </p:cNvPr>
          <p:cNvSpPr>
            <a:spLocks xmlns:a="http://schemas.openxmlformats.org/drawingml/2006/main" noGrp="1"/>
          </p:cNvSpPr>
          <p:nvPr/>
        </p:nvSpPr>
        <p:spPr>
          <a:xfrm xmlns:a="http://schemas.openxmlformats.org/drawingml/2006/main">
            <a:off x="762000" y="3467100"/>
            <a:ext cx="1428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750" b="1" i="0">
                <a:solidFill>
                  <a:srgbClr val="FF654F"/>
                </a:solidFill>
                <a:latin typeface="Helvetica"/>
                <a:ea typeface="Helvetica"/>
                <a:cs typeface="Helvetica"/>
              </a:defRPr>
            </a:defPPr>
          </a:lstStyle>
          <a:p xmlns:a="http://schemas.openxmlformats.org/drawingml/2006/main">
            <a:pPr algn="l">
              <a:defRPr sz="750" b="1" i="0">
                <a:solidFill>
                  <a:srgbClr val="FF654F"/>
                </a:solidFill>
                <a:latin typeface="Helvetica"/>
                <a:ea typeface="Helvetica"/>
                <a:cs typeface="Helvetica"/>
              </a:defRPr>
            </a:pPr>
            <a:r>
              <a:rPr sz="750" b="1" i="0">
                <a:solidFill>
                  <a:srgbClr val="FF654F"/>
                </a:solidFill>
                <a:latin typeface="Helvetica"/>
                <a:ea typeface="Helvetica"/>
                <a:cs typeface="Helvetica"/>
              </a:rPr>
              <a:t>PLATFORM</a:t>
            </a:r>
          </a:p>
        </p:txBody>
      </p:sp>
      <p:sp>
        <p:nvSpPr>
          <p:cNvPr id="11" name="">
            <a:extLst xmlns:a="http://schemas.openxmlformats.org/drawingml/2006/main">
              <a:ext uri="{FF2B5EF4-FFF2-40B4-BE49-F238E27FC236}">
                <a16:creationId xmlns:a16="http://schemas.microsoft.com/office/drawing/2014/main" id="{F7345872-1EBF-4B26-9C5C-3F5C4E49F913}"/>
              </a:ext>
            </a:extLst>
          </p:cNvPr>
          <p:cNvSpPr>
            <a:spLocks xmlns:a="http://schemas.openxmlformats.org/drawingml/2006/main" noGrp="1"/>
          </p:cNvSpPr>
          <p:nvPr/>
        </p:nvSpPr>
        <p:spPr>
          <a:xfrm xmlns:a="http://schemas.openxmlformats.org/drawingml/2006/main">
            <a:off x="2333625" y="3552825"/>
            <a:ext cx="495300" cy="19050"/>
          </a:xfrm>
          <a:prstGeom xmlns:a="http://schemas.openxmlformats.org/drawingml/2006/main" prst="rect">
            <a:avLst/>
          </a:prstGeom>
          <a:solidFill xmlns:a="http://schemas.openxmlformats.org/drawingml/2006/main">
            <a:srgbClr val="5A2E78"/>
          </a:solidFill>
          <a:ln xmlns:a="http://schemas.openxmlformats.org/drawingml/2006/main" w="0">
            <a:solidFill>
              <a:srgbClr val="5A2E78"/>
            </a:solidFill>
          </a:ln>
        </p:spPr>
      </p:sp>
      <p:sp>
        <p:nvSpPr>
          <p:cNvPr id="12" name="">
            <a:extLst xmlns:a="http://schemas.openxmlformats.org/drawingml/2006/main">
              <a:ext uri="{FF2B5EF4-FFF2-40B4-BE49-F238E27FC236}">
                <a16:creationId xmlns:a16="http://schemas.microsoft.com/office/drawing/2014/main" id="{B3DBD91A-CD2E-4216-B973-E02C3CD5B040}"/>
              </a:ext>
            </a:extLst>
          </p:cNvPr>
          <p:cNvSpPr>
            <a:spLocks xmlns:a="http://schemas.openxmlformats.org/drawingml/2006/main" noGrp="1"/>
          </p:cNvSpPr>
          <p:nvPr/>
        </p:nvSpPr>
        <p:spPr>
          <a:xfrm xmlns:a="http://schemas.openxmlformats.org/drawingml/2006/main">
            <a:off x="3143250" y="3390900"/>
            <a:ext cx="7334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875" b="1" i="0">
                <a:solidFill>
                  <a:srgbClr val="FFFDFC"/>
                </a:solidFill>
                <a:latin typeface="Helvetica"/>
                <a:ea typeface="Helvetica"/>
                <a:cs typeface="Helvetica"/>
              </a:defRPr>
            </a:defPPr>
          </a:lstStyle>
          <a:p xmlns:a="http://schemas.openxmlformats.org/drawingml/2006/main">
            <a:pPr algn="l">
              <a:defRPr sz="1875" b="1" i="0">
                <a:solidFill>
                  <a:srgbClr val="FFFDFC"/>
                </a:solidFill>
                <a:latin typeface="Helvetica"/>
                <a:ea typeface="Helvetica"/>
                <a:cs typeface="Helvetica"/>
              </a:defRPr>
            </a:pPr>
            <a:r>
              <a:rPr sz="1875" b="1" i="0">
                <a:solidFill>
                  <a:srgbClr val="FFFDFC"/>
                </a:solidFill>
                <a:latin typeface="Helvetica"/>
                <a:ea typeface="Helvetica"/>
                <a:cs typeface="Helvetica"/>
              </a:rPr>
              <a:t>The science cats deserve</a:t>
            </a:r>
          </a:p>
        </p:txBody>
      </p:sp>
      <p:sp>
        <p:nvSpPr>
          <p:cNvPr id="13" name="">
            <a:extLst xmlns:a="http://schemas.openxmlformats.org/drawingml/2006/main">
              <a:ext uri="{FF2B5EF4-FFF2-40B4-BE49-F238E27FC236}">
                <a16:creationId xmlns:a16="http://schemas.microsoft.com/office/drawing/2014/main" id="{5A2FD82A-C01C-405B-8400-64CF386B6512}"/>
              </a:ext>
            </a:extLst>
          </p:cNvPr>
          <p:cNvSpPr>
            <a:spLocks xmlns:a="http://schemas.openxmlformats.org/drawingml/2006/main" noGrp="1"/>
          </p:cNvSpPr>
          <p:nvPr/>
        </p:nvSpPr>
        <p:spPr>
          <a:xfrm xmlns:a="http://schemas.openxmlformats.org/drawingml/2006/main">
            <a:off x="762000" y="4324350"/>
            <a:ext cx="1428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750" b="1" i="0">
                <a:solidFill>
                  <a:srgbClr val="FF654F"/>
                </a:solidFill>
                <a:latin typeface="Helvetica"/>
                <a:ea typeface="Helvetica"/>
                <a:cs typeface="Helvetica"/>
              </a:defRPr>
            </a:defPPr>
          </a:lstStyle>
          <a:p xmlns:a="http://schemas.openxmlformats.org/drawingml/2006/main">
            <a:pPr algn="l">
              <a:defRPr sz="750" b="1" i="0">
                <a:solidFill>
                  <a:srgbClr val="FF654F"/>
                </a:solidFill>
                <a:latin typeface="Helvetica"/>
                <a:ea typeface="Helvetica"/>
                <a:cs typeface="Helvetica"/>
              </a:defRPr>
            </a:pPr>
            <a:r>
              <a:rPr sz="750" b="1" i="0">
                <a:solidFill>
                  <a:srgbClr val="FF654F"/>
                </a:solidFill>
                <a:latin typeface="Helvetica"/>
                <a:ea typeface="Helvetica"/>
                <a:cs typeface="Helvetica"/>
              </a:rPr>
              <a:t>EXPRESSION</a:t>
            </a:r>
          </a:p>
        </p:txBody>
      </p:sp>
      <p:sp>
        <p:nvSpPr>
          <p:cNvPr id="14" name="">
            <a:extLst xmlns:a="http://schemas.openxmlformats.org/drawingml/2006/main">
              <a:ext uri="{FF2B5EF4-FFF2-40B4-BE49-F238E27FC236}">
                <a16:creationId xmlns:a16="http://schemas.microsoft.com/office/drawing/2014/main" id="{3998583D-60F5-4FD6-B9B8-2168EF912266}"/>
              </a:ext>
            </a:extLst>
          </p:cNvPr>
          <p:cNvSpPr>
            <a:spLocks xmlns:a="http://schemas.openxmlformats.org/drawingml/2006/main" noGrp="1"/>
          </p:cNvSpPr>
          <p:nvPr/>
        </p:nvSpPr>
        <p:spPr>
          <a:xfrm xmlns:a="http://schemas.openxmlformats.org/drawingml/2006/main">
            <a:off x="2333625" y="4410075"/>
            <a:ext cx="495300" cy="19050"/>
          </a:xfrm>
          <a:prstGeom xmlns:a="http://schemas.openxmlformats.org/drawingml/2006/main" prst="rect">
            <a:avLst/>
          </a:prstGeom>
          <a:solidFill xmlns:a="http://schemas.openxmlformats.org/drawingml/2006/main">
            <a:srgbClr val="5A2E78"/>
          </a:solidFill>
          <a:ln xmlns:a="http://schemas.openxmlformats.org/drawingml/2006/main" w="0">
            <a:solidFill>
              <a:srgbClr val="5A2E78"/>
            </a:solidFill>
          </a:ln>
        </p:spPr>
      </p:sp>
      <p:sp>
        <p:nvSpPr>
          <p:cNvPr id="15" name="">
            <a:extLst xmlns:a="http://schemas.openxmlformats.org/drawingml/2006/main">
              <a:ext uri="{FF2B5EF4-FFF2-40B4-BE49-F238E27FC236}">
                <a16:creationId xmlns:a16="http://schemas.microsoft.com/office/drawing/2014/main" id="{1B737010-9D01-42F3-9C37-3185FE125C2C}"/>
              </a:ext>
            </a:extLst>
          </p:cNvPr>
          <p:cNvSpPr>
            <a:spLocks xmlns:a="http://schemas.openxmlformats.org/drawingml/2006/main" noGrp="1"/>
          </p:cNvSpPr>
          <p:nvPr/>
        </p:nvSpPr>
        <p:spPr>
          <a:xfrm xmlns:a="http://schemas.openxmlformats.org/drawingml/2006/main">
            <a:off x="3143250" y="4248150"/>
            <a:ext cx="7334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875" b="1" i="0">
                <a:solidFill>
                  <a:srgbClr val="FFFDFC"/>
                </a:solidFill>
                <a:latin typeface="Helvetica"/>
                <a:ea typeface="Helvetica"/>
                <a:cs typeface="Helvetica"/>
              </a:defRPr>
            </a:defPPr>
          </a:lstStyle>
          <a:p xmlns:a="http://schemas.openxmlformats.org/drawingml/2006/main">
            <a:pPr algn="l">
              <a:defRPr sz="1875" b="1" i="0">
                <a:solidFill>
                  <a:srgbClr val="FFFDFC"/>
                </a:solidFill>
                <a:latin typeface="Helvetica"/>
                <a:ea typeface="Helvetica"/>
                <a:cs typeface="Helvetica"/>
              </a:defRPr>
            </a:pPr>
            <a:r>
              <a:rPr sz="1875" b="1" i="0">
                <a:solidFill>
                  <a:srgbClr val="FFFDFC"/>
                </a:solidFill>
                <a:latin typeface="Helvetica"/>
                <a:ea typeface="Helvetica"/>
                <a:cs typeface="Helvetica"/>
              </a:rPr>
              <a:t>Visible without personalisation</a:t>
            </a:r>
          </a:p>
        </p:txBody>
      </p:sp>
      <p:sp>
        <p:nvSpPr>
          <p:cNvPr id="16" name="">
            <a:extLst xmlns:a="http://schemas.openxmlformats.org/drawingml/2006/main">
              <a:ext uri="{FF2B5EF4-FFF2-40B4-BE49-F238E27FC236}">
                <a16:creationId xmlns:a16="http://schemas.microsoft.com/office/drawing/2014/main" id="{4F6A0ACE-3B06-43D7-84C0-9EB33FB1D04E}"/>
              </a:ext>
            </a:extLst>
          </p:cNvPr>
          <p:cNvSpPr>
            <a:spLocks xmlns:a="http://schemas.openxmlformats.org/drawingml/2006/main" noGrp="1"/>
          </p:cNvSpPr>
          <p:nvPr/>
        </p:nvSpPr>
        <p:spPr>
          <a:xfrm xmlns:a="http://schemas.openxmlformats.org/drawingml/2006/main">
            <a:off x="647700" y="5572125"/>
            <a:ext cx="209550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675" b="1" i="0">
                <a:solidFill>
                  <a:srgbClr val="FF654F"/>
                </a:solidFill>
                <a:latin typeface="Helvetica"/>
                <a:ea typeface="Helvetica"/>
                <a:cs typeface="Helvetica"/>
              </a:defRPr>
            </a:defPPr>
          </a:lstStyle>
          <a:p xmlns:a="http://schemas.openxmlformats.org/drawingml/2006/main">
            <a:pPr algn="l">
              <a:defRPr sz="675" b="1" i="0">
                <a:solidFill>
                  <a:srgbClr val="FF654F"/>
                </a:solidFill>
                <a:latin typeface="Helvetica"/>
                <a:ea typeface="Helvetica"/>
                <a:cs typeface="Helvetica"/>
              </a:defRPr>
            </a:pPr>
            <a:r>
              <a:rPr sz="675" b="1" i="0">
                <a:solidFill>
                  <a:srgbClr val="FF654F"/>
                </a:solidFill>
                <a:latin typeface="Helvetica"/>
                <a:ea typeface="Helvetica"/>
                <a:cs typeface="Helvetica"/>
              </a:rPr>
              <a:t>COMMERCIAL CONSEQUENCE</a:t>
            </a:r>
          </a:p>
        </p:txBody>
      </p:sp>
      <p:sp>
        <p:nvSpPr>
          <p:cNvPr id="17" name="">
            <a:extLst xmlns:a="http://schemas.openxmlformats.org/drawingml/2006/main">
              <a:ext uri="{FF2B5EF4-FFF2-40B4-BE49-F238E27FC236}">
                <a16:creationId xmlns:a16="http://schemas.microsoft.com/office/drawing/2014/main" id="{5D307184-4864-49F5-B9AC-8807D09F6875}"/>
              </a:ext>
            </a:extLst>
          </p:cNvPr>
          <p:cNvSpPr>
            <a:spLocks xmlns:a="http://schemas.openxmlformats.org/drawingml/2006/main" noGrp="1"/>
          </p:cNvSpPr>
          <p:nvPr/>
        </p:nvSpPr>
        <p:spPr>
          <a:xfrm xmlns:a="http://schemas.openxmlformats.org/drawingml/2006/main">
            <a:off x="2619375" y="5505450"/>
            <a:ext cx="8382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200" b="1" i="0">
                <a:solidFill>
                  <a:srgbClr val="FFFDFC"/>
                </a:solidFill>
                <a:latin typeface="Helvetica"/>
                <a:ea typeface="Helvetica"/>
                <a:cs typeface="Helvetica"/>
              </a:defRPr>
            </a:defPPr>
          </a:lstStyle>
          <a:p xmlns:a="http://schemas.openxmlformats.org/drawingml/2006/main">
            <a:pPr algn="l">
              <a:defRPr sz="1200" b="1" i="0">
                <a:solidFill>
                  <a:srgbClr val="FFFDFC"/>
                </a:solidFill>
                <a:latin typeface="Helvetica"/>
                <a:ea typeface="Helvetica"/>
                <a:cs typeface="Helvetica"/>
              </a:defRPr>
            </a:pPr>
            <a:r>
              <a:rPr sz="1200" b="1" i="0">
                <a:solidFill>
                  <a:srgbClr val="FFFDFC"/>
                </a:solidFill>
                <a:latin typeface="Helvetica"/>
                <a:ea typeface="Helvetica"/>
                <a:cs typeface="Helvetica"/>
              </a:rPr>
              <a:t>Trust and conversion are constrained by unresolved proof and proposition questions.</a:t>
            </a:r>
          </a:p>
        </p:txBody>
      </p:sp>
      <p:sp>
        <p:nvSpPr>
          <p:cNvPr id="18" name="">
            <a:extLst xmlns:a="http://schemas.openxmlformats.org/drawingml/2006/main">
              <a:ext uri="{FF2B5EF4-FFF2-40B4-BE49-F238E27FC236}">
                <a16:creationId xmlns:a16="http://schemas.microsoft.com/office/drawing/2014/main" id="{E04A789C-0D5E-481C-97FE-2CE1EC4397CA}"/>
              </a:ext>
            </a:extLst>
          </p:cNvPr>
          <p:cNvSpPr>
            <a:spLocks xmlns:a="http://schemas.openxmlformats.org/drawingml/2006/main" noGrp="1"/>
          </p:cNvSpPr>
          <p:nvPr/>
        </p:nvSpPr>
        <p:spPr>
          <a:xfrm xmlns:a="http://schemas.openxmlformats.org/drawingml/2006/main">
            <a:off x="647700" y="6134100"/>
            <a:ext cx="4953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825" b="1" i="0">
                <a:solidFill>
                  <a:srgbClr val="C8B7E8"/>
                </a:solidFill>
                <a:latin typeface="Helvetica"/>
                <a:ea typeface="Helvetica"/>
                <a:cs typeface="Helvetica"/>
              </a:defRPr>
            </a:defPPr>
          </a:lstStyle>
          <a:p xmlns:a="http://schemas.openxmlformats.org/drawingml/2006/main">
            <a:pPr algn="l">
              <a:defRPr sz="825" b="1" i="0">
                <a:solidFill>
                  <a:srgbClr val="C8B7E8"/>
                </a:solidFill>
                <a:latin typeface="Helvetica"/>
                <a:ea typeface="Helvetica"/>
                <a:cs typeface="Helvetica"/>
              </a:defRPr>
            </a:pPr>
            <a:r>
              <a:rPr sz="825" b="1" i="0">
                <a:solidFill>
                  <a:srgbClr val="C8B7E8"/>
                </a:solidFill>
                <a:latin typeface="Helvetica"/>
                <a:ea typeface="Helvetica"/>
                <a:cs typeface="Helvetica"/>
              </a:rPr>
              <a:t>SOURCES: S2, S3, T1</a:t>
            </a:r>
          </a:p>
        </p:txBody>
      </p:sp>
      <p:sp>
        <p:nvSpPr>
          <p:cNvPr id="19" name="">
            <a:extLst xmlns:a="http://schemas.openxmlformats.org/drawingml/2006/main">
              <a:ext uri="{FF2B5EF4-FFF2-40B4-BE49-F238E27FC236}">
                <a16:creationId xmlns:a16="http://schemas.microsoft.com/office/drawing/2014/main" id="{EA606ED4-72B9-4CCC-8251-B51C5CE17F95}"/>
              </a:ext>
            </a:extLst>
          </p:cNvPr>
          <p:cNvSpPr>
            <a:spLocks xmlns:a="http://schemas.openxmlformats.org/drawingml/2006/main" noGrp="1"/>
          </p:cNvSpPr>
          <p:nvPr/>
        </p:nvSpPr>
        <p:spPr>
          <a:xfrm xmlns:a="http://schemas.openxmlformats.org/drawingml/2006/main">
            <a:off x="5715000" y="6134100"/>
            <a:ext cx="48768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r">
              <a:defRPr sz="825" b="1" i="0">
                <a:solidFill>
                  <a:srgbClr val="C8B7E8"/>
                </a:solidFill>
                <a:latin typeface="Helvetica"/>
                <a:ea typeface="Helvetica"/>
                <a:cs typeface="Helvetica"/>
              </a:defRPr>
            </a:defPPr>
          </a:lstStyle>
          <a:p xmlns:a="http://schemas.openxmlformats.org/drawingml/2006/main">
            <a:pPr algn="r">
              <a:defRPr sz="825" b="1" i="0">
                <a:solidFill>
                  <a:srgbClr val="C8B7E8"/>
                </a:solidFill>
                <a:latin typeface="Helvetica"/>
                <a:ea typeface="Helvetica"/>
                <a:cs typeface="Helvetica"/>
              </a:defRPr>
            </a:pPr>
            <a:r>
              <a:rPr sz="825" b="1" i="0">
                <a:solidFill>
                  <a:srgbClr val="C8B7E8"/>
                </a:solidFill>
                <a:latin typeface="Helvetica"/>
                <a:ea typeface="Helvetica"/>
                <a:cs typeface="Helvetica"/>
              </a:rPr>
              <a:t>APPROVED STRATEGY + INTERPRETATION + VERIFIED FACT</a:t>
            </a:r>
          </a:p>
        </p:txBody>
      </p:sp>
      <p:sp>
        <p:nvSpPr>
          <p:cNvPr id="20" name="">
            <a:extLst xmlns:a="http://schemas.openxmlformats.org/drawingml/2006/main">
              <a:ext uri="{FF2B5EF4-FFF2-40B4-BE49-F238E27FC236}">
                <a16:creationId xmlns:a16="http://schemas.microsoft.com/office/drawing/2014/main" id="{F2B8D031-237B-4FC6-B9AC-9B9500BC03C6}"/>
              </a:ext>
            </a:extLst>
          </p:cNvPr>
          <p:cNvSpPr>
            <a:spLocks xmlns:a="http://schemas.openxmlformats.org/drawingml/2006/main" noGrp="1"/>
          </p:cNvSpPr>
          <p:nvPr/>
        </p:nvSpPr>
        <p:spPr>
          <a:xfrm xmlns:a="http://schemas.openxmlformats.org/drawingml/2006/main">
            <a:off x="647700" y="6515100"/>
            <a:ext cx="17145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675" b="1" i="0">
                <a:solidFill>
                  <a:srgbClr val="C8B7E8"/>
                </a:solidFill>
                <a:latin typeface="Helvetica"/>
                <a:ea typeface="Helvetica"/>
                <a:cs typeface="Helvetica"/>
              </a:defRPr>
            </a:defPPr>
          </a:lstStyle>
          <a:p xmlns:a="http://schemas.openxmlformats.org/drawingml/2006/main">
            <a:pPr algn="l">
              <a:defRPr sz="675" b="1" i="0">
                <a:solidFill>
                  <a:srgbClr val="C8B7E8"/>
                </a:solidFill>
                <a:latin typeface="Helvetica"/>
                <a:ea typeface="Helvetica"/>
                <a:cs typeface="Helvetica"/>
              </a:defRPr>
            </a:pPr>
            <a:r>
              <a:rPr sz="675" b="1" i="0">
                <a:solidFill>
                  <a:srgbClr val="C8B7E8"/>
                </a:solidFill>
                <a:latin typeface="Helvetica"/>
                <a:ea typeface="Helvetica"/>
                <a:cs typeface="Helvetica"/>
              </a:rPr>
              <a:t>NARRATIIVE</a:t>
            </a:r>
          </a:p>
        </p:txBody>
      </p:sp>
      <p:sp>
        <p:nvSpPr>
          <p:cNvPr id="21" name="">
            <a:extLst xmlns:a="http://schemas.openxmlformats.org/drawingml/2006/main">
              <a:ext uri="{FF2B5EF4-FFF2-40B4-BE49-F238E27FC236}">
                <a16:creationId xmlns:a16="http://schemas.microsoft.com/office/drawing/2014/main" id="{732C8124-8804-4058-9409-EBE71866430B}"/>
              </a:ext>
            </a:extLst>
          </p:cNvPr>
          <p:cNvSpPr>
            <a:spLocks xmlns:a="http://schemas.openxmlformats.org/drawingml/2006/main" noGrp="1"/>
          </p:cNvSpPr>
          <p:nvPr/>
        </p:nvSpPr>
        <p:spPr>
          <a:xfrm xmlns:a="http://schemas.openxmlformats.org/drawingml/2006/main">
            <a:off x="10668000" y="6515100"/>
            <a:ext cx="8763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r">
              <a:defRPr sz="675" b="0" i="0">
                <a:solidFill>
                  <a:srgbClr val="C8B7E8"/>
                </a:solidFill>
                <a:latin typeface="Helvetica"/>
                <a:ea typeface="Helvetica"/>
                <a:cs typeface="Helvetica"/>
              </a:defRPr>
            </a:defPPr>
          </a:lstStyle>
          <a:p xmlns:a="http://schemas.openxmlformats.org/drawingml/2006/main">
            <a:pPr algn="r">
              <a:defRPr sz="675" b="0" i="0">
                <a:solidFill>
                  <a:srgbClr val="C8B7E8"/>
                </a:solidFill>
                <a:latin typeface="Helvetica"/>
                <a:ea typeface="Helvetica"/>
                <a:cs typeface="Helvetica"/>
              </a:defRPr>
            </a:pPr>
            <a:r>
              <a:rPr sz="675" b="0" i="0">
                <a:solidFill>
                  <a:srgbClr val="C8B7E8"/>
                </a:solidFill>
                <a:latin typeface="Helvetica"/>
                <a:ea typeface="Helvetica"/>
                <a:cs typeface="Helvetica"/>
              </a:rPr>
              <a:t>09 / 30</a:t>
            </a:r>
          </a:p>
        </p:txBody>
      </p:sp>
    </p:spTree>
    <p:extLst>
      <p:ext uri="{BB962C8B-B14F-4D97-AF65-F5344CB8AC3E}">
        <p14:creationId xmlns:p14="http://schemas.microsoft.com/office/powerpoint/2010/main" val="98021740"/>
      </p:ext>
    </p:extLst>
  </p:cSld>
</p:sld>
</file>

<file path=ppt/slides/slide10.xml><?xml version="1.0" encoding="utf-8"?>
<p:sld xmlns:p="http://schemas.openxmlformats.org/presentationml/2006/main">
  <p:cSld>
    <p:bg>
      <p:bgPr>
        <a:solidFill xmlns:a="http://schemas.openxmlformats.org/drawingml/2006/main">
          <a:srgbClr val="F6F0E8"/>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E719713F-7F8E-4F14-8E66-AB3C4ABB039C}"/>
              </a:ext>
            </a:extLst>
          </p:cNvPr>
          <p:cNvSpPr>
            <a:spLocks xmlns:a="http://schemas.openxmlformats.org/drawingml/2006/main" noGrp="1"/>
          </p:cNvSpPr>
          <p:nvPr/>
        </p:nvSpPr>
        <p:spPr>
          <a:xfrm xmlns:a="http://schemas.openxmlformats.org/drawingml/2006/main">
            <a:off x="647700" y="333375"/>
            <a:ext cx="57150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675" b="1" i="0">
                <a:solidFill>
                  <a:srgbClr val="FF654F"/>
                </a:solidFill>
                <a:latin typeface="Helvetica"/>
                <a:ea typeface="Helvetica"/>
                <a:cs typeface="Helvetica"/>
              </a:defRPr>
            </a:defPPr>
          </a:lstStyle>
          <a:p xmlns:a="http://schemas.openxmlformats.org/drawingml/2006/main">
            <a:pPr algn="l">
              <a:defRPr sz="675" b="1" i="0">
                <a:solidFill>
                  <a:srgbClr val="FF654F"/>
                </a:solidFill>
                <a:latin typeface="Helvetica"/>
                <a:ea typeface="Helvetica"/>
                <a:cs typeface="Helvetica"/>
              </a:defRPr>
            </a:pPr>
            <a:r>
              <a:rPr sz="675" b="1" i="0">
                <a:solidFill>
                  <a:srgbClr val="FF654F"/>
                </a:solidFill>
                <a:latin typeface="Helvetica"/>
                <a:ea typeface="Helvetica"/>
                <a:cs typeface="Helvetica"/>
              </a:rPr>
              <a:t>ACT 2 / MARKET + COMPETITIVE DIAGNOSIS</a:t>
            </a:r>
          </a:p>
        </p:txBody>
      </p:sp>
      <p:sp>
        <p:nvSpPr>
          <p:cNvPr id="2" name="">
            <a:extLst xmlns:a="http://schemas.openxmlformats.org/drawingml/2006/main">
              <a:ext uri="{FF2B5EF4-FFF2-40B4-BE49-F238E27FC236}">
                <a16:creationId xmlns:a16="http://schemas.microsoft.com/office/drawing/2014/main" id="{1C063DE8-9A9A-410F-ACE4-DAA695BA2195}"/>
              </a:ext>
            </a:extLst>
          </p:cNvPr>
          <p:cNvSpPr>
            <a:spLocks xmlns:a="http://schemas.openxmlformats.org/drawingml/2006/main" noGrp="1"/>
          </p:cNvSpPr>
          <p:nvPr/>
        </p:nvSpPr>
        <p:spPr>
          <a:xfrm xmlns:a="http://schemas.openxmlformats.org/drawingml/2006/main">
            <a:off x="647700" y="685800"/>
            <a:ext cx="1047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2325" b="1" i="0">
                <a:solidFill>
                  <a:srgbClr val="15121B"/>
                </a:solidFill>
                <a:latin typeface="Helvetica"/>
                <a:ea typeface="Helvetica"/>
                <a:cs typeface="Helvetica"/>
              </a:defRPr>
            </a:defPPr>
          </a:lstStyle>
          <a:p xmlns:a="http://schemas.openxmlformats.org/drawingml/2006/main">
            <a:pPr algn="l">
              <a:defRPr sz="2325" b="1" i="0">
                <a:solidFill>
                  <a:srgbClr val="15121B"/>
                </a:solidFill>
                <a:latin typeface="Helvetica"/>
                <a:ea typeface="Helvetica"/>
                <a:cs typeface="Helvetica"/>
              </a:defRPr>
            </a:pPr>
            <a:r>
              <a:rPr sz="2325" b="1" i="0">
                <a:solidFill>
                  <a:srgbClr val="15121B"/>
                </a:solidFill>
                <a:latin typeface="Helvetica"/>
                <a:ea typeface="Helvetica"/>
                <a:cs typeface="Helvetica"/>
              </a:rPr>
              <a:t>The Provocation</a:t>
            </a:r>
          </a:p>
        </p:txBody>
      </p:sp>
      <p:sp>
        <p:nvSpPr>
          <p:cNvPr id="3" name="">
            <a:extLst xmlns:a="http://schemas.openxmlformats.org/drawingml/2006/main">
              <a:ext uri="{FF2B5EF4-FFF2-40B4-BE49-F238E27FC236}">
                <a16:creationId xmlns:a16="http://schemas.microsoft.com/office/drawing/2014/main" id="{EE547784-2ECE-44B2-91F4-EC672287DA7F}"/>
              </a:ext>
            </a:extLst>
          </p:cNvPr>
          <p:cNvSpPr>
            <a:spLocks xmlns:a="http://schemas.openxmlformats.org/drawingml/2006/main" noGrp="1"/>
          </p:cNvSpPr>
          <p:nvPr/>
        </p:nvSpPr>
        <p:spPr>
          <a:xfrm xmlns:a="http://schemas.openxmlformats.org/drawingml/2006/main">
            <a:off x="647700" y="1400175"/>
            <a:ext cx="10896600" cy="19050"/>
          </a:xfrm>
          <a:prstGeom xmlns:a="http://schemas.openxmlformats.org/drawingml/2006/main" prst="rect">
            <a:avLst/>
          </a:prstGeom>
          <a:solidFill xmlns:a="http://schemas.openxmlformats.org/drawingml/2006/main">
            <a:srgbClr val="D9CFD5"/>
          </a:solidFill>
          <a:ln xmlns:a="http://schemas.openxmlformats.org/drawingml/2006/main" w="0">
            <a:solidFill>
              <a:srgbClr val="D9CFD5"/>
            </a:solidFill>
          </a:ln>
        </p:spPr>
      </p:sp>
      <p:sp>
        <p:nvSpPr>
          <p:cNvPr id="4" name="">
            <a:extLst xmlns:a="http://schemas.openxmlformats.org/drawingml/2006/main">
              <a:ext uri="{FF2B5EF4-FFF2-40B4-BE49-F238E27FC236}">
                <a16:creationId xmlns:a16="http://schemas.microsoft.com/office/drawing/2014/main" id="{E544427A-B4D8-4271-BD2B-169CF64A4237}"/>
              </a:ext>
            </a:extLst>
          </p:cNvPr>
          <p:cNvSpPr>
            <a:spLocks xmlns:a="http://schemas.openxmlformats.org/drawingml/2006/main" noGrp="1"/>
          </p:cNvSpPr>
          <p:nvPr/>
        </p:nvSpPr>
        <p:spPr>
          <a:xfrm xmlns:a="http://schemas.openxmlformats.org/drawingml/2006/main">
            <a:off x="781050" y="1905000"/>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750" b="1" i="0">
                <a:solidFill>
                  <a:srgbClr val="756D7A"/>
                </a:solidFill>
                <a:latin typeface="Helvetica"/>
                <a:ea typeface="Helvetica"/>
                <a:cs typeface="Helvetica"/>
              </a:defRPr>
            </a:defPPr>
          </a:lstStyle>
          <a:p xmlns:a="http://schemas.openxmlformats.org/drawingml/2006/main">
            <a:pPr algn="l">
              <a:defRPr sz="750" b="1" i="0">
                <a:solidFill>
                  <a:srgbClr val="756D7A"/>
                </a:solidFill>
                <a:latin typeface="Helvetica"/>
                <a:ea typeface="Helvetica"/>
                <a:cs typeface="Helvetica"/>
              </a:defRPr>
            </a:pPr>
            <a:r>
              <a:rPr sz="750" b="1" i="0">
                <a:solidFill>
                  <a:srgbClr val="756D7A"/>
                </a:solidFill>
                <a:latin typeface="Helvetica"/>
                <a:ea typeface="Helvetica"/>
                <a:cs typeface="Helvetica"/>
              </a:rPr>
              <a:t>WHAT OWNERS SEE</a:t>
            </a:r>
          </a:p>
        </p:txBody>
      </p:sp>
      <p:sp>
        <p:nvSpPr>
          <p:cNvPr id="5" name="">
            <a:extLst xmlns:a="http://schemas.openxmlformats.org/drawingml/2006/main">
              <a:ext uri="{FF2B5EF4-FFF2-40B4-BE49-F238E27FC236}">
                <a16:creationId xmlns:a16="http://schemas.microsoft.com/office/drawing/2014/main" id="{621AD8E3-25BD-4942-BC48-A6FD470DD17B}"/>
              </a:ext>
            </a:extLst>
          </p:cNvPr>
          <p:cNvSpPr>
            <a:spLocks xmlns:a="http://schemas.openxmlformats.org/drawingml/2006/main" noGrp="1"/>
          </p:cNvSpPr>
          <p:nvPr/>
        </p:nvSpPr>
        <p:spPr>
          <a:xfrm xmlns:a="http://schemas.openxmlformats.org/drawingml/2006/main">
            <a:off x="781050" y="2362200"/>
            <a:ext cx="4000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2625" b="1" i="0">
                <a:solidFill>
                  <a:srgbClr val="15121B"/>
                </a:solidFill>
                <a:latin typeface="Helvetica"/>
                <a:ea typeface="Helvetica"/>
                <a:cs typeface="Helvetica"/>
              </a:defRPr>
            </a:defPPr>
          </a:lstStyle>
          <a:p xmlns:a="http://schemas.openxmlformats.org/drawingml/2006/main">
            <a:pPr algn="l">
              <a:defRPr sz="2625" b="1" i="0">
                <a:solidFill>
                  <a:srgbClr val="15121B"/>
                </a:solidFill>
                <a:latin typeface="Helvetica"/>
                <a:ea typeface="Helvetica"/>
                <a:cs typeface="Helvetica"/>
              </a:defRPr>
            </a:pPr>
            <a:r>
              <a:rPr sz="2625" b="1" i="0">
                <a:solidFill>
                  <a:srgbClr val="15121B"/>
                </a:solidFill>
                <a:latin typeface="Helvetica"/>
                <a:ea typeface="Helvetica"/>
                <a:cs typeface="Helvetica"/>
              </a:rPr>
              <a:t>Confident claims</a:t>
            </a:r>
          </a:p>
        </p:txBody>
      </p:sp>
      <p:sp>
        <p:nvSpPr>
          <p:cNvPr id="6" name="">
            <a:extLst xmlns:a="http://schemas.openxmlformats.org/drawingml/2006/main">
              <a:ext uri="{FF2B5EF4-FFF2-40B4-BE49-F238E27FC236}">
                <a16:creationId xmlns:a16="http://schemas.microsoft.com/office/drawing/2014/main" id="{2C23981F-38D0-4F23-AA71-CE34435167F9}"/>
              </a:ext>
            </a:extLst>
          </p:cNvPr>
          <p:cNvSpPr>
            <a:spLocks xmlns:a="http://schemas.openxmlformats.org/drawingml/2006/main" noGrp="1"/>
          </p:cNvSpPr>
          <p:nvPr/>
        </p:nvSpPr>
        <p:spPr>
          <a:xfrm xmlns:a="http://schemas.openxmlformats.org/drawingml/2006/main">
            <a:off x="781050" y="3095625"/>
            <a:ext cx="4000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575" b="0" i="0">
                <a:solidFill>
                  <a:srgbClr val="756D7A"/>
                </a:solidFill>
                <a:latin typeface="Helvetica"/>
                <a:ea typeface="Helvetica"/>
                <a:cs typeface="Helvetica"/>
              </a:defRPr>
            </a:defPPr>
          </a:lstStyle>
          <a:p xmlns:a="http://schemas.openxmlformats.org/drawingml/2006/main">
            <a:pPr algn="l">
              <a:defRPr sz="1575" b="0" i="0">
                <a:solidFill>
                  <a:srgbClr val="756D7A"/>
                </a:solidFill>
                <a:latin typeface="Helvetica"/>
                <a:ea typeface="Helvetica"/>
                <a:cs typeface="Helvetica"/>
              </a:defRPr>
            </a:pPr>
            <a:r>
              <a:rPr sz="1575" b="0" i="0">
                <a:solidFill>
                  <a:srgbClr val="756D7A"/>
                </a:solidFill>
                <a:latin typeface="Helvetica"/>
                <a:ea typeface="Helvetica"/>
                <a:cs typeface="Helvetica"/>
              </a:rPr>
              <a:t>Fresh. Real meat. Vet formulated.</a:t>
            </a:r>
          </a:p>
        </p:txBody>
      </p:sp>
      <p:sp>
        <p:nvSpPr>
          <p:cNvPr id="7" name="">
            <a:extLst xmlns:a="http://schemas.openxmlformats.org/drawingml/2006/main">
              <a:ext uri="{FF2B5EF4-FFF2-40B4-BE49-F238E27FC236}">
                <a16:creationId xmlns:a16="http://schemas.microsoft.com/office/drawing/2014/main" id="{A608E782-CA5D-4B8B-A4D1-2F7A26594BB8}"/>
              </a:ext>
            </a:extLst>
          </p:cNvPr>
          <p:cNvSpPr>
            <a:spLocks xmlns:a="http://schemas.openxmlformats.org/drawingml/2006/main" noGrp="1"/>
          </p:cNvSpPr>
          <p:nvPr/>
        </p:nvSpPr>
        <p:spPr>
          <a:xfrm xmlns:a="http://schemas.openxmlformats.org/drawingml/2006/main">
            <a:off x="5314950" y="2076450"/>
            <a:ext cx="1562100" cy="1562100"/>
          </a:xfrm>
          <a:prstGeom xmlns:a="http://schemas.openxmlformats.org/drawingml/2006/main" prst="ellipse">
            <a:avLst/>
          </a:prstGeom>
          <a:solidFill xmlns:a="http://schemas.openxmlformats.org/drawingml/2006/main">
            <a:srgbClr val="FF654F"/>
          </a:solidFill>
          <a:ln xmlns:a="http://schemas.openxmlformats.org/drawingml/2006/main" w="0">
            <a:solidFill>
              <a:srgbClr val="FF654F"/>
            </a:solidFill>
          </a:ln>
        </p:spPr>
      </p:sp>
      <p:sp>
        <p:nvSpPr>
          <p:cNvPr id="8" name="">
            <a:extLst xmlns:a="http://schemas.openxmlformats.org/drawingml/2006/main">
              <a:ext uri="{FF2B5EF4-FFF2-40B4-BE49-F238E27FC236}">
                <a16:creationId xmlns:a16="http://schemas.microsoft.com/office/drawing/2014/main" id="{F26A7C1C-FFCC-4BB2-B90F-F906F39252E9}"/>
              </a:ext>
            </a:extLst>
          </p:cNvPr>
          <p:cNvSpPr>
            <a:spLocks xmlns:a="http://schemas.openxmlformats.org/drawingml/2006/main" noGrp="1"/>
          </p:cNvSpPr>
          <p:nvPr/>
        </p:nvSpPr>
        <p:spPr>
          <a:xfrm xmlns:a="http://schemas.openxmlformats.org/drawingml/2006/main">
            <a:off x="5600700" y="2619375"/>
            <a:ext cx="990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ctr">
              <a:defRPr sz="1800" b="1" i="0">
                <a:solidFill>
                  <a:srgbClr val="FFFDFC"/>
                </a:solidFill>
                <a:latin typeface="Helvetica"/>
                <a:ea typeface="Helvetica"/>
                <a:cs typeface="Helvetica"/>
              </a:defRPr>
            </a:defPPr>
          </a:lstStyle>
          <a:p xmlns:a="http://schemas.openxmlformats.org/drawingml/2006/main">
            <a:pPr algn="ctr">
              <a:defRPr sz="1800" b="1" i="0">
                <a:solidFill>
                  <a:srgbClr val="FFFDFC"/>
                </a:solidFill>
                <a:latin typeface="Helvetica"/>
                <a:ea typeface="Helvetica"/>
                <a:cs typeface="Helvetica"/>
              </a:defRPr>
            </a:pPr>
            <a:r>
              <a:rPr sz="1800" b="1" i="0">
                <a:solidFill>
                  <a:srgbClr val="FFFDFC"/>
                </a:solidFill>
                <a:latin typeface="Helvetica"/>
                <a:ea typeface="Helvetica"/>
                <a:cs typeface="Helvetica"/>
              </a:rPr>
              <a:t>THE GAP</a:t>
            </a:r>
          </a:p>
        </p:txBody>
      </p:sp>
      <p:sp>
        <p:nvSpPr>
          <p:cNvPr id="9" name="">
            <a:extLst xmlns:a="http://schemas.openxmlformats.org/drawingml/2006/main">
              <a:ext uri="{FF2B5EF4-FFF2-40B4-BE49-F238E27FC236}">
                <a16:creationId xmlns:a16="http://schemas.microsoft.com/office/drawing/2014/main" id="{D5F74414-9D57-4038-BB4C-CAC3ADD9284D}"/>
              </a:ext>
            </a:extLst>
          </p:cNvPr>
          <p:cNvSpPr>
            <a:spLocks xmlns:a="http://schemas.openxmlformats.org/drawingml/2006/main" noGrp="1"/>
          </p:cNvSpPr>
          <p:nvPr/>
        </p:nvSpPr>
        <p:spPr>
          <a:xfrm xmlns:a="http://schemas.openxmlformats.org/drawingml/2006/main">
            <a:off x="7543800" y="1905000"/>
            <a:ext cx="3619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750" b="1" i="0">
                <a:solidFill>
                  <a:srgbClr val="FF654F"/>
                </a:solidFill>
                <a:latin typeface="Helvetica"/>
                <a:ea typeface="Helvetica"/>
                <a:cs typeface="Helvetica"/>
              </a:defRPr>
            </a:defPPr>
          </a:lstStyle>
          <a:p xmlns:a="http://schemas.openxmlformats.org/drawingml/2006/main">
            <a:pPr algn="l">
              <a:defRPr sz="750" b="1" i="0">
                <a:solidFill>
                  <a:srgbClr val="FF654F"/>
                </a:solidFill>
                <a:latin typeface="Helvetica"/>
                <a:ea typeface="Helvetica"/>
                <a:cs typeface="Helvetica"/>
              </a:defRPr>
            </a:pPr>
            <a:r>
              <a:rPr sz="750" b="1" i="0">
                <a:solidFill>
                  <a:srgbClr val="FF654F"/>
                </a:solidFill>
                <a:latin typeface="Helvetica"/>
                <a:ea typeface="Helvetica"/>
                <a:cs typeface="Helvetica"/>
              </a:rPr>
              <a:t>WHAT KATKIN CAN PROVE</a:t>
            </a:r>
          </a:p>
        </p:txBody>
      </p:sp>
      <p:sp>
        <p:nvSpPr>
          <p:cNvPr id="10" name="">
            <a:extLst xmlns:a="http://schemas.openxmlformats.org/drawingml/2006/main">
              <a:ext uri="{FF2B5EF4-FFF2-40B4-BE49-F238E27FC236}">
                <a16:creationId xmlns:a16="http://schemas.microsoft.com/office/drawing/2014/main" id="{682FD74D-3DC0-45BF-8B8D-3969B75653CF}"/>
              </a:ext>
            </a:extLst>
          </p:cNvPr>
          <p:cNvSpPr>
            <a:spLocks xmlns:a="http://schemas.openxmlformats.org/drawingml/2006/main" noGrp="1"/>
          </p:cNvSpPr>
          <p:nvPr/>
        </p:nvSpPr>
        <p:spPr>
          <a:xfrm xmlns:a="http://schemas.openxmlformats.org/drawingml/2006/main">
            <a:off x="7543800" y="2362200"/>
            <a:ext cx="4000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2625" b="1" i="0">
                <a:solidFill>
                  <a:srgbClr val="5A2E78"/>
                </a:solidFill>
                <a:latin typeface="Helvetica"/>
                <a:ea typeface="Helvetica"/>
                <a:cs typeface="Helvetica"/>
              </a:defRPr>
            </a:defPPr>
          </a:lstStyle>
          <a:p xmlns:a="http://schemas.openxmlformats.org/drawingml/2006/main">
            <a:pPr algn="l">
              <a:defRPr sz="2625" b="1" i="0">
                <a:solidFill>
                  <a:srgbClr val="5A2E78"/>
                </a:solidFill>
                <a:latin typeface="Helvetica"/>
                <a:ea typeface="Helvetica"/>
                <a:cs typeface="Helvetica"/>
              </a:defRPr>
            </a:pPr>
            <a:r>
              <a:rPr sz="2625" b="1" i="0">
                <a:solidFill>
                  <a:srgbClr val="5A2E78"/>
                </a:solidFill>
                <a:latin typeface="Helvetica"/>
                <a:ea typeface="Helvetica"/>
                <a:cs typeface="Helvetica"/>
              </a:rPr>
              <a:t>Independent science</a:t>
            </a:r>
          </a:p>
        </p:txBody>
      </p:sp>
      <p:sp>
        <p:nvSpPr>
          <p:cNvPr id="11" name="">
            <a:extLst xmlns:a="http://schemas.openxmlformats.org/drawingml/2006/main">
              <a:ext uri="{FF2B5EF4-FFF2-40B4-BE49-F238E27FC236}">
                <a16:creationId xmlns:a16="http://schemas.microsoft.com/office/drawing/2014/main" id="{6F01C6AF-0F77-4BB3-B4AF-68976C5DCBBD}"/>
              </a:ext>
            </a:extLst>
          </p:cNvPr>
          <p:cNvSpPr>
            <a:spLocks xmlns:a="http://schemas.openxmlformats.org/drawingml/2006/main" noGrp="1"/>
          </p:cNvSpPr>
          <p:nvPr/>
        </p:nvSpPr>
        <p:spPr>
          <a:xfrm xmlns:a="http://schemas.openxmlformats.org/drawingml/2006/main">
            <a:off x="7543800" y="3095625"/>
            <a:ext cx="371475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350" b="0" i="0">
                <a:solidFill>
                  <a:srgbClr val="15121B"/>
                </a:solidFill>
                <a:latin typeface="Helvetica"/>
                <a:ea typeface="Helvetica"/>
                <a:cs typeface="Helvetica"/>
              </a:defRPr>
            </a:defPPr>
          </a:lstStyle>
          <a:p xmlns:a="http://schemas.openxmlformats.org/drawingml/2006/main">
            <a:pPr algn="l">
              <a:defRPr sz="1350" b="0" i="0">
                <a:solidFill>
                  <a:srgbClr val="15121B"/>
                </a:solidFill>
                <a:latin typeface="Helvetica"/>
                <a:ea typeface="Helvetica"/>
                <a:cs typeface="Helvetica"/>
              </a:defRPr>
            </a:pPr>
            <a:r>
              <a:rPr sz="1350" b="0" i="0">
                <a:solidFill>
                  <a:srgbClr val="15121B"/>
                </a:solidFill>
                <a:latin typeface="Helvetica"/>
                <a:ea typeface="Helvetica"/>
                <a:cs typeface="Helvetica"/>
              </a:rPr>
              <a:t>An interim leading-indicator metrics framework is required precisely because lagging financial/churn data cannot demonstrate progress within the 18-month runway; this is a direct input to the growth_opportunity</a:t>
            </a:r>
          </a:p>
        </p:txBody>
      </p:sp>
      <p:sp>
        <p:nvSpPr>
          <p:cNvPr id="12" name="">
            <a:extLst xmlns:a="http://schemas.openxmlformats.org/drawingml/2006/main">
              <a:ext uri="{FF2B5EF4-FFF2-40B4-BE49-F238E27FC236}">
                <a16:creationId xmlns:a16="http://schemas.microsoft.com/office/drawing/2014/main" id="{E4FF451C-BCDF-4D12-98FC-254292D67DB5}"/>
              </a:ext>
            </a:extLst>
          </p:cNvPr>
          <p:cNvSpPr>
            <a:spLocks xmlns:a="http://schemas.openxmlformats.org/drawingml/2006/main" noGrp="1"/>
          </p:cNvSpPr>
          <p:nvPr/>
        </p:nvSpPr>
        <p:spPr>
          <a:xfrm xmlns:a="http://schemas.openxmlformats.org/drawingml/2006/main">
            <a:off x="647700" y="5572125"/>
            <a:ext cx="209550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675" b="1" i="0">
                <a:solidFill>
                  <a:srgbClr val="FF654F"/>
                </a:solidFill>
                <a:latin typeface="Helvetica"/>
                <a:ea typeface="Helvetica"/>
                <a:cs typeface="Helvetica"/>
              </a:defRPr>
            </a:defPPr>
          </a:lstStyle>
          <a:p xmlns:a="http://schemas.openxmlformats.org/drawingml/2006/main">
            <a:pPr algn="l">
              <a:defRPr sz="675" b="1" i="0">
                <a:solidFill>
                  <a:srgbClr val="FF654F"/>
                </a:solidFill>
                <a:latin typeface="Helvetica"/>
                <a:ea typeface="Helvetica"/>
                <a:cs typeface="Helvetica"/>
              </a:defRPr>
            </a:pPr>
            <a:r>
              <a:rPr sz="675" b="1" i="0">
                <a:solidFill>
                  <a:srgbClr val="FF654F"/>
                </a:solidFill>
                <a:latin typeface="Helvetica"/>
                <a:ea typeface="Helvetica"/>
                <a:cs typeface="Helvetica"/>
              </a:rPr>
              <a:t>COMMERCIAL CONSEQUENCE</a:t>
            </a:r>
          </a:p>
        </p:txBody>
      </p:sp>
      <p:sp>
        <p:nvSpPr>
          <p:cNvPr id="13" name="">
            <a:extLst xmlns:a="http://schemas.openxmlformats.org/drawingml/2006/main">
              <a:ext uri="{FF2B5EF4-FFF2-40B4-BE49-F238E27FC236}">
                <a16:creationId xmlns:a16="http://schemas.microsoft.com/office/drawing/2014/main" id="{08B0E4F5-62FB-42E7-A7B9-01346F165698}"/>
              </a:ext>
            </a:extLst>
          </p:cNvPr>
          <p:cNvSpPr>
            <a:spLocks xmlns:a="http://schemas.openxmlformats.org/drawingml/2006/main" noGrp="1"/>
          </p:cNvSpPr>
          <p:nvPr/>
        </p:nvSpPr>
        <p:spPr>
          <a:xfrm xmlns:a="http://schemas.openxmlformats.org/drawingml/2006/main">
            <a:off x="2619375" y="5505450"/>
            <a:ext cx="8382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200" b="1" i="0">
                <a:solidFill>
                  <a:srgbClr val="15121B"/>
                </a:solidFill>
                <a:latin typeface="Helvetica"/>
                <a:ea typeface="Helvetica"/>
                <a:cs typeface="Helvetica"/>
              </a:defRPr>
            </a:defPPr>
          </a:lstStyle>
          <a:p xmlns:a="http://schemas.openxmlformats.org/drawingml/2006/main">
            <a:pPr algn="l">
              <a:defRPr sz="1200" b="1" i="0">
                <a:solidFill>
                  <a:srgbClr val="15121B"/>
                </a:solidFill>
                <a:latin typeface="Helvetica"/>
                <a:ea typeface="Helvetica"/>
                <a:cs typeface="Helvetica"/>
              </a:defRPr>
            </a:pPr>
            <a:r>
              <a:rPr sz="1200" b="1" i="0">
                <a:solidFill>
                  <a:srgbClr val="15121B"/>
                </a:solidFill>
                <a:latin typeface="Helvetica"/>
                <a:ea typeface="Helvetica"/>
                <a:cs typeface="Helvetica"/>
              </a:rPr>
              <a:t>A public trust contradiction can undermine a trust-dependent growth story.</a:t>
            </a:r>
          </a:p>
        </p:txBody>
      </p:sp>
      <p:sp>
        <p:nvSpPr>
          <p:cNvPr id="14" name="">
            <a:extLst xmlns:a="http://schemas.openxmlformats.org/drawingml/2006/main">
              <a:ext uri="{FF2B5EF4-FFF2-40B4-BE49-F238E27FC236}">
                <a16:creationId xmlns:a16="http://schemas.microsoft.com/office/drawing/2014/main" id="{17768BDA-8CDA-4F87-BE3B-1185EFAE19B9}"/>
              </a:ext>
            </a:extLst>
          </p:cNvPr>
          <p:cNvSpPr>
            <a:spLocks xmlns:a="http://schemas.openxmlformats.org/drawingml/2006/main" noGrp="1"/>
          </p:cNvSpPr>
          <p:nvPr/>
        </p:nvSpPr>
        <p:spPr>
          <a:xfrm xmlns:a="http://schemas.openxmlformats.org/drawingml/2006/main">
            <a:off x="647700" y="6134100"/>
            <a:ext cx="4953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825" b="1" i="0">
                <a:solidFill>
                  <a:srgbClr val="756D7A"/>
                </a:solidFill>
                <a:latin typeface="Helvetica"/>
                <a:ea typeface="Helvetica"/>
                <a:cs typeface="Helvetica"/>
              </a:defRPr>
            </a:defPPr>
          </a:lstStyle>
          <a:p xmlns:a="http://schemas.openxmlformats.org/drawingml/2006/main">
            <a:pPr algn="l">
              <a:defRPr sz="825" b="1" i="0">
                <a:solidFill>
                  <a:srgbClr val="756D7A"/>
                </a:solidFill>
                <a:latin typeface="Helvetica"/>
                <a:ea typeface="Helvetica"/>
                <a:cs typeface="Helvetica"/>
              </a:defRPr>
            </a:pPr>
            <a:r>
              <a:rPr sz="825" b="1" i="0">
                <a:solidFill>
                  <a:srgbClr val="756D7A"/>
                </a:solidFill>
                <a:latin typeface="Helvetica"/>
                <a:ea typeface="Helvetica"/>
                <a:cs typeface="Helvetica"/>
              </a:rPr>
              <a:t>SOURCES: S2, S4, T1</a:t>
            </a:r>
          </a:p>
        </p:txBody>
      </p:sp>
      <p:sp>
        <p:nvSpPr>
          <p:cNvPr id="15" name="">
            <a:extLst xmlns:a="http://schemas.openxmlformats.org/drawingml/2006/main">
              <a:ext uri="{FF2B5EF4-FFF2-40B4-BE49-F238E27FC236}">
                <a16:creationId xmlns:a16="http://schemas.microsoft.com/office/drawing/2014/main" id="{0B9A5CB7-8F4B-4172-8264-811C9D9B5B48}"/>
              </a:ext>
            </a:extLst>
          </p:cNvPr>
          <p:cNvSpPr>
            <a:spLocks xmlns:a="http://schemas.openxmlformats.org/drawingml/2006/main" noGrp="1"/>
          </p:cNvSpPr>
          <p:nvPr/>
        </p:nvSpPr>
        <p:spPr>
          <a:xfrm xmlns:a="http://schemas.openxmlformats.org/drawingml/2006/main">
            <a:off x="5715000" y="6134100"/>
            <a:ext cx="48768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r">
              <a:defRPr sz="825" b="1" i="0">
                <a:solidFill>
                  <a:srgbClr val="5A2E78"/>
                </a:solidFill>
                <a:latin typeface="Helvetica"/>
                <a:ea typeface="Helvetica"/>
                <a:cs typeface="Helvetica"/>
              </a:defRPr>
            </a:defPPr>
          </a:lstStyle>
          <a:p xmlns:a="http://schemas.openxmlformats.org/drawingml/2006/main">
            <a:pPr algn="r">
              <a:defRPr sz="825" b="1" i="0">
                <a:solidFill>
                  <a:srgbClr val="5A2E78"/>
                </a:solidFill>
                <a:latin typeface="Helvetica"/>
                <a:ea typeface="Helvetica"/>
                <a:cs typeface="Helvetica"/>
              </a:defRPr>
            </a:pPr>
            <a:r>
              <a:rPr sz="825" b="1" i="0">
                <a:solidFill>
                  <a:srgbClr val="5A2E78"/>
                </a:solidFill>
                <a:latin typeface="Helvetica"/>
                <a:ea typeface="Helvetica"/>
                <a:cs typeface="Helvetica"/>
              </a:rPr>
              <a:t>APPROVED STRATEGY + MIXED FACT AND HYPOTHESIS + VERIFIED FACT</a:t>
            </a:r>
          </a:p>
        </p:txBody>
      </p:sp>
      <p:sp>
        <p:nvSpPr>
          <p:cNvPr id="16" name="">
            <a:extLst xmlns:a="http://schemas.openxmlformats.org/drawingml/2006/main">
              <a:ext uri="{FF2B5EF4-FFF2-40B4-BE49-F238E27FC236}">
                <a16:creationId xmlns:a16="http://schemas.microsoft.com/office/drawing/2014/main" id="{85EA2BF0-3B12-425B-B52A-54609B3798DE}"/>
              </a:ext>
            </a:extLst>
          </p:cNvPr>
          <p:cNvSpPr>
            <a:spLocks xmlns:a="http://schemas.openxmlformats.org/drawingml/2006/main" noGrp="1"/>
          </p:cNvSpPr>
          <p:nvPr/>
        </p:nvSpPr>
        <p:spPr>
          <a:xfrm xmlns:a="http://schemas.openxmlformats.org/drawingml/2006/main">
            <a:off x="647700" y="6515100"/>
            <a:ext cx="17145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675" b="1" i="0">
                <a:solidFill>
                  <a:srgbClr val="756D7A"/>
                </a:solidFill>
                <a:latin typeface="Helvetica"/>
                <a:ea typeface="Helvetica"/>
                <a:cs typeface="Helvetica"/>
              </a:defRPr>
            </a:defPPr>
          </a:lstStyle>
          <a:p xmlns:a="http://schemas.openxmlformats.org/drawingml/2006/main">
            <a:pPr algn="l">
              <a:defRPr sz="675" b="1" i="0">
                <a:solidFill>
                  <a:srgbClr val="756D7A"/>
                </a:solidFill>
                <a:latin typeface="Helvetica"/>
                <a:ea typeface="Helvetica"/>
                <a:cs typeface="Helvetica"/>
              </a:defRPr>
            </a:pPr>
            <a:r>
              <a:rPr sz="675" b="1" i="0">
                <a:solidFill>
                  <a:srgbClr val="756D7A"/>
                </a:solidFill>
                <a:latin typeface="Helvetica"/>
                <a:ea typeface="Helvetica"/>
                <a:cs typeface="Helvetica"/>
              </a:rPr>
              <a:t>NARRATIIVE</a:t>
            </a:r>
          </a:p>
        </p:txBody>
      </p:sp>
      <p:sp>
        <p:nvSpPr>
          <p:cNvPr id="17" name="">
            <a:extLst xmlns:a="http://schemas.openxmlformats.org/drawingml/2006/main">
              <a:ext uri="{FF2B5EF4-FFF2-40B4-BE49-F238E27FC236}">
                <a16:creationId xmlns:a16="http://schemas.microsoft.com/office/drawing/2014/main" id="{A4F8D9DB-997F-43A7-9BE3-92F58F5C830E}"/>
              </a:ext>
            </a:extLst>
          </p:cNvPr>
          <p:cNvSpPr>
            <a:spLocks xmlns:a="http://schemas.openxmlformats.org/drawingml/2006/main" noGrp="1"/>
          </p:cNvSpPr>
          <p:nvPr/>
        </p:nvSpPr>
        <p:spPr>
          <a:xfrm xmlns:a="http://schemas.openxmlformats.org/drawingml/2006/main">
            <a:off x="10668000" y="6515100"/>
            <a:ext cx="8763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r">
              <a:defRPr sz="675" b="0" i="0">
                <a:solidFill>
                  <a:srgbClr val="756D7A"/>
                </a:solidFill>
                <a:latin typeface="Helvetica"/>
                <a:ea typeface="Helvetica"/>
                <a:cs typeface="Helvetica"/>
              </a:defRPr>
            </a:defPPr>
          </a:lstStyle>
          <a:p xmlns:a="http://schemas.openxmlformats.org/drawingml/2006/main">
            <a:pPr algn="r">
              <a:defRPr sz="675" b="0" i="0">
                <a:solidFill>
                  <a:srgbClr val="756D7A"/>
                </a:solidFill>
                <a:latin typeface="Helvetica"/>
                <a:ea typeface="Helvetica"/>
                <a:cs typeface="Helvetica"/>
              </a:defRPr>
            </a:pPr>
            <a:r>
              <a:rPr sz="675" b="0" i="0">
                <a:solidFill>
                  <a:srgbClr val="756D7A"/>
                </a:solidFill>
                <a:latin typeface="Helvetica"/>
                <a:ea typeface="Helvetica"/>
                <a:cs typeface="Helvetica"/>
              </a:rPr>
              <a:t>10 / 30</a:t>
            </a:r>
          </a:p>
        </p:txBody>
      </p:sp>
    </p:spTree>
    <p:extLst>
      <p:ext uri="{BB962C8B-B14F-4D97-AF65-F5344CB8AC3E}">
        <p14:creationId xmlns:p14="http://schemas.microsoft.com/office/powerpoint/2010/main" val="1207447672"/>
      </p:ext>
    </p:extLst>
  </p:cSld>
</p:sld>
</file>

<file path=ppt/slides/slide11.xml><?xml version="1.0" encoding="utf-8"?>
<p:sld xmlns:p="http://schemas.openxmlformats.org/presentationml/2006/main">
  <p:cSld>
    <p:bg>
      <p:bgPr>
        <a:solidFill xmlns:a="http://schemas.openxmlformats.org/drawingml/2006/main">
          <a:srgbClr val="F6F0E8"/>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AD0EFE22-88DC-4669-A9B2-4807BB417E94}"/>
              </a:ext>
            </a:extLst>
          </p:cNvPr>
          <p:cNvSpPr>
            <a:spLocks xmlns:a="http://schemas.openxmlformats.org/drawingml/2006/main" noGrp="1"/>
          </p:cNvSpPr>
          <p:nvPr/>
        </p:nvSpPr>
        <p:spPr>
          <a:xfrm xmlns:a="http://schemas.openxmlformats.org/drawingml/2006/main">
            <a:off x="647700" y="333375"/>
            <a:ext cx="57150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675" b="1" i="0">
                <a:solidFill>
                  <a:srgbClr val="FF654F"/>
                </a:solidFill>
                <a:latin typeface="Helvetica"/>
                <a:ea typeface="Helvetica"/>
                <a:cs typeface="Helvetica"/>
              </a:defRPr>
            </a:defPPr>
          </a:lstStyle>
          <a:p xmlns:a="http://schemas.openxmlformats.org/drawingml/2006/main">
            <a:pPr algn="l">
              <a:defRPr sz="675" b="1" i="0">
                <a:solidFill>
                  <a:srgbClr val="FF654F"/>
                </a:solidFill>
                <a:latin typeface="Helvetica"/>
                <a:ea typeface="Helvetica"/>
                <a:cs typeface="Helvetica"/>
              </a:defRPr>
            </a:pPr>
            <a:r>
              <a:rPr sz="675" b="1" i="0">
                <a:solidFill>
                  <a:srgbClr val="FF654F"/>
                </a:solidFill>
                <a:latin typeface="Helvetica"/>
                <a:ea typeface="Helvetica"/>
                <a:cs typeface="Helvetica"/>
              </a:rPr>
              <a:t>ACT 3 / AUDIENCE + DEMAND OPPORTUNITY</a:t>
            </a:r>
          </a:p>
        </p:txBody>
      </p:sp>
      <p:sp>
        <p:nvSpPr>
          <p:cNvPr id="2" name="">
            <a:extLst xmlns:a="http://schemas.openxmlformats.org/drawingml/2006/main">
              <a:ext uri="{FF2B5EF4-FFF2-40B4-BE49-F238E27FC236}">
                <a16:creationId xmlns:a16="http://schemas.microsoft.com/office/drawing/2014/main" id="{DEC97207-C9DE-4DCF-B2BA-4846ACA376F4}"/>
              </a:ext>
            </a:extLst>
          </p:cNvPr>
          <p:cNvSpPr>
            <a:spLocks xmlns:a="http://schemas.openxmlformats.org/drawingml/2006/main" noGrp="1"/>
          </p:cNvSpPr>
          <p:nvPr/>
        </p:nvSpPr>
        <p:spPr>
          <a:xfrm xmlns:a="http://schemas.openxmlformats.org/drawingml/2006/main">
            <a:off x="647700" y="685800"/>
            <a:ext cx="1047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2325" b="1" i="0">
                <a:solidFill>
                  <a:srgbClr val="15121B"/>
                </a:solidFill>
                <a:latin typeface="Helvetica"/>
                <a:ea typeface="Helvetica"/>
                <a:cs typeface="Helvetica"/>
              </a:defRPr>
            </a:defPPr>
          </a:lstStyle>
          <a:p xmlns:a="http://schemas.openxmlformats.org/drawingml/2006/main">
            <a:pPr algn="l">
              <a:defRPr sz="2325" b="1" i="0">
                <a:solidFill>
                  <a:srgbClr val="15121B"/>
                </a:solidFill>
                <a:latin typeface="Helvetica"/>
                <a:ea typeface="Helvetica"/>
                <a:cs typeface="Helvetica"/>
              </a:defRPr>
            </a:pPr>
            <a:r>
              <a:rPr sz="2325" b="1" i="0">
                <a:solidFill>
                  <a:srgbClr val="15121B"/>
                </a:solidFill>
                <a:latin typeface="Helvetica"/>
                <a:ea typeface="Helvetica"/>
                <a:cs typeface="Helvetica"/>
              </a:rPr>
              <a:t>Audience Reality</a:t>
            </a:r>
          </a:p>
        </p:txBody>
      </p:sp>
      <p:sp>
        <p:nvSpPr>
          <p:cNvPr id="3" name="">
            <a:extLst xmlns:a="http://schemas.openxmlformats.org/drawingml/2006/main">
              <a:ext uri="{FF2B5EF4-FFF2-40B4-BE49-F238E27FC236}">
                <a16:creationId xmlns:a16="http://schemas.microsoft.com/office/drawing/2014/main" id="{5DB55394-C0E3-4FF9-952E-253C10693EA5}"/>
              </a:ext>
            </a:extLst>
          </p:cNvPr>
          <p:cNvSpPr>
            <a:spLocks xmlns:a="http://schemas.openxmlformats.org/drawingml/2006/main" noGrp="1"/>
          </p:cNvSpPr>
          <p:nvPr/>
        </p:nvSpPr>
        <p:spPr>
          <a:xfrm xmlns:a="http://schemas.openxmlformats.org/drawingml/2006/main">
            <a:off x="647700" y="1400175"/>
            <a:ext cx="10896600" cy="19050"/>
          </a:xfrm>
          <a:prstGeom xmlns:a="http://schemas.openxmlformats.org/drawingml/2006/main" prst="rect">
            <a:avLst/>
          </a:prstGeom>
          <a:solidFill xmlns:a="http://schemas.openxmlformats.org/drawingml/2006/main">
            <a:srgbClr val="D9CFD5"/>
          </a:solidFill>
          <a:ln xmlns:a="http://schemas.openxmlformats.org/drawingml/2006/main" w="0">
            <a:solidFill>
              <a:srgbClr val="D9CFD5"/>
            </a:solidFill>
          </a:ln>
        </p:spPr>
      </p:sp>
      <p:sp>
        <p:nvSpPr>
          <p:cNvPr id="4" name="">
            <a:extLst xmlns:a="http://schemas.openxmlformats.org/drawingml/2006/main">
              <a:ext uri="{FF2B5EF4-FFF2-40B4-BE49-F238E27FC236}">
                <a16:creationId xmlns:a16="http://schemas.microsoft.com/office/drawing/2014/main" id="{66F6D6CE-6BBD-4704-B34F-D25D5D58119D}"/>
              </a:ext>
            </a:extLst>
          </p:cNvPr>
          <p:cNvSpPr>
            <a:spLocks xmlns:a="http://schemas.openxmlformats.org/drawingml/2006/main" noGrp="1"/>
          </p:cNvSpPr>
          <p:nvPr/>
        </p:nvSpPr>
        <p:spPr>
          <a:xfrm xmlns:a="http://schemas.openxmlformats.org/drawingml/2006/main">
            <a:off x="704850" y="1952625"/>
            <a:ext cx="3200400" cy="2590800"/>
          </a:xfrm>
          <a:prstGeom xmlns:a="http://schemas.openxmlformats.org/drawingml/2006/main" prst="roundRect">
            <a:avLst>
              <a:gd name="adj" fmla="val 2941"/>
            </a:avLst>
          </a:prstGeom>
          <a:solidFill xmlns:a="http://schemas.openxmlformats.org/drawingml/2006/main">
            <a:srgbClr val="261A31"/>
          </a:solidFill>
          <a:ln xmlns:a="http://schemas.openxmlformats.org/drawingml/2006/main" w="0">
            <a:solidFill>
              <a:srgbClr val="261A31"/>
            </a:solidFill>
          </a:ln>
        </p:spPr>
      </p:sp>
      <p:sp>
        <p:nvSpPr>
          <p:cNvPr id="5" name="">
            <a:extLst xmlns:a="http://schemas.openxmlformats.org/drawingml/2006/main">
              <a:ext uri="{FF2B5EF4-FFF2-40B4-BE49-F238E27FC236}">
                <a16:creationId xmlns:a16="http://schemas.microsoft.com/office/drawing/2014/main" id="{548CBC2F-22C1-4566-8D77-094920B3DDFE}"/>
              </a:ext>
            </a:extLst>
          </p:cNvPr>
          <p:cNvSpPr>
            <a:spLocks xmlns:a="http://schemas.openxmlformats.org/drawingml/2006/main" noGrp="1"/>
          </p:cNvSpPr>
          <p:nvPr/>
        </p:nvSpPr>
        <p:spPr>
          <a:xfrm xmlns:a="http://schemas.openxmlformats.org/drawingml/2006/main">
            <a:off x="933450" y="2181225"/>
            <a:ext cx="45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900" b="1" i="0">
                <a:solidFill>
                  <a:srgbClr val="C8B7E8"/>
                </a:solidFill>
                <a:latin typeface="Helvetica"/>
                <a:ea typeface="Helvetica"/>
                <a:cs typeface="Helvetica"/>
              </a:defRPr>
            </a:defPPr>
          </a:lstStyle>
          <a:p xmlns:a="http://schemas.openxmlformats.org/drawingml/2006/main">
            <a:pPr algn="l">
              <a:defRPr sz="900" b="1" i="0">
                <a:solidFill>
                  <a:srgbClr val="C8B7E8"/>
                </a:solidFill>
                <a:latin typeface="Helvetica"/>
                <a:ea typeface="Helvetica"/>
                <a:cs typeface="Helvetica"/>
              </a:defRPr>
            </a:pPr>
            <a:r>
              <a:rPr sz="900" b="1" i="0">
                <a:solidFill>
                  <a:srgbClr val="C8B7E8"/>
                </a:solidFill>
                <a:latin typeface="Helvetica"/>
                <a:ea typeface="Helvetica"/>
                <a:cs typeface="Helvetica"/>
              </a:rPr>
              <a:t>01</a:t>
            </a:r>
          </a:p>
        </p:txBody>
      </p:sp>
      <p:sp>
        <p:nvSpPr>
          <p:cNvPr id="6" name="">
            <a:extLst xmlns:a="http://schemas.openxmlformats.org/drawingml/2006/main">
              <a:ext uri="{FF2B5EF4-FFF2-40B4-BE49-F238E27FC236}">
                <a16:creationId xmlns:a16="http://schemas.microsoft.com/office/drawing/2014/main" id="{7A820775-E69A-4CAE-A0CD-A397BE3EE5A2}"/>
              </a:ext>
            </a:extLst>
          </p:cNvPr>
          <p:cNvSpPr>
            <a:spLocks xmlns:a="http://schemas.openxmlformats.org/drawingml/2006/main" noGrp="1"/>
          </p:cNvSpPr>
          <p:nvPr/>
        </p:nvSpPr>
        <p:spPr>
          <a:xfrm xmlns:a="http://schemas.openxmlformats.org/drawingml/2006/main">
            <a:off x="933450" y="2619375"/>
            <a:ext cx="2724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575" b="1" i="0">
                <a:solidFill>
                  <a:srgbClr val="FFFDFC"/>
                </a:solidFill>
                <a:latin typeface="Helvetica"/>
                <a:ea typeface="Helvetica"/>
                <a:cs typeface="Helvetica"/>
              </a:defRPr>
            </a:defPPr>
          </a:lstStyle>
          <a:p xmlns:a="http://schemas.openxmlformats.org/drawingml/2006/main">
            <a:pPr algn="l">
              <a:defRPr sz="1575" b="1" i="0">
                <a:solidFill>
                  <a:srgbClr val="FFFDFC"/>
                </a:solidFill>
                <a:latin typeface="Helvetica"/>
                <a:ea typeface="Helvetica"/>
                <a:cs typeface="Helvetica"/>
              </a:defRPr>
            </a:pPr>
            <a:r>
              <a:rPr sz="1575" b="1" i="0">
                <a:solidFill>
                  <a:srgbClr val="FFFDFC"/>
                </a:solidFill>
                <a:latin typeface="Helvetica"/>
                <a:ea typeface="Helvetica"/>
                <a:cs typeface="Helvetica"/>
              </a:rPr>
              <a:t>COMMITTED DTC</a:t>
            </a:r>
          </a:p>
        </p:txBody>
      </p:sp>
      <p:sp>
        <p:nvSpPr>
          <p:cNvPr id="7" name="">
            <a:extLst xmlns:a="http://schemas.openxmlformats.org/drawingml/2006/main">
              <a:ext uri="{FF2B5EF4-FFF2-40B4-BE49-F238E27FC236}">
                <a16:creationId xmlns:a16="http://schemas.microsoft.com/office/drawing/2014/main" id="{2F48310A-9AC0-4B8E-A2CC-A54C9B597F24}"/>
              </a:ext>
            </a:extLst>
          </p:cNvPr>
          <p:cNvSpPr>
            <a:spLocks xmlns:a="http://schemas.openxmlformats.org/drawingml/2006/main" noGrp="1"/>
          </p:cNvSpPr>
          <p:nvPr/>
        </p:nvSpPr>
        <p:spPr>
          <a:xfrm xmlns:a="http://schemas.openxmlformats.org/drawingml/2006/main">
            <a:off x="933450" y="3209925"/>
            <a:ext cx="27241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200" b="1" i="0">
                <a:solidFill>
                  <a:srgbClr val="FFFDFC"/>
                </a:solidFill>
                <a:latin typeface="Helvetica"/>
                <a:ea typeface="Helvetica"/>
                <a:cs typeface="Helvetica"/>
              </a:defRPr>
            </a:defPPr>
          </a:lstStyle>
          <a:p xmlns:a="http://schemas.openxmlformats.org/drawingml/2006/main">
            <a:pPr algn="l">
              <a:defRPr sz="1200" b="1" i="0">
                <a:solidFill>
                  <a:srgbClr val="FFFDFC"/>
                </a:solidFill>
                <a:latin typeface="Helvetica"/>
                <a:ea typeface="Helvetica"/>
                <a:cs typeface="Helvetica"/>
              </a:defRPr>
            </a:pPr>
            <a:r>
              <a:rPr sz="1200" b="1" i="0">
                <a:solidFill>
                  <a:srgbClr val="FFFDFC"/>
                </a:solidFill>
                <a:latin typeface="Helvetica"/>
                <a:ea typeface="Helvetica"/>
                <a:cs typeface="Helvetica"/>
              </a:rPr>
              <a:t>Outside-in evidence cannot yet support confident buyer segmentation.</a:t>
            </a:r>
          </a:p>
        </p:txBody>
      </p:sp>
      <p:sp>
        <p:nvSpPr>
          <p:cNvPr id="8" name="">
            <a:extLst xmlns:a="http://schemas.openxmlformats.org/drawingml/2006/main">
              <a:ext uri="{FF2B5EF4-FFF2-40B4-BE49-F238E27FC236}">
                <a16:creationId xmlns:a16="http://schemas.microsoft.com/office/drawing/2014/main" id="{6577BD3D-2771-4F18-B382-7EEBCA080A47}"/>
              </a:ext>
            </a:extLst>
          </p:cNvPr>
          <p:cNvSpPr>
            <a:spLocks xmlns:a="http://schemas.openxmlformats.org/drawingml/2006/main" noGrp="1"/>
          </p:cNvSpPr>
          <p:nvPr/>
        </p:nvSpPr>
        <p:spPr>
          <a:xfrm xmlns:a="http://schemas.openxmlformats.org/drawingml/2006/main">
            <a:off x="4419600" y="1952625"/>
            <a:ext cx="3200400" cy="2590800"/>
          </a:xfrm>
          <a:prstGeom xmlns:a="http://schemas.openxmlformats.org/drawingml/2006/main" prst="roundRect">
            <a:avLst>
              <a:gd name="adj" fmla="val 2941"/>
            </a:avLst>
          </a:prstGeom>
          <a:solidFill xmlns:a="http://schemas.openxmlformats.org/drawingml/2006/main">
            <a:srgbClr val="5A2E78"/>
          </a:solidFill>
          <a:ln xmlns:a="http://schemas.openxmlformats.org/drawingml/2006/main" w="0">
            <a:solidFill>
              <a:srgbClr val="5A2E78"/>
            </a:solidFill>
          </a:ln>
        </p:spPr>
      </p:sp>
      <p:sp>
        <p:nvSpPr>
          <p:cNvPr id="9" name="">
            <a:extLst xmlns:a="http://schemas.openxmlformats.org/drawingml/2006/main">
              <a:ext uri="{FF2B5EF4-FFF2-40B4-BE49-F238E27FC236}">
                <a16:creationId xmlns:a16="http://schemas.microsoft.com/office/drawing/2014/main" id="{1AAE3B8E-4707-4671-B1D2-C1413A4797C1}"/>
              </a:ext>
            </a:extLst>
          </p:cNvPr>
          <p:cNvSpPr>
            <a:spLocks xmlns:a="http://schemas.openxmlformats.org/drawingml/2006/main" noGrp="1"/>
          </p:cNvSpPr>
          <p:nvPr/>
        </p:nvSpPr>
        <p:spPr>
          <a:xfrm xmlns:a="http://schemas.openxmlformats.org/drawingml/2006/main">
            <a:off x="4648200" y="2181225"/>
            <a:ext cx="45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900" b="1" i="0">
                <a:solidFill>
                  <a:srgbClr val="C8B7E8"/>
                </a:solidFill>
                <a:latin typeface="Helvetica"/>
                <a:ea typeface="Helvetica"/>
                <a:cs typeface="Helvetica"/>
              </a:defRPr>
            </a:defPPr>
          </a:lstStyle>
          <a:p xmlns:a="http://schemas.openxmlformats.org/drawingml/2006/main">
            <a:pPr algn="l">
              <a:defRPr sz="900" b="1" i="0">
                <a:solidFill>
                  <a:srgbClr val="C8B7E8"/>
                </a:solidFill>
                <a:latin typeface="Helvetica"/>
                <a:ea typeface="Helvetica"/>
                <a:cs typeface="Helvetica"/>
              </a:defRPr>
            </a:pPr>
            <a:r>
              <a:rPr sz="900" b="1" i="0">
                <a:solidFill>
                  <a:srgbClr val="C8B7E8"/>
                </a:solidFill>
                <a:latin typeface="Helvetica"/>
                <a:ea typeface="Helvetica"/>
                <a:cs typeface="Helvetica"/>
              </a:rPr>
              <a:t>02</a:t>
            </a:r>
          </a:p>
        </p:txBody>
      </p:sp>
      <p:sp>
        <p:nvSpPr>
          <p:cNvPr id="10" name="">
            <a:extLst xmlns:a="http://schemas.openxmlformats.org/drawingml/2006/main">
              <a:ext uri="{FF2B5EF4-FFF2-40B4-BE49-F238E27FC236}">
                <a16:creationId xmlns:a16="http://schemas.microsoft.com/office/drawing/2014/main" id="{2E2643B1-FDEF-4B3F-9808-A532FE70552C}"/>
              </a:ext>
            </a:extLst>
          </p:cNvPr>
          <p:cNvSpPr>
            <a:spLocks xmlns:a="http://schemas.openxmlformats.org/drawingml/2006/main" noGrp="1"/>
          </p:cNvSpPr>
          <p:nvPr/>
        </p:nvSpPr>
        <p:spPr>
          <a:xfrm xmlns:a="http://schemas.openxmlformats.org/drawingml/2006/main">
            <a:off x="4648200" y="2619375"/>
            <a:ext cx="2724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575" b="1" i="0">
                <a:solidFill>
                  <a:srgbClr val="FFFDFC"/>
                </a:solidFill>
                <a:latin typeface="Helvetica"/>
                <a:ea typeface="Helvetica"/>
                <a:cs typeface="Helvetica"/>
              </a:defRPr>
            </a:defPPr>
          </a:lstStyle>
          <a:p xmlns:a="http://schemas.openxmlformats.org/drawingml/2006/main">
            <a:pPr algn="l">
              <a:defRPr sz="1575" b="1" i="0">
                <a:solidFill>
                  <a:srgbClr val="FFFDFC"/>
                </a:solidFill>
                <a:latin typeface="Helvetica"/>
                <a:ea typeface="Helvetica"/>
                <a:cs typeface="Helvetica"/>
              </a:defRPr>
            </a:pPr>
            <a:r>
              <a:rPr sz="1575" b="1" i="0">
                <a:solidFill>
                  <a:srgbClr val="FFFDFC"/>
                </a:solidFill>
                <a:latin typeface="Helvetica"/>
                <a:ea typeface="Helvetica"/>
                <a:cs typeface="Helvetica"/>
              </a:rPr>
              <a:t>RETAIL CONVERT</a:t>
            </a:r>
          </a:p>
        </p:txBody>
      </p:sp>
      <p:sp>
        <p:nvSpPr>
          <p:cNvPr id="11" name="">
            <a:extLst xmlns:a="http://schemas.openxmlformats.org/drawingml/2006/main">
              <a:ext uri="{FF2B5EF4-FFF2-40B4-BE49-F238E27FC236}">
                <a16:creationId xmlns:a16="http://schemas.microsoft.com/office/drawing/2014/main" id="{570B025A-E53C-4FE1-92DE-A269986A8EB3}"/>
              </a:ext>
            </a:extLst>
          </p:cNvPr>
          <p:cNvSpPr>
            <a:spLocks xmlns:a="http://schemas.openxmlformats.org/drawingml/2006/main" noGrp="1"/>
          </p:cNvSpPr>
          <p:nvPr/>
        </p:nvSpPr>
        <p:spPr>
          <a:xfrm xmlns:a="http://schemas.openxmlformats.org/drawingml/2006/main">
            <a:off x="4648200" y="3209925"/>
            <a:ext cx="27241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200" b="1" i="0">
                <a:solidFill>
                  <a:srgbClr val="FFFDFC"/>
                </a:solidFill>
                <a:latin typeface="Helvetica"/>
                <a:ea typeface="Helvetica"/>
                <a:cs typeface="Helvetica"/>
              </a:defRPr>
            </a:defPPr>
          </a:lstStyle>
          <a:p xmlns:a="http://schemas.openxmlformats.org/drawingml/2006/main">
            <a:pPr algn="l">
              <a:defRPr sz="1200" b="1" i="0">
                <a:solidFill>
                  <a:srgbClr val="FFFDFC"/>
                </a:solidFill>
                <a:latin typeface="Helvetica"/>
                <a:ea typeface="Helvetica"/>
                <a:cs typeface="Helvetica"/>
              </a:defRPr>
            </a:pPr>
            <a:r>
              <a:rPr sz="1200" b="1" i="0">
                <a:solidFill>
                  <a:srgbClr val="FFFDFC"/>
                </a:solidFill>
                <a:latin typeface="Helvetica"/>
                <a:ea typeface="Helvetica"/>
                <a:cs typeface="Helvetica"/>
              </a:rPr>
              <a:t>Approved priority audience is affluent retail converts and prospective mainstream owners, sequenced behind the committed DTC early-adopter base,</a:t>
            </a:r>
          </a:p>
        </p:txBody>
      </p:sp>
      <p:sp>
        <p:nvSpPr>
          <p:cNvPr id="12" name="">
            <a:extLst xmlns:a="http://schemas.openxmlformats.org/drawingml/2006/main">
              <a:ext uri="{FF2B5EF4-FFF2-40B4-BE49-F238E27FC236}">
                <a16:creationId xmlns:a16="http://schemas.microsoft.com/office/drawing/2014/main" id="{D4FE0B99-2AAF-464A-B480-D2449E94EDE5}"/>
              </a:ext>
            </a:extLst>
          </p:cNvPr>
          <p:cNvSpPr>
            <a:spLocks xmlns:a="http://schemas.openxmlformats.org/drawingml/2006/main" noGrp="1"/>
          </p:cNvSpPr>
          <p:nvPr/>
        </p:nvSpPr>
        <p:spPr>
          <a:xfrm xmlns:a="http://schemas.openxmlformats.org/drawingml/2006/main">
            <a:off x="8134350" y="1952625"/>
            <a:ext cx="3200400" cy="2590800"/>
          </a:xfrm>
          <a:prstGeom xmlns:a="http://schemas.openxmlformats.org/drawingml/2006/main" prst="roundRect">
            <a:avLst>
              <a:gd name="adj" fmla="val 2941"/>
            </a:avLst>
          </a:prstGeom>
          <a:solidFill xmlns:a="http://schemas.openxmlformats.org/drawingml/2006/main">
            <a:srgbClr val="FF654F"/>
          </a:solidFill>
          <a:ln xmlns:a="http://schemas.openxmlformats.org/drawingml/2006/main" w="0">
            <a:solidFill>
              <a:srgbClr val="FF654F"/>
            </a:solidFill>
          </a:ln>
        </p:spPr>
      </p:sp>
      <p:sp>
        <p:nvSpPr>
          <p:cNvPr id="13" name="">
            <a:extLst xmlns:a="http://schemas.openxmlformats.org/drawingml/2006/main">
              <a:ext uri="{FF2B5EF4-FFF2-40B4-BE49-F238E27FC236}">
                <a16:creationId xmlns:a16="http://schemas.microsoft.com/office/drawing/2014/main" id="{DBAA985F-EBD0-4A24-B53E-A8DDB1A8CEAC}"/>
              </a:ext>
            </a:extLst>
          </p:cNvPr>
          <p:cNvSpPr>
            <a:spLocks xmlns:a="http://schemas.openxmlformats.org/drawingml/2006/main" noGrp="1"/>
          </p:cNvSpPr>
          <p:nvPr/>
        </p:nvSpPr>
        <p:spPr>
          <a:xfrm xmlns:a="http://schemas.openxmlformats.org/drawingml/2006/main">
            <a:off x="8362950" y="2181225"/>
            <a:ext cx="45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900" b="1" i="0">
                <a:solidFill>
                  <a:srgbClr val="C8B7E8"/>
                </a:solidFill>
                <a:latin typeface="Helvetica"/>
                <a:ea typeface="Helvetica"/>
                <a:cs typeface="Helvetica"/>
              </a:defRPr>
            </a:defPPr>
          </a:lstStyle>
          <a:p xmlns:a="http://schemas.openxmlformats.org/drawingml/2006/main">
            <a:pPr algn="l">
              <a:defRPr sz="900" b="1" i="0">
                <a:solidFill>
                  <a:srgbClr val="C8B7E8"/>
                </a:solidFill>
                <a:latin typeface="Helvetica"/>
                <a:ea typeface="Helvetica"/>
                <a:cs typeface="Helvetica"/>
              </a:defRPr>
            </a:pPr>
            <a:r>
              <a:rPr sz="900" b="1" i="0">
                <a:solidFill>
                  <a:srgbClr val="C8B7E8"/>
                </a:solidFill>
                <a:latin typeface="Helvetica"/>
                <a:ea typeface="Helvetica"/>
                <a:cs typeface="Helvetica"/>
              </a:rPr>
              <a:t>03</a:t>
            </a:r>
          </a:p>
        </p:txBody>
      </p:sp>
      <p:sp>
        <p:nvSpPr>
          <p:cNvPr id="14" name="">
            <a:extLst xmlns:a="http://schemas.openxmlformats.org/drawingml/2006/main">
              <a:ext uri="{FF2B5EF4-FFF2-40B4-BE49-F238E27FC236}">
                <a16:creationId xmlns:a16="http://schemas.microsoft.com/office/drawing/2014/main" id="{0AE80E6B-8F91-45EA-9166-508785B28EF2}"/>
              </a:ext>
            </a:extLst>
          </p:cNvPr>
          <p:cNvSpPr>
            <a:spLocks xmlns:a="http://schemas.openxmlformats.org/drawingml/2006/main" noGrp="1"/>
          </p:cNvSpPr>
          <p:nvPr/>
        </p:nvSpPr>
        <p:spPr>
          <a:xfrm xmlns:a="http://schemas.openxmlformats.org/drawingml/2006/main">
            <a:off x="8362950" y="2619375"/>
            <a:ext cx="2724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575" b="1" i="0">
                <a:solidFill>
                  <a:srgbClr val="FFFDFC"/>
                </a:solidFill>
                <a:latin typeface="Helvetica"/>
                <a:ea typeface="Helvetica"/>
                <a:cs typeface="Helvetica"/>
              </a:defRPr>
            </a:defPPr>
          </a:lstStyle>
          <a:p xmlns:a="http://schemas.openxmlformats.org/drawingml/2006/main">
            <a:pPr algn="l">
              <a:defRPr sz="1575" b="1" i="0">
                <a:solidFill>
                  <a:srgbClr val="FFFDFC"/>
                </a:solidFill>
                <a:latin typeface="Helvetica"/>
                <a:ea typeface="Helvetica"/>
                <a:cs typeface="Helvetica"/>
              </a:defRPr>
            </a:pPr>
            <a:r>
              <a:rPr sz="1575" b="1" i="0">
                <a:solidFill>
                  <a:srgbClr val="FFFDFC"/>
                </a:solidFill>
                <a:latin typeface="Helvetica"/>
                <a:ea typeface="Helvetica"/>
                <a:cs typeface="Helvetica"/>
              </a:rPr>
              <a:t>MAINSTREAM OWNER</a:t>
            </a:r>
          </a:p>
        </p:txBody>
      </p:sp>
      <p:sp>
        <p:nvSpPr>
          <p:cNvPr id="15" name="">
            <a:extLst xmlns:a="http://schemas.openxmlformats.org/drawingml/2006/main">
              <a:ext uri="{FF2B5EF4-FFF2-40B4-BE49-F238E27FC236}">
                <a16:creationId xmlns:a16="http://schemas.microsoft.com/office/drawing/2014/main" id="{40669CCD-E2D1-43D8-9A88-57E166D4B9A5}"/>
              </a:ext>
            </a:extLst>
          </p:cNvPr>
          <p:cNvSpPr>
            <a:spLocks xmlns:a="http://schemas.openxmlformats.org/drawingml/2006/main" noGrp="1"/>
          </p:cNvSpPr>
          <p:nvPr/>
        </p:nvSpPr>
        <p:spPr>
          <a:xfrm xmlns:a="http://schemas.openxmlformats.org/drawingml/2006/main">
            <a:off x="8362950" y="3209925"/>
            <a:ext cx="27241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200" b="1" i="0">
                <a:solidFill>
                  <a:srgbClr val="FFFDFC"/>
                </a:solidFill>
                <a:latin typeface="Helvetica"/>
                <a:ea typeface="Helvetica"/>
                <a:cs typeface="Helvetica"/>
              </a:defRPr>
            </a:defPPr>
          </a:lstStyle>
          <a:p xmlns:a="http://schemas.openxmlformats.org/drawingml/2006/main">
            <a:pPr algn="l">
              <a:defRPr sz="1200" b="1" i="0">
                <a:solidFill>
                  <a:srgbClr val="FFFDFC"/>
                </a:solidFill>
                <a:latin typeface="Helvetica"/>
                <a:ea typeface="Helvetica"/>
                <a:cs typeface="Helvetica"/>
              </a:defRPr>
            </a:pPr>
            <a:r>
              <a:rPr sz="1200" b="1" i="0">
                <a:solidFill>
                  <a:srgbClr val="FFFDFC"/>
                </a:solidFill>
                <a:latin typeface="Helvetica"/>
                <a:ea typeface="Helvetica"/>
                <a:cs typeface="Helvetica"/>
              </a:rPr>
              <a:t>Outside-in evidence cannot yet support confident buyer segmentation.</a:t>
            </a:r>
          </a:p>
        </p:txBody>
      </p:sp>
      <p:sp>
        <p:nvSpPr>
          <p:cNvPr id="16" name="">
            <a:extLst xmlns:a="http://schemas.openxmlformats.org/drawingml/2006/main">
              <a:ext uri="{FF2B5EF4-FFF2-40B4-BE49-F238E27FC236}">
                <a16:creationId xmlns:a16="http://schemas.microsoft.com/office/drawing/2014/main" id="{D645E171-0961-4AE5-BCF0-42AC64C49FDC}"/>
              </a:ext>
            </a:extLst>
          </p:cNvPr>
          <p:cNvSpPr>
            <a:spLocks xmlns:a="http://schemas.openxmlformats.org/drawingml/2006/main" noGrp="1"/>
          </p:cNvSpPr>
          <p:nvPr/>
        </p:nvSpPr>
        <p:spPr>
          <a:xfrm xmlns:a="http://schemas.openxmlformats.org/drawingml/2006/main">
            <a:off x="647700" y="5572125"/>
            <a:ext cx="209550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675" b="1" i="0">
                <a:solidFill>
                  <a:srgbClr val="FF654F"/>
                </a:solidFill>
                <a:latin typeface="Helvetica"/>
                <a:ea typeface="Helvetica"/>
                <a:cs typeface="Helvetica"/>
              </a:defRPr>
            </a:defPPr>
          </a:lstStyle>
          <a:p xmlns:a="http://schemas.openxmlformats.org/drawingml/2006/main">
            <a:pPr algn="l">
              <a:defRPr sz="675" b="1" i="0">
                <a:solidFill>
                  <a:srgbClr val="FF654F"/>
                </a:solidFill>
                <a:latin typeface="Helvetica"/>
                <a:ea typeface="Helvetica"/>
                <a:cs typeface="Helvetica"/>
              </a:defRPr>
            </a:pPr>
            <a:r>
              <a:rPr sz="675" b="1" i="0">
                <a:solidFill>
                  <a:srgbClr val="FF654F"/>
                </a:solidFill>
                <a:latin typeface="Helvetica"/>
                <a:ea typeface="Helvetica"/>
                <a:cs typeface="Helvetica"/>
              </a:rPr>
              <a:t>COMMERCIAL CONSEQUENCE</a:t>
            </a:r>
          </a:p>
        </p:txBody>
      </p:sp>
      <p:sp>
        <p:nvSpPr>
          <p:cNvPr id="17" name="">
            <a:extLst xmlns:a="http://schemas.openxmlformats.org/drawingml/2006/main">
              <a:ext uri="{FF2B5EF4-FFF2-40B4-BE49-F238E27FC236}">
                <a16:creationId xmlns:a16="http://schemas.microsoft.com/office/drawing/2014/main" id="{4FE2FA6C-FE86-473F-B745-3B4EAADF227F}"/>
              </a:ext>
            </a:extLst>
          </p:cNvPr>
          <p:cNvSpPr>
            <a:spLocks xmlns:a="http://schemas.openxmlformats.org/drawingml/2006/main" noGrp="1"/>
          </p:cNvSpPr>
          <p:nvPr/>
        </p:nvSpPr>
        <p:spPr>
          <a:xfrm xmlns:a="http://schemas.openxmlformats.org/drawingml/2006/main">
            <a:off x="2619375" y="5505450"/>
            <a:ext cx="8382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200" b="1" i="0">
                <a:solidFill>
                  <a:srgbClr val="15121B"/>
                </a:solidFill>
                <a:latin typeface="Helvetica"/>
                <a:ea typeface="Helvetica"/>
                <a:cs typeface="Helvetica"/>
              </a:defRPr>
            </a:defPPr>
          </a:lstStyle>
          <a:p xmlns:a="http://schemas.openxmlformats.org/drawingml/2006/main">
            <a:pPr algn="l">
              <a:defRPr sz="1200" b="1" i="0">
                <a:solidFill>
                  <a:srgbClr val="15121B"/>
                </a:solidFill>
                <a:latin typeface="Helvetica"/>
                <a:ea typeface="Helvetica"/>
                <a:cs typeface="Helvetica"/>
              </a:defRPr>
            </a:pPr>
            <a:r>
              <a:rPr sz="1200" b="1" i="0">
                <a:solidFill>
                  <a:srgbClr val="15121B"/>
                </a:solidFill>
                <a:latin typeface="Helvetica"/>
                <a:ea typeface="Helvetica"/>
                <a:cs typeface="Helvetica"/>
              </a:rPr>
              <a:t>Outside-in evidence cannot yet support confident buyer segmentation.</a:t>
            </a:r>
          </a:p>
        </p:txBody>
      </p:sp>
      <p:sp>
        <p:nvSpPr>
          <p:cNvPr id="18" name="">
            <a:extLst xmlns:a="http://schemas.openxmlformats.org/drawingml/2006/main">
              <a:ext uri="{FF2B5EF4-FFF2-40B4-BE49-F238E27FC236}">
                <a16:creationId xmlns:a16="http://schemas.microsoft.com/office/drawing/2014/main" id="{6072D34D-FE17-4730-931C-CAB09E22BD6E}"/>
              </a:ext>
            </a:extLst>
          </p:cNvPr>
          <p:cNvSpPr>
            <a:spLocks xmlns:a="http://schemas.openxmlformats.org/drawingml/2006/main" noGrp="1"/>
          </p:cNvSpPr>
          <p:nvPr/>
        </p:nvSpPr>
        <p:spPr>
          <a:xfrm xmlns:a="http://schemas.openxmlformats.org/drawingml/2006/main">
            <a:off x="647700" y="6134100"/>
            <a:ext cx="4953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825" b="1" i="0">
                <a:solidFill>
                  <a:srgbClr val="756D7A"/>
                </a:solidFill>
                <a:latin typeface="Helvetica"/>
                <a:ea typeface="Helvetica"/>
                <a:cs typeface="Helvetica"/>
              </a:defRPr>
            </a:defPPr>
          </a:lstStyle>
          <a:p xmlns:a="http://schemas.openxmlformats.org/drawingml/2006/main">
            <a:pPr algn="l">
              <a:defRPr sz="825" b="1" i="0">
                <a:solidFill>
                  <a:srgbClr val="756D7A"/>
                </a:solidFill>
                <a:latin typeface="Helvetica"/>
                <a:ea typeface="Helvetica"/>
                <a:cs typeface="Helvetica"/>
              </a:defRPr>
            </a:pPr>
            <a:r>
              <a:rPr sz="825" b="1" i="0">
                <a:solidFill>
                  <a:srgbClr val="756D7A"/>
                </a:solidFill>
                <a:latin typeface="Helvetica"/>
                <a:ea typeface="Helvetica"/>
                <a:cs typeface="Helvetica"/>
              </a:rPr>
              <a:t>SOURCES: S2, T1</a:t>
            </a:r>
          </a:p>
        </p:txBody>
      </p:sp>
      <p:sp>
        <p:nvSpPr>
          <p:cNvPr id="19" name="">
            <a:extLst xmlns:a="http://schemas.openxmlformats.org/drawingml/2006/main">
              <a:ext uri="{FF2B5EF4-FFF2-40B4-BE49-F238E27FC236}">
                <a16:creationId xmlns:a16="http://schemas.microsoft.com/office/drawing/2014/main" id="{FF9ECAA5-F2A0-4CCA-B783-39AFBC07A6AF}"/>
              </a:ext>
            </a:extLst>
          </p:cNvPr>
          <p:cNvSpPr>
            <a:spLocks xmlns:a="http://schemas.openxmlformats.org/drawingml/2006/main" noGrp="1"/>
          </p:cNvSpPr>
          <p:nvPr/>
        </p:nvSpPr>
        <p:spPr>
          <a:xfrm xmlns:a="http://schemas.openxmlformats.org/drawingml/2006/main">
            <a:off x="5715000" y="6134100"/>
            <a:ext cx="48768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r">
              <a:defRPr sz="825" b="1" i="0">
                <a:solidFill>
                  <a:srgbClr val="5A2E78"/>
                </a:solidFill>
                <a:latin typeface="Helvetica"/>
                <a:ea typeface="Helvetica"/>
                <a:cs typeface="Helvetica"/>
              </a:defRPr>
            </a:defPPr>
          </a:lstStyle>
          <a:p xmlns:a="http://schemas.openxmlformats.org/drawingml/2006/main">
            <a:pPr algn="r">
              <a:defRPr sz="825" b="1" i="0">
                <a:solidFill>
                  <a:srgbClr val="5A2E78"/>
                </a:solidFill>
                <a:latin typeface="Helvetica"/>
                <a:ea typeface="Helvetica"/>
                <a:cs typeface="Helvetica"/>
              </a:defRPr>
            </a:pPr>
            <a:r>
              <a:rPr sz="825" b="1" i="0">
                <a:solidFill>
                  <a:srgbClr val="5A2E78"/>
                </a:solidFill>
                <a:latin typeface="Helvetica"/>
                <a:ea typeface="Helvetica"/>
                <a:cs typeface="Helvetica"/>
              </a:rPr>
              <a:t>APPROVED STRATEGY + VERIFIED FACT</a:t>
            </a:r>
          </a:p>
        </p:txBody>
      </p:sp>
      <p:sp>
        <p:nvSpPr>
          <p:cNvPr id="20" name="">
            <a:extLst xmlns:a="http://schemas.openxmlformats.org/drawingml/2006/main">
              <a:ext uri="{FF2B5EF4-FFF2-40B4-BE49-F238E27FC236}">
                <a16:creationId xmlns:a16="http://schemas.microsoft.com/office/drawing/2014/main" id="{355B392E-BE6F-4087-8246-E837FAF25088}"/>
              </a:ext>
            </a:extLst>
          </p:cNvPr>
          <p:cNvSpPr>
            <a:spLocks xmlns:a="http://schemas.openxmlformats.org/drawingml/2006/main" noGrp="1"/>
          </p:cNvSpPr>
          <p:nvPr/>
        </p:nvSpPr>
        <p:spPr>
          <a:xfrm xmlns:a="http://schemas.openxmlformats.org/drawingml/2006/main">
            <a:off x="647700" y="6515100"/>
            <a:ext cx="17145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675" b="1" i="0">
                <a:solidFill>
                  <a:srgbClr val="756D7A"/>
                </a:solidFill>
                <a:latin typeface="Helvetica"/>
                <a:ea typeface="Helvetica"/>
                <a:cs typeface="Helvetica"/>
              </a:defRPr>
            </a:defPPr>
          </a:lstStyle>
          <a:p xmlns:a="http://schemas.openxmlformats.org/drawingml/2006/main">
            <a:pPr algn="l">
              <a:defRPr sz="675" b="1" i="0">
                <a:solidFill>
                  <a:srgbClr val="756D7A"/>
                </a:solidFill>
                <a:latin typeface="Helvetica"/>
                <a:ea typeface="Helvetica"/>
                <a:cs typeface="Helvetica"/>
              </a:defRPr>
            </a:pPr>
            <a:r>
              <a:rPr sz="675" b="1" i="0">
                <a:solidFill>
                  <a:srgbClr val="756D7A"/>
                </a:solidFill>
                <a:latin typeface="Helvetica"/>
                <a:ea typeface="Helvetica"/>
                <a:cs typeface="Helvetica"/>
              </a:rPr>
              <a:t>NARRATIIVE</a:t>
            </a:r>
          </a:p>
        </p:txBody>
      </p:sp>
      <p:sp>
        <p:nvSpPr>
          <p:cNvPr id="21" name="">
            <a:extLst xmlns:a="http://schemas.openxmlformats.org/drawingml/2006/main">
              <a:ext uri="{FF2B5EF4-FFF2-40B4-BE49-F238E27FC236}">
                <a16:creationId xmlns:a16="http://schemas.microsoft.com/office/drawing/2014/main" id="{8F60C28C-2F3D-430D-BEAA-534EC40FC403}"/>
              </a:ext>
            </a:extLst>
          </p:cNvPr>
          <p:cNvSpPr>
            <a:spLocks xmlns:a="http://schemas.openxmlformats.org/drawingml/2006/main" noGrp="1"/>
          </p:cNvSpPr>
          <p:nvPr/>
        </p:nvSpPr>
        <p:spPr>
          <a:xfrm xmlns:a="http://schemas.openxmlformats.org/drawingml/2006/main">
            <a:off x="10668000" y="6515100"/>
            <a:ext cx="8763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r">
              <a:defRPr sz="675" b="0" i="0">
                <a:solidFill>
                  <a:srgbClr val="756D7A"/>
                </a:solidFill>
                <a:latin typeface="Helvetica"/>
                <a:ea typeface="Helvetica"/>
                <a:cs typeface="Helvetica"/>
              </a:defRPr>
            </a:defPPr>
          </a:lstStyle>
          <a:p xmlns:a="http://schemas.openxmlformats.org/drawingml/2006/main">
            <a:pPr algn="r">
              <a:defRPr sz="675" b="0" i="0">
                <a:solidFill>
                  <a:srgbClr val="756D7A"/>
                </a:solidFill>
                <a:latin typeface="Helvetica"/>
                <a:ea typeface="Helvetica"/>
                <a:cs typeface="Helvetica"/>
              </a:defRPr>
            </a:pPr>
            <a:r>
              <a:rPr sz="675" b="0" i="0">
                <a:solidFill>
                  <a:srgbClr val="756D7A"/>
                </a:solidFill>
                <a:latin typeface="Helvetica"/>
                <a:ea typeface="Helvetica"/>
                <a:cs typeface="Helvetica"/>
              </a:rPr>
              <a:t>11 / 30</a:t>
            </a:r>
          </a:p>
        </p:txBody>
      </p:sp>
    </p:spTree>
    <p:extLst>
      <p:ext uri="{BB962C8B-B14F-4D97-AF65-F5344CB8AC3E}">
        <p14:creationId xmlns:p14="http://schemas.microsoft.com/office/powerpoint/2010/main" val="247827097"/>
      </p:ext>
    </p:extLst>
  </p:cSld>
</p:sld>
</file>

<file path=ppt/slides/slide12.xml><?xml version="1.0" encoding="utf-8"?>
<p:sld xmlns:p="http://schemas.openxmlformats.org/presentationml/2006/main">
  <p:cSld>
    <p:bg>
      <p:bgPr>
        <a:solidFill xmlns:a="http://schemas.openxmlformats.org/drawingml/2006/main">
          <a:srgbClr val="F6F0E8"/>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D6DBF281-54CE-4777-A316-0A044AF6ED63}"/>
              </a:ext>
            </a:extLst>
          </p:cNvPr>
          <p:cNvSpPr>
            <a:spLocks xmlns:a="http://schemas.openxmlformats.org/drawingml/2006/main" noGrp="1"/>
          </p:cNvSpPr>
          <p:nvPr/>
        </p:nvSpPr>
        <p:spPr>
          <a:xfrm xmlns:a="http://schemas.openxmlformats.org/drawingml/2006/main">
            <a:off x="647700" y="333375"/>
            <a:ext cx="57150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675" b="1" i="0">
                <a:solidFill>
                  <a:srgbClr val="FF654F"/>
                </a:solidFill>
                <a:latin typeface="Helvetica"/>
                <a:ea typeface="Helvetica"/>
                <a:cs typeface="Helvetica"/>
              </a:defRPr>
            </a:defPPr>
          </a:lstStyle>
          <a:p xmlns:a="http://schemas.openxmlformats.org/drawingml/2006/main">
            <a:pPr algn="l">
              <a:defRPr sz="675" b="1" i="0">
                <a:solidFill>
                  <a:srgbClr val="FF654F"/>
                </a:solidFill>
                <a:latin typeface="Helvetica"/>
                <a:ea typeface="Helvetica"/>
                <a:cs typeface="Helvetica"/>
              </a:defRPr>
            </a:pPr>
            <a:r>
              <a:rPr sz="675" b="1" i="0">
                <a:solidFill>
                  <a:srgbClr val="FF654F"/>
                </a:solidFill>
                <a:latin typeface="Helvetica"/>
                <a:ea typeface="Helvetica"/>
                <a:cs typeface="Helvetica"/>
              </a:rPr>
              <a:t>ACT 3 / AUDIENCE + DEMAND OPPORTUNITY</a:t>
            </a:r>
          </a:p>
        </p:txBody>
      </p:sp>
      <p:sp>
        <p:nvSpPr>
          <p:cNvPr id="2" name="">
            <a:extLst xmlns:a="http://schemas.openxmlformats.org/drawingml/2006/main">
              <a:ext uri="{FF2B5EF4-FFF2-40B4-BE49-F238E27FC236}">
                <a16:creationId xmlns:a16="http://schemas.microsoft.com/office/drawing/2014/main" id="{11741074-DFFD-4C88-98AE-DA0EC6231E75}"/>
              </a:ext>
            </a:extLst>
          </p:cNvPr>
          <p:cNvSpPr>
            <a:spLocks xmlns:a="http://schemas.openxmlformats.org/drawingml/2006/main" noGrp="1"/>
          </p:cNvSpPr>
          <p:nvPr/>
        </p:nvSpPr>
        <p:spPr>
          <a:xfrm xmlns:a="http://schemas.openxmlformats.org/drawingml/2006/main">
            <a:off x="647700" y="685800"/>
            <a:ext cx="1047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2325" b="1" i="0">
                <a:solidFill>
                  <a:srgbClr val="15121B"/>
                </a:solidFill>
                <a:latin typeface="Helvetica"/>
                <a:ea typeface="Helvetica"/>
                <a:cs typeface="Helvetica"/>
              </a:defRPr>
            </a:defPPr>
          </a:lstStyle>
          <a:p xmlns:a="http://schemas.openxmlformats.org/drawingml/2006/main">
            <a:pPr algn="l">
              <a:defRPr sz="2325" b="1" i="0">
                <a:solidFill>
                  <a:srgbClr val="15121B"/>
                </a:solidFill>
                <a:latin typeface="Helvetica"/>
                <a:ea typeface="Helvetica"/>
                <a:cs typeface="Helvetica"/>
              </a:defRPr>
            </a:pPr>
            <a:r>
              <a:rPr sz="2325" b="1" i="0">
                <a:solidFill>
                  <a:srgbClr val="15121B"/>
                </a:solidFill>
                <a:latin typeface="Helvetica"/>
                <a:ea typeface="Helvetica"/>
                <a:cs typeface="Helvetica"/>
              </a:rPr>
              <a:t>Audience Segments / Demand Pools</a:t>
            </a:r>
          </a:p>
        </p:txBody>
      </p:sp>
      <p:sp>
        <p:nvSpPr>
          <p:cNvPr id="3" name="">
            <a:extLst xmlns:a="http://schemas.openxmlformats.org/drawingml/2006/main">
              <a:ext uri="{FF2B5EF4-FFF2-40B4-BE49-F238E27FC236}">
                <a16:creationId xmlns:a16="http://schemas.microsoft.com/office/drawing/2014/main" id="{7E9F38E8-ADFF-40C5-BC82-AA78E01848EB}"/>
              </a:ext>
            </a:extLst>
          </p:cNvPr>
          <p:cNvSpPr>
            <a:spLocks xmlns:a="http://schemas.openxmlformats.org/drawingml/2006/main" noGrp="1"/>
          </p:cNvSpPr>
          <p:nvPr/>
        </p:nvSpPr>
        <p:spPr>
          <a:xfrm xmlns:a="http://schemas.openxmlformats.org/drawingml/2006/main">
            <a:off x="647700" y="1400175"/>
            <a:ext cx="10896600" cy="19050"/>
          </a:xfrm>
          <a:prstGeom xmlns:a="http://schemas.openxmlformats.org/drawingml/2006/main" prst="rect">
            <a:avLst/>
          </a:prstGeom>
          <a:solidFill xmlns:a="http://schemas.openxmlformats.org/drawingml/2006/main">
            <a:srgbClr val="D9CFD5"/>
          </a:solidFill>
          <a:ln xmlns:a="http://schemas.openxmlformats.org/drawingml/2006/main" w="0">
            <a:solidFill>
              <a:srgbClr val="D9CFD5"/>
            </a:solidFill>
          </a:ln>
        </p:spPr>
      </p:sp>
      <p:sp>
        <p:nvSpPr>
          <p:cNvPr id="4" name="">
            <a:extLst xmlns:a="http://schemas.openxmlformats.org/drawingml/2006/main">
              <a:ext uri="{FF2B5EF4-FFF2-40B4-BE49-F238E27FC236}">
                <a16:creationId xmlns:a16="http://schemas.microsoft.com/office/drawing/2014/main" id="{355BE2EF-1EAD-4B2B-85F2-400D1A8F80F1}"/>
              </a:ext>
            </a:extLst>
          </p:cNvPr>
          <p:cNvSpPr>
            <a:spLocks xmlns:a="http://schemas.openxmlformats.org/drawingml/2006/main" noGrp="1"/>
          </p:cNvSpPr>
          <p:nvPr/>
        </p:nvSpPr>
        <p:spPr>
          <a:xfrm xmlns:a="http://schemas.openxmlformats.org/drawingml/2006/main">
            <a:off x="704850" y="1952625"/>
            <a:ext cx="3200400" cy="2590800"/>
          </a:xfrm>
          <a:prstGeom xmlns:a="http://schemas.openxmlformats.org/drawingml/2006/main" prst="roundRect">
            <a:avLst>
              <a:gd name="adj" fmla="val 2941"/>
            </a:avLst>
          </a:prstGeom>
          <a:solidFill xmlns:a="http://schemas.openxmlformats.org/drawingml/2006/main">
            <a:srgbClr val="261A31"/>
          </a:solidFill>
          <a:ln xmlns:a="http://schemas.openxmlformats.org/drawingml/2006/main" w="0">
            <a:solidFill>
              <a:srgbClr val="261A31"/>
            </a:solidFill>
          </a:ln>
        </p:spPr>
      </p:sp>
      <p:sp>
        <p:nvSpPr>
          <p:cNvPr id="5" name="">
            <a:extLst xmlns:a="http://schemas.openxmlformats.org/drawingml/2006/main">
              <a:ext uri="{FF2B5EF4-FFF2-40B4-BE49-F238E27FC236}">
                <a16:creationId xmlns:a16="http://schemas.microsoft.com/office/drawing/2014/main" id="{204F7791-AF92-430F-A12A-460B9120CFCE}"/>
              </a:ext>
            </a:extLst>
          </p:cNvPr>
          <p:cNvSpPr>
            <a:spLocks xmlns:a="http://schemas.openxmlformats.org/drawingml/2006/main" noGrp="1"/>
          </p:cNvSpPr>
          <p:nvPr/>
        </p:nvSpPr>
        <p:spPr>
          <a:xfrm xmlns:a="http://schemas.openxmlformats.org/drawingml/2006/main">
            <a:off x="933450" y="2181225"/>
            <a:ext cx="45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900" b="1" i="0">
                <a:solidFill>
                  <a:srgbClr val="C8B7E8"/>
                </a:solidFill>
                <a:latin typeface="Helvetica"/>
                <a:ea typeface="Helvetica"/>
                <a:cs typeface="Helvetica"/>
              </a:defRPr>
            </a:defPPr>
          </a:lstStyle>
          <a:p xmlns:a="http://schemas.openxmlformats.org/drawingml/2006/main">
            <a:pPr algn="l">
              <a:defRPr sz="900" b="1" i="0">
                <a:solidFill>
                  <a:srgbClr val="C8B7E8"/>
                </a:solidFill>
                <a:latin typeface="Helvetica"/>
                <a:ea typeface="Helvetica"/>
                <a:cs typeface="Helvetica"/>
              </a:defRPr>
            </a:pPr>
            <a:r>
              <a:rPr sz="900" b="1" i="0">
                <a:solidFill>
                  <a:srgbClr val="C8B7E8"/>
                </a:solidFill>
                <a:latin typeface="Helvetica"/>
                <a:ea typeface="Helvetica"/>
                <a:cs typeface="Helvetica"/>
              </a:rPr>
              <a:t>01</a:t>
            </a:r>
          </a:p>
        </p:txBody>
      </p:sp>
      <p:sp>
        <p:nvSpPr>
          <p:cNvPr id="6" name="">
            <a:extLst xmlns:a="http://schemas.openxmlformats.org/drawingml/2006/main">
              <a:ext uri="{FF2B5EF4-FFF2-40B4-BE49-F238E27FC236}">
                <a16:creationId xmlns:a16="http://schemas.microsoft.com/office/drawing/2014/main" id="{E064C7C5-E812-4F48-B847-08CF0F2AA397}"/>
              </a:ext>
            </a:extLst>
          </p:cNvPr>
          <p:cNvSpPr>
            <a:spLocks xmlns:a="http://schemas.openxmlformats.org/drawingml/2006/main" noGrp="1"/>
          </p:cNvSpPr>
          <p:nvPr/>
        </p:nvSpPr>
        <p:spPr>
          <a:xfrm xmlns:a="http://schemas.openxmlformats.org/drawingml/2006/main">
            <a:off x="933450" y="2619375"/>
            <a:ext cx="2724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575" b="1" i="0">
                <a:solidFill>
                  <a:srgbClr val="FFFDFC"/>
                </a:solidFill>
                <a:latin typeface="Helvetica"/>
                <a:ea typeface="Helvetica"/>
                <a:cs typeface="Helvetica"/>
              </a:defRPr>
            </a:defPPr>
          </a:lstStyle>
          <a:p xmlns:a="http://schemas.openxmlformats.org/drawingml/2006/main">
            <a:pPr algn="l">
              <a:defRPr sz="1575" b="1" i="0">
                <a:solidFill>
                  <a:srgbClr val="FFFDFC"/>
                </a:solidFill>
                <a:latin typeface="Helvetica"/>
                <a:ea typeface="Helvetica"/>
                <a:cs typeface="Helvetica"/>
              </a:defRPr>
            </a:pPr>
            <a:r>
              <a:rPr sz="1575" b="1" i="0">
                <a:solidFill>
                  <a:srgbClr val="FFFDFC"/>
                </a:solidFill>
                <a:latin typeface="Helvetica"/>
                <a:ea typeface="Helvetica"/>
                <a:cs typeface="Helvetica"/>
              </a:rPr>
              <a:t>COMMITTED DTC</a:t>
            </a:r>
          </a:p>
        </p:txBody>
      </p:sp>
      <p:sp>
        <p:nvSpPr>
          <p:cNvPr id="7" name="">
            <a:extLst xmlns:a="http://schemas.openxmlformats.org/drawingml/2006/main">
              <a:ext uri="{FF2B5EF4-FFF2-40B4-BE49-F238E27FC236}">
                <a16:creationId xmlns:a16="http://schemas.microsoft.com/office/drawing/2014/main" id="{1799D4E5-2F3A-4A5C-BA9F-1EE935C832ED}"/>
              </a:ext>
            </a:extLst>
          </p:cNvPr>
          <p:cNvSpPr>
            <a:spLocks xmlns:a="http://schemas.openxmlformats.org/drawingml/2006/main" noGrp="1"/>
          </p:cNvSpPr>
          <p:nvPr/>
        </p:nvSpPr>
        <p:spPr>
          <a:xfrm xmlns:a="http://schemas.openxmlformats.org/drawingml/2006/main">
            <a:off x="933450" y="3209925"/>
            <a:ext cx="27241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200" b="1" i="0">
                <a:solidFill>
                  <a:srgbClr val="FFFDFC"/>
                </a:solidFill>
                <a:latin typeface="Helvetica"/>
                <a:ea typeface="Helvetica"/>
                <a:cs typeface="Helvetica"/>
              </a:defRPr>
            </a:defPPr>
          </a:lstStyle>
          <a:p xmlns:a="http://schemas.openxmlformats.org/drawingml/2006/main">
            <a:pPr algn="l">
              <a:defRPr sz="1200" b="1" i="0">
                <a:solidFill>
                  <a:srgbClr val="FFFDFC"/>
                </a:solidFill>
                <a:latin typeface="Helvetica"/>
                <a:ea typeface="Helvetica"/>
                <a:cs typeface="Helvetica"/>
              </a:defRPr>
            </a:pPr>
            <a:r>
              <a:rPr sz="1200" b="1" i="0">
                <a:solidFill>
                  <a:srgbClr val="FFFDFC"/>
                </a:solidFill>
                <a:latin typeface="Helvetica"/>
                <a:ea typeface="Helvetica"/>
                <a:cs typeface="Helvetica"/>
              </a:rPr>
              <a:t>Potential buyer jobs are a research question, not a settled segment model.</a:t>
            </a:r>
          </a:p>
        </p:txBody>
      </p:sp>
      <p:sp>
        <p:nvSpPr>
          <p:cNvPr id="8" name="">
            <a:extLst xmlns:a="http://schemas.openxmlformats.org/drawingml/2006/main">
              <a:ext uri="{FF2B5EF4-FFF2-40B4-BE49-F238E27FC236}">
                <a16:creationId xmlns:a16="http://schemas.microsoft.com/office/drawing/2014/main" id="{C87C5D00-EE7D-44B4-9951-05F4D0DE3CD4}"/>
              </a:ext>
            </a:extLst>
          </p:cNvPr>
          <p:cNvSpPr>
            <a:spLocks xmlns:a="http://schemas.openxmlformats.org/drawingml/2006/main" noGrp="1"/>
          </p:cNvSpPr>
          <p:nvPr/>
        </p:nvSpPr>
        <p:spPr>
          <a:xfrm xmlns:a="http://schemas.openxmlformats.org/drawingml/2006/main">
            <a:off x="4419600" y="1952625"/>
            <a:ext cx="3200400" cy="2590800"/>
          </a:xfrm>
          <a:prstGeom xmlns:a="http://schemas.openxmlformats.org/drawingml/2006/main" prst="roundRect">
            <a:avLst>
              <a:gd name="adj" fmla="val 2941"/>
            </a:avLst>
          </a:prstGeom>
          <a:solidFill xmlns:a="http://schemas.openxmlformats.org/drawingml/2006/main">
            <a:srgbClr val="5A2E78"/>
          </a:solidFill>
          <a:ln xmlns:a="http://schemas.openxmlformats.org/drawingml/2006/main" w="0">
            <a:solidFill>
              <a:srgbClr val="5A2E78"/>
            </a:solidFill>
          </a:ln>
        </p:spPr>
      </p:sp>
      <p:sp>
        <p:nvSpPr>
          <p:cNvPr id="9" name="">
            <a:extLst xmlns:a="http://schemas.openxmlformats.org/drawingml/2006/main">
              <a:ext uri="{FF2B5EF4-FFF2-40B4-BE49-F238E27FC236}">
                <a16:creationId xmlns:a16="http://schemas.microsoft.com/office/drawing/2014/main" id="{5E0BCADF-B821-45D9-8AC6-A1D7A70D6D39}"/>
              </a:ext>
            </a:extLst>
          </p:cNvPr>
          <p:cNvSpPr>
            <a:spLocks xmlns:a="http://schemas.openxmlformats.org/drawingml/2006/main" noGrp="1"/>
          </p:cNvSpPr>
          <p:nvPr/>
        </p:nvSpPr>
        <p:spPr>
          <a:xfrm xmlns:a="http://schemas.openxmlformats.org/drawingml/2006/main">
            <a:off x="4648200" y="2181225"/>
            <a:ext cx="45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900" b="1" i="0">
                <a:solidFill>
                  <a:srgbClr val="C8B7E8"/>
                </a:solidFill>
                <a:latin typeface="Helvetica"/>
                <a:ea typeface="Helvetica"/>
                <a:cs typeface="Helvetica"/>
              </a:defRPr>
            </a:defPPr>
          </a:lstStyle>
          <a:p xmlns:a="http://schemas.openxmlformats.org/drawingml/2006/main">
            <a:pPr algn="l">
              <a:defRPr sz="900" b="1" i="0">
                <a:solidFill>
                  <a:srgbClr val="C8B7E8"/>
                </a:solidFill>
                <a:latin typeface="Helvetica"/>
                <a:ea typeface="Helvetica"/>
                <a:cs typeface="Helvetica"/>
              </a:defRPr>
            </a:pPr>
            <a:r>
              <a:rPr sz="900" b="1" i="0">
                <a:solidFill>
                  <a:srgbClr val="C8B7E8"/>
                </a:solidFill>
                <a:latin typeface="Helvetica"/>
                <a:ea typeface="Helvetica"/>
                <a:cs typeface="Helvetica"/>
              </a:rPr>
              <a:t>02</a:t>
            </a:r>
          </a:p>
        </p:txBody>
      </p:sp>
      <p:sp>
        <p:nvSpPr>
          <p:cNvPr id="10" name="">
            <a:extLst xmlns:a="http://schemas.openxmlformats.org/drawingml/2006/main">
              <a:ext uri="{FF2B5EF4-FFF2-40B4-BE49-F238E27FC236}">
                <a16:creationId xmlns:a16="http://schemas.microsoft.com/office/drawing/2014/main" id="{5A46BC6F-770C-4B63-8C71-5AFFEC3C1FCF}"/>
              </a:ext>
            </a:extLst>
          </p:cNvPr>
          <p:cNvSpPr>
            <a:spLocks xmlns:a="http://schemas.openxmlformats.org/drawingml/2006/main" noGrp="1"/>
          </p:cNvSpPr>
          <p:nvPr/>
        </p:nvSpPr>
        <p:spPr>
          <a:xfrm xmlns:a="http://schemas.openxmlformats.org/drawingml/2006/main">
            <a:off x="4648200" y="2619375"/>
            <a:ext cx="2724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575" b="1" i="0">
                <a:solidFill>
                  <a:srgbClr val="FFFDFC"/>
                </a:solidFill>
                <a:latin typeface="Helvetica"/>
                <a:ea typeface="Helvetica"/>
                <a:cs typeface="Helvetica"/>
              </a:defRPr>
            </a:defPPr>
          </a:lstStyle>
          <a:p xmlns:a="http://schemas.openxmlformats.org/drawingml/2006/main">
            <a:pPr algn="l">
              <a:defRPr sz="1575" b="1" i="0">
                <a:solidFill>
                  <a:srgbClr val="FFFDFC"/>
                </a:solidFill>
                <a:latin typeface="Helvetica"/>
                <a:ea typeface="Helvetica"/>
                <a:cs typeface="Helvetica"/>
              </a:defRPr>
            </a:pPr>
            <a:r>
              <a:rPr sz="1575" b="1" i="0">
                <a:solidFill>
                  <a:srgbClr val="FFFDFC"/>
                </a:solidFill>
                <a:latin typeface="Helvetica"/>
                <a:ea typeface="Helvetica"/>
                <a:cs typeface="Helvetica"/>
              </a:rPr>
              <a:t>RETAIL CONVERT</a:t>
            </a:r>
          </a:p>
        </p:txBody>
      </p:sp>
      <p:sp>
        <p:nvSpPr>
          <p:cNvPr id="11" name="">
            <a:extLst xmlns:a="http://schemas.openxmlformats.org/drawingml/2006/main">
              <a:ext uri="{FF2B5EF4-FFF2-40B4-BE49-F238E27FC236}">
                <a16:creationId xmlns:a16="http://schemas.microsoft.com/office/drawing/2014/main" id="{0B21C5DA-69BD-49C7-A40D-75E2491A0E3D}"/>
              </a:ext>
            </a:extLst>
          </p:cNvPr>
          <p:cNvSpPr>
            <a:spLocks xmlns:a="http://schemas.openxmlformats.org/drawingml/2006/main" noGrp="1"/>
          </p:cNvSpPr>
          <p:nvPr/>
        </p:nvSpPr>
        <p:spPr>
          <a:xfrm xmlns:a="http://schemas.openxmlformats.org/drawingml/2006/main">
            <a:off x="4648200" y="3209925"/>
            <a:ext cx="27241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200" b="1" i="0">
                <a:solidFill>
                  <a:srgbClr val="FFFDFC"/>
                </a:solidFill>
                <a:latin typeface="Helvetica"/>
                <a:ea typeface="Helvetica"/>
                <a:cs typeface="Helvetica"/>
              </a:defRPr>
            </a:defPPr>
          </a:lstStyle>
          <a:p xmlns:a="http://schemas.openxmlformats.org/drawingml/2006/main">
            <a:pPr algn="l">
              <a:defRPr sz="1200" b="1" i="0">
                <a:solidFill>
                  <a:srgbClr val="FFFDFC"/>
                </a:solidFill>
                <a:latin typeface="Helvetica"/>
                <a:ea typeface="Helvetica"/>
                <a:cs typeface="Helvetica"/>
              </a:defRPr>
            </a:pPr>
            <a:r>
              <a:rPr sz="1200" b="1" i="0">
                <a:solidFill>
                  <a:srgbClr val="FFFDFC"/>
                </a:solidFill>
                <a:latin typeface="Helvetica"/>
                <a:ea typeface="Helvetica"/>
                <a:cs typeface="Helvetica"/>
              </a:rPr>
              <a:t>No first-party client data was supplied in this evidence pack to validate behavioural segmentation design</a:t>
            </a:r>
          </a:p>
        </p:txBody>
      </p:sp>
      <p:sp>
        <p:nvSpPr>
          <p:cNvPr id="12" name="">
            <a:extLst xmlns:a="http://schemas.openxmlformats.org/drawingml/2006/main">
              <a:ext uri="{FF2B5EF4-FFF2-40B4-BE49-F238E27FC236}">
                <a16:creationId xmlns:a16="http://schemas.microsoft.com/office/drawing/2014/main" id="{72C371C9-5BBC-46D5-A27A-9AD83DB3CF15}"/>
              </a:ext>
            </a:extLst>
          </p:cNvPr>
          <p:cNvSpPr>
            <a:spLocks xmlns:a="http://schemas.openxmlformats.org/drawingml/2006/main" noGrp="1"/>
          </p:cNvSpPr>
          <p:nvPr/>
        </p:nvSpPr>
        <p:spPr>
          <a:xfrm xmlns:a="http://schemas.openxmlformats.org/drawingml/2006/main">
            <a:off x="8134350" y="1952625"/>
            <a:ext cx="3200400" cy="2590800"/>
          </a:xfrm>
          <a:prstGeom xmlns:a="http://schemas.openxmlformats.org/drawingml/2006/main" prst="roundRect">
            <a:avLst>
              <a:gd name="adj" fmla="val 2941"/>
            </a:avLst>
          </a:prstGeom>
          <a:solidFill xmlns:a="http://schemas.openxmlformats.org/drawingml/2006/main">
            <a:srgbClr val="FF654F"/>
          </a:solidFill>
          <a:ln xmlns:a="http://schemas.openxmlformats.org/drawingml/2006/main" w="0">
            <a:solidFill>
              <a:srgbClr val="FF654F"/>
            </a:solidFill>
          </a:ln>
        </p:spPr>
      </p:sp>
      <p:sp>
        <p:nvSpPr>
          <p:cNvPr id="13" name="">
            <a:extLst xmlns:a="http://schemas.openxmlformats.org/drawingml/2006/main">
              <a:ext uri="{FF2B5EF4-FFF2-40B4-BE49-F238E27FC236}">
                <a16:creationId xmlns:a16="http://schemas.microsoft.com/office/drawing/2014/main" id="{3B0E096C-89AB-41ED-97F1-90CC9FB347C6}"/>
              </a:ext>
            </a:extLst>
          </p:cNvPr>
          <p:cNvSpPr>
            <a:spLocks xmlns:a="http://schemas.openxmlformats.org/drawingml/2006/main" noGrp="1"/>
          </p:cNvSpPr>
          <p:nvPr/>
        </p:nvSpPr>
        <p:spPr>
          <a:xfrm xmlns:a="http://schemas.openxmlformats.org/drawingml/2006/main">
            <a:off x="8362950" y="2181225"/>
            <a:ext cx="45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900" b="1" i="0">
                <a:solidFill>
                  <a:srgbClr val="C8B7E8"/>
                </a:solidFill>
                <a:latin typeface="Helvetica"/>
                <a:ea typeface="Helvetica"/>
                <a:cs typeface="Helvetica"/>
              </a:defRPr>
            </a:defPPr>
          </a:lstStyle>
          <a:p xmlns:a="http://schemas.openxmlformats.org/drawingml/2006/main">
            <a:pPr algn="l">
              <a:defRPr sz="900" b="1" i="0">
                <a:solidFill>
                  <a:srgbClr val="C8B7E8"/>
                </a:solidFill>
                <a:latin typeface="Helvetica"/>
                <a:ea typeface="Helvetica"/>
                <a:cs typeface="Helvetica"/>
              </a:defRPr>
            </a:pPr>
            <a:r>
              <a:rPr sz="900" b="1" i="0">
                <a:solidFill>
                  <a:srgbClr val="C8B7E8"/>
                </a:solidFill>
                <a:latin typeface="Helvetica"/>
                <a:ea typeface="Helvetica"/>
                <a:cs typeface="Helvetica"/>
              </a:rPr>
              <a:t>03</a:t>
            </a:r>
          </a:p>
        </p:txBody>
      </p:sp>
      <p:sp>
        <p:nvSpPr>
          <p:cNvPr id="14" name="">
            <a:extLst xmlns:a="http://schemas.openxmlformats.org/drawingml/2006/main">
              <a:ext uri="{FF2B5EF4-FFF2-40B4-BE49-F238E27FC236}">
                <a16:creationId xmlns:a16="http://schemas.microsoft.com/office/drawing/2014/main" id="{F99B462B-AF34-4D6C-B8BE-525C25F771C3}"/>
              </a:ext>
            </a:extLst>
          </p:cNvPr>
          <p:cNvSpPr>
            <a:spLocks xmlns:a="http://schemas.openxmlformats.org/drawingml/2006/main" noGrp="1"/>
          </p:cNvSpPr>
          <p:nvPr/>
        </p:nvSpPr>
        <p:spPr>
          <a:xfrm xmlns:a="http://schemas.openxmlformats.org/drawingml/2006/main">
            <a:off x="8362950" y="2619375"/>
            <a:ext cx="2724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575" b="1" i="0">
                <a:solidFill>
                  <a:srgbClr val="FFFDFC"/>
                </a:solidFill>
                <a:latin typeface="Helvetica"/>
                <a:ea typeface="Helvetica"/>
                <a:cs typeface="Helvetica"/>
              </a:defRPr>
            </a:defPPr>
          </a:lstStyle>
          <a:p xmlns:a="http://schemas.openxmlformats.org/drawingml/2006/main">
            <a:pPr algn="l">
              <a:defRPr sz="1575" b="1" i="0">
                <a:solidFill>
                  <a:srgbClr val="FFFDFC"/>
                </a:solidFill>
                <a:latin typeface="Helvetica"/>
                <a:ea typeface="Helvetica"/>
                <a:cs typeface="Helvetica"/>
              </a:defRPr>
            </a:pPr>
            <a:r>
              <a:rPr sz="1575" b="1" i="0">
                <a:solidFill>
                  <a:srgbClr val="FFFDFC"/>
                </a:solidFill>
                <a:latin typeface="Helvetica"/>
                <a:ea typeface="Helvetica"/>
                <a:cs typeface="Helvetica"/>
              </a:rPr>
              <a:t>MAINSTREAM OWNER</a:t>
            </a:r>
          </a:p>
        </p:txBody>
      </p:sp>
      <p:sp>
        <p:nvSpPr>
          <p:cNvPr id="15" name="">
            <a:extLst xmlns:a="http://schemas.openxmlformats.org/drawingml/2006/main">
              <a:ext uri="{FF2B5EF4-FFF2-40B4-BE49-F238E27FC236}">
                <a16:creationId xmlns:a16="http://schemas.microsoft.com/office/drawing/2014/main" id="{D977BD03-2885-406D-AD6C-C9681CF4BF67}"/>
              </a:ext>
            </a:extLst>
          </p:cNvPr>
          <p:cNvSpPr>
            <a:spLocks xmlns:a="http://schemas.openxmlformats.org/drawingml/2006/main" noGrp="1"/>
          </p:cNvSpPr>
          <p:nvPr/>
        </p:nvSpPr>
        <p:spPr>
          <a:xfrm xmlns:a="http://schemas.openxmlformats.org/drawingml/2006/main">
            <a:off x="8362950" y="3209925"/>
            <a:ext cx="27241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200" b="1" i="0">
                <a:solidFill>
                  <a:srgbClr val="FFFDFC"/>
                </a:solidFill>
                <a:latin typeface="Helvetica"/>
                <a:ea typeface="Helvetica"/>
                <a:cs typeface="Helvetica"/>
              </a:defRPr>
            </a:defPPr>
          </a:lstStyle>
          <a:p xmlns:a="http://schemas.openxmlformats.org/drawingml/2006/main">
            <a:pPr algn="l">
              <a:defRPr sz="1200" b="1" i="0">
                <a:solidFill>
                  <a:srgbClr val="FFFDFC"/>
                </a:solidFill>
                <a:latin typeface="Helvetica"/>
                <a:ea typeface="Helvetica"/>
                <a:cs typeface="Helvetica"/>
              </a:defRPr>
            </a:pPr>
            <a:r>
              <a:rPr sz="1200" b="1" i="0">
                <a:solidFill>
                  <a:srgbClr val="FFFDFC"/>
                </a:solidFill>
                <a:latin typeface="Helvetica"/>
                <a:ea typeface="Helvetica"/>
                <a:cs typeface="Helvetica"/>
              </a:rPr>
              <a:t>Potential buyer jobs are a research question, not a settled segment model.</a:t>
            </a:r>
          </a:p>
        </p:txBody>
      </p:sp>
      <p:sp>
        <p:nvSpPr>
          <p:cNvPr id="16" name="">
            <a:extLst xmlns:a="http://schemas.openxmlformats.org/drawingml/2006/main">
              <a:ext uri="{FF2B5EF4-FFF2-40B4-BE49-F238E27FC236}">
                <a16:creationId xmlns:a16="http://schemas.microsoft.com/office/drawing/2014/main" id="{F566D198-30AB-4AFC-90FB-CC2C2D793C12}"/>
              </a:ext>
            </a:extLst>
          </p:cNvPr>
          <p:cNvSpPr>
            <a:spLocks xmlns:a="http://schemas.openxmlformats.org/drawingml/2006/main" noGrp="1"/>
          </p:cNvSpPr>
          <p:nvPr/>
        </p:nvSpPr>
        <p:spPr>
          <a:xfrm xmlns:a="http://schemas.openxmlformats.org/drawingml/2006/main">
            <a:off x="647700" y="5572125"/>
            <a:ext cx="209550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675" b="1" i="0">
                <a:solidFill>
                  <a:srgbClr val="FF654F"/>
                </a:solidFill>
                <a:latin typeface="Helvetica"/>
                <a:ea typeface="Helvetica"/>
                <a:cs typeface="Helvetica"/>
              </a:defRPr>
            </a:defPPr>
          </a:lstStyle>
          <a:p xmlns:a="http://schemas.openxmlformats.org/drawingml/2006/main">
            <a:pPr algn="l">
              <a:defRPr sz="675" b="1" i="0">
                <a:solidFill>
                  <a:srgbClr val="FF654F"/>
                </a:solidFill>
                <a:latin typeface="Helvetica"/>
                <a:ea typeface="Helvetica"/>
                <a:cs typeface="Helvetica"/>
              </a:defRPr>
            </a:pPr>
            <a:r>
              <a:rPr sz="675" b="1" i="0">
                <a:solidFill>
                  <a:srgbClr val="FF654F"/>
                </a:solidFill>
                <a:latin typeface="Helvetica"/>
                <a:ea typeface="Helvetica"/>
                <a:cs typeface="Helvetica"/>
              </a:rPr>
              <a:t>COMMERCIAL CONSEQUENCE</a:t>
            </a:r>
          </a:p>
        </p:txBody>
      </p:sp>
      <p:sp>
        <p:nvSpPr>
          <p:cNvPr id="17" name="">
            <a:extLst xmlns:a="http://schemas.openxmlformats.org/drawingml/2006/main">
              <a:ext uri="{FF2B5EF4-FFF2-40B4-BE49-F238E27FC236}">
                <a16:creationId xmlns:a16="http://schemas.microsoft.com/office/drawing/2014/main" id="{410E5B6B-3944-43CC-B34E-6879B8B1BD78}"/>
              </a:ext>
            </a:extLst>
          </p:cNvPr>
          <p:cNvSpPr>
            <a:spLocks xmlns:a="http://schemas.openxmlformats.org/drawingml/2006/main" noGrp="1"/>
          </p:cNvSpPr>
          <p:nvPr/>
        </p:nvSpPr>
        <p:spPr>
          <a:xfrm xmlns:a="http://schemas.openxmlformats.org/drawingml/2006/main">
            <a:off x="2619375" y="5505450"/>
            <a:ext cx="8382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200" b="1" i="0">
                <a:solidFill>
                  <a:srgbClr val="15121B"/>
                </a:solidFill>
                <a:latin typeface="Helvetica"/>
                <a:ea typeface="Helvetica"/>
                <a:cs typeface="Helvetica"/>
              </a:defRPr>
            </a:defPPr>
          </a:lstStyle>
          <a:p xmlns:a="http://schemas.openxmlformats.org/drawingml/2006/main">
            <a:pPr algn="l">
              <a:defRPr sz="1200" b="1" i="0">
                <a:solidFill>
                  <a:srgbClr val="15121B"/>
                </a:solidFill>
                <a:latin typeface="Helvetica"/>
                <a:ea typeface="Helvetica"/>
                <a:cs typeface="Helvetica"/>
              </a:defRPr>
            </a:pPr>
            <a:r>
              <a:rPr sz="1200" b="1" i="0">
                <a:solidFill>
                  <a:srgbClr val="15121B"/>
                </a:solidFill>
                <a:latin typeface="Helvetica"/>
                <a:ea typeface="Helvetica"/>
                <a:cs typeface="Helvetica"/>
              </a:rPr>
              <a:t>Potential buyer jobs are a research question, not a settled segment model.</a:t>
            </a:r>
          </a:p>
        </p:txBody>
      </p:sp>
      <p:sp>
        <p:nvSpPr>
          <p:cNvPr id="18" name="">
            <a:extLst xmlns:a="http://schemas.openxmlformats.org/drawingml/2006/main">
              <a:ext uri="{FF2B5EF4-FFF2-40B4-BE49-F238E27FC236}">
                <a16:creationId xmlns:a16="http://schemas.microsoft.com/office/drawing/2014/main" id="{77FA294A-E6BD-4BA9-9607-B5DD4040906A}"/>
              </a:ext>
            </a:extLst>
          </p:cNvPr>
          <p:cNvSpPr>
            <a:spLocks xmlns:a="http://schemas.openxmlformats.org/drawingml/2006/main" noGrp="1"/>
          </p:cNvSpPr>
          <p:nvPr/>
        </p:nvSpPr>
        <p:spPr>
          <a:xfrm xmlns:a="http://schemas.openxmlformats.org/drawingml/2006/main">
            <a:off x="647700" y="6134100"/>
            <a:ext cx="4953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825" b="1" i="0">
                <a:solidFill>
                  <a:srgbClr val="756D7A"/>
                </a:solidFill>
                <a:latin typeface="Helvetica"/>
                <a:ea typeface="Helvetica"/>
                <a:cs typeface="Helvetica"/>
              </a:defRPr>
            </a:defPPr>
          </a:lstStyle>
          <a:p xmlns:a="http://schemas.openxmlformats.org/drawingml/2006/main">
            <a:pPr algn="l">
              <a:defRPr sz="825" b="1" i="0">
                <a:solidFill>
                  <a:srgbClr val="756D7A"/>
                </a:solidFill>
                <a:latin typeface="Helvetica"/>
                <a:ea typeface="Helvetica"/>
                <a:cs typeface="Helvetica"/>
              </a:defRPr>
            </a:pPr>
            <a:r>
              <a:rPr sz="825" b="1" i="0">
                <a:solidFill>
                  <a:srgbClr val="756D7A"/>
                </a:solidFill>
                <a:latin typeface="Helvetica"/>
                <a:ea typeface="Helvetica"/>
                <a:cs typeface="Helvetica"/>
              </a:rPr>
              <a:t>SOURCES: S2, T1</a:t>
            </a:r>
          </a:p>
        </p:txBody>
      </p:sp>
      <p:sp>
        <p:nvSpPr>
          <p:cNvPr id="19" name="">
            <a:extLst xmlns:a="http://schemas.openxmlformats.org/drawingml/2006/main">
              <a:ext uri="{FF2B5EF4-FFF2-40B4-BE49-F238E27FC236}">
                <a16:creationId xmlns:a16="http://schemas.microsoft.com/office/drawing/2014/main" id="{DBD25B4C-65F9-43C5-8201-C8CF17214BAC}"/>
              </a:ext>
            </a:extLst>
          </p:cNvPr>
          <p:cNvSpPr>
            <a:spLocks xmlns:a="http://schemas.openxmlformats.org/drawingml/2006/main" noGrp="1"/>
          </p:cNvSpPr>
          <p:nvPr/>
        </p:nvSpPr>
        <p:spPr>
          <a:xfrm xmlns:a="http://schemas.openxmlformats.org/drawingml/2006/main">
            <a:off x="5715000" y="6134100"/>
            <a:ext cx="48768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r">
              <a:defRPr sz="825" b="1" i="0">
                <a:solidFill>
                  <a:srgbClr val="5A2E78"/>
                </a:solidFill>
                <a:latin typeface="Helvetica"/>
                <a:ea typeface="Helvetica"/>
                <a:cs typeface="Helvetica"/>
              </a:defRPr>
            </a:defPPr>
          </a:lstStyle>
          <a:p xmlns:a="http://schemas.openxmlformats.org/drawingml/2006/main">
            <a:pPr algn="r">
              <a:defRPr sz="825" b="1" i="0">
                <a:solidFill>
                  <a:srgbClr val="5A2E78"/>
                </a:solidFill>
                <a:latin typeface="Helvetica"/>
                <a:ea typeface="Helvetica"/>
                <a:cs typeface="Helvetica"/>
              </a:defRPr>
            </a:pPr>
            <a:r>
              <a:rPr sz="825" b="1" i="0">
                <a:solidFill>
                  <a:srgbClr val="5A2E78"/>
                </a:solidFill>
                <a:latin typeface="Helvetica"/>
                <a:ea typeface="Helvetica"/>
                <a:cs typeface="Helvetica"/>
              </a:rPr>
              <a:t>APPROVED STRATEGY + VERIFIED FACT</a:t>
            </a:r>
          </a:p>
        </p:txBody>
      </p:sp>
      <p:sp>
        <p:nvSpPr>
          <p:cNvPr id="20" name="">
            <a:extLst xmlns:a="http://schemas.openxmlformats.org/drawingml/2006/main">
              <a:ext uri="{FF2B5EF4-FFF2-40B4-BE49-F238E27FC236}">
                <a16:creationId xmlns:a16="http://schemas.microsoft.com/office/drawing/2014/main" id="{C1988F94-5207-4595-BCF6-FF6B75F88D17}"/>
              </a:ext>
            </a:extLst>
          </p:cNvPr>
          <p:cNvSpPr>
            <a:spLocks xmlns:a="http://schemas.openxmlformats.org/drawingml/2006/main" noGrp="1"/>
          </p:cNvSpPr>
          <p:nvPr/>
        </p:nvSpPr>
        <p:spPr>
          <a:xfrm xmlns:a="http://schemas.openxmlformats.org/drawingml/2006/main">
            <a:off x="647700" y="6515100"/>
            <a:ext cx="17145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675" b="1" i="0">
                <a:solidFill>
                  <a:srgbClr val="756D7A"/>
                </a:solidFill>
                <a:latin typeface="Helvetica"/>
                <a:ea typeface="Helvetica"/>
                <a:cs typeface="Helvetica"/>
              </a:defRPr>
            </a:defPPr>
          </a:lstStyle>
          <a:p xmlns:a="http://schemas.openxmlformats.org/drawingml/2006/main">
            <a:pPr algn="l">
              <a:defRPr sz="675" b="1" i="0">
                <a:solidFill>
                  <a:srgbClr val="756D7A"/>
                </a:solidFill>
                <a:latin typeface="Helvetica"/>
                <a:ea typeface="Helvetica"/>
                <a:cs typeface="Helvetica"/>
              </a:defRPr>
            </a:pPr>
            <a:r>
              <a:rPr sz="675" b="1" i="0">
                <a:solidFill>
                  <a:srgbClr val="756D7A"/>
                </a:solidFill>
                <a:latin typeface="Helvetica"/>
                <a:ea typeface="Helvetica"/>
                <a:cs typeface="Helvetica"/>
              </a:rPr>
              <a:t>NARRATIIVE</a:t>
            </a:r>
          </a:p>
        </p:txBody>
      </p:sp>
      <p:sp>
        <p:nvSpPr>
          <p:cNvPr id="21" name="">
            <a:extLst xmlns:a="http://schemas.openxmlformats.org/drawingml/2006/main">
              <a:ext uri="{FF2B5EF4-FFF2-40B4-BE49-F238E27FC236}">
                <a16:creationId xmlns:a16="http://schemas.microsoft.com/office/drawing/2014/main" id="{28E83EC7-7271-4B4A-9774-4F1C56F1CCF4}"/>
              </a:ext>
            </a:extLst>
          </p:cNvPr>
          <p:cNvSpPr>
            <a:spLocks xmlns:a="http://schemas.openxmlformats.org/drawingml/2006/main" noGrp="1"/>
          </p:cNvSpPr>
          <p:nvPr/>
        </p:nvSpPr>
        <p:spPr>
          <a:xfrm xmlns:a="http://schemas.openxmlformats.org/drawingml/2006/main">
            <a:off x="10668000" y="6515100"/>
            <a:ext cx="8763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r">
              <a:defRPr sz="675" b="0" i="0">
                <a:solidFill>
                  <a:srgbClr val="756D7A"/>
                </a:solidFill>
                <a:latin typeface="Helvetica"/>
                <a:ea typeface="Helvetica"/>
                <a:cs typeface="Helvetica"/>
              </a:defRPr>
            </a:defPPr>
          </a:lstStyle>
          <a:p xmlns:a="http://schemas.openxmlformats.org/drawingml/2006/main">
            <a:pPr algn="r">
              <a:defRPr sz="675" b="0" i="0">
                <a:solidFill>
                  <a:srgbClr val="756D7A"/>
                </a:solidFill>
                <a:latin typeface="Helvetica"/>
                <a:ea typeface="Helvetica"/>
                <a:cs typeface="Helvetica"/>
              </a:defRPr>
            </a:pPr>
            <a:r>
              <a:rPr sz="675" b="0" i="0">
                <a:solidFill>
                  <a:srgbClr val="756D7A"/>
                </a:solidFill>
                <a:latin typeface="Helvetica"/>
                <a:ea typeface="Helvetica"/>
                <a:cs typeface="Helvetica"/>
              </a:rPr>
              <a:t>12 / 30</a:t>
            </a:r>
          </a:p>
        </p:txBody>
      </p:sp>
    </p:spTree>
    <p:extLst>
      <p:ext uri="{BB962C8B-B14F-4D97-AF65-F5344CB8AC3E}">
        <p14:creationId xmlns:p14="http://schemas.microsoft.com/office/powerpoint/2010/main" val="1365873456"/>
      </p:ext>
    </p:extLst>
  </p:cSld>
</p:sld>
</file>

<file path=ppt/slides/slide13.xml><?xml version="1.0" encoding="utf-8"?>
<p:sld xmlns:p="http://schemas.openxmlformats.org/presentationml/2006/main">
  <p:cSld>
    <p:bg>
      <p:bgPr>
        <a:solidFill xmlns:a="http://schemas.openxmlformats.org/drawingml/2006/main">
          <a:srgbClr val="F6F0E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4038954B-BC7C-458D-A0C6-8522D883D687}"/>
              </a:ext>
            </a:extLst>
          </p:cNvPr>
          <p:cNvSpPr>
            <a:spLocks xmlns:a="http://schemas.openxmlformats.org/drawingml/2006/main" noGrp="1"/>
          </p:cNvSpPr>
          <p:nvPr/>
        </p:nvSpPr>
        <p:spPr>
          <a:xfrm xmlns:a="http://schemas.openxmlformats.org/drawingml/2006/main">
            <a:off x="647700" y="333375"/>
            <a:ext cx="57150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675" b="1" i="0">
                <a:solidFill>
                  <a:srgbClr val="FF654F"/>
                </a:solidFill>
                <a:latin typeface="Helvetica"/>
                <a:ea typeface="Helvetica"/>
                <a:cs typeface="Helvetica"/>
              </a:defRPr>
            </a:defPPr>
          </a:lstStyle>
          <a:p xmlns:a="http://schemas.openxmlformats.org/drawingml/2006/main">
            <a:pPr algn="l">
              <a:defRPr sz="675" b="1" i="0">
                <a:solidFill>
                  <a:srgbClr val="FF654F"/>
                </a:solidFill>
                <a:latin typeface="Helvetica"/>
                <a:ea typeface="Helvetica"/>
                <a:cs typeface="Helvetica"/>
              </a:defRPr>
            </a:pPr>
            <a:r>
              <a:rPr sz="675" b="1" i="0">
                <a:solidFill>
                  <a:srgbClr val="FF654F"/>
                </a:solidFill>
                <a:latin typeface="Helvetica"/>
                <a:ea typeface="Helvetica"/>
                <a:cs typeface="Helvetica"/>
              </a:rPr>
              <a:t>ACT 3 / AUDIENCE + DEMAND OPPORTUNITY</a:t>
            </a:r>
          </a:p>
        </p:txBody>
      </p:sp>
      <p:sp>
        <p:nvSpPr>
          <p:cNvPr id="2" name="">
            <a:extLst xmlns:a="http://schemas.openxmlformats.org/drawingml/2006/main">
              <a:ext uri="{FF2B5EF4-FFF2-40B4-BE49-F238E27FC236}">
                <a16:creationId xmlns:a16="http://schemas.microsoft.com/office/drawing/2014/main" id="{58762646-B0D6-4705-A78B-CFF4804CBF93}"/>
              </a:ext>
            </a:extLst>
          </p:cNvPr>
          <p:cNvSpPr>
            <a:spLocks xmlns:a="http://schemas.openxmlformats.org/drawingml/2006/main" noGrp="1"/>
          </p:cNvSpPr>
          <p:nvPr/>
        </p:nvSpPr>
        <p:spPr>
          <a:xfrm xmlns:a="http://schemas.openxmlformats.org/drawingml/2006/main">
            <a:off x="647700" y="685800"/>
            <a:ext cx="1047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2325" b="1" i="0">
                <a:solidFill>
                  <a:srgbClr val="15121B"/>
                </a:solidFill>
                <a:latin typeface="Helvetica"/>
                <a:ea typeface="Helvetica"/>
                <a:cs typeface="Helvetica"/>
              </a:defRPr>
            </a:defPPr>
          </a:lstStyle>
          <a:p xmlns:a="http://schemas.openxmlformats.org/drawingml/2006/main">
            <a:pPr algn="l">
              <a:defRPr sz="2325" b="1" i="0">
                <a:solidFill>
                  <a:srgbClr val="15121B"/>
                </a:solidFill>
                <a:latin typeface="Helvetica"/>
                <a:ea typeface="Helvetica"/>
                <a:cs typeface="Helvetica"/>
              </a:defRPr>
            </a:pPr>
            <a:r>
              <a:rPr sz="2325" b="1" i="0">
                <a:solidFill>
                  <a:srgbClr val="15121B"/>
                </a:solidFill>
                <a:latin typeface="Helvetica"/>
                <a:ea typeface="Helvetica"/>
                <a:cs typeface="Helvetica"/>
              </a:rPr>
              <a:t>Customer Evidence Board</a:t>
            </a:r>
          </a:p>
        </p:txBody>
      </p:sp>
      <p:sp>
        <p:nvSpPr>
          <p:cNvPr id="3" name="">
            <a:extLst xmlns:a="http://schemas.openxmlformats.org/drawingml/2006/main">
              <a:ext uri="{FF2B5EF4-FFF2-40B4-BE49-F238E27FC236}">
                <a16:creationId xmlns:a16="http://schemas.microsoft.com/office/drawing/2014/main" id="{17EC77E9-E061-43BC-A572-B32FE52EDA38}"/>
              </a:ext>
            </a:extLst>
          </p:cNvPr>
          <p:cNvSpPr>
            <a:spLocks xmlns:a="http://schemas.openxmlformats.org/drawingml/2006/main" noGrp="1"/>
          </p:cNvSpPr>
          <p:nvPr/>
        </p:nvSpPr>
        <p:spPr>
          <a:xfrm xmlns:a="http://schemas.openxmlformats.org/drawingml/2006/main">
            <a:off x="647700" y="1400175"/>
            <a:ext cx="10896600" cy="19050"/>
          </a:xfrm>
          <a:prstGeom xmlns:a="http://schemas.openxmlformats.org/drawingml/2006/main" prst="rect">
            <a:avLst/>
          </a:prstGeom>
          <a:solidFill xmlns:a="http://schemas.openxmlformats.org/drawingml/2006/main">
            <a:srgbClr val="D9CFD5"/>
          </a:solidFill>
          <a:ln xmlns:a="http://schemas.openxmlformats.org/drawingml/2006/main" w="0">
            <a:solidFill>
              <a:srgbClr val="D9CFD5"/>
            </a:solidFill>
          </a:ln>
        </p:spPr>
      </p:sp>
      <p:pic>
        <p:nvPicPr>
          <p:cNvPr id="4" name="">
            <a:extLst xmlns:a="http://schemas.openxmlformats.org/drawingml/2006/main">
              <a:ext uri="{FF2B5EF4-FFF2-40B4-BE49-F238E27FC236}">
                <a16:creationId xmlns:a16="http://schemas.microsoft.com/office/drawing/2014/main" id="{538A7730-3DE4-436A-9CF8-E4003F92FBB0}"/>
              </a:ext>
            </a:extLst>
          </p:cNvPr>
          <p:cNvPicPr>
            <a:picLocks xmlns:a="http://schemas.openxmlformats.org/drawingml/2006/main" noChangeAspect="1"/>
          </p:cNvPicPr>
          <p:nvPr/>
        </p:nvPicPr>
        <p:blipFill>
          <a:blip xmlns:r="http://schemas.openxmlformats.org/officeDocument/2006/relationships" xmlns:a="http://schemas.openxmlformats.org/drawingml/2006/main" r:embed="Rba2b0c52b63a405a"/>
          <a:srcRect xmlns:a="http://schemas.openxmlformats.org/drawingml/2006/main" l="4172" t="0" r="4172" b="0"/>
          <a:stretch xmlns:a="http://schemas.openxmlformats.org/drawingml/2006/main">
            <a:fillRect l="0" t="0" r="0" b="0"/>
          </a:stretch>
        </p:blipFill>
        <p:spPr>
          <a:xfrm xmlns:a="http://schemas.openxmlformats.org/drawingml/2006/main">
            <a:off x="647700" y="1714500"/>
            <a:ext cx="5429250" cy="33337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23B33D3C-7EEB-4DDF-B52E-7B0FA4921075}"/>
              </a:ext>
            </a:extLst>
          </p:cNvPr>
          <p:cNvSpPr>
            <a:spLocks xmlns:a="http://schemas.openxmlformats.org/drawingml/2006/main" noGrp="1"/>
          </p:cNvSpPr>
          <p:nvPr/>
        </p:nvSpPr>
        <p:spPr>
          <a:xfrm xmlns:a="http://schemas.openxmlformats.org/drawingml/2006/main">
            <a:off x="6057900" y="1714500"/>
            <a:ext cx="5486400" cy="3333750"/>
          </a:xfrm>
          <a:prstGeom xmlns:a="http://schemas.openxmlformats.org/drawingml/2006/main" prst="rect">
            <a:avLst/>
          </a:prstGeom>
          <a:solidFill xmlns:a="http://schemas.openxmlformats.org/drawingml/2006/main">
            <a:srgbClr val="261A31"/>
          </a:solidFill>
          <a:ln xmlns:a="http://schemas.openxmlformats.org/drawingml/2006/main" w="0">
            <a:solidFill>
              <a:srgbClr val="261A31"/>
            </a:solidFill>
          </a:ln>
        </p:spPr>
      </p:sp>
      <p:sp>
        <p:nvSpPr>
          <p:cNvPr id="6" name="">
            <a:extLst xmlns:a="http://schemas.openxmlformats.org/drawingml/2006/main">
              <a:ext uri="{FF2B5EF4-FFF2-40B4-BE49-F238E27FC236}">
                <a16:creationId xmlns:a16="http://schemas.microsoft.com/office/drawing/2014/main" id="{A01EE523-721C-4AAF-987D-90028A52B800}"/>
              </a:ext>
            </a:extLst>
          </p:cNvPr>
          <p:cNvSpPr>
            <a:spLocks xmlns:a="http://schemas.openxmlformats.org/drawingml/2006/main" noGrp="1"/>
          </p:cNvSpPr>
          <p:nvPr/>
        </p:nvSpPr>
        <p:spPr>
          <a:xfrm xmlns:a="http://schemas.openxmlformats.org/drawingml/2006/main">
            <a:off x="6515100" y="2076450"/>
            <a:ext cx="4095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750" b="1" i="0">
                <a:solidFill>
                  <a:srgbClr val="FF654F"/>
                </a:solidFill>
                <a:latin typeface="Helvetica"/>
                <a:ea typeface="Helvetica"/>
                <a:cs typeface="Helvetica"/>
              </a:defRPr>
            </a:defPPr>
          </a:lstStyle>
          <a:p xmlns:a="http://schemas.openxmlformats.org/drawingml/2006/main">
            <a:pPr algn="l">
              <a:defRPr sz="750" b="1" i="0">
                <a:solidFill>
                  <a:srgbClr val="FF654F"/>
                </a:solidFill>
                <a:latin typeface="Helvetica"/>
                <a:ea typeface="Helvetica"/>
                <a:cs typeface="Helvetica"/>
              </a:defRPr>
            </a:pPr>
            <a:r>
              <a:rPr sz="750" b="1" i="0">
                <a:solidFill>
                  <a:srgbClr val="FF654F"/>
                </a:solidFill>
                <a:latin typeface="Helvetica"/>
                <a:ea typeface="Helvetica"/>
                <a:cs typeface="Helvetica"/>
              </a:rPr>
              <a:t>THE EVIDENCE</a:t>
            </a:r>
          </a:p>
        </p:txBody>
      </p:sp>
      <p:sp>
        <p:nvSpPr>
          <p:cNvPr id="7" name="">
            <a:extLst xmlns:a="http://schemas.openxmlformats.org/drawingml/2006/main">
              <a:ext uri="{FF2B5EF4-FFF2-40B4-BE49-F238E27FC236}">
                <a16:creationId xmlns:a16="http://schemas.microsoft.com/office/drawing/2014/main" id="{D001ED55-BCDF-4DDB-AE3F-2D92B1B13F7B}"/>
              </a:ext>
            </a:extLst>
          </p:cNvPr>
          <p:cNvSpPr>
            <a:spLocks xmlns:a="http://schemas.openxmlformats.org/drawingml/2006/main" noGrp="1"/>
          </p:cNvSpPr>
          <p:nvPr/>
        </p:nvSpPr>
        <p:spPr>
          <a:xfrm xmlns:a="http://schemas.openxmlformats.org/drawingml/2006/main">
            <a:off x="6515100" y="2476500"/>
            <a:ext cx="419100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725" b="1" i="0">
                <a:solidFill>
                  <a:srgbClr val="FFFDFC"/>
                </a:solidFill>
                <a:latin typeface="Helvetica"/>
                <a:ea typeface="Helvetica"/>
                <a:cs typeface="Helvetica"/>
              </a:defRPr>
            </a:defPPr>
          </a:lstStyle>
          <a:p xmlns:a="http://schemas.openxmlformats.org/drawingml/2006/main">
            <a:pPr algn="l">
              <a:defRPr sz="1725" b="1" i="0">
                <a:solidFill>
                  <a:srgbClr val="FFFDFC"/>
                </a:solidFill>
                <a:latin typeface="Helvetica"/>
                <a:ea typeface="Helvetica"/>
                <a:cs typeface="Helvetica"/>
              </a:defRPr>
            </a:pPr>
            <a:r>
              <a:rPr sz="1725" b="1" i="0">
                <a:solidFill>
                  <a:srgbClr val="FFFDFC"/>
                </a:solidFill>
                <a:latin typeface="Helvetica"/>
                <a:ea typeface="Helvetica"/>
                <a:cs typeface="Helvetica"/>
              </a:rPr>
              <a:t>Approved priority audience is affluent retail converts and prospective mainstream owners, sequenced behind the committed DTC early-adopter base, using first-party behavioural and proxy-income segmentation rather than new data infrastructure.</a:t>
            </a:r>
          </a:p>
        </p:txBody>
      </p:sp>
      <p:sp>
        <p:nvSpPr>
          <p:cNvPr id="8" name="">
            <a:extLst xmlns:a="http://schemas.openxmlformats.org/drawingml/2006/main">
              <a:ext uri="{FF2B5EF4-FFF2-40B4-BE49-F238E27FC236}">
                <a16:creationId xmlns:a16="http://schemas.microsoft.com/office/drawing/2014/main" id="{8DDD2CC1-EAEB-4448-A79B-684BC065367E}"/>
              </a:ext>
            </a:extLst>
          </p:cNvPr>
          <p:cNvSpPr>
            <a:spLocks xmlns:a="http://schemas.openxmlformats.org/drawingml/2006/main" noGrp="1"/>
          </p:cNvSpPr>
          <p:nvPr/>
        </p:nvSpPr>
        <p:spPr>
          <a:xfrm xmlns:a="http://schemas.openxmlformats.org/drawingml/2006/main">
            <a:off x="647700" y="5572125"/>
            <a:ext cx="209550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675" b="1" i="0">
                <a:solidFill>
                  <a:srgbClr val="FF654F"/>
                </a:solidFill>
                <a:latin typeface="Helvetica"/>
                <a:ea typeface="Helvetica"/>
                <a:cs typeface="Helvetica"/>
              </a:defRPr>
            </a:defPPr>
          </a:lstStyle>
          <a:p xmlns:a="http://schemas.openxmlformats.org/drawingml/2006/main">
            <a:pPr algn="l">
              <a:defRPr sz="675" b="1" i="0">
                <a:solidFill>
                  <a:srgbClr val="FF654F"/>
                </a:solidFill>
                <a:latin typeface="Helvetica"/>
                <a:ea typeface="Helvetica"/>
                <a:cs typeface="Helvetica"/>
              </a:defRPr>
            </a:pPr>
            <a:r>
              <a:rPr sz="675" b="1" i="0">
                <a:solidFill>
                  <a:srgbClr val="FF654F"/>
                </a:solidFill>
                <a:latin typeface="Helvetica"/>
                <a:ea typeface="Helvetica"/>
                <a:cs typeface="Helvetica"/>
              </a:rPr>
              <a:t>COMMERCIAL CONSEQUENCE</a:t>
            </a:r>
          </a:p>
        </p:txBody>
      </p:sp>
      <p:sp>
        <p:nvSpPr>
          <p:cNvPr id="9" name="">
            <a:extLst xmlns:a="http://schemas.openxmlformats.org/drawingml/2006/main">
              <a:ext uri="{FF2B5EF4-FFF2-40B4-BE49-F238E27FC236}">
                <a16:creationId xmlns:a16="http://schemas.microsoft.com/office/drawing/2014/main" id="{105ECF11-8416-4825-BE95-D89F5DC32E21}"/>
              </a:ext>
            </a:extLst>
          </p:cNvPr>
          <p:cNvSpPr>
            <a:spLocks xmlns:a="http://schemas.openxmlformats.org/drawingml/2006/main" noGrp="1"/>
          </p:cNvSpPr>
          <p:nvPr/>
        </p:nvSpPr>
        <p:spPr>
          <a:xfrm xmlns:a="http://schemas.openxmlformats.org/drawingml/2006/main">
            <a:off x="2619375" y="5505450"/>
            <a:ext cx="8382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200" b="1" i="0">
                <a:solidFill>
                  <a:srgbClr val="15121B"/>
                </a:solidFill>
                <a:latin typeface="Helvetica"/>
                <a:ea typeface="Helvetica"/>
                <a:cs typeface="Helvetica"/>
              </a:defRPr>
            </a:defPPr>
          </a:lstStyle>
          <a:p xmlns:a="http://schemas.openxmlformats.org/drawingml/2006/main">
            <a:pPr algn="l">
              <a:defRPr sz="1200" b="1" i="0">
                <a:solidFill>
                  <a:srgbClr val="15121B"/>
                </a:solidFill>
                <a:latin typeface="Helvetica"/>
                <a:ea typeface="Helvetica"/>
                <a:cs typeface="Helvetica"/>
              </a:defRPr>
            </a:pPr>
            <a:r>
              <a:rPr sz="1200" b="1" i="0">
                <a:solidFill>
                  <a:srgbClr val="15121B"/>
                </a:solidFill>
                <a:latin typeface="Helvetica"/>
                <a:ea typeface="Helvetica"/>
                <a:cs typeface="Helvetica"/>
              </a:rPr>
              <a:t>The available customer signal is directional, small and self-selected.</a:t>
            </a:r>
          </a:p>
        </p:txBody>
      </p:sp>
      <p:sp>
        <p:nvSpPr>
          <p:cNvPr id="10" name="">
            <a:extLst xmlns:a="http://schemas.openxmlformats.org/drawingml/2006/main">
              <a:ext uri="{FF2B5EF4-FFF2-40B4-BE49-F238E27FC236}">
                <a16:creationId xmlns:a16="http://schemas.microsoft.com/office/drawing/2014/main" id="{45E920D8-2541-4868-A1C7-C15FD74B29D5}"/>
              </a:ext>
            </a:extLst>
          </p:cNvPr>
          <p:cNvSpPr>
            <a:spLocks xmlns:a="http://schemas.openxmlformats.org/drawingml/2006/main" noGrp="1"/>
          </p:cNvSpPr>
          <p:nvPr/>
        </p:nvSpPr>
        <p:spPr>
          <a:xfrm xmlns:a="http://schemas.openxmlformats.org/drawingml/2006/main">
            <a:off x="647700" y="6134100"/>
            <a:ext cx="4953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825" b="1" i="0">
                <a:solidFill>
                  <a:srgbClr val="756D7A"/>
                </a:solidFill>
                <a:latin typeface="Helvetica"/>
                <a:ea typeface="Helvetica"/>
                <a:cs typeface="Helvetica"/>
              </a:defRPr>
            </a:defPPr>
          </a:lstStyle>
          <a:p xmlns:a="http://schemas.openxmlformats.org/drawingml/2006/main">
            <a:pPr algn="l">
              <a:defRPr sz="825" b="1" i="0">
                <a:solidFill>
                  <a:srgbClr val="756D7A"/>
                </a:solidFill>
                <a:latin typeface="Helvetica"/>
                <a:ea typeface="Helvetica"/>
                <a:cs typeface="Helvetica"/>
              </a:defRPr>
            </a:pPr>
            <a:r>
              <a:rPr sz="825" b="1" i="0">
                <a:solidFill>
                  <a:srgbClr val="756D7A"/>
                </a:solidFill>
                <a:latin typeface="Helvetica"/>
                <a:ea typeface="Helvetica"/>
                <a:cs typeface="Helvetica"/>
              </a:rPr>
              <a:t>SOURCES: S1A, S2, S5, S8</a:t>
            </a:r>
          </a:p>
        </p:txBody>
      </p:sp>
      <p:sp>
        <p:nvSpPr>
          <p:cNvPr id="11" name="">
            <a:extLst xmlns:a="http://schemas.openxmlformats.org/drawingml/2006/main">
              <a:ext uri="{FF2B5EF4-FFF2-40B4-BE49-F238E27FC236}">
                <a16:creationId xmlns:a16="http://schemas.microsoft.com/office/drawing/2014/main" id="{491CD5BB-37AB-4C95-9F02-BBFE3888838C}"/>
              </a:ext>
            </a:extLst>
          </p:cNvPr>
          <p:cNvSpPr>
            <a:spLocks xmlns:a="http://schemas.openxmlformats.org/drawingml/2006/main" noGrp="1"/>
          </p:cNvSpPr>
          <p:nvPr/>
        </p:nvSpPr>
        <p:spPr>
          <a:xfrm xmlns:a="http://schemas.openxmlformats.org/drawingml/2006/main">
            <a:off x="5715000" y="6134100"/>
            <a:ext cx="48768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r">
              <a:defRPr sz="825" b="1" i="0">
                <a:solidFill>
                  <a:srgbClr val="5A2E78"/>
                </a:solidFill>
                <a:latin typeface="Helvetica"/>
                <a:ea typeface="Helvetica"/>
                <a:cs typeface="Helvetica"/>
              </a:defRPr>
            </a:defPPr>
          </a:lstStyle>
          <a:p xmlns:a="http://schemas.openxmlformats.org/drawingml/2006/main">
            <a:pPr algn="r">
              <a:defRPr sz="825" b="1" i="0">
                <a:solidFill>
                  <a:srgbClr val="5A2E78"/>
                </a:solidFill>
                <a:latin typeface="Helvetica"/>
                <a:ea typeface="Helvetica"/>
                <a:cs typeface="Helvetica"/>
              </a:defRPr>
            </a:pPr>
            <a:r>
              <a:rPr sz="825" b="1" i="0">
                <a:solidFill>
                  <a:srgbClr val="5A2E78"/>
                </a:solidFill>
                <a:latin typeface="Helvetica"/>
                <a:ea typeface="Helvetica"/>
                <a:cs typeface="Helvetica"/>
              </a:rPr>
              <a:t>THIRD PARTY ESTIMATE + VERIFIED FACT</a:t>
            </a:r>
          </a:p>
        </p:txBody>
      </p:sp>
      <p:sp>
        <p:nvSpPr>
          <p:cNvPr id="12" name="">
            <a:extLst xmlns:a="http://schemas.openxmlformats.org/drawingml/2006/main">
              <a:ext uri="{FF2B5EF4-FFF2-40B4-BE49-F238E27FC236}">
                <a16:creationId xmlns:a16="http://schemas.microsoft.com/office/drawing/2014/main" id="{67A2901C-6BDC-403D-A7B1-06E08E5750F3}"/>
              </a:ext>
            </a:extLst>
          </p:cNvPr>
          <p:cNvSpPr>
            <a:spLocks xmlns:a="http://schemas.openxmlformats.org/drawingml/2006/main" noGrp="1"/>
          </p:cNvSpPr>
          <p:nvPr/>
        </p:nvSpPr>
        <p:spPr>
          <a:xfrm xmlns:a="http://schemas.openxmlformats.org/drawingml/2006/main">
            <a:off x="647700" y="6515100"/>
            <a:ext cx="17145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675" b="1" i="0">
                <a:solidFill>
                  <a:srgbClr val="756D7A"/>
                </a:solidFill>
                <a:latin typeface="Helvetica"/>
                <a:ea typeface="Helvetica"/>
                <a:cs typeface="Helvetica"/>
              </a:defRPr>
            </a:defPPr>
          </a:lstStyle>
          <a:p xmlns:a="http://schemas.openxmlformats.org/drawingml/2006/main">
            <a:pPr algn="l">
              <a:defRPr sz="675" b="1" i="0">
                <a:solidFill>
                  <a:srgbClr val="756D7A"/>
                </a:solidFill>
                <a:latin typeface="Helvetica"/>
                <a:ea typeface="Helvetica"/>
                <a:cs typeface="Helvetica"/>
              </a:defRPr>
            </a:pPr>
            <a:r>
              <a:rPr sz="675" b="1" i="0">
                <a:solidFill>
                  <a:srgbClr val="756D7A"/>
                </a:solidFill>
                <a:latin typeface="Helvetica"/>
                <a:ea typeface="Helvetica"/>
                <a:cs typeface="Helvetica"/>
              </a:rPr>
              <a:t>NARRATIIVE</a:t>
            </a:r>
          </a:p>
        </p:txBody>
      </p:sp>
      <p:sp>
        <p:nvSpPr>
          <p:cNvPr id="13" name="">
            <a:extLst xmlns:a="http://schemas.openxmlformats.org/drawingml/2006/main">
              <a:ext uri="{FF2B5EF4-FFF2-40B4-BE49-F238E27FC236}">
                <a16:creationId xmlns:a16="http://schemas.microsoft.com/office/drawing/2014/main" id="{4C54B147-D81F-4F60-B152-8D268F7F9AE3}"/>
              </a:ext>
            </a:extLst>
          </p:cNvPr>
          <p:cNvSpPr>
            <a:spLocks xmlns:a="http://schemas.openxmlformats.org/drawingml/2006/main" noGrp="1"/>
          </p:cNvSpPr>
          <p:nvPr/>
        </p:nvSpPr>
        <p:spPr>
          <a:xfrm xmlns:a="http://schemas.openxmlformats.org/drawingml/2006/main">
            <a:off x="10668000" y="6515100"/>
            <a:ext cx="8763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r">
              <a:defRPr sz="675" b="0" i="0">
                <a:solidFill>
                  <a:srgbClr val="756D7A"/>
                </a:solidFill>
                <a:latin typeface="Helvetica"/>
                <a:ea typeface="Helvetica"/>
                <a:cs typeface="Helvetica"/>
              </a:defRPr>
            </a:defPPr>
          </a:lstStyle>
          <a:p xmlns:a="http://schemas.openxmlformats.org/drawingml/2006/main">
            <a:pPr algn="r">
              <a:defRPr sz="675" b="0" i="0">
                <a:solidFill>
                  <a:srgbClr val="756D7A"/>
                </a:solidFill>
                <a:latin typeface="Helvetica"/>
                <a:ea typeface="Helvetica"/>
                <a:cs typeface="Helvetica"/>
              </a:defRPr>
            </a:pPr>
            <a:r>
              <a:rPr sz="675" b="0" i="0">
                <a:solidFill>
                  <a:srgbClr val="756D7A"/>
                </a:solidFill>
                <a:latin typeface="Helvetica"/>
                <a:ea typeface="Helvetica"/>
                <a:cs typeface="Helvetica"/>
              </a:rPr>
              <a:t>13 / 30</a:t>
            </a:r>
          </a:p>
        </p:txBody>
      </p:sp>
    </p:spTree>
    <p:extLst>
      <p:ext uri="{BB962C8B-B14F-4D97-AF65-F5344CB8AC3E}">
        <p14:creationId xmlns:p14="http://schemas.microsoft.com/office/powerpoint/2010/main" val="1560787204"/>
      </p:ext>
    </p:extLst>
  </p:cSld>
</p:sld>
</file>

<file path=ppt/slides/slide14.xml><?xml version="1.0" encoding="utf-8"?>
<p:sld xmlns:p="http://schemas.openxmlformats.org/presentationml/2006/main">
  <p:cSld>
    <p:bg>
      <p:bgPr>
        <a:solidFill xmlns:a="http://schemas.openxmlformats.org/drawingml/2006/main">
          <a:srgbClr val="F6F0E8"/>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703FF637-58BF-47DA-A5C8-6A903CF4F67F}"/>
              </a:ext>
            </a:extLst>
          </p:cNvPr>
          <p:cNvSpPr>
            <a:spLocks xmlns:a="http://schemas.openxmlformats.org/drawingml/2006/main" noGrp="1"/>
          </p:cNvSpPr>
          <p:nvPr/>
        </p:nvSpPr>
        <p:spPr>
          <a:xfrm xmlns:a="http://schemas.openxmlformats.org/drawingml/2006/main">
            <a:off x="647700" y="333375"/>
            <a:ext cx="57150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675" b="1" i="0">
                <a:solidFill>
                  <a:srgbClr val="FF654F"/>
                </a:solidFill>
                <a:latin typeface="Helvetica"/>
                <a:ea typeface="Helvetica"/>
                <a:cs typeface="Helvetica"/>
              </a:defRPr>
            </a:defPPr>
          </a:lstStyle>
          <a:p xmlns:a="http://schemas.openxmlformats.org/drawingml/2006/main">
            <a:pPr algn="l">
              <a:defRPr sz="675" b="1" i="0">
                <a:solidFill>
                  <a:srgbClr val="FF654F"/>
                </a:solidFill>
                <a:latin typeface="Helvetica"/>
                <a:ea typeface="Helvetica"/>
                <a:cs typeface="Helvetica"/>
              </a:defRPr>
            </a:pPr>
            <a:r>
              <a:rPr sz="675" b="1" i="0">
                <a:solidFill>
                  <a:srgbClr val="FF654F"/>
                </a:solidFill>
                <a:latin typeface="Helvetica"/>
                <a:ea typeface="Helvetica"/>
                <a:cs typeface="Helvetica"/>
              </a:rPr>
              <a:t>ACT 3 / AUDIENCE + DEMAND OPPORTUNITY</a:t>
            </a:r>
          </a:p>
        </p:txBody>
      </p:sp>
      <p:sp>
        <p:nvSpPr>
          <p:cNvPr id="2" name="">
            <a:extLst xmlns:a="http://schemas.openxmlformats.org/drawingml/2006/main">
              <a:ext uri="{FF2B5EF4-FFF2-40B4-BE49-F238E27FC236}">
                <a16:creationId xmlns:a16="http://schemas.microsoft.com/office/drawing/2014/main" id="{627BA8E0-0AB7-4A74-82AE-BA78A2CC619A}"/>
              </a:ext>
            </a:extLst>
          </p:cNvPr>
          <p:cNvSpPr>
            <a:spLocks xmlns:a="http://schemas.openxmlformats.org/drawingml/2006/main" noGrp="1"/>
          </p:cNvSpPr>
          <p:nvPr/>
        </p:nvSpPr>
        <p:spPr>
          <a:xfrm xmlns:a="http://schemas.openxmlformats.org/drawingml/2006/main">
            <a:off x="647700" y="685800"/>
            <a:ext cx="1047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2325" b="1" i="0">
                <a:solidFill>
                  <a:srgbClr val="15121B"/>
                </a:solidFill>
                <a:latin typeface="Helvetica"/>
                <a:ea typeface="Helvetica"/>
                <a:cs typeface="Helvetica"/>
              </a:defRPr>
            </a:defPPr>
          </a:lstStyle>
          <a:p xmlns:a="http://schemas.openxmlformats.org/drawingml/2006/main">
            <a:pPr algn="l">
              <a:defRPr sz="2325" b="1" i="0">
                <a:solidFill>
                  <a:srgbClr val="15121B"/>
                </a:solidFill>
                <a:latin typeface="Helvetica"/>
                <a:ea typeface="Helvetica"/>
                <a:cs typeface="Helvetica"/>
              </a:defRPr>
            </a:pPr>
            <a:r>
              <a:rPr sz="2325" b="1" i="0">
                <a:solidFill>
                  <a:srgbClr val="15121B"/>
                </a:solidFill>
                <a:latin typeface="Helvetica"/>
                <a:ea typeface="Helvetica"/>
                <a:cs typeface="Helvetica"/>
              </a:rPr>
              <a:t>Audience Tensions / Decision Context</a:t>
            </a:r>
          </a:p>
        </p:txBody>
      </p:sp>
      <p:sp>
        <p:nvSpPr>
          <p:cNvPr id="3" name="">
            <a:extLst xmlns:a="http://schemas.openxmlformats.org/drawingml/2006/main">
              <a:ext uri="{FF2B5EF4-FFF2-40B4-BE49-F238E27FC236}">
                <a16:creationId xmlns:a16="http://schemas.microsoft.com/office/drawing/2014/main" id="{67E021F0-9E68-470D-9CA8-069F51A2D91F}"/>
              </a:ext>
            </a:extLst>
          </p:cNvPr>
          <p:cNvSpPr>
            <a:spLocks xmlns:a="http://schemas.openxmlformats.org/drawingml/2006/main" noGrp="1"/>
          </p:cNvSpPr>
          <p:nvPr/>
        </p:nvSpPr>
        <p:spPr>
          <a:xfrm xmlns:a="http://schemas.openxmlformats.org/drawingml/2006/main">
            <a:off x="647700" y="1400175"/>
            <a:ext cx="10896600" cy="19050"/>
          </a:xfrm>
          <a:prstGeom xmlns:a="http://schemas.openxmlformats.org/drawingml/2006/main" prst="rect">
            <a:avLst/>
          </a:prstGeom>
          <a:solidFill xmlns:a="http://schemas.openxmlformats.org/drawingml/2006/main">
            <a:srgbClr val="D9CFD5"/>
          </a:solidFill>
          <a:ln xmlns:a="http://schemas.openxmlformats.org/drawingml/2006/main" w="0">
            <a:solidFill>
              <a:srgbClr val="D9CFD5"/>
            </a:solidFill>
          </a:ln>
        </p:spPr>
      </p:sp>
      <p:sp>
        <p:nvSpPr>
          <p:cNvPr id="4" name="">
            <a:extLst xmlns:a="http://schemas.openxmlformats.org/drawingml/2006/main">
              <a:ext uri="{FF2B5EF4-FFF2-40B4-BE49-F238E27FC236}">
                <a16:creationId xmlns:a16="http://schemas.microsoft.com/office/drawing/2014/main" id="{59FA9D2D-BC0F-43DE-AD7A-01A7FD0D13E4}"/>
              </a:ext>
            </a:extLst>
          </p:cNvPr>
          <p:cNvSpPr>
            <a:spLocks xmlns:a="http://schemas.openxmlformats.org/drawingml/2006/main" noGrp="1"/>
          </p:cNvSpPr>
          <p:nvPr/>
        </p:nvSpPr>
        <p:spPr>
          <a:xfrm xmlns:a="http://schemas.openxmlformats.org/drawingml/2006/main">
            <a:off x="704850" y="1952625"/>
            <a:ext cx="3200400" cy="2590800"/>
          </a:xfrm>
          <a:prstGeom xmlns:a="http://schemas.openxmlformats.org/drawingml/2006/main" prst="roundRect">
            <a:avLst>
              <a:gd name="adj" fmla="val 2941"/>
            </a:avLst>
          </a:prstGeom>
          <a:solidFill xmlns:a="http://schemas.openxmlformats.org/drawingml/2006/main">
            <a:srgbClr val="261A31"/>
          </a:solidFill>
          <a:ln xmlns:a="http://schemas.openxmlformats.org/drawingml/2006/main" w="0">
            <a:solidFill>
              <a:srgbClr val="261A31"/>
            </a:solidFill>
          </a:ln>
        </p:spPr>
      </p:sp>
      <p:sp>
        <p:nvSpPr>
          <p:cNvPr id="5" name="">
            <a:extLst xmlns:a="http://schemas.openxmlformats.org/drawingml/2006/main">
              <a:ext uri="{FF2B5EF4-FFF2-40B4-BE49-F238E27FC236}">
                <a16:creationId xmlns:a16="http://schemas.microsoft.com/office/drawing/2014/main" id="{8BA5E703-16DF-48EE-B26B-FABAA974FA4B}"/>
              </a:ext>
            </a:extLst>
          </p:cNvPr>
          <p:cNvSpPr>
            <a:spLocks xmlns:a="http://schemas.openxmlformats.org/drawingml/2006/main" noGrp="1"/>
          </p:cNvSpPr>
          <p:nvPr/>
        </p:nvSpPr>
        <p:spPr>
          <a:xfrm xmlns:a="http://schemas.openxmlformats.org/drawingml/2006/main">
            <a:off x="933450" y="2181225"/>
            <a:ext cx="45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900" b="1" i="0">
                <a:solidFill>
                  <a:srgbClr val="C8B7E8"/>
                </a:solidFill>
                <a:latin typeface="Helvetica"/>
                <a:ea typeface="Helvetica"/>
                <a:cs typeface="Helvetica"/>
              </a:defRPr>
            </a:defPPr>
          </a:lstStyle>
          <a:p xmlns:a="http://schemas.openxmlformats.org/drawingml/2006/main">
            <a:pPr algn="l">
              <a:defRPr sz="900" b="1" i="0">
                <a:solidFill>
                  <a:srgbClr val="C8B7E8"/>
                </a:solidFill>
                <a:latin typeface="Helvetica"/>
                <a:ea typeface="Helvetica"/>
                <a:cs typeface="Helvetica"/>
              </a:defRPr>
            </a:pPr>
            <a:r>
              <a:rPr sz="900" b="1" i="0">
                <a:solidFill>
                  <a:srgbClr val="C8B7E8"/>
                </a:solidFill>
                <a:latin typeface="Helvetica"/>
                <a:ea typeface="Helvetica"/>
                <a:cs typeface="Helvetica"/>
              </a:rPr>
              <a:t>01</a:t>
            </a:r>
          </a:p>
        </p:txBody>
      </p:sp>
      <p:sp>
        <p:nvSpPr>
          <p:cNvPr id="6" name="">
            <a:extLst xmlns:a="http://schemas.openxmlformats.org/drawingml/2006/main">
              <a:ext uri="{FF2B5EF4-FFF2-40B4-BE49-F238E27FC236}">
                <a16:creationId xmlns:a16="http://schemas.microsoft.com/office/drawing/2014/main" id="{C87B8504-04A0-4C74-BBB1-60B38373287C}"/>
              </a:ext>
            </a:extLst>
          </p:cNvPr>
          <p:cNvSpPr>
            <a:spLocks xmlns:a="http://schemas.openxmlformats.org/drawingml/2006/main" noGrp="1"/>
          </p:cNvSpPr>
          <p:nvPr/>
        </p:nvSpPr>
        <p:spPr>
          <a:xfrm xmlns:a="http://schemas.openxmlformats.org/drawingml/2006/main">
            <a:off x="933450" y="2619375"/>
            <a:ext cx="2724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575" b="1" i="0">
                <a:solidFill>
                  <a:srgbClr val="FFFDFC"/>
                </a:solidFill>
                <a:latin typeface="Helvetica"/>
                <a:ea typeface="Helvetica"/>
                <a:cs typeface="Helvetica"/>
              </a:defRPr>
            </a:defPPr>
          </a:lstStyle>
          <a:p xmlns:a="http://schemas.openxmlformats.org/drawingml/2006/main">
            <a:pPr algn="l">
              <a:defRPr sz="1575" b="1" i="0">
                <a:solidFill>
                  <a:srgbClr val="FFFDFC"/>
                </a:solidFill>
                <a:latin typeface="Helvetica"/>
                <a:ea typeface="Helvetica"/>
                <a:cs typeface="Helvetica"/>
              </a:defRPr>
            </a:pPr>
            <a:r>
              <a:rPr sz="1575" b="1" i="0">
                <a:solidFill>
                  <a:srgbClr val="FFFDFC"/>
                </a:solidFill>
                <a:latin typeface="Helvetica"/>
                <a:ea typeface="Helvetica"/>
                <a:cs typeface="Helvetica"/>
              </a:rPr>
              <a:t>DISCOVERY</a:t>
            </a:r>
          </a:p>
        </p:txBody>
      </p:sp>
      <p:sp>
        <p:nvSpPr>
          <p:cNvPr id="7" name="">
            <a:extLst xmlns:a="http://schemas.openxmlformats.org/drawingml/2006/main">
              <a:ext uri="{FF2B5EF4-FFF2-40B4-BE49-F238E27FC236}">
                <a16:creationId xmlns:a16="http://schemas.microsoft.com/office/drawing/2014/main" id="{6F352F5A-D412-46C2-A0C6-DF7A207A8F50}"/>
              </a:ext>
            </a:extLst>
          </p:cNvPr>
          <p:cNvSpPr>
            <a:spLocks xmlns:a="http://schemas.openxmlformats.org/drawingml/2006/main" noGrp="1"/>
          </p:cNvSpPr>
          <p:nvPr/>
        </p:nvSpPr>
        <p:spPr>
          <a:xfrm xmlns:a="http://schemas.openxmlformats.org/drawingml/2006/main">
            <a:off x="933450" y="3209925"/>
            <a:ext cx="27241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200" b="1" i="0">
                <a:solidFill>
                  <a:srgbClr val="FFFDFC"/>
                </a:solidFill>
                <a:latin typeface="Helvetica"/>
                <a:ea typeface="Helvetica"/>
                <a:cs typeface="Helvetica"/>
              </a:defRPr>
            </a:defPPr>
          </a:lstStyle>
          <a:p xmlns:a="http://schemas.openxmlformats.org/drawingml/2006/main">
            <a:pPr algn="l">
              <a:defRPr sz="1200" b="1" i="0">
                <a:solidFill>
                  <a:srgbClr val="FFFDFC"/>
                </a:solidFill>
                <a:latin typeface="Helvetica"/>
                <a:ea typeface="Helvetica"/>
                <a:cs typeface="Helvetica"/>
              </a:defRPr>
            </a:pPr>
            <a:r>
              <a:rPr sz="1200" b="1" i="0">
                <a:solidFill>
                  <a:srgbClr val="FFFDFC"/>
                </a:solidFill>
                <a:latin typeface="Helvetica"/>
                <a:ea typeface="Helvetica"/>
                <a:cs typeface="Helvetica"/>
              </a:rPr>
              <a:t>The useful tension is between breadth of appeal and clarity of choice.</a:t>
            </a:r>
          </a:p>
        </p:txBody>
      </p:sp>
      <p:sp>
        <p:nvSpPr>
          <p:cNvPr id="8" name="">
            <a:extLst xmlns:a="http://schemas.openxmlformats.org/drawingml/2006/main">
              <a:ext uri="{FF2B5EF4-FFF2-40B4-BE49-F238E27FC236}">
                <a16:creationId xmlns:a16="http://schemas.microsoft.com/office/drawing/2014/main" id="{9A3E5ED5-95BA-4FF8-BE19-AB9C5462A8F6}"/>
              </a:ext>
            </a:extLst>
          </p:cNvPr>
          <p:cNvSpPr>
            <a:spLocks xmlns:a="http://schemas.openxmlformats.org/drawingml/2006/main" noGrp="1"/>
          </p:cNvSpPr>
          <p:nvPr/>
        </p:nvSpPr>
        <p:spPr>
          <a:xfrm xmlns:a="http://schemas.openxmlformats.org/drawingml/2006/main">
            <a:off x="4419600" y="2105025"/>
            <a:ext cx="3200400" cy="2590800"/>
          </a:xfrm>
          <a:prstGeom xmlns:a="http://schemas.openxmlformats.org/drawingml/2006/main" prst="roundRect">
            <a:avLst>
              <a:gd name="adj" fmla="val 2941"/>
            </a:avLst>
          </a:prstGeom>
          <a:solidFill xmlns:a="http://schemas.openxmlformats.org/drawingml/2006/main">
            <a:srgbClr val="5A2E78"/>
          </a:solidFill>
          <a:ln xmlns:a="http://schemas.openxmlformats.org/drawingml/2006/main" w="0">
            <a:solidFill>
              <a:srgbClr val="5A2E78"/>
            </a:solidFill>
          </a:ln>
        </p:spPr>
      </p:sp>
      <p:sp>
        <p:nvSpPr>
          <p:cNvPr id="9" name="">
            <a:extLst xmlns:a="http://schemas.openxmlformats.org/drawingml/2006/main">
              <a:ext uri="{FF2B5EF4-FFF2-40B4-BE49-F238E27FC236}">
                <a16:creationId xmlns:a16="http://schemas.microsoft.com/office/drawing/2014/main" id="{C168A225-26A4-42B4-8A44-E3145FE74D9F}"/>
              </a:ext>
            </a:extLst>
          </p:cNvPr>
          <p:cNvSpPr>
            <a:spLocks xmlns:a="http://schemas.openxmlformats.org/drawingml/2006/main" noGrp="1"/>
          </p:cNvSpPr>
          <p:nvPr/>
        </p:nvSpPr>
        <p:spPr>
          <a:xfrm xmlns:a="http://schemas.openxmlformats.org/drawingml/2006/main">
            <a:off x="4648200" y="2333625"/>
            <a:ext cx="45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900" b="1" i="0">
                <a:solidFill>
                  <a:srgbClr val="C8B7E8"/>
                </a:solidFill>
                <a:latin typeface="Helvetica"/>
                <a:ea typeface="Helvetica"/>
                <a:cs typeface="Helvetica"/>
              </a:defRPr>
            </a:defPPr>
          </a:lstStyle>
          <a:p xmlns:a="http://schemas.openxmlformats.org/drawingml/2006/main">
            <a:pPr algn="l">
              <a:defRPr sz="900" b="1" i="0">
                <a:solidFill>
                  <a:srgbClr val="C8B7E8"/>
                </a:solidFill>
                <a:latin typeface="Helvetica"/>
                <a:ea typeface="Helvetica"/>
                <a:cs typeface="Helvetica"/>
              </a:defRPr>
            </a:pPr>
            <a:r>
              <a:rPr sz="900" b="1" i="0">
                <a:solidFill>
                  <a:srgbClr val="C8B7E8"/>
                </a:solidFill>
                <a:latin typeface="Helvetica"/>
                <a:ea typeface="Helvetica"/>
                <a:cs typeface="Helvetica"/>
              </a:rPr>
              <a:t>02</a:t>
            </a:r>
          </a:p>
        </p:txBody>
      </p:sp>
      <p:sp>
        <p:nvSpPr>
          <p:cNvPr id="10" name="">
            <a:extLst xmlns:a="http://schemas.openxmlformats.org/drawingml/2006/main">
              <a:ext uri="{FF2B5EF4-FFF2-40B4-BE49-F238E27FC236}">
                <a16:creationId xmlns:a16="http://schemas.microsoft.com/office/drawing/2014/main" id="{66943A9C-6C67-4340-BD72-658CD7E0FC1E}"/>
              </a:ext>
            </a:extLst>
          </p:cNvPr>
          <p:cNvSpPr>
            <a:spLocks xmlns:a="http://schemas.openxmlformats.org/drawingml/2006/main" noGrp="1"/>
          </p:cNvSpPr>
          <p:nvPr/>
        </p:nvSpPr>
        <p:spPr>
          <a:xfrm xmlns:a="http://schemas.openxmlformats.org/drawingml/2006/main">
            <a:off x="4648200" y="2771775"/>
            <a:ext cx="2724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575" b="1" i="0">
                <a:solidFill>
                  <a:srgbClr val="FFFDFC"/>
                </a:solidFill>
                <a:latin typeface="Helvetica"/>
                <a:ea typeface="Helvetica"/>
                <a:cs typeface="Helvetica"/>
              </a:defRPr>
            </a:defPPr>
          </a:lstStyle>
          <a:p xmlns:a="http://schemas.openxmlformats.org/drawingml/2006/main">
            <a:pPr algn="l">
              <a:defRPr sz="1575" b="1" i="0">
                <a:solidFill>
                  <a:srgbClr val="FFFDFC"/>
                </a:solidFill>
                <a:latin typeface="Helvetica"/>
                <a:ea typeface="Helvetica"/>
                <a:cs typeface="Helvetica"/>
              </a:defRPr>
            </a:pPr>
            <a:r>
              <a:rPr sz="1575" b="1" i="0">
                <a:solidFill>
                  <a:srgbClr val="FFFDFC"/>
                </a:solidFill>
                <a:latin typeface="Helvetica"/>
                <a:ea typeface="Helvetica"/>
                <a:cs typeface="Helvetica"/>
              </a:rPr>
              <a:t>DECISION</a:t>
            </a:r>
          </a:p>
        </p:txBody>
      </p:sp>
      <p:sp>
        <p:nvSpPr>
          <p:cNvPr id="11" name="">
            <a:extLst xmlns:a="http://schemas.openxmlformats.org/drawingml/2006/main">
              <a:ext uri="{FF2B5EF4-FFF2-40B4-BE49-F238E27FC236}">
                <a16:creationId xmlns:a16="http://schemas.microsoft.com/office/drawing/2014/main" id="{C2D6505D-285A-40BC-B9E1-C6FA060CA65D}"/>
              </a:ext>
            </a:extLst>
          </p:cNvPr>
          <p:cNvSpPr>
            <a:spLocks xmlns:a="http://schemas.openxmlformats.org/drawingml/2006/main" noGrp="1"/>
          </p:cNvSpPr>
          <p:nvPr/>
        </p:nvSpPr>
        <p:spPr>
          <a:xfrm xmlns:a="http://schemas.openxmlformats.org/drawingml/2006/main">
            <a:off x="4648200" y="3362325"/>
            <a:ext cx="27241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200" b="1" i="0">
                <a:solidFill>
                  <a:srgbClr val="FFFDFC"/>
                </a:solidFill>
                <a:latin typeface="Helvetica"/>
                <a:ea typeface="Helvetica"/>
                <a:cs typeface="Helvetica"/>
              </a:defRPr>
            </a:defPPr>
          </a:lstStyle>
          <a:p xmlns:a="http://schemas.openxmlformats.org/drawingml/2006/main">
            <a:pPr algn="l">
              <a:defRPr sz="1200" b="1" i="0">
                <a:solidFill>
                  <a:srgbClr val="FFFDFC"/>
                </a:solidFill>
                <a:latin typeface="Helvetica"/>
                <a:ea typeface="Helvetica"/>
                <a:cs typeface="Helvetica"/>
              </a:defRPr>
            </a:pPr>
            <a:r>
              <a:rPr sz="1200" b="1" i="0">
                <a:solidFill>
                  <a:srgbClr val="FFFDFC"/>
                </a:solidFill>
                <a:latin typeface="Helvetica"/>
                <a:ea typeface="Helvetica"/>
                <a:cs typeface="Helvetica"/>
              </a:rPr>
              <a:t>Segmentation design must rely on existing login/order-cadence/proxy-income signals only, per activation principle, and must define a distinct</a:t>
            </a:r>
          </a:p>
        </p:txBody>
      </p:sp>
      <p:sp>
        <p:nvSpPr>
          <p:cNvPr id="12" name="">
            <a:extLst xmlns:a="http://schemas.openxmlformats.org/drawingml/2006/main">
              <a:ext uri="{FF2B5EF4-FFF2-40B4-BE49-F238E27FC236}">
                <a16:creationId xmlns:a16="http://schemas.microsoft.com/office/drawing/2014/main" id="{45E00AB4-2234-4606-96FF-F2A5360E36A0}"/>
              </a:ext>
            </a:extLst>
          </p:cNvPr>
          <p:cNvSpPr>
            <a:spLocks xmlns:a="http://schemas.openxmlformats.org/drawingml/2006/main" noGrp="1"/>
          </p:cNvSpPr>
          <p:nvPr/>
        </p:nvSpPr>
        <p:spPr>
          <a:xfrm xmlns:a="http://schemas.openxmlformats.org/drawingml/2006/main">
            <a:off x="8134350" y="2257425"/>
            <a:ext cx="3200400" cy="2590800"/>
          </a:xfrm>
          <a:prstGeom xmlns:a="http://schemas.openxmlformats.org/drawingml/2006/main" prst="roundRect">
            <a:avLst>
              <a:gd name="adj" fmla="val 2941"/>
            </a:avLst>
          </a:prstGeom>
          <a:solidFill xmlns:a="http://schemas.openxmlformats.org/drawingml/2006/main">
            <a:srgbClr val="FF654F"/>
          </a:solidFill>
          <a:ln xmlns:a="http://schemas.openxmlformats.org/drawingml/2006/main" w="0">
            <a:solidFill>
              <a:srgbClr val="FF654F"/>
            </a:solidFill>
          </a:ln>
        </p:spPr>
      </p:sp>
      <p:sp>
        <p:nvSpPr>
          <p:cNvPr id="13" name="">
            <a:extLst xmlns:a="http://schemas.openxmlformats.org/drawingml/2006/main">
              <a:ext uri="{FF2B5EF4-FFF2-40B4-BE49-F238E27FC236}">
                <a16:creationId xmlns:a16="http://schemas.microsoft.com/office/drawing/2014/main" id="{D30323D0-789B-4A1F-8524-929A8FE663E6}"/>
              </a:ext>
            </a:extLst>
          </p:cNvPr>
          <p:cNvSpPr>
            <a:spLocks xmlns:a="http://schemas.openxmlformats.org/drawingml/2006/main" noGrp="1"/>
          </p:cNvSpPr>
          <p:nvPr/>
        </p:nvSpPr>
        <p:spPr>
          <a:xfrm xmlns:a="http://schemas.openxmlformats.org/drawingml/2006/main">
            <a:off x="8362950" y="2486025"/>
            <a:ext cx="45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900" b="1" i="0">
                <a:solidFill>
                  <a:srgbClr val="C8B7E8"/>
                </a:solidFill>
                <a:latin typeface="Helvetica"/>
                <a:ea typeface="Helvetica"/>
                <a:cs typeface="Helvetica"/>
              </a:defRPr>
            </a:defPPr>
          </a:lstStyle>
          <a:p xmlns:a="http://schemas.openxmlformats.org/drawingml/2006/main">
            <a:pPr algn="l">
              <a:defRPr sz="900" b="1" i="0">
                <a:solidFill>
                  <a:srgbClr val="C8B7E8"/>
                </a:solidFill>
                <a:latin typeface="Helvetica"/>
                <a:ea typeface="Helvetica"/>
                <a:cs typeface="Helvetica"/>
              </a:defRPr>
            </a:pPr>
            <a:r>
              <a:rPr sz="900" b="1" i="0">
                <a:solidFill>
                  <a:srgbClr val="C8B7E8"/>
                </a:solidFill>
                <a:latin typeface="Helvetica"/>
                <a:ea typeface="Helvetica"/>
                <a:cs typeface="Helvetica"/>
              </a:rPr>
              <a:t>03</a:t>
            </a:r>
          </a:p>
        </p:txBody>
      </p:sp>
      <p:sp>
        <p:nvSpPr>
          <p:cNvPr id="14" name="">
            <a:extLst xmlns:a="http://schemas.openxmlformats.org/drawingml/2006/main">
              <a:ext uri="{FF2B5EF4-FFF2-40B4-BE49-F238E27FC236}">
                <a16:creationId xmlns:a16="http://schemas.microsoft.com/office/drawing/2014/main" id="{8B2386E1-6AC5-4092-990A-E9E62442FE3F}"/>
              </a:ext>
            </a:extLst>
          </p:cNvPr>
          <p:cNvSpPr>
            <a:spLocks xmlns:a="http://schemas.openxmlformats.org/drawingml/2006/main" noGrp="1"/>
          </p:cNvSpPr>
          <p:nvPr/>
        </p:nvSpPr>
        <p:spPr>
          <a:xfrm xmlns:a="http://schemas.openxmlformats.org/drawingml/2006/main">
            <a:off x="8362950" y="2924175"/>
            <a:ext cx="2724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575" b="1" i="0">
                <a:solidFill>
                  <a:srgbClr val="FFFDFC"/>
                </a:solidFill>
                <a:latin typeface="Helvetica"/>
                <a:ea typeface="Helvetica"/>
                <a:cs typeface="Helvetica"/>
              </a:defRPr>
            </a:defPPr>
          </a:lstStyle>
          <a:p xmlns:a="http://schemas.openxmlformats.org/drawingml/2006/main">
            <a:pPr algn="l">
              <a:defRPr sz="1575" b="1" i="0">
                <a:solidFill>
                  <a:srgbClr val="FFFDFC"/>
                </a:solidFill>
                <a:latin typeface="Helvetica"/>
                <a:ea typeface="Helvetica"/>
                <a:cs typeface="Helvetica"/>
              </a:defRPr>
            </a:pPr>
            <a:r>
              <a:rPr sz="1575" b="1" i="0">
                <a:solidFill>
                  <a:srgbClr val="FFFDFC"/>
                </a:solidFill>
                <a:latin typeface="Helvetica"/>
                <a:ea typeface="Helvetica"/>
                <a:cs typeface="Helvetica"/>
              </a:rPr>
              <a:t>REPEAT</a:t>
            </a:r>
          </a:p>
        </p:txBody>
      </p:sp>
      <p:sp>
        <p:nvSpPr>
          <p:cNvPr id="15" name="">
            <a:extLst xmlns:a="http://schemas.openxmlformats.org/drawingml/2006/main">
              <a:ext uri="{FF2B5EF4-FFF2-40B4-BE49-F238E27FC236}">
                <a16:creationId xmlns:a16="http://schemas.microsoft.com/office/drawing/2014/main" id="{3F5045E4-E3DA-4512-A4D1-1C759A637EB1}"/>
              </a:ext>
            </a:extLst>
          </p:cNvPr>
          <p:cNvSpPr>
            <a:spLocks xmlns:a="http://schemas.openxmlformats.org/drawingml/2006/main" noGrp="1"/>
          </p:cNvSpPr>
          <p:nvPr/>
        </p:nvSpPr>
        <p:spPr>
          <a:xfrm xmlns:a="http://schemas.openxmlformats.org/drawingml/2006/main">
            <a:off x="8362950" y="3514725"/>
            <a:ext cx="27241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200" b="1" i="0">
                <a:solidFill>
                  <a:srgbClr val="FFFDFC"/>
                </a:solidFill>
                <a:latin typeface="Helvetica"/>
                <a:ea typeface="Helvetica"/>
                <a:cs typeface="Helvetica"/>
              </a:defRPr>
            </a:defPPr>
          </a:lstStyle>
          <a:p xmlns:a="http://schemas.openxmlformats.org/drawingml/2006/main">
            <a:pPr algn="l">
              <a:defRPr sz="1200" b="1" i="0">
                <a:solidFill>
                  <a:srgbClr val="FFFDFC"/>
                </a:solidFill>
                <a:latin typeface="Helvetica"/>
                <a:ea typeface="Helvetica"/>
                <a:cs typeface="Helvetica"/>
              </a:defRPr>
            </a:pPr>
            <a:r>
              <a:rPr sz="1200" b="1" i="0">
                <a:solidFill>
                  <a:srgbClr val="FFFDFC"/>
                </a:solidFill>
                <a:latin typeface="Helvetica"/>
                <a:ea typeface="Helvetica"/>
                <a:cs typeface="Helvetica"/>
              </a:rPr>
              <a:t>The useful tension is between breadth of appeal and clarity of choice.</a:t>
            </a:r>
          </a:p>
        </p:txBody>
      </p:sp>
      <p:sp>
        <p:nvSpPr>
          <p:cNvPr id="16" name="">
            <a:extLst xmlns:a="http://schemas.openxmlformats.org/drawingml/2006/main">
              <a:ext uri="{FF2B5EF4-FFF2-40B4-BE49-F238E27FC236}">
                <a16:creationId xmlns:a16="http://schemas.microsoft.com/office/drawing/2014/main" id="{9B4371C2-242A-4ED4-84A8-5BDD6912924D}"/>
              </a:ext>
            </a:extLst>
          </p:cNvPr>
          <p:cNvSpPr>
            <a:spLocks xmlns:a="http://schemas.openxmlformats.org/drawingml/2006/main" noGrp="1"/>
          </p:cNvSpPr>
          <p:nvPr/>
        </p:nvSpPr>
        <p:spPr>
          <a:xfrm xmlns:a="http://schemas.openxmlformats.org/drawingml/2006/main">
            <a:off x="647700" y="5572125"/>
            <a:ext cx="209550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675" b="1" i="0">
                <a:solidFill>
                  <a:srgbClr val="FF654F"/>
                </a:solidFill>
                <a:latin typeface="Helvetica"/>
                <a:ea typeface="Helvetica"/>
                <a:cs typeface="Helvetica"/>
              </a:defRPr>
            </a:defPPr>
          </a:lstStyle>
          <a:p xmlns:a="http://schemas.openxmlformats.org/drawingml/2006/main">
            <a:pPr algn="l">
              <a:defRPr sz="675" b="1" i="0">
                <a:solidFill>
                  <a:srgbClr val="FF654F"/>
                </a:solidFill>
                <a:latin typeface="Helvetica"/>
                <a:ea typeface="Helvetica"/>
                <a:cs typeface="Helvetica"/>
              </a:defRPr>
            </a:pPr>
            <a:r>
              <a:rPr sz="675" b="1" i="0">
                <a:solidFill>
                  <a:srgbClr val="FF654F"/>
                </a:solidFill>
                <a:latin typeface="Helvetica"/>
                <a:ea typeface="Helvetica"/>
                <a:cs typeface="Helvetica"/>
              </a:rPr>
              <a:t>COMMERCIAL CONSEQUENCE</a:t>
            </a:r>
          </a:p>
        </p:txBody>
      </p:sp>
      <p:sp>
        <p:nvSpPr>
          <p:cNvPr id="17" name="">
            <a:extLst xmlns:a="http://schemas.openxmlformats.org/drawingml/2006/main">
              <a:ext uri="{FF2B5EF4-FFF2-40B4-BE49-F238E27FC236}">
                <a16:creationId xmlns:a16="http://schemas.microsoft.com/office/drawing/2014/main" id="{2DD2F07B-D8CB-4B38-8812-08D5ED8F034C}"/>
              </a:ext>
            </a:extLst>
          </p:cNvPr>
          <p:cNvSpPr>
            <a:spLocks xmlns:a="http://schemas.openxmlformats.org/drawingml/2006/main" noGrp="1"/>
          </p:cNvSpPr>
          <p:nvPr/>
        </p:nvSpPr>
        <p:spPr>
          <a:xfrm xmlns:a="http://schemas.openxmlformats.org/drawingml/2006/main">
            <a:off x="2619375" y="5505450"/>
            <a:ext cx="8382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200" b="1" i="0">
                <a:solidFill>
                  <a:srgbClr val="15121B"/>
                </a:solidFill>
                <a:latin typeface="Helvetica"/>
                <a:ea typeface="Helvetica"/>
                <a:cs typeface="Helvetica"/>
              </a:defRPr>
            </a:defPPr>
          </a:lstStyle>
          <a:p xmlns:a="http://schemas.openxmlformats.org/drawingml/2006/main">
            <a:pPr algn="l">
              <a:defRPr sz="1200" b="1" i="0">
                <a:solidFill>
                  <a:srgbClr val="15121B"/>
                </a:solidFill>
                <a:latin typeface="Helvetica"/>
                <a:ea typeface="Helvetica"/>
                <a:cs typeface="Helvetica"/>
              </a:defRPr>
            </a:pPr>
            <a:r>
              <a:rPr sz="1200" b="1" i="0">
                <a:solidFill>
                  <a:srgbClr val="15121B"/>
                </a:solidFill>
                <a:latin typeface="Helvetica"/>
                <a:ea typeface="Helvetica"/>
                <a:cs typeface="Helvetica"/>
              </a:rPr>
              <a:t>The useful tension is between breadth of appeal and clarity of choice.</a:t>
            </a:r>
          </a:p>
        </p:txBody>
      </p:sp>
      <p:sp>
        <p:nvSpPr>
          <p:cNvPr id="18" name="">
            <a:extLst xmlns:a="http://schemas.openxmlformats.org/drawingml/2006/main">
              <a:ext uri="{FF2B5EF4-FFF2-40B4-BE49-F238E27FC236}">
                <a16:creationId xmlns:a16="http://schemas.microsoft.com/office/drawing/2014/main" id="{3ACC3C83-408A-49C1-BB00-42B029F00EE0}"/>
              </a:ext>
            </a:extLst>
          </p:cNvPr>
          <p:cNvSpPr>
            <a:spLocks xmlns:a="http://schemas.openxmlformats.org/drawingml/2006/main" noGrp="1"/>
          </p:cNvSpPr>
          <p:nvPr/>
        </p:nvSpPr>
        <p:spPr>
          <a:xfrm xmlns:a="http://schemas.openxmlformats.org/drawingml/2006/main">
            <a:off x="647700" y="6134100"/>
            <a:ext cx="4953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825" b="1" i="0">
                <a:solidFill>
                  <a:srgbClr val="756D7A"/>
                </a:solidFill>
                <a:latin typeface="Helvetica"/>
                <a:ea typeface="Helvetica"/>
                <a:cs typeface="Helvetica"/>
              </a:defRPr>
            </a:defPPr>
          </a:lstStyle>
          <a:p xmlns:a="http://schemas.openxmlformats.org/drawingml/2006/main">
            <a:pPr algn="l">
              <a:defRPr sz="825" b="1" i="0">
                <a:solidFill>
                  <a:srgbClr val="756D7A"/>
                </a:solidFill>
                <a:latin typeface="Helvetica"/>
                <a:ea typeface="Helvetica"/>
                <a:cs typeface="Helvetica"/>
              </a:defRPr>
            </a:pPr>
            <a:r>
              <a:rPr sz="825" b="1" i="0">
                <a:solidFill>
                  <a:srgbClr val="756D7A"/>
                </a:solidFill>
                <a:latin typeface="Helvetica"/>
                <a:ea typeface="Helvetica"/>
                <a:cs typeface="Helvetica"/>
              </a:rPr>
              <a:t>SOURCES: S5, S6, S7</a:t>
            </a:r>
          </a:p>
        </p:txBody>
      </p:sp>
      <p:sp>
        <p:nvSpPr>
          <p:cNvPr id="19" name="">
            <a:extLst xmlns:a="http://schemas.openxmlformats.org/drawingml/2006/main">
              <a:ext uri="{FF2B5EF4-FFF2-40B4-BE49-F238E27FC236}">
                <a16:creationId xmlns:a16="http://schemas.microsoft.com/office/drawing/2014/main" id="{2E5B22F9-7377-4B48-AEEF-EB83970D7013}"/>
              </a:ext>
            </a:extLst>
          </p:cNvPr>
          <p:cNvSpPr>
            <a:spLocks xmlns:a="http://schemas.openxmlformats.org/drawingml/2006/main" noGrp="1"/>
          </p:cNvSpPr>
          <p:nvPr/>
        </p:nvSpPr>
        <p:spPr>
          <a:xfrm xmlns:a="http://schemas.openxmlformats.org/drawingml/2006/main">
            <a:off x="5715000" y="6134100"/>
            <a:ext cx="48768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r">
              <a:defRPr sz="825" b="1" i="0">
                <a:solidFill>
                  <a:srgbClr val="5A2E78"/>
                </a:solidFill>
                <a:latin typeface="Helvetica"/>
                <a:ea typeface="Helvetica"/>
                <a:cs typeface="Helvetica"/>
              </a:defRPr>
            </a:defPPr>
          </a:lstStyle>
          <a:p xmlns:a="http://schemas.openxmlformats.org/drawingml/2006/main">
            <a:pPr algn="r">
              <a:defRPr sz="825" b="1" i="0">
                <a:solidFill>
                  <a:srgbClr val="5A2E78"/>
                </a:solidFill>
                <a:latin typeface="Helvetica"/>
                <a:ea typeface="Helvetica"/>
                <a:cs typeface="Helvetica"/>
              </a:defRPr>
            </a:pPr>
            <a:r>
              <a:rPr sz="825" b="1" i="0">
                <a:solidFill>
                  <a:srgbClr val="5A2E78"/>
                </a:solidFill>
                <a:latin typeface="Helvetica"/>
                <a:ea typeface="Helvetica"/>
                <a:cs typeface="Helvetica"/>
              </a:rPr>
              <a:t>VERIFIED FACT</a:t>
            </a:r>
          </a:p>
        </p:txBody>
      </p:sp>
      <p:sp>
        <p:nvSpPr>
          <p:cNvPr id="20" name="">
            <a:extLst xmlns:a="http://schemas.openxmlformats.org/drawingml/2006/main">
              <a:ext uri="{FF2B5EF4-FFF2-40B4-BE49-F238E27FC236}">
                <a16:creationId xmlns:a16="http://schemas.microsoft.com/office/drawing/2014/main" id="{137FFAA6-7D84-4B0B-BD5A-D654F3E5CA1B}"/>
              </a:ext>
            </a:extLst>
          </p:cNvPr>
          <p:cNvSpPr>
            <a:spLocks xmlns:a="http://schemas.openxmlformats.org/drawingml/2006/main" noGrp="1"/>
          </p:cNvSpPr>
          <p:nvPr/>
        </p:nvSpPr>
        <p:spPr>
          <a:xfrm xmlns:a="http://schemas.openxmlformats.org/drawingml/2006/main">
            <a:off x="647700" y="6515100"/>
            <a:ext cx="17145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675" b="1" i="0">
                <a:solidFill>
                  <a:srgbClr val="756D7A"/>
                </a:solidFill>
                <a:latin typeface="Helvetica"/>
                <a:ea typeface="Helvetica"/>
                <a:cs typeface="Helvetica"/>
              </a:defRPr>
            </a:defPPr>
          </a:lstStyle>
          <a:p xmlns:a="http://schemas.openxmlformats.org/drawingml/2006/main">
            <a:pPr algn="l">
              <a:defRPr sz="675" b="1" i="0">
                <a:solidFill>
                  <a:srgbClr val="756D7A"/>
                </a:solidFill>
                <a:latin typeface="Helvetica"/>
                <a:ea typeface="Helvetica"/>
                <a:cs typeface="Helvetica"/>
              </a:defRPr>
            </a:pPr>
            <a:r>
              <a:rPr sz="675" b="1" i="0">
                <a:solidFill>
                  <a:srgbClr val="756D7A"/>
                </a:solidFill>
                <a:latin typeface="Helvetica"/>
                <a:ea typeface="Helvetica"/>
                <a:cs typeface="Helvetica"/>
              </a:rPr>
              <a:t>NARRATIIVE</a:t>
            </a:r>
          </a:p>
        </p:txBody>
      </p:sp>
      <p:sp>
        <p:nvSpPr>
          <p:cNvPr id="21" name="">
            <a:extLst xmlns:a="http://schemas.openxmlformats.org/drawingml/2006/main">
              <a:ext uri="{FF2B5EF4-FFF2-40B4-BE49-F238E27FC236}">
                <a16:creationId xmlns:a16="http://schemas.microsoft.com/office/drawing/2014/main" id="{2458167E-AEE7-4E7C-BAE4-ED1963EB0C57}"/>
              </a:ext>
            </a:extLst>
          </p:cNvPr>
          <p:cNvSpPr>
            <a:spLocks xmlns:a="http://schemas.openxmlformats.org/drawingml/2006/main" noGrp="1"/>
          </p:cNvSpPr>
          <p:nvPr/>
        </p:nvSpPr>
        <p:spPr>
          <a:xfrm xmlns:a="http://schemas.openxmlformats.org/drawingml/2006/main">
            <a:off x="10668000" y="6515100"/>
            <a:ext cx="8763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r">
              <a:defRPr sz="675" b="0" i="0">
                <a:solidFill>
                  <a:srgbClr val="756D7A"/>
                </a:solidFill>
                <a:latin typeface="Helvetica"/>
                <a:ea typeface="Helvetica"/>
                <a:cs typeface="Helvetica"/>
              </a:defRPr>
            </a:defPPr>
          </a:lstStyle>
          <a:p xmlns:a="http://schemas.openxmlformats.org/drawingml/2006/main">
            <a:pPr algn="r">
              <a:defRPr sz="675" b="0" i="0">
                <a:solidFill>
                  <a:srgbClr val="756D7A"/>
                </a:solidFill>
                <a:latin typeface="Helvetica"/>
                <a:ea typeface="Helvetica"/>
                <a:cs typeface="Helvetica"/>
              </a:defRPr>
            </a:pPr>
            <a:r>
              <a:rPr sz="675" b="0" i="0">
                <a:solidFill>
                  <a:srgbClr val="756D7A"/>
                </a:solidFill>
                <a:latin typeface="Helvetica"/>
                <a:ea typeface="Helvetica"/>
                <a:cs typeface="Helvetica"/>
              </a:rPr>
              <a:t>14 / 30</a:t>
            </a:r>
          </a:p>
        </p:txBody>
      </p:sp>
    </p:spTree>
    <p:extLst>
      <p:ext uri="{BB962C8B-B14F-4D97-AF65-F5344CB8AC3E}">
        <p14:creationId xmlns:p14="http://schemas.microsoft.com/office/powerpoint/2010/main" val="846118011"/>
      </p:ext>
    </p:extLst>
  </p:cSld>
</p:sld>
</file>

<file path=ppt/slides/slide15.xml><?xml version="1.0" encoding="utf-8"?>
<p:sld xmlns:p="http://schemas.openxmlformats.org/presentationml/2006/main">
  <p:cSld>
    <p:bg>
      <p:bgPr>
        <a:solidFill xmlns:a="http://schemas.openxmlformats.org/drawingml/2006/main">
          <a:srgbClr val="F6F0E8"/>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0D768897-D00D-4CAA-9467-A8FCECE9FF99}"/>
              </a:ext>
            </a:extLst>
          </p:cNvPr>
          <p:cNvSpPr>
            <a:spLocks xmlns:a="http://schemas.openxmlformats.org/drawingml/2006/main" noGrp="1"/>
          </p:cNvSpPr>
          <p:nvPr/>
        </p:nvSpPr>
        <p:spPr>
          <a:xfrm xmlns:a="http://schemas.openxmlformats.org/drawingml/2006/main">
            <a:off x="647700" y="333375"/>
            <a:ext cx="57150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675" b="1" i="0">
                <a:solidFill>
                  <a:srgbClr val="FF654F"/>
                </a:solidFill>
                <a:latin typeface="Helvetica"/>
                <a:ea typeface="Helvetica"/>
                <a:cs typeface="Helvetica"/>
              </a:defRPr>
            </a:defPPr>
          </a:lstStyle>
          <a:p xmlns:a="http://schemas.openxmlformats.org/drawingml/2006/main">
            <a:pPr algn="l">
              <a:defRPr sz="675" b="1" i="0">
                <a:solidFill>
                  <a:srgbClr val="FF654F"/>
                </a:solidFill>
                <a:latin typeface="Helvetica"/>
                <a:ea typeface="Helvetica"/>
                <a:cs typeface="Helvetica"/>
              </a:defRPr>
            </a:pPr>
            <a:r>
              <a:rPr sz="675" b="1" i="0">
                <a:solidFill>
                  <a:srgbClr val="FF654F"/>
                </a:solidFill>
                <a:latin typeface="Helvetica"/>
                <a:ea typeface="Helvetica"/>
                <a:cs typeface="Helvetica"/>
              </a:rPr>
              <a:t>ACT 3 / AUDIENCE + DEMAND OPPORTUNITY</a:t>
            </a:r>
          </a:p>
        </p:txBody>
      </p:sp>
      <p:sp>
        <p:nvSpPr>
          <p:cNvPr id="2" name="">
            <a:extLst xmlns:a="http://schemas.openxmlformats.org/drawingml/2006/main">
              <a:ext uri="{FF2B5EF4-FFF2-40B4-BE49-F238E27FC236}">
                <a16:creationId xmlns:a16="http://schemas.microsoft.com/office/drawing/2014/main" id="{C11E88B5-0EDD-47ED-B75B-FBF9C2CECC0A}"/>
              </a:ext>
            </a:extLst>
          </p:cNvPr>
          <p:cNvSpPr>
            <a:spLocks xmlns:a="http://schemas.openxmlformats.org/drawingml/2006/main" noGrp="1"/>
          </p:cNvSpPr>
          <p:nvPr/>
        </p:nvSpPr>
        <p:spPr>
          <a:xfrm xmlns:a="http://schemas.openxmlformats.org/drawingml/2006/main">
            <a:off x="647700" y="685800"/>
            <a:ext cx="1047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2325" b="1" i="0">
                <a:solidFill>
                  <a:srgbClr val="15121B"/>
                </a:solidFill>
                <a:latin typeface="Helvetica"/>
                <a:ea typeface="Helvetica"/>
                <a:cs typeface="Helvetica"/>
              </a:defRPr>
            </a:defPPr>
          </a:lstStyle>
          <a:p xmlns:a="http://schemas.openxmlformats.org/drawingml/2006/main">
            <a:pPr algn="l">
              <a:defRPr sz="2325" b="1" i="0">
                <a:solidFill>
                  <a:srgbClr val="15121B"/>
                </a:solidFill>
                <a:latin typeface="Helvetica"/>
                <a:ea typeface="Helvetica"/>
                <a:cs typeface="Helvetica"/>
              </a:defRPr>
            </a:pPr>
            <a:r>
              <a:rPr sz="2325" b="1" i="0">
                <a:solidFill>
                  <a:srgbClr val="15121B"/>
                </a:solidFill>
                <a:latin typeface="Helvetica"/>
                <a:ea typeface="Helvetica"/>
                <a:cs typeface="Helvetica"/>
              </a:rPr>
              <a:t>Category Entry Points</a:t>
            </a:r>
          </a:p>
        </p:txBody>
      </p:sp>
      <p:sp>
        <p:nvSpPr>
          <p:cNvPr id="3" name="">
            <a:extLst xmlns:a="http://schemas.openxmlformats.org/drawingml/2006/main">
              <a:ext uri="{FF2B5EF4-FFF2-40B4-BE49-F238E27FC236}">
                <a16:creationId xmlns:a16="http://schemas.microsoft.com/office/drawing/2014/main" id="{22D98EF0-2219-4DFD-A4EE-022A51563D02}"/>
              </a:ext>
            </a:extLst>
          </p:cNvPr>
          <p:cNvSpPr>
            <a:spLocks xmlns:a="http://schemas.openxmlformats.org/drawingml/2006/main" noGrp="1"/>
          </p:cNvSpPr>
          <p:nvPr/>
        </p:nvSpPr>
        <p:spPr>
          <a:xfrm xmlns:a="http://schemas.openxmlformats.org/drawingml/2006/main">
            <a:off x="647700" y="1400175"/>
            <a:ext cx="10896600" cy="19050"/>
          </a:xfrm>
          <a:prstGeom xmlns:a="http://schemas.openxmlformats.org/drawingml/2006/main" prst="rect">
            <a:avLst/>
          </a:prstGeom>
          <a:solidFill xmlns:a="http://schemas.openxmlformats.org/drawingml/2006/main">
            <a:srgbClr val="D9CFD5"/>
          </a:solidFill>
          <a:ln xmlns:a="http://schemas.openxmlformats.org/drawingml/2006/main" w="0">
            <a:solidFill>
              <a:srgbClr val="D9CFD5"/>
            </a:solidFill>
          </a:ln>
        </p:spPr>
      </p:sp>
      <p:sp>
        <p:nvSpPr>
          <p:cNvPr id="4" name="">
            <a:extLst xmlns:a="http://schemas.openxmlformats.org/drawingml/2006/main">
              <a:ext uri="{FF2B5EF4-FFF2-40B4-BE49-F238E27FC236}">
                <a16:creationId xmlns:a16="http://schemas.microsoft.com/office/drawing/2014/main" id="{12726CBA-F5A7-45BF-8CFE-96A56CF6FBEA}"/>
              </a:ext>
            </a:extLst>
          </p:cNvPr>
          <p:cNvSpPr>
            <a:spLocks xmlns:a="http://schemas.openxmlformats.org/drawingml/2006/main" noGrp="1"/>
          </p:cNvSpPr>
          <p:nvPr/>
        </p:nvSpPr>
        <p:spPr>
          <a:xfrm xmlns:a="http://schemas.openxmlformats.org/drawingml/2006/main">
            <a:off x="704850" y="1952625"/>
            <a:ext cx="3200400" cy="2590800"/>
          </a:xfrm>
          <a:prstGeom xmlns:a="http://schemas.openxmlformats.org/drawingml/2006/main" prst="roundRect">
            <a:avLst>
              <a:gd name="adj" fmla="val 2941"/>
            </a:avLst>
          </a:prstGeom>
          <a:solidFill xmlns:a="http://schemas.openxmlformats.org/drawingml/2006/main">
            <a:srgbClr val="261A31"/>
          </a:solidFill>
          <a:ln xmlns:a="http://schemas.openxmlformats.org/drawingml/2006/main" w="0">
            <a:solidFill>
              <a:srgbClr val="261A31"/>
            </a:solidFill>
          </a:ln>
        </p:spPr>
      </p:sp>
      <p:sp>
        <p:nvSpPr>
          <p:cNvPr id="5" name="">
            <a:extLst xmlns:a="http://schemas.openxmlformats.org/drawingml/2006/main">
              <a:ext uri="{FF2B5EF4-FFF2-40B4-BE49-F238E27FC236}">
                <a16:creationId xmlns:a16="http://schemas.microsoft.com/office/drawing/2014/main" id="{DE5D3D04-D135-4A4C-A901-BCB50EB9DEB3}"/>
              </a:ext>
            </a:extLst>
          </p:cNvPr>
          <p:cNvSpPr>
            <a:spLocks xmlns:a="http://schemas.openxmlformats.org/drawingml/2006/main" noGrp="1"/>
          </p:cNvSpPr>
          <p:nvPr/>
        </p:nvSpPr>
        <p:spPr>
          <a:xfrm xmlns:a="http://schemas.openxmlformats.org/drawingml/2006/main">
            <a:off x="933450" y="2181225"/>
            <a:ext cx="45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900" b="1" i="0">
                <a:solidFill>
                  <a:srgbClr val="C8B7E8"/>
                </a:solidFill>
                <a:latin typeface="Helvetica"/>
                <a:ea typeface="Helvetica"/>
                <a:cs typeface="Helvetica"/>
              </a:defRPr>
            </a:defPPr>
          </a:lstStyle>
          <a:p xmlns:a="http://schemas.openxmlformats.org/drawingml/2006/main">
            <a:pPr algn="l">
              <a:defRPr sz="900" b="1" i="0">
                <a:solidFill>
                  <a:srgbClr val="C8B7E8"/>
                </a:solidFill>
                <a:latin typeface="Helvetica"/>
                <a:ea typeface="Helvetica"/>
                <a:cs typeface="Helvetica"/>
              </a:defRPr>
            </a:pPr>
            <a:r>
              <a:rPr sz="900" b="1" i="0">
                <a:solidFill>
                  <a:srgbClr val="C8B7E8"/>
                </a:solidFill>
                <a:latin typeface="Helvetica"/>
                <a:ea typeface="Helvetica"/>
                <a:cs typeface="Helvetica"/>
              </a:rPr>
              <a:t>01</a:t>
            </a:r>
          </a:p>
        </p:txBody>
      </p:sp>
      <p:sp>
        <p:nvSpPr>
          <p:cNvPr id="6" name="">
            <a:extLst xmlns:a="http://schemas.openxmlformats.org/drawingml/2006/main">
              <a:ext uri="{FF2B5EF4-FFF2-40B4-BE49-F238E27FC236}">
                <a16:creationId xmlns:a16="http://schemas.microsoft.com/office/drawing/2014/main" id="{59CDA014-80CA-4788-BE50-00F6A817488B}"/>
              </a:ext>
            </a:extLst>
          </p:cNvPr>
          <p:cNvSpPr>
            <a:spLocks xmlns:a="http://schemas.openxmlformats.org/drawingml/2006/main" noGrp="1"/>
          </p:cNvSpPr>
          <p:nvPr/>
        </p:nvSpPr>
        <p:spPr>
          <a:xfrm xmlns:a="http://schemas.openxmlformats.org/drawingml/2006/main">
            <a:off x="933450" y="2619375"/>
            <a:ext cx="2724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575" b="1" i="0">
                <a:solidFill>
                  <a:srgbClr val="FFFDFC"/>
                </a:solidFill>
                <a:latin typeface="Helvetica"/>
                <a:ea typeface="Helvetica"/>
                <a:cs typeface="Helvetica"/>
              </a:defRPr>
            </a:defPPr>
          </a:lstStyle>
          <a:p xmlns:a="http://schemas.openxmlformats.org/drawingml/2006/main">
            <a:pPr algn="l">
              <a:defRPr sz="1575" b="1" i="0">
                <a:solidFill>
                  <a:srgbClr val="FFFDFC"/>
                </a:solidFill>
                <a:latin typeface="Helvetica"/>
                <a:ea typeface="Helvetica"/>
                <a:cs typeface="Helvetica"/>
              </a:defRPr>
            </a:pPr>
            <a:r>
              <a:rPr sz="1575" b="1" i="0">
                <a:solidFill>
                  <a:srgbClr val="FFFDFC"/>
                </a:solidFill>
                <a:latin typeface="Helvetica"/>
                <a:ea typeface="Helvetica"/>
                <a:cs typeface="Helvetica"/>
              </a:rPr>
              <a:t>CORE</a:t>
            </a:r>
          </a:p>
        </p:txBody>
      </p:sp>
      <p:sp>
        <p:nvSpPr>
          <p:cNvPr id="7" name="">
            <a:extLst xmlns:a="http://schemas.openxmlformats.org/drawingml/2006/main">
              <a:ext uri="{FF2B5EF4-FFF2-40B4-BE49-F238E27FC236}">
                <a16:creationId xmlns:a16="http://schemas.microsoft.com/office/drawing/2014/main" id="{EA1C323A-E84F-4B47-81D6-3BC8929E9B70}"/>
              </a:ext>
            </a:extLst>
          </p:cNvPr>
          <p:cNvSpPr>
            <a:spLocks xmlns:a="http://schemas.openxmlformats.org/drawingml/2006/main" noGrp="1"/>
          </p:cNvSpPr>
          <p:nvPr/>
        </p:nvSpPr>
        <p:spPr>
          <a:xfrm xmlns:a="http://schemas.openxmlformats.org/drawingml/2006/main">
            <a:off x="933450" y="3209925"/>
            <a:ext cx="27241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200" b="1" i="0">
                <a:solidFill>
                  <a:srgbClr val="FFFDFC"/>
                </a:solidFill>
                <a:latin typeface="Helvetica"/>
                <a:ea typeface="Helvetica"/>
                <a:cs typeface="Helvetica"/>
              </a:defRPr>
            </a:defPPr>
          </a:lstStyle>
          <a:p xmlns:a="http://schemas.openxmlformats.org/drawingml/2006/main">
            <a:pPr algn="l">
              <a:defRPr sz="1200" b="1" i="0">
                <a:solidFill>
                  <a:srgbClr val="FFFDFC"/>
                </a:solidFill>
                <a:latin typeface="Helvetica"/>
                <a:ea typeface="Helvetica"/>
                <a:cs typeface="Helvetica"/>
              </a:defRPr>
            </a:pPr>
            <a:r>
              <a:rPr sz="1200" b="1" i="0">
                <a:solidFill>
                  <a:srgbClr val="FFFDFC"/>
                </a:solidFill>
                <a:latin typeface="Helvetica"/>
                <a:ea typeface="Helvetica"/>
                <a:cs typeface="Helvetica"/>
              </a:rPr>
              <a:t>Different entry points may require different proof and proposition jobs.</a:t>
            </a:r>
          </a:p>
        </p:txBody>
      </p:sp>
      <p:sp>
        <p:nvSpPr>
          <p:cNvPr id="8" name="">
            <a:extLst xmlns:a="http://schemas.openxmlformats.org/drawingml/2006/main">
              <a:ext uri="{FF2B5EF4-FFF2-40B4-BE49-F238E27FC236}">
                <a16:creationId xmlns:a16="http://schemas.microsoft.com/office/drawing/2014/main" id="{50E2514A-436E-4140-A019-3F61F66A9853}"/>
              </a:ext>
            </a:extLst>
          </p:cNvPr>
          <p:cNvSpPr>
            <a:spLocks xmlns:a="http://schemas.openxmlformats.org/drawingml/2006/main" noGrp="1"/>
          </p:cNvSpPr>
          <p:nvPr/>
        </p:nvSpPr>
        <p:spPr>
          <a:xfrm xmlns:a="http://schemas.openxmlformats.org/drawingml/2006/main">
            <a:off x="4419600" y="1952625"/>
            <a:ext cx="3200400" cy="2590800"/>
          </a:xfrm>
          <a:prstGeom xmlns:a="http://schemas.openxmlformats.org/drawingml/2006/main" prst="roundRect">
            <a:avLst>
              <a:gd name="adj" fmla="val 2941"/>
            </a:avLst>
          </a:prstGeom>
          <a:solidFill xmlns:a="http://schemas.openxmlformats.org/drawingml/2006/main">
            <a:srgbClr val="5A2E78"/>
          </a:solidFill>
          <a:ln xmlns:a="http://schemas.openxmlformats.org/drawingml/2006/main" w="0">
            <a:solidFill>
              <a:srgbClr val="5A2E78"/>
            </a:solidFill>
          </a:ln>
        </p:spPr>
      </p:sp>
      <p:sp>
        <p:nvSpPr>
          <p:cNvPr id="9" name="">
            <a:extLst xmlns:a="http://schemas.openxmlformats.org/drawingml/2006/main">
              <a:ext uri="{FF2B5EF4-FFF2-40B4-BE49-F238E27FC236}">
                <a16:creationId xmlns:a16="http://schemas.microsoft.com/office/drawing/2014/main" id="{97BC4FAA-3BAA-4143-ABFC-EE8B2286507B}"/>
              </a:ext>
            </a:extLst>
          </p:cNvPr>
          <p:cNvSpPr>
            <a:spLocks xmlns:a="http://schemas.openxmlformats.org/drawingml/2006/main" noGrp="1"/>
          </p:cNvSpPr>
          <p:nvPr/>
        </p:nvSpPr>
        <p:spPr>
          <a:xfrm xmlns:a="http://schemas.openxmlformats.org/drawingml/2006/main">
            <a:off x="4648200" y="2181225"/>
            <a:ext cx="45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900" b="1" i="0">
                <a:solidFill>
                  <a:srgbClr val="C8B7E8"/>
                </a:solidFill>
                <a:latin typeface="Helvetica"/>
                <a:ea typeface="Helvetica"/>
                <a:cs typeface="Helvetica"/>
              </a:defRPr>
            </a:defPPr>
          </a:lstStyle>
          <a:p xmlns:a="http://schemas.openxmlformats.org/drawingml/2006/main">
            <a:pPr algn="l">
              <a:defRPr sz="900" b="1" i="0">
                <a:solidFill>
                  <a:srgbClr val="C8B7E8"/>
                </a:solidFill>
                <a:latin typeface="Helvetica"/>
                <a:ea typeface="Helvetica"/>
                <a:cs typeface="Helvetica"/>
              </a:defRPr>
            </a:pPr>
            <a:r>
              <a:rPr sz="900" b="1" i="0">
                <a:solidFill>
                  <a:srgbClr val="C8B7E8"/>
                </a:solidFill>
                <a:latin typeface="Helvetica"/>
                <a:ea typeface="Helvetica"/>
                <a:cs typeface="Helvetica"/>
              </a:rPr>
              <a:t>02</a:t>
            </a:r>
          </a:p>
        </p:txBody>
      </p:sp>
      <p:sp>
        <p:nvSpPr>
          <p:cNvPr id="10" name="">
            <a:extLst xmlns:a="http://schemas.openxmlformats.org/drawingml/2006/main">
              <a:ext uri="{FF2B5EF4-FFF2-40B4-BE49-F238E27FC236}">
                <a16:creationId xmlns:a16="http://schemas.microsoft.com/office/drawing/2014/main" id="{749A4FE7-8743-4928-B534-97BCE730D749}"/>
              </a:ext>
            </a:extLst>
          </p:cNvPr>
          <p:cNvSpPr>
            <a:spLocks xmlns:a="http://schemas.openxmlformats.org/drawingml/2006/main" noGrp="1"/>
          </p:cNvSpPr>
          <p:nvPr/>
        </p:nvSpPr>
        <p:spPr>
          <a:xfrm xmlns:a="http://schemas.openxmlformats.org/drawingml/2006/main">
            <a:off x="4648200" y="2619375"/>
            <a:ext cx="2724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575" b="1" i="0">
                <a:solidFill>
                  <a:srgbClr val="FFFDFC"/>
                </a:solidFill>
                <a:latin typeface="Helvetica"/>
                <a:ea typeface="Helvetica"/>
                <a:cs typeface="Helvetica"/>
              </a:defRPr>
            </a:defPPr>
          </a:lstStyle>
          <a:p xmlns:a="http://schemas.openxmlformats.org/drawingml/2006/main">
            <a:pPr algn="l">
              <a:defRPr sz="1575" b="1" i="0">
                <a:solidFill>
                  <a:srgbClr val="FFFDFC"/>
                </a:solidFill>
                <a:latin typeface="Helvetica"/>
                <a:ea typeface="Helvetica"/>
                <a:cs typeface="Helvetica"/>
              </a:defRPr>
            </a:pPr>
            <a:r>
              <a:rPr sz="1575" b="1" i="0">
                <a:solidFill>
                  <a:srgbClr val="FFFDFC"/>
                </a:solidFill>
                <a:latin typeface="Helvetica"/>
                <a:ea typeface="Helvetica"/>
                <a:cs typeface="Helvetica"/>
              </a:rPr>
              <a:t>CONVERT</a:t>
            </a:r>
          </a:p>
        </p:txBody>
      </p:sp>
      <p:sp>
        <p:nvSpPr>
          <p:cNvPr id="11" name="">
            <a:extLst xmlns:a="http://schemas.openxmlformats.org/drawingml/2006/main">
              <a:ext uri="{FF2B5EF4-FFF2-40B4-BE49-F238E27FC236}">
                <a16:creationId xmlns:a16="http://schemas.microsoft.com/office/drawing/2014/main" id="{8F0ADCDE-E99D-4505-959B-65BFB9CB2DB6}"/>
              </a:ext>
            </a:extLst>
          </p:cNvPr>
          <p:cNvSpPr>
            <a:spLocks xmlns:a="http://schemas.openxmlformats.org/drawingml/2006/main" noGrp="1"/>
          </p:cNvSpPr>
          <p:nvPr/>
        </p:nvSpPr>
        <p:spPr>
          <a:xfrm xmlns:a="http://schemas.openxmlformats.org/drawingml/2006/main">
            <a:off x="4648200" y="3209925"/>
            <a:ext cx="27241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200" b="1" i="0">
                <a:solidFill>
                  <a:srgbClr val="FFFDFC"/>
                </a:solidFill>
                <a:latin typeface="Helvetica"/>
                <a:ea typeface="Helvetica"/>
                <a:cs typeface="Helvetica"/>
              </a:defRPr>
            </a:defPPr>
          </a:lstStyle>
          <a:p xmlns:a="http://schemas.openxmlformats.org/drawingml/2006/main">
            <a:pPr algn="l">
              <a:defRPr sz="1200" b="1" i="0">
                <a:solidFill>
                  <a:srgbClr val="FFFDFC"/>
                </a:solidFill>
                <a:latin typeface="Helvetica"/>
                <a:ea typeface="Helvetica"/>
                <a:cs typeface="Helvetica"/>
              </a:defRPr>
            </a:pPr>
            <a:r>
              <a:rPr sz="1200" b="1" i="0">
                <a:solidFill>
                  <a:srgbClr val="FFFDFC"/>
                </a:solidFill>
                <a:latin typeface="Helvetica"/>
                <a:ea typeface="Helvetica"/>
                <a:cs typeface="Helvetica"/>
              </a:rPr>
              <a:t>Approved positioning moves KatKin from 'fresh food is better' to the specific belief that cats deserve nutrition validated by independent science,</a:t>
            </a:r>
          </a:p>
        </p:txBody>
      </p:sp>
      <p:sp>
        <p:nvSpPr>
          <p:cNvPr id="12" name="">
            <a:extLst xmlns:a="http://schemas.openxmlformats.org/drawingml/2006/main">
              <a:ext uri="{FF2B5EF4-FFF2-40B4-BE49-F238E27FC236}">
                <a16:creationId xmlns:a16="http://schemas.microsoft.com/office/drawing/2014/main" id="{8FA13014-E3C6-4CBD-A8A0-E5347F9CB186}"/>
              </a:ext>
            </a:extLst>
          </p:cNvPr>
          <p:cNvSpPr>
            <a:spLocks xmlns:a="http://schemas.openxmlformats.org/drawingml/2006/main" noGrp="1"/>
          </p:cNvSpPr>
          <p:nvPr/>
        </p:nvSpPr>
        <p:spPr>
          <a:xfrm xmlns:a="http://schemas.openxmlformats.org/drawingml/2006/main">
            <a:off x="8134350" y="1952625"/>
            <a:ext cx="3200400" cy="2590800"/>
          </a:xfrm>
          <a:prstGeom xmlns:a="http://schemas.openxmlformats.org/drawingml/2006/main" prst="roundRect">
            <a:avLst>
              <a:gd name="adj" fmla="val 2941"/>
            </a:avLst>
          </a:prstGeom>
          <a:solidFill xmlns:a="http://schemas.openxmlformats.org/drawingml/2006/main">
            <a:srgbClr val="FF654F"/>
          </a:solidFill>
          <a:ln xmlns:a="http://schemas.openxmlformats.org/drawingml/2006/main" w="0">
            <a:solidFill>
              <a:srgbClr val="FF654F"/>
            </a:solidFill>
          </a:ln>
        </p:spPr>
      </p:sp>
      <p:sp>
        <p:nvSpPr>
          <p:cNvPr id="13" name="">
            <a:extLst xmlns:a="http://schemas.openxmlformats.org/drawingml/2006/main">
              <a:ext uri="{FF2B5EF4-FFF2-40B4-BE49-F238E27FC236}">
                <a16:creationId xmlns:a16="http://schemas.microsoft.com/office/drawing/2014/main" id="{D17CA658-F8FD-4FC3-B6FE-B03BF961EC54}"/>
              </a:ext>
            </a:extLst>
          </p:cNvPr>
          <p:cNvSpPr>
            <a:spLocks xmlns:a="http://schemas.openxmlformats.org/drawingml/2006/main" noGrp="1"/>
          </p:cNvSpPr>
          <p:nvPr/>
        </p:nvSpPr>
        <p:spPr>
          <a:xfrm xmlns:a="http://schemas.openxmlformats.org/drawingml/2006/main">
            <a:off x="8362950" y="2181225"/>
            <a:ext cx="45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900" b="1" i="0">
                <a:solidFill>
                  <a:srgbClr val="C8B7E8"/>
                </a:solidFill>
                <a:latin typeface="Helvetica"/>
                <a:ea typeface="Helvetica"/>
                <a:cs typeface="Helvetica"/>
              </a:defRPr>
            </a:defPPr>
          </a:lstStyle>
          <a:p xmlns:a="http://schemas.openxmlformats.org/drawingml/2006/main">
            <a:pPr algn="l">
              <a:defRPr sz="900" b="1" i="0">
                <a:solidFill>
                  <a:srgbClr val="C8B7E8"/>
                </a:solidFill>
                <a:latin typeface="Helvetica"/>
                <a:ea typeface="Helvetica"/>
                <a:cs typeface="Helvetica"/>
              </a:defRPr>
            </a:pPr>
            <a:r>
              <a:rPr sz="900" b="1" i="0">
                <a:solidFill>
                  <a:srgbClr val="C8B7E8"/>
                </a:solidFill>
                <a:latin typeface="Helvetica"/>
                <a:ea typeface="Helvetica"/>
                <a:cs typeface="Helvetica"/>
              </a:rPr>
              <a:t>03</a:t>
            </a:r>
          </a:p>
        </p:txBody>
      </p:sp>
      <p:sp>
        <p:nvSpPr>
          <p:cNvPr id="14" name="">
            <a:extLst xmlns:a="http://schemas.openxmlformats.org/drawingml/2006/main">
              <a:ext uri="{FF2B5EF4-FFF2-40B4-BE49-F238E27FC236}">
                <a16:creationId xmlns:a16="http://schemas.microsoft.com/office/drawing/2014/main" id="{5CC47B64-C151-4C45-B580-FCE52F8C26AF}"/>
              </a:ext>
            </a:extLst>
          </p:cNvPr>
          <p:cNvSpPr>
            <a:spLocks xmlns:a="http://schemas.openxmlformats.org/drawingml/2006/main" noGrp="1"/>
          </p:cNvSpPr>
          <p:nvPr/>
        </p:nvSpPr>
        <p:spPr>
          <a:xfrm xmlns:a="http://schemas.openxmlformats.org/drawingml/2006/main">
            <a:off x="8362950" y="2619375"/>
            <a:ext cx="2724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575" b="1" i="0">
                <a:solidFill>
                  <a:srgbClr val="FFFDFC"/>
                </a:solidFill>
                <a:latin typeface="Helvetica"/>
                <a:ea typeface="Helvetica"/>
                <a:cs typeface="Helvetica"/>
              </a:defRPr>
            </a:defPPr>
          </a:lstStyle>
          <a:p xmlns:a="http://schemas.openxmlformats.org/drawingml/2006/main">
            <a:pPr algn="l">
              <a:defRPr sz="1575" b="1" i="0">
                <a:solidFill>
                  <a:srgbClr val="FFFDFC"/>
                </a:solidFill>
                <a:latin typeface="Helvetica"/>
                <a:ea typeface="Helvetica"/>
                <a:cs typeface="Helvetica"/>
              </a:defRPr>
            </a:pPr>
            <a:r>
              <a:rPr sz="1575" b="1" i="0">
                <a:solidFill>
                  <a:srgbClr val="FFFDFC"/>
                </a:solidFill>
                <a:latin typeface="Helvetica"/>
                <a:ea typeface="Helvetica"/>
                <a:cs typeface="Helvetica"/>
              </a:rPr>
              <a:t>EXPAND</a:t>
            </a:r>
          </a:p>
        </p:txBody>
      </p:sp>
      <p:sp>
        <p:nvSpPr>
          <p:cNvPr id="15" name="">
            <a:extLst xmlns:a="http://schemas.openxmlformats.org/drawingml/2006/main">
              <a:ext uri="{FF2B5EF4-FFF2-40B4-BE49-F238E27FC236}">
                <a16:creationId xmlns:a16="http://schemas.microsoft.com/office/drawing/2014/main" id="{F8AAD22F-F904-450A-8171-D298CAA8A0DE}"/>
              </a:ext>
            </a:extLst>
          </p:cNvPr>
          <p:cNvSpPr>
            <a:spLocks xmlns:a="http://schemas.openxmlformats.org/drawingml/2006/main" noGrp="1"/>
          </p:cNvSpPr>
          <p:nvPr/>
        </p:nvSpPr>
        <p:spPr>
          <a:xfrm xmlns:a="http://schemas.openxmlformats.org/drawingml/2006/main">
            <a:off x="8362950" y="3209925"/>
            <a:ext cx="27241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200" b="1" i="0">
                <a:solidFill>
                  <a:srgbClr val="FFFDFC"/>
                </a:solidFill>
                <a:latin typeface="Helvetica"/>
                <a:ea typeface="Helvetica"/>
                <a:cs typeface="Helvetica"/>
              </a:defRPr>
            </a:defPPr>
          </a:lstStyle>
          <a:p xmlns:a="http://schemas.openxmlformats.org/drawingml/2006/main">
            <a:pPr algn="l">
              <a:defRPr sz="1200" b="1" i="0">
                <a:solidFill>
                  <a:srgbClr val="FFFDFC"/>
                </a:solidFill>
                <a:latin typeface="Helvetica"/>
                <a:ea typeface="Helvetica"/>
                <a:cs typeface="Helvetica"/>
              </a:defRPr>
            </a:pPr>
            <a:r>
              <a:rPr sz="1200" b="1" i="0">
                <a:solidFill>
                  <a:srgbClr val="FFFDFC"/>
                </a:solidFill>
                <a:latin typeface="Helvetica"/>
                <a:ea typeface="Helvetica"/>
                <a:cs typeface="Helvetica"/>
              </a:rPr>
              <a:t>Different entry points may require different proof and proposition jobs.</a:t>
            </a:r>
          </a:p>
        </p:txBody>
      </p:sp>
      <p:sp>
        <p:nvSpPr>
          <p:cNvPr id="16" name="">
            <a:extLst xmlns:a="http://schemas.openxmlformats.org/drawingml/2006/main">
              <a:ext uri="{FF2B5EF4-FFF2-40B4-BE49-F238E27FC236}">
                <a16:creationId xmlns:a16="http://schemas.microsoft.com/office/drawing/2014/main" id="{3ADA82BE-439F-44B6-8EFF-619959B5D3A2}"/>
              </a:ext>
            </a:extLst>
          </p:cNvPr>
          <p:cNvSpPr>
            <a:spLocks xmlns:a="http://schemas.openxmlformats.org/drawingml/2006/main" noGrp="1"/>
          </p:cNvSpPr>
          <p:nvPr/>
        </p:nvSpPr>
        <p:spPr>
          <a:xfrm xmlns:a="http://schemas.openxmlformats.org/drawingml/2006/main">
            <a:off x="647700" y="5572125"/>
            <a:ext cx="209550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675" b="1" i="0">
                <a:solidFill>
                  <a:srgbClr val="FF654F"/>
                </a:solidFill>
                <a:latin typeface="Helvetica"/>
                <a:ea typeface="Helvetica"/>
                <a:cs typeface="Helvetica"/>
              </a:defRPr>
            </a:defPPr>
          </a:lstStyle>
          <a:p xmlns:a="http://schemas.openxmlformats.org/drawingml/2006/main">
            <a:pPr algn="l">
              <a:defRPr sz="675" b="1" i="0">
                <a:solidFill>
                  <a:srgbClr val="FF654F"/>
                </a:solidFill>
                <a:latin typeface="Helvetica"/>
                <a:ea typeface="Helvetica"/>
                <a:cs typeface="Helvetica"/>
              </a:defRPr>
            </a:pPr>
            <a:r>
              <a:rPr sz="675" b="1" i="0">
                <a:solidFill>
                  <a:srgbClr val="FF654F"/>
                </a:solidFill>
                <a:latin typeface="Helvetica"/>
                <a:ea typeface="Helvetica"/>
                <a:cs typeface="Helvetica"/>
              </a:rPr>
              <a:t>COMMERCIAL CONSEQUENCE</a:t>
            </a:r>
          </a:p>
        </p:txBody>
      </p:sp>
      <p:sp>
        <p:nvSpPr>
          <p:cNvPr id="17" name="">
            <a:extLst xmlns:a="http://schemas.openxmlformats.org/drawingml/2006/main">
              <a:ext uri="{FF2B5EF4-FFF2-40B4-BE49-F238E27FC236}">
                <a16:creationId xmlns:a16="http://schemas.microsoft.com/office/drawing/2014/main" id="{395EB8DD-695C-4C4A-B75F-68113A560F1A}"/>
              </a:ext>
            </a:extLst>
          </p:cNvPr>
          <p:cNvSpPr>
            <a:spLocks xmlns:a="http://schemas.openxmlformats.org/drawingml/2006/main" noGrp="1"/>
          </p:cNvSpPr>
          <p:nvPr/>
        </p:nvSpPr>
        <p:spPr>
          <a:xfrm xmlns:a="http://schemas.openxmlformats.org/drawingml/2006/main">
            <a:off x="2619375" y="5505450"/>
            <a:ext cx="8382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200" b="1" i="0">
                <a:solidFill>
                  <a:srgbClr val="15121B"/>
                </a:solidFill>
                <a:latin typeface="Helvetica"/>
                <a:ea typeface="Helvetica"/>
                <a:cs typeface="Helvetica"/>
              </a:defRPr>
            </a:defPPr>
          </a:lstStyle>
          <a:p xmlns:a="http://schemas.openxmlformats.org/drawingml/2006/main">
            <a:pPr algn="l">
              <a:defRPr sz="1200" b="1" i="0">
                <a:solidFill>
                  <a:srgbClr val="15121B"/>
                </a:solidFill>
                <a:latin typeface="Helvetica"/>
                <a:ea typeface="Helvetica"/>
                <a:cs typeface="Helvetica"/>
              </a:defRPr>
            </a:pPr>
            <a:r>
              <a:rPr sz="1200" b="1" i="0">
                <a:solidFill>
                  <a:srgbClr val="15121B"/>
                </a:solidFill>
                <a:latin typeface="Helvetica"/>
                <a:ea typeface="Helvetica"/>
                <a:cs typeface="Helvetica"/>
              </a:rPr>
              <a:t>Different entry points may require different proof and proposition jobs.</a:t>
            </a:r>
          </a:p>
        </p:txBody>
      </p:sp>
      <p:sp>
        <p:nvSpPr>
          <p:cNvPr id="18" name="">
            <a:extLst xmlns:a="http://schemas.openxmlformats.org/drawingml/2006/main">
              <a:ext uri="{FF2B5EF4-FFF2-40B4-BE49-F238E27FC236}">
                <a16:creationId xmlns:a16="http://schemas.microsoft.com/office/drawing/2014/main" id="{D13611D7-DF95-4247-A64E-29938FB5EE7C}"/>
              </a:ext>
            </a:extLst>
          </p:cNvPr>
          <p:cNvSpPr>
            <a:spLocks xmlns:a="http://schemas.openxmlformats.org/drawingml/2006/main" noGrp="1"/>
          </p:cNvSpPr>
          <p:nvPr/>
        </p:nvSpPr>
        <p:spPr>
          <a:xfrm xmlns:a="http://schemas.openxmlformats.org/drawingml/2006/main">
            <a:off x="647700" y="6134100"/>
            <a:ext cx="4953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825" b="1" i="0">
                <a:solidFill>
                  <a:srgbClr val="756D7A"/>
                </a:solidFill>
                <a:latin typeface="Helvetica"/>
                <a:ea typeface="Helvetica"/>
                <a:cs typeface="Helvetica"/>
              </a:defRPr>
            </a:defPPr>
          </a:lstStyle>
          <a:p xmlns:a="http://schemas.openxmlformats.org/drawingml/2006/main">
            <a:pPr algn="l">
              <a:defRPr sz="825" b="1" i="0">
                <a:solidFill>
                  <a:srgbClr val="756D7A"/>
                </a:solidFill>
                <a:latin typeface="Helvetica"/>
                <a:ea typeface="Helvetica"/>
                <a:cs typeface="Helvetica"/>
              </a:defRPr>
            </a:pPr>
            <a:r>
              <a:rPr sz="825" b="1" i="0">
                <a:solidFill>
                  <a:srgbClr val="756D7A"/>
                </a:solidFill>
                <a:latin typeface="Helvetica"/>
                <a:ea typeface="Helvetica"/>
                <a:cs typeface="Helvetica"/>
              </a:rPr>
              <a:t>SOURCES: S4, S6</a:t>
            </a:r>
          </a:p>
        </p:txBody>
      </p:sp>
      <p:sp>
        <p:nvSpPr>
          <p:cNvPr id="19" name="">
            <a:extLst xmlns:a="http://schemas.openxmlformats.org/drawingml/2006/main">
              <a:ext uri="{FF2B5EF4-FFF2-40B4-BE49-F238E27FC236}">
                <a16:creationId xmlns:a16="http://schemas.microsoft.com/office/drawing/2014/main" id="{CF04D2B6-7A01-4532-8461-F32DE651DD12}"/>
              </a:ext>
            </a:extLst>
          </p:cNvPr>
          <p:cNvSpPr>
            <a:spLocks xmlns:a="http://schemas.openxmlformats.org/drawingml/2006/main" noGrp="1"/>
          </p:cNvSpPr>
          <p:nvPr/>
        </p:nvSpPr>
        <p:spPr>
          <a:xfrm xmlns:a="http://schemas.openxmlformats.org/drawingml/2006/main">
            <a:off x="5715000" y="6134100"/>
            <a:ext cx="48768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r">
              <a:defRPr sz="825" b="1" i="0">
                <a:solidFill>
                  <a:srgbClr val="5A2E78"/>
                </a:solidFill>
                <a:latin typeface="Helvetica"/>
                <a:ea typeface="Helvetica"/>
                <a:cs typeface="Helvetica"/>
              </a:defRPr>
            </a:defPPr>
          </a:lstStyle>
          <a:p xmlns:a="http://schemas.openxmlformats.org/drawingml/2006/main">
            <a:pPr algn="r">
              <a:defRPr sz="825" b="1" i="0">
                <a:solidFill>
                  <a:srgbClr val="5A2E78"/>
                </a:solidFill>
                <a:latin typeface="Helvetica"/>
                <a:ea typeface="Helvetica"/>
                <a:cs typeface="Helvetica"/>
              </a:defRPr>
            </a:pPr>
            <a:r>
              <a:rPr sz="825" b="1" i="0">
                <a:solidFill>
                  <a:srgbClr val="5A2E78"/>
                </a:solidFill>
                <a:latin typeface="Helvetica"/>
                <a:ea typeface="Helvetica"/>
                <a:cs typeface="Helvetica"/>
              </a:rPr>
              <a:t>MIXED FACT AND HYPOTHESIS + VERIFIED FACT</a:t>
            </a:r>
          </a:p>
        </p:txBody>
      </p:sp>
      <p:sp>
        <p:nvSpPr>
          <p:cNvPr id="20" name="">
            <a:extLst xmlns:a="http://schemas.openxmlformats.org/drawingml/2006/main">
              <a:ext uri="{FF2B5EF4-FFF2-40B4-BE49-F238E27FC236}">
                <a16:creationId xmlns:a16="http://schemas.microsoft.com/office/drawing/2014/main" id="{2637F96C-DCF1-4815-82E3-ABABE71A1E11}"/>
              </a:ext>
            </a:extLst>
          </p:cNvPr>
          <p:cNvSpPr>
            <a:spLocks xmlns:a="http://schemas.openxmlformats.org/drawingml/2006/main" noGrp="1"/>
          </p:cNvSpPr>
          <p:nvPr/>
        </p:nvSpPr>
        <p:spPr>
          <a:xfrm xmlns:a="http://schemas.openxmlformats.org/drawingml/2006/main">
            <a:off x="647700" y="6515100"/>
            <a:ext cx="17145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675" b="1" i="0">
                <a:solidFill>
                  <a:srgbClr val="756D7A"/>
                </a:solidFill>
                <a:latin typeface="Helvetica"/>
                <a:ea typeface="Helvetica"/>
                <a:cs typeface="Helvetica"/>
              </a:defRPr>
            </a:defPPr>
          </a:lstStyle>
          <a:p xmlns:a="http://schemas.openxmlformats.org/drawingml/2006/main">
            <a:pPr algn="l">
              <a:defRPr sz="675" b="1" i="0">
                <a:solidFill>
                  <a:srgbClr val="756D7A"/>
                </a:solidFill>
                <a:latin typeface="Helvetica"/>
                <a:ea typeface="Helvetica"/>
                <a:cs typeface="Helvetica"/>
              </a:defRPr>
            </a:pPr>
            <a:r>
              <a:rPr sz="675" b="1" i="0">
                <a:solidFill>
                  <a:srgbClr val="756D7A"/>
                </a:solidFill>
                <a:latin typeface="Helvetica"/>
                <a:ea typeface="Helvetica"/>
                <a:cs typeface="Helvetica"/>
              </a:rPr>
              <a:t>NARRATIIVE</a:t>
            </a:r>
          </a:p>
        </p:txBody>
      </p:sp>
      <p:sp>
        <p:nvSpPr>
          <p:cNvPr id="21" name="">
            <a:extLst xmlns:a="http://schemas.openxmlformats.org/drawingml/2006/main">
              <a:ext uri="{FF2B5EF4-FFF2-40B4-BE49-F238E27FC236}">
                <a16:creationId xmlns:a16="http://schemas.microsoft.com/office/drawing/2014/main" id="{6B7128A5-8E40-4CD4-A3CC-288820F4A8A4}"/>
              </a:ext>
            </a:extLst>
          </p:cNvPr>
          <p:cNvSpPr>
            <a:spLocks xmlns:a="http://schemas.openxmlformats.org/drawingml/2006/main" noGrp="1"/>
          </p:cNvSpPr>
          <p:nvPr/>
        </p:nvSpPr>
        <p:spPr>
          <a:xfrm xmlns:a="http://schemas.openxmlformats.org/drawingml/2006/main">
            <a:off x="10668000" y="6515100"/>
            <a:ext cx="8763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r">
              <a:defRPr sz="675" b="0" i="0">
                <a:solidFill>
                  <a:srgbClr val="756D7A"/>
                </a:solidFill>
                <a:latin typeface="Helvetica"/>
                <a:ea typeface="Helvetica"/>
                <a:cs typeface="Helvetica"/>
              </a:defRPr>
            </a:defPPr>
          </a:lstStyle>
          <a:p xmlns:a="http://schemas.openxmlformats.org/drawingml/2006/main">
            <a:pPr algn="r">
              <a:defRPr sz="675" b="0" i="0">
                <a:solidFill>
                  <a:srgbClr val="756D7A"/>
                </a:solidFill>
                <a:latin typeface="Helvetica"/>
                <a:ea typeface="Helvetica"/>
                <a:cs typeface="Helvetica"/>
              </a:defRPr>
            </a:pPr>
            <a:r>
              <a:rPr sz="675" b="0" i="0">
                <a:solidFill>
                  <a:srgbClr val="756D7A"/>
                </a:solidFill>
                <a:latin typeface="Helvetica"/>
                <a:ea typeface="Helvetica"/>
                <a:cs typeface="Helvetica"/>
              </a:rPr>
              <a:t>15 / 30</a:t>
            </a:r>
          </a:p>
        </p:txBody>
      </p:sp>
    </p:spTree>
    <p:extLst>
      <p:ext uri="{BB962C8B-B14F-4D97-AF65-F5344CB8AC3E}">
        <p14:creationId xmlns:p14="http://schemas.microsoft.com/office/powerpoint/2010/main" val="1635551771"/>
      </p:ext>
    </p:extLst>
  </p:cSld>
</p:sld>
</file>

<file path=ppt/slides/slide16.xml><?xml version="1.0" encoding="utf-8"?>
<p:sld xmlns:p="http://schemas.openxmlformats.org/presentationml/2006/main">
  <p:cSld>
    <p:bg>
      <p:bgPr>
        <a:solidFill xmlns:a="http://schemas.openxmlformats.org/drawingml/2006/main">
          <a:srgbClr val="15121B"/>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29B6FE2E-5678-4E98-8640-27476A85AF08}"/>
              </a:ext>
            </a:extLst>
          </p:cNvPr>
          <p:cNvSpPr>
            <a:spLocks xmlns:a="http://schemas.openxmlformats.org/drawingml/2006/main" noGrp="1"/>
          </p:cNvSpPr>
          <p:nvPr/>
        </p:nvSpPr>
        <p:spPr>
          <a:xfrm xmlns:a="http://schemas.openxmlformats.org/drawingml/2006/main">
            <a:off x="647700" y="333375"/>
            <a:ext cx="57150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675" b="1" i="0">
                <a:solidFill>
                  <a:srgbClr val="FF654F"/>
                </a:solidFill>
                <a:latin typeface="Helvetica"/>
                <a:ea typeface="Helvetica"/>
                <a:cs typeface="Helvetica"/>
              </a:defRPr>
            </a:defPPr>
          </a:lstStyle>
          <a:p xmlns:a="http://schemas.openxmlformats.org/drawingml/2006/main">
            <a:pPr algn="l">
              <a:defRPr sz="675" b="1" i="0">
                <a:solidFill>
                  <a:srgbClr val="FF654F"/>
                </a:solidFill>
                <a:latin typeface="Helvetica"/>
                <a:ea typeface="Helvetica"/>
                <a:cs typeface="Helvetica"/>
              </a:defRPr>
            </a:pPr>
            <a:r>
              <a:rPr sz="675" b="1" i="0">
                <a:solidFill>
                  <a:srgbClr val="FF654F"/>
                </a:solidFill>
                <a:latin typeface="Helvetica"/>
                <a:ea typeface="Helvetica"/>
                <a:cs typeface="Helvetica"/>
              </a:rPr>
              <a:t>ACT 4 / POSITIONING + NARRATIVE ANSWER</a:t>
            </a:r>
          </a:p>
        </p:txBody>
      </p:sp>
      <p:sp>
        <p:nvSpPr>
          <p:cNvPr id="2" name="">
            <a:extLst xmlns:a="http://schemas.openxmlformats.org/drawingml/2006/main">
              <a:ext uri="{FF2B5EF4-FFF2-40B4-BE49-F238E27FC236}">
                <a16:creationId xmlns:a16="http://schemas.microsoft.com/office/drawing/2014/main" id="{64A7211A-29BF-43CA-8D05-78692D6FE418}"/>
              </a:ext>
            </a:extLst>
          </p:cNvPr>
          <p:cNvSpPr>
            <a:spLocks xmlns:a="http://schemas.openxmlformats.org/drawingml/2006/main" noGrp="1"/>
          </p:cNvSpPr>
          <p:nvPr/>
        </p:nvSpPr>
        <p:spPr>
          <a:xfrm xmlns:a="http://schemas.openxmlformats.org/drawingml/2006/main">
            <a:off x="647700" y="685800"/>
            <a:ext cx="1047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2325" b="1" i="0">
                <a:solidFill>
                  <a:srgbClr val="FFFDFC"/>
                </a:solidFill>
                <a:latin typeface="Helvetica"/>
                <a:ea typeface="Helvetica"/>
                <a:cs typeface="Helvetica"/>
              </a:defRPr>
            </a:defPPr>
          </a:lstStyle>
          <a:p xmlns:a="http://schemas.openxmlformats.org/drawingml/2006/main">
            <a:pPr algn="l">
              <a:defRPr sz="2325" b="1" i="0">
                <a:solidFill>
                  <a:srgbClr val="FFFDFC"/>
                </a:solidFill>
                <a:latin typeface="Helvetica"/>
                <a:ea typeface="Helvetica"/>
                <a:cs typeface="Helvetica"/>
              </a:defRPr>
            </a:pPr>
            <a:r>
              <a:rPr sz="2325" b="1" i="0">
                <a:solidFill>
                  <a:srgbClr val="FFFDFC"/>
                </a:solidFill>
                <a:latin typeface="Helvetica"/>
                <a:ea typeface="Helvetica"/>
                <a:cs typeface="Helvetica"/>
              </a:rPr>
              <a:t>Current Brand Diagnosis</a:t>
            </a:r>
          </a:p>
        </p:txBody>
      </p:sp>
      <p:sp>
        <p:nvSpPr>
          <p:cNvPr id="3" name="">
            <a:extLst xmlns:a="http://schemas.openxmlformats.org/drawingml/2006/main">
              <a:ext uri="{FF2B5EF4-FFF2-40B4-BE49-F238E27FC236}">
                <a16:creationId xmlns:a16="http://schemas.microsoft.com/office/drawing/2014/main" id="{E77CD47A-EC1C-4CBD-9038-625AC9C16929}"/>
              </a:ext>
            </a:extLst>
          </p:cNvPr>
          <p:cNvSpPr>
            <a:spLocks xmlns:a="http://schemas.openxmlformats.org/drawingml/2006/main" noGrp="1"/>
          </p:cNvSpPr>
          <p:nvPr/>
        </p:nvSpPr>
        <p:spPr>
          <a:xfrm xmlns:a="http://schemas.openxmlformats.org/drawingml/2006/main">
            <a:off x="647700" y="1400175"/>
            <a:ext cx="10896600" cy="19050"/>
          </a:xfrm>
          <a:prstGeom xmlns:a="http://schemas.openxmlformats.org/drawingml/2006/main" prst="rect">
            <a:avLst/>
          </a:prstGeom>
          <a:solidFill xmlns:a="http://schemas.openxmlformats.org/drawingml/2006/main">
            <a:srgbClr val="5A2E78"/>
          </a:solidFill>
          <a:ln xmlns:a="http://schemas.openxmlformats.org/drawingml/2006/main" w="0">
            <a:solidFill>
              <a:srgbClr val="5A2E78"/>
            </a:solidFill>
          </a:ln>
        </p:spPr>
      </p:sp>
      <p:sp>
        <p:nvSpPr>
          <p:cNvPr id="4" name="">
            <a:extLst xmlns:a="http://schemas.openxmlformats.org/drawingml/2006/main">
              <a:ext uri="{FF2B5EF4-FFF2-40B4-BE49-F238E27FC236}">
                <a16:creationId xmlns:a16="http://schemas.microsoft.com/office/drawing/2014/main" id="{687938A9-C0D9-41C4-AADE-7F3E3546C33F}"/>
              </a:ext>
            </a:extLst>
          </p:cNvPr>
          <p:cNvSpPr>
            <a:spLocks xmlns:a="http://schemas.openxmlformats.org/drawingml/2006/main" noGrp="1"/>
          </p:cNvSpPr>
          <p:nvPr/>
        </p:nvSpPr>
        <p:spPr>
          <a:xfrm xmlns:a="http://schemas.openxmlformats.org/drawingml/2006/main">
            <a:off x="762000" y="1752600"/>
            <a:ext cx="1428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750" b="1" i="0">
                <a:solidFill>
                  <a:srgbClr val="FF654F"/>
                </a:solidFill>
                <a:latin typeface="Helvetica"/>
                <a:ea typeface="Helvetica"/>
                <a:cs typeface="Helvetica"/>
              </a:defRPr>
            </a:defPPr>
          </a:lstStyle>
          <a:p xmlns:a="http://schemas.openxmlformats.org/drawingml/2006/main">
            <a:pPr algn="l">
              <a:defRPr sz="750" b="1" i="0">
                <a:solidFill>
                  <a:srgbClr val="FF654F"/>
                </a:solidFill>
                <a:latin typeface="Helvetica"/>
                <a:ea typeface="Helvetica"/>
                <a:cs typeface="Helvetica"/>
              </a:defRPr>
            </a:pPr>
            <a:r>
              <a:rPr sz="750" b="1" i="0">
                <a:solidFill>
                  <a:srgbClr val="FF654F"/>
                </a:solidFill>
                <a:latin typeface="Helvetica"/>
                <a:ea typeface="Helvetica"/>
                <a:cs typeface="Helvetica"/>
              </a:rPr>
              <a:t>POSITION</a:t>
            </a:r>
          </a:p>
        </p:txBody>
      </p:sp>
      <p:sp>
        <p:nvSpPr>
          <p:cNvPr id="5" name="">
            <a:extLst xmlns:a="http://schemas.openxmlformats.org/drawingml/2006/main">
              <a:ext uri="{FF2B5EF4-FFF2-40B4-BE49-F238E27FC236}">
                <a16:creationId xmlns:a16="http://schemas.microsoft.com/office/drawing/2014/main" id="{8E18248F-61AC-48CB-9259-07D6D7996CC0}"/>
              </a:ext>
            </a:extLst>
          </p:cNvPr>
          <p:cNvSpPr>
            <a:spLocks xmlns:a="http://schemas.openxmlformats.org/drawingml/2006/main" noGrp="1"/>
          </p:cNvSpPr>
          <p:nvPr/>
        </p:nvSpPr>
        <p:spPr>
          <a:xfrm xmlns:a="http://schemas.openxmlformats.org/drawingml/2006/main">
            <a:off x="2333625" y="1838325"/>
            <a:ext cx="495300" cy="19050"/>
          </a:xfrm>
          <a:prstGeom xmlns:a="http://schemas.openxmlformats.org/drawingml/2006/main" prst="rect">
            <a:avLst/>
          </a:prstGeom>
          <a:solidFill xmlns:a="http://schemas.openxmlformats.org/drawingml/2006/main">
            <a:srgbClr val="5A2E78"/>
          </a:solidFill>
          <a:ln xmlns:a="http://schemas.openxmlformats.org/drawingml/2006/main" w="0">
            <a:solidFill>
              <a:srgbClr val="5A2E78"/>
            </a:solidFill>
          </a:ln>
        </p:spPr>
      </p:sp>
      <p:sp>
        <p:nvSpPr>
          <p:cNvPr id="6" name="">
            <a:extLst xmlns:a="http://schemas.openxmlformats.org/drawingml/2006/main">
              <a:ext uri="{FF2B5EF4-FFF2-40B4-BE49-F238E27FC236}">
                <a16:creationId xmlns:a16="http://schemas.microsoft.com/office/drawing/2014/main" id="{CC695FEC-42ED-41D0-8006-EBFBBADBD610}"/>
              </a:ext>
            </a:extLst>
          </p:cNvPr>
          <p:cNvSpPr>
            <a:spLocks xmlns:a="http://schemas.openxmlformats.org/drawingml/2006/main" noGrp="1"/>
          </p:cNvSpPr>
          <p:nvPr/>
        </p:nvSpPr>
        <p:spPr>
          <a:xfrm xmlns:a="http://schemas.openxmlformats.org/drawingml/2006/main">
            <a:off x="3143250" y="1676400"/>
            <a:ext cx="7334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875" b="1" i="0">
                <a:solidFill>
                  <a:srgbClr val="FF654F"/>
                </a:solidFill>
                <a:latin typeface="Helvetica"/>
                <a:ea typeface="Helvetica"/>
                <a:cs typeface="Helvetica"/>
              </a:defRPr>
            </a:defPPr>
          </a:lstStyle>
          <a:p xmlns:a="http://schemas.openxmlformats.org/drawingml/2006/main">
            <a:pPr algn="l">
              <a:defRPr sz="1875" b="1" i="0">
                <a:solidFill>
                  <a:srgbClr val="FF654F"/>
                </a:solidFill>
                <a:latin typeface="Helvetica"/>
                <a:ea typeface="Helvetica"/>
                <a:cs typeface="Helvetica"/>
              </a:defRPr>
            </a:pPr>
            <a:r>
              <a:rPr sz="1875" b="1" i="0">
                <a:solidFill>
                  <a:srgbClr val="FF654F"/>
                </a:solidFill>
                <a:latin typeface="Helvetica"/>
                <a:ea typeface="Helvetica"/>
                <a:cs typeface="Helvetica"/>
              </a:rPr>
              <a:t>Proof, not promise</a:t>
            </a:r>
          </a:p>
        </p:txBody>
      </p:sp>
      <p:sp>
        <p:nvSpPr>
          <p:cNvPr id="7" name="">
            <a:extLst xmlns:a="http://schemas.openxmlformats.org/drawingml/2006/main">
              <a:ext uri="{FF2B5EF4-FFF2-40B4-BE49-F238E27FC236}">
                <a16:creationId xmlns:a16="http://schemas.microsoft.com/office/drawing/2014/main" id="{9E194C56-BA2F-4C7C-BEAF-8B7F15C9BF77}"/>
              </a:ext>
            </a:extLst>
          </p:cNvPr>
          <p:cNvSpPr>
            <a:spLocks xmlns:a="http://schemas.openxmlformats.org/drawingml/2006/main" noGrp="1"/>
          </p:cNvSpPr>
          <p:nvPr/>
        </p:nvSpPr>
        <p:spPr>
          <a:xfrm xmlns:a="http://schemas.openxmlformats.org/drawingml/2006/main">
            <a:off x="762000" y="2609850"/>
            <a:ext cx="1428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750" b="1" i="0">
                <a:solidFill>
                  <a:srgbClr val="FF654F"/>
                </a:solidFill>
                <a:latin typeface="Helvetica"/>
                <a:ea typeface="Helvetica"/>
                <a:cs typeface="Helvetica"/>
              </a:defRPr>
            </a:defPPr>
          </a:lstStyle>
          <a:p xmlns:a="http://schemas.openxmlformats.org/drawingml/2006/main">
            <a:pPr algn="l">
              <a:defRPr sz="750" b="1" i="0">
                <a:solidFill>
                  <a:srgbClr val="FF654F"/>
                </a:solidFill>
                <a:latin typeface="Helvetica"/>
                <a:ea typeface="Helvetica"/>
                <a:cs typeface="Helvetica"/>
              </a:defRPr>
            </a:pPr>
            <a:r>
              <a:rPr sz="750" b="1" i="0">
                <a:solidFill>
                  <a:srgbClr val="FF654F"/>
                </a:solidFill>
                <a:latin typeface="Helvetica"/>
                <a:ea typeface="Helvetica"/>
                <a:cs typeface="Helvetica"/>
              </a:rPr>
              <a:t>BENEFIT</a:t>
            </a:r>
          </a:p>
        </p:txBody>
      </p:sp>
      <p:sp>
        <p:nvSpPr>
          <p:cNvPr id="8" name="">
            <a:extLst xmlns:a="http://schemas.openxmlformats.org/drawingml/2006/main">
              <a:ext uri="{FF2B5EF4-FFF2-40B4-BE49-F238E27FC236}">
                <a16:creationId xmlns:a16="http://schemas.microsoft.com/office/drawing/2014/main" id="{1ACC856E-E22E-42C2-BC41-5674414411B0}"/>
              </a:ext>
            </a:extLst>
          </p:cNvPr>
          <p:cNvSpPr>
            <a:spLocks xmlns:a="http://schemas.openxmlformats.org/drawingml/2006/main" noGrp="1"/>
          </p:cNvSpPr>
          <p:nvPr/>
        </p:nvSpPr>
        <p:spPr>
          <a:xfrm xmlns:a="http://schemas.openxmlformats.org/drawingml/2006/main">
            <a:off x="2333625" y="2695575"/>
            <a:ext cx="495300" cy="19050"/>
          </a:xfrm>
          <a:prstGeom xmlns:a="http://schemas.openxmlformats.org/drawingml/2006/main" prst="rect">
            <a:avLst/>
          </a:prstGeom>
          <a:solidFill xmlns:a="http://schemas.openxmlformats.org/drawingml/2006/main">
            <a:srgbClr val="5A2E78"/>
          </a:solidFill>
          <a:ln xmlns:a="http://schemas.openxmlformats.org/drawingml/2006/main" w="0">
            <a:solidFill>
              <a:srgbClr val="5A2E78"/>
            </a:solidFill>
          </a:ln>
        </p:spPr>
      </p:sp>
      <p:sp>
        <p:nvSpPr>
          <p:cNvPr id="9" name="">
            <a:extLst xmlns:a="http://schemas.openxmlformats.org/drawingml/2006/main">
              <a:ext uri="{FF2B5EF4-FFF2-40B4-BE49-F238E27FC236}">
                <a16:creationId xmlns:a16="http://schemas.microsoft.com/office/drawing/2014/main" id="{E3EE8C7E-28F8-4E94-82DA-831B14C97C12}"/>
              </a:ext>
            </a:extLst>
          </p:cNvPr>
          <p:cNvSpPr>
            <a:spLocks xmlns:a="http://schemas.openxmlformats.org/drawingml/2006/main" noGrp="1"/>
          </p:cNvSpPr>
          <p:nvPr/>
        </p:nvSpPr>
        <p:spPr>
          <a:xfrm xmlns:a="http://schemas.openxmlformats.org/drawingml/2006/main">
            <a:off x="3143250" y="2533650"/>
            <a:ext cx="7334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875" b="1" i="0">
                <a:solidFill>
                  <a:srgbClr val="FFFDFC"/>
                </a:solidFill>
                <a:latin typeface="Helvetica"/>
                <a:ea typeface="Helvetica"/>
                <a:cs typeface="Helvetica"/>
              </a:defRPr>
            </a:defPPr>
          </a:lstStyle>
          <a:p xmlns:a="http://schemas.openxmlformats.org/drawingml/2006/main">
            <a:pPr algn="l">
              <a:defRPr sz="1875" b="1" i="0">
                <a:solidFill>
                  <a:srgbClr val="FFFDFC"/>
                </a:solidFill>
                <a:latin typeface="Helvetica"/>
                <a:ea typeface="Helvetica"/>
                <a:cs typeface="Helvetica"/>
              </a:defRPr>
            </a:pPr>
            <a:r>
              <a:rPr sz="1875" b="1" i="0">
                <a:solidFill>
                  <a:srgbClr val="FFFDFC"/>
                </a:solidFill>
                <a:latin typeface="Helvetica"/>
                <a:ea typeface="Helvetica"/>
                <a:cs typeface="Helvetica"/>
              </a:rPr>
              <a:t>Confidence without self-audit</a:t>
            </a:r>
          </a:p>
        </p:txBody>
      </p:sp>
      <p:sp>
        <p:nvSpPr>
          <p:cNvPr id="10" name="">
            <a:extLst xmlns:a="http://schemas.openxmlformats.org/drawingml/2006/main">
              <a:ext uri="{FF2B5EF4-FFF2-40B4-BE49-F238E27FC236}">
                <a16:creationId xmlns:a16="http://schemas.microsoft.com/office/drawing/2014/main" id="{31F518C3-FB05-4AA2-8250-654BD8AC4D08}"/>
              </a:ext>
            </a:extLst>
          </p:cNvPr>
          <p:cNvSpPr>
            <a:spLocks xmlns:a="http://schemas.openxmlformats.org/drawingml/2006/main" noGrp="1"/>
          </p:cNvSpPr>
          <p:nvPr/>
        </p:nvSpPr>
        <p:spPr>
          <a:xfrm xmlns:a="http://schemas.openxmlformats.org/drawingml/2006/main">
            <a:off x="762000" y="3467100"/>
            <a:ext cx="1428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750" b="1" i="0">
                <a:solidFill>
                  <a:srgbClr val="FF654F"/>
                </a:solidFill>
                <a:latin typeface="Helvetica"/>
                <a:ea typeface="Helvetica"/>
                <a:cs typeface="Helvetica"/>
              </a:defRPr>
            </a:defPPr>
          </a:lstStyle>
          <a:p xmlns:a="http://schemas.openxmlformats.org/drawingml/2006/main">
            <a:pPr algn="l">
              <a:defRPr sz="750" b="1" i="0">
                <a:solidFill>
                  <a:srgbClr val="FF654F"/>
                </a:solidFill>
                <a:latin typeface="Helvetica"/>
                <a:ea typeface="Helvetica"/>
                <a:cs typeface="Helvetica"/>
              </a:defRPr>
            </a:pPr>
            <a:r>
              <a:rPr sz="750" b="1" i="0">
                <a:solidFill>
                  <a:srgbClr val="FF654F"/>
                </a:solidFill>
                <a:latin typeface="Helvetica"/>
                <a:ea typeface="Helvetica"/>
                <a:cs typeface="Helvetica"/>
              </a:rPr>
              <a:t>PLATFORM</a:t>
            </a:r>
          </a:p>
        </p:txBody>
      </p:sp>
      <p:sp>
        <p:nvSpPr>
          <p:cNvPr id="11" name="">
            <a:extLst xmlns:a="http://schemas.openxmlformats.org/drawingml/2006/main">
              <a:ext uri="{FF2B5EF4-FFF2-40B4-BE49-F238E27FC236}">
                <a16:creationId xmlns:a16="http://schemas.microsoft.com/office/drawing/2014/main" id="{AFDA818B-D206-441B-9D4A-3CA1BFC37477}"/>
              </a:ext>
            </a:extLst>
          </p:cNvPr>
          <p:cNvSpPr>
            <a:spLocks xmlns:a="http://schemas.openxmlformats.org/drawingml/2006/main" noGrp="1"/>
          </p:cNvSpPr>
          <p:nvPr/>
        </p:nvSpPr>
        <p:spPr>
          <a:xfrm xmlns:a="http://schemas.openxmlformats.org/drawingml/2006/main">
            <a:off x="2333625" y="3552825"/>
            <a:ext cx="495300" cy="19050"/>
          </a:xfrm>
          <a:prstGeom xmlns:a="http://schemas.openxmlformats.org/drawingml/2006/main" prst="rect">
            <a:avLst/>
          </a:prstGeom>
          <a:solidFill xmlns:a="http://schemas.openxmlformats.org/drawingml/2006/main">
            <a:srgbClr val="5A2E78"/>
          </a:solidFill>
          <a:ln xmlns:a="http://schemas.openxmlformats.org/drawingml/2006/main" w="0">
            <a:solidFill>
              <a:srgbClr val="5A2E78"/>
            </a:solidFill>
          </a:ln>
        </p:spPr>
      </p:sp>
      <p:sp>
        <p:nvSpPr>
          <p:cNvPr id="12" name="">
            <a:extLst xmlns:a="http://schemas.openxmlformats.org/drawingml/2006/main">
              <a:ext uri="{FF2B5EF4-FFF2-40B4-BE49-F238E27FC236}">
                <a16:creationId xmlns:a16="http://schemas.microsoft.com/office/drawing/2014/main" id="{10FCEB77-ED33-4FF8-B161-399DF8E8F087}"/>
              </a:ext>
            </a:extLst>
          </p:cNvPr>
          <p:cNvSpPr>
            <a:spLocks xmlns:a="http://schemas.openxmlformats.org/drawingml/2006/main" noGrp="1"/>
          </p:cNvSpPr>
          <p:nvPr/>
        </p:nvSpPr>
        <p:spPr>
          <a:xfrm xmlns:a="http://schemas.openxmlformats.org/drawingml/2006/main">
            <a:off x="3143250" y="3390900"/>
            <a:ext cx="7334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875" b="1" i="0">
                <a:solidFill>
                  <a:srgbClr val="FFFDFC"/>
                </a:solidFill>
                <a:latin typeface="Helvetica"/>
                <a:ea typeface="Helvetica"/>
                <a:cs typeface="Helvetica"/>
              </a:defRPr>
            </a:defPPr>
          </a:lstStyle>
          <a:p xmlns:a="http://schemas.openxmlformats.org/drawingml/2006/main">
            <a:pPr algn="l">
              <a:defRPr sz="1875" b="1" i="0">
                <a:solidFill>
                  <a:srgbClr val="FFFDFC"/>
                </a:solidFill>
                <a:latin typeface="Helvetica"/>
                <a:ea typeface="Helvetica"/>
                <a:cs typeface="Helvetica"/>
              </a:defRPr>
            </a:pPr>
            <a:r>
              <a:rPr sz="1875" b="1" i="0">
                <a:solidFill>
                  <a:srgbClr val="FFFDFC"/>
                </a:solidFill>
                <a:latin typeface="Helvetica"/>
                <a:ea typeface="Helvetica"/>
                <a:cs typeface="Helvetica"/>
              </a:rPr>
              <a:t>The science cats deserve</a:t>
            </a:r>
          </a:p>
        </p:txBody>
      </p:sp>
      <p:sp>
        <p:nvSpPr>
          <p:cNvPr id="13" name="">
            <a:extLst xmlns:a="http://schemas.openxmlformats.org/drawingml/2006/main">
              <a:ext uri="{FF2B5EF4-FFF2-40B4-BE49-F238E27FC236}">
                <a16:creationId xmlns:a16="http://schemas.microsoft.com/office/drawing/2014/main" id="{1B73DCB9-6018-4354-873F-51A8319B9445}"/>
              </a:ext>
            </a:extLst>
          </p:cNvPr>
          <p:cNvSpPr>
            <a:spLocks xmlns:a="http://schemas.openxmlformats.org/drawingml/2006/main" noGrp="1"/>
          </p:cNvSpPr>
          <p:nvPr/>
        </p:nvSpPr>
        <p:spPr>
          <a:xfrm xmlns:a="http://schemas.openxmlformats.org/drawingml/2006/main">
            <a:off x="762000" y="4324350"/>
            <a:ext cx="1428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750" b="1" i="0">
                <a:solidFill>
                  <a:srgbClr val="FF654F"/>
                </a:solidFill>
                <a:latin typeface="Helvetica"/>
                <a:ea typeface="Helvetica"/>
                <a:cs typeface="Helvetica"/>
              </a:defRPr>
            </a:defPPr>
          </a:lstStyle>
          <a:p xmlns:a="http://schemas.openxmlformats.org/drawingml/2006/main">
            <a:pPr algn="l">
              <a:defRPr sz="750" b="1" i="0">
                <a:solidFill>
                  <a:srgbClr val="FF654F"/>
                </a:solidFill>
                <a:latin typeface="Helvetica"/>
                <a:ea typeface="Helvetica"/>
                <a:cs typeface="Helvetica"/>
              </a:defRPr>
            </a:pPr>
            <a:r>
              <a:rPr sz="750" b="1" i="0">
                <a:solidFill>
                  <a:srgbClr val="FF654F"/>
                </a:solidFill>
                <a:latin typeface="Helvetica"/>
                <a:ea typeface="Helvetica"/>
                <a:cs typeface="Helvetica"/>
              </a:rPr>
              <a:t>EXPRESSION</a:t>
            </a:r>
          </a:p>
        </p:txBody>
      </p:sp>
      <p:sp>
        <p:nvSpPr>
          <p:cNvPr id="14" name="">
            <a:extLst xmlns:a="http://schemas.openxmlformats.org/drawingml/2006/main">
              <a:ext uri="{FF2B5EF4-FFF2-40B4-BE49-F238E27FC236}">
                <a16:creationId xmlns:a16="http://schemas.microsoft.com/office/drawing/2014/main" id="{20957355-DE6D-4783-81F9-A3273AC985F1}"/>
              </a:ext>
            </a:extLst>
          </p:cNvPr>
          <p:cNvSpPr>
            <a:spLocks xmlns:a="http://schemas.openxmlformats.org/drawingml/2006/main" noGrp="1"/>
          </p:cNvSpPr>
          <p:nvPr/>
        </p:nvSpPr>
        <p:spPr>
          <a:xfrm xmlns:a="http://schemas.openxmlformats.org/drawingml/2006/main">
            <a:off x="2333625" y="4410075"/>
            <a:ext cx="495300" cy="19050"/>
          </a:xfrm>
          <a:prstGeom xmlns:a="http://schemas.openxmlformats.org/drawingml/2006/main" prst="rect">
            <a:avLst/>
          </a:prstGeom>
          <a:solidFill xmlns:a="http://schemas.openxmlformats.org/drawingml/2006/main">
            <a:srgbClr val="5A2E78"/>
          </a:solidFill>
          <a:ln xmlns:a="http://schemas.openxmlformats.org/drawingml/2006/main" w="0">
            <a:solidFill>
              <a:srgbClr val="5A2E78"/>
            </a:solidFill>
          </a:ln>
        </p:spPr>
      </p:sp>
      <p:sp>
        <p:nvSpPr>
          <p:cNvPr id="15" name="">
            <a:extLst xmlns:a="http://schemas.openxmlformats.org/drawingml/2006/main">
              <a:ext uri="{FF2B5EF4-FFF2-40B4-BE49-F238E27FC236}">
                <a16:creationId xmlns:a16="http://schemas.microsoft.com/office/drawing/2014/main" id="{170BDA94-8EEA-44E7-9931-6BCE7DFC4825}"/>
              </a:ext>
            </a:extLst>
          </p:cNvPr>
          <p:cNvSpPr>
            <a:spLocks xmlns:a="http://schemas.openxmlformats.org/drawingml/2006/main" noGrp="1"/>
          </p:cNvSpPr>
          <p:nvPr/>
        </p:nvSpPr>
        <p:spPr>
          <a:xfrm xmlns:a="http://schemas.openxmlformats.org/drawingml/2006/main">
            <a:off x="3143250" y="4248150"/>
            <a:ext cx="7334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875" b="1" i="0">
                <a:solidFill>
                  <a:srgbClr val="FFFDFC"/>
                </a:solidFill>
                <a:latin typeface="Helvetica"/>
                <a:ea typeface="Helvetica"/>
                <a:cs typeface="Helvetica"/>
              </a:defRPr>
            </a:defPPr>
          </a:lstStyle>
          <a:p xmlns:a="http://schemas.openxmlformats.org/drawingml/2006/main">
            <a:pPr algn="l">
              <a:defRPr sz="1875" b="1" i="0">
                <a:solidFill>
                  <a:srgbClr val="FFFDFC"/>
                </a:solidFill>
                <a:latin typeface="Helvetica"/>
                <a:ea typeface="Helvetica"/>
                <a:cs typeface="Helvetica"/>
              </a:defRPr>
            </a:pPr>
            <a:r>
              <a:rPr sz="1875" b="1" i="0">
                <a:solidFill>
                  <a:srgbClr val="FFFDFC"/>
                </a:solidFill>
                <a:latin typeface="Helvetica"/>
                <a:ea typeface="Helvetica"/>
                <a:cs typeface="Helvetica"/>
              </a:rPr>
              <a:t>Visible without personalisation</a:t>
            </a:r>
          </a:p>
        </p:txBody>
      </p:sp>
      <p:sp>
        <p:nvSpPr>
          <p:cNvPr id="16" name="">
            <a:extLst xmlns:a="http://schemas.openxmlformats.org/drawingml/2006/main">
              <a:ext uri="{FF2B5EF4-FFF2-40B4-BE49-F238E27FC236}">
                <a16:creationId xmlns:a16="http://schemas.microsoft.com/office/drawing/2014/main" id="{14CDA291-81F2-45F3-83CD-86AD8FA91CA1}"/>
              </a:ext>
            </a:extLst>
          </p:cNvPr>
          <p:cNvSpPr>
            <a:spLocks xmlns:a="http://schemas.openxmlformats.org/drawingml/2006/main" noGrp="1"/>
          </p:cNvSpPr>
          <p:nvPr/>
        </p:nvSpPr>
        <p:spPr>
          <a:xfrm xmlns:a="http://schemas.openxmlformats.org/drawingml/2006/main">
            <a:off x="647700" y="5572125"/>
            <a:ext cx="209550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675" b="1" i="0">
                <a:solidFill>
                  <a:srgbClr val="FF654F"/>
                </a:solidFill>
                <a:latin typeface="Helvetica"/>
                <a:ea typeface="Helvetica"/>
                <a:cs typeface="Helvetica"/>
              </a:defRPr>
            </a:defPPr>
          </a:lstStyle>
          <a:p xmlns:a="http://schemas.openxmlformats.org/drawingml/2006/main">
            <a:pPr algn="l">
              <a:defRPr sz="675" b="1" i="0">
                <a:solidFill>
                  <a:srgbClr val="FF654F"/>
                </a:solidFill>
                <a:latin typeface="Helvetica"/>
                <a:ea typeface="Helvetica"/>
                <a:cs typeface="Helvetica"/>
              </a:defRPr>
            </a:pPr>
            <a:r>
              <a:rPr sz="675" b="1" i="0">
                <a:solidFill>
                  <a:srgbClr val="FF654F"/>
                </a:solidFill>
                <a:latin typeface="Helvetica"/>
                <a:ea typeface="Helvetica"/>
                <a:cs typeface="Helvetica"/>
              </a:rPr>
              <a:t>COMMERCIAL CONSEQUENCE</a:t>
            </a:r>
          </a:p>
        </p:txBody>
      </p:sp>
      <p:sp>
        <p:nvSpPr>
          <p:cNvPr id="17" name="">
            <a:extLst xmlns:a="http://schemas.openxmlformats.org/drawingml/2006/main">
              <a:ext uri="{FF2B5EF4-FFF2-40B4-BE49-F238E27FC236}">
                <a16:creationId xmlns:a16="http://schemas.microsoft.com/office/drawing/2014/main" id="{74EFE264-4DAF-409C-A877-DE3A7BBDD296}"/>
              </a:ext>
            </a:extLst>
          </p:cNvPr>
          <p:cNvSpPr>
            <a:spLocks xmlns:a="http://schemas.openxmlformats.org/drawingml/2006/main" noGrp="1"/>
          </p:cNvSpPr>
          <p:nvPr/>
        </p:nvSpPr>
        <p:spPr>
          <a:xfrm xmlns:a="http://schemas.openxmlformats.org/drawingml/2006/main">
            <a:off x="2619375" y="5505450"/>
            <a:ext cx="8382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200" b="1" i="0">
                <a:solidFill>
                  <a:srgbClr val="FFFDFC"/>
                </a:solidFill>
                <a:latin typeface="Helvetica"/>
                <a:ea typeface="Helvetica"/>
                <a:cs typeface="Helvetica"/>
              </a:defRPr>
            </a:defPPr>
          </a:lstStyle>
          <a:p xmlns:a="http://schemas.openxmlformats.org/drawingml/2006/main">
            <a:pPr algn="l">
              <a:defRPr sz="1200" b="1" i="0">
                <a:solidFill>
                  <a:srgbClr val="FFFDFC"/>
                </a:solidFill>
                <a:latin typeface="Helvetica"/>
                <a:ea typeface="Helvetica"/>
                <a:cs typeface="Helvetica"/>
              </a:defRPr>
            </a:pPr>
            <a:r>
              <a:rPr sz="1200" b="1" i="0">
                <a:solidFill>
                  <a:srgbClr val="FFFDFC"/>
                </a:solidFill>
                <a:latin typeface="Helvetica"/>
                <a:ea typeface="Helvetica"/>
                <a:cs typeface="Helvetica"/>
              </a:rPr>
              <a:t>KatKin's current proposition is observable; its effectiveness is not proven.</a:t>
            </a:r>
          </a:p>
        </p:txBody>
      </p:sp>
      <p:sp>
        <p:nvSpPr>
          <p:cNvPr id="18" name="">
            <a:extLst xmlns:a="http://schemas.openxmlformats.org/drawingml/2006/main">
              <a:ext uri="{FF2B5EF4-FFF2-40B4-BE49-F238E27FC236}">
                <a16:creationId xmlns:a16="http://schemas.microsoft.com/office/drawing/2014/main" id="{E59444F0-61B1-455A-B8D4-0DF6088DE833}"/>
              </a:ext>
            </a:extLst>
          </p:cNvPr>
          <p:cNvSpPr>
            <a:spLocks xmlns:a="http://schemas.openxmlformats.org/drawingml/2006/main" noGrp="1"/>
          </p:cNvSpPr>
          <p:nvPr/>
        </p:nvSpPr>
        <p:spPr>
          <a:xfrm xmlns:a="http://schemas.openxmlformats.org/drawingml/2006/main">
            <a:off x="647700" y="6134100"/>
            <a:ext cx="4953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825" b="1" i="0">
                <a:solidFill>
                  <a:srgbClr val="C8B7E8"/>
                </a:solidFill>
                <a:latin typeface="Helvetica"/>
                <a:ea typeface="Helvetica"/>
                <a:cs typeface="Helvetica"/>
              </a:defRPr>
            </a:defPPr>
          </a:lstStyle>
          <a:p xmlns:a="http://schemas.openxmlformats.org/drawingml/2006/main">
            <a:pPr algn="l">
              <a:defRPr sz="825" b="1" i="0">
                <a:solidFill>
                  <a:srgbClr val="C8B7E8"/>
                </a:solidFill>
                <a:latin typeface="Helvetica"/>
                <a:ea typeface="Helvetica"/>
                <a:cs typeface="Helvetica"/>
              </a:defRPr>
            </a:pPr>
            <a:r>
              <a:rPr sz="825" b="1" i="0">
                <a:solidFill>
                  <a:srgbClr val="C8B7E8"/>
                </a:solidFill>
                <a:latin typeface="Helvetica"/>
                <a:ea typeface="Helvetica"/>
                <a:cs typeface="Helvetica"/>
              </a:rPr>
              <a:t>SOURCES: S1A, S1B</a:t>
            </a:r>
          </a:p>
        </p:txBody>
      </p:sp>
      <p:sp>
        <p:nvSpPr>
          <p:cNvPr id="19" name="">
            <a:extLst xmlns:a="http://schemas.openxmlformats.org/drawingml/2006/main">
              <a:ext uri="{FF2B5EF4-FFF2-40B4-BE49-F238E27FC236}">
                <a16:creationId xmlns:a16="http://schemas.microsoft.com/office/drawing/2014/main" id="{02AFEF11-3142-44AE-81C8-EB19AB8E3891}"/>
              </a:ext>
            </a:extLst>
          </p:cNvPr>
          <p:cNvSpPr>
            <a:spLocks xmlns:a="http://schemas.openxmlformats.org/drawingml/2006/main" noGrp="1"/>
          </p:cNvSpPr>
          <p:nvPr/>
        </p:nvSpPr>
        <p:spPr>
          <a:xfrm xmlns:a="http://schemas.openxmlformats.org/drawingml/2006/main">
            <a:off x="5715000" y="6134100"/>
            <a:ext cx="48768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r">
              <a:defRPr sz="825" b="1" i="0">
                <a:solidFill>
                  <a:srgbClr val="C8B7E8"/>
                </a:solidFill>
                <a:latin typeface="Helvetica"/>
                <a:ea typeface="Helvetica"/>
                <a:cs typeface="Helvetica"/>
              </a:defRPr>
            </a:defPPr>
          </a:lstStyle>
          <a:p xmlns:a="http://schemas.openxmlformats.org/drawingml/2006/main">
            <a:pPr algn="r">
              <a:defRPr sz="825" b="1" i="0">
                <a:solidFill>
                  <a:srgbClr val="C8B7E8"/>
                </a:solidFill>
                <a:latin typeface="Helvetica"/>
                <a:ea typeface="Helvetica"/>
                <a:cs typeface="Helvetica"/>
              </a:defRPr>
            </a:pPr>
            <a:r>
              <a:rPr sz="825" b="1" i="0">
                <a:solidFill>
                  <a:srgbClr val="C8B7E8"/>
                </a:solidFill>
                <a:latin typeface="Helvetica"/>
                <a:ea typeface="Helvetica"/>
                <a:cs typeface="Helvetica"/>
              </a:rPr>
              <a:t>VERIFIED FACT</a:t>
            </a:r>
          </a:p>
        </p:txBody>
      </p:sp>
      <p:sp>
        <p:nvSpPr>
          <p:cNvPr id="20" name="">
            <a:extLst xmlns:a="http://schemas.openxmlformats.org/drawingml/2006/main">
              <a:ext uri="{FF2B5EF4-FFF2-40B4-BE49-F238E27FC236}">
                <a16:creationId xmlns:a16="http://schemas.microsoft.com/office/drawing/2014/main" id="{F457475D-B584-41AB-8C2F-EB2BC4F1AB39}"/>
              </a:ext>
            </a:extLst>
          </p:cNvPr>
          <p:cNvSpPr>
            <a:spLocks xmlns:a="http://schemas.openxmlformats.org/drawingml/2006/main" noGrp="1"/>
          </p:cNvSpPr>
          <p:nvPr/>
        </p:nvSpPr>
        <p:spPr>
          <a:xfrm xmlns:a="http://schemas.openxmlformats.org/drawingml/2006/main">
            <a:off x="647700" y="6515100"/>
            <a:ext cx="17145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675" b="1" i="0">
                <a:solidFill>
                  <a:srgbClr val="C8B7E8"/>
                </a:solidFill>
                <a:latin typeface="Helvetica"/>
                <a:ea typeface="Helvetica"/>
                <a:cs typeface="Helvetica"/>
              </a:defRPr>
            </a:defPPr>
          </a:lstStyle>
          <a:p xmlns:a="http://schemas.openxmlformats.org/drawingml/2006/main">
            <a:pPr algn="l">
              <a:defRPr sz="675" b="1" i="0">
                <a:solidFill>
                  <a:srgbClr val="C8B7E8"/>
                </a:solidFill>
                <a:latin typeface="Helvetica"/>
                <a:ea typeface="Helvetica"/>
                <a:cs typeface="Helvetica"/>
              </a:defRPr>
            </a:pPr>
            <a:r>
              <a:rPr sz="675" b="1" i="0">
                <a:solidFill>
                  <a:srgbClr val="C8B7E8"/>
                </a:solidFill>
                <a:latin typeface="Helvetica"/>
                <a:ea typeface="Helvetica"/>
                <a:cs typeface="Helvetica"/>
              </a:rPr>
              <a:t>NARRATIIVE</a:t>
            </a:r>
          </a:p>
        </p:txBody>
      </p:sp>
      <p:sp>
        <p:nvSpPr>
          <p:cNvPr id="21" name="">
            <a:extLst xmlns:a="http://schemas.openxmlformats.org/drawingml/2006/main">
              <a:ext uri="{FF2B5EF4-FFF2-40B4-BE49-F238E27FC236}">
                <a16:creationId xmlns:a16="http://schemas.microsoft.com/office/drawing/2014/main" id="{2A1FA578-B103-4968-BB41-4771780BEBAF}"/>
              </a:ext>
            </a:extLst>
          </p:cNvPr>
          <p:cNvSpPr>
            <a:spLocks xmlns:a="http://schemas.openxmlformats.org/drawingml/2006/main" noGrp="1"/>
          </p:cNvSpPr>
          <p:nvPr/>
        </p:nvSpPr>
        <p:spPr>
          <a:xfrm xmlns:a="http://schemas.openxmlformats.org/drawingml/2006/main">
            <a:off x="10668000" y="6515100"/>
            <a:ext cx="8763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r">
              <a:defRPr sz="675" b="0" i="0">
                <a:solidFill>
                  <a:srgbClr val="C8B7E8"/>
                </a:solidFill>
                <a:latin typeface="Helvetica"/>
                <a:ea typeface="Helvetica"/>
                <a:cs typeface="Helvetica"/>
              </a:defRPr>
            </a:defPPr>
          </a:lstStyle>
          <a:p xmlns:a="http://schemas.openxmlformats.org/drawingml/2006/main">
            <a:pPr algn="r">
              <a:defRPr sz="675" b="0" i="0">
                <a:solidFill>
                  <a:srgbClr val="C8B7E8"/>
                </a:solidFill>
                <a:latin typeface="Helvetica"/>
                <a:ea typeface="Helvetica"/>
                <a:cs typeface="Helvetica"/>
              </a:defRPr>
            </a:pPr>
            <a:r>
              <a:rPr sz="675" b="0" i="0">
                <a:solidFill>
                  <a:srgbClr val="C8B7E8"/>
                </a:solidFill>
                <a:latin typeface="Helvetica"/>
                <a:ea typeface="Helvetica"/>
                <a:cs typeface="Helvetica"/>
              </a:rPr>
              <a:t>16 / 30</a:t>
            </a:r>
          </a:p>
        </p:txBody>
      </p:sp>
    </p:spTree>
    <p:extLst>
      <p:ext uri="{BB962C8B-B14F-4D97-AF65-F5344CB8AC3E}">
        <p14:creationId xmlns:p14="http://schemas.microsoft.com/office/powerpoint/2010/main" val="191537284"/>
      </p:ext>
    </p:extLst>
  </p:cSld>
</p:sld>
</file>

<file path=ppt/slides/slide17.xml><?xml version="1.0" encoding="utf-8"?>
<p:sld xmlns:p="http://schemas.openxmlformats.org/presentationml/2006/main">
  <p:cSld>
    <p:bg>
      <p:bgPr>
        <a:solidFill xmlns:a="http://schemas.openxmlformats.org/drawingml/2006/main">
          <a:srgbClr val="15121B"/>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7CEF5C39-E5A1-483D-B13F-4F90F4D8DD83}"/>
              </a:ext>
            </a:extLst>
          </p:cNvPr>
          <p:cNvSpPr>
            <a:spLocks xmlns:a="http://schemas.openxmlformats.org/drawingml/2006/main" noGrp="1"/>
          </p:cNvSpPr>
          <p:nvPr/>
        </p:nvSpPr>
        <p:spPr>
          <a:xfrm xmlns:a="http://schemas.openxmlformats.org/drawingml/2006/main">
            <a:off x="647700" y="333375"/>
            <a:ext cx="57150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675" b="1" i="0">
                <a:solidFill>
                  <a:srgbClr val="FF654F"/>
                </a:solidFill>
                <a:latin typeface="Helvetica"/>
                <a:ea typeface="Helvetica"/>
                <a:cs typeface="Helvetica"/>
              </a:defRPr>
            </a:defPPr>
          </a:lstStyle>
          <a:p xmlns:a="http://schemas.openxmlformats.org/drawingml/2006/main">
            <a:pPr algn="l">
              <a:defRPr sz="675" b="1" i="0">
                <a:solidFill>
                  <a:srgbClr val="FF654F"/>
                </a:solidFill>
                <a:latin typeface="Helvetica"/>
                <a:ea typeface="Helvetica"/>
                <a:cs typeface="Helvetica"/>
              </a:defRPr>
            </a:pPr>
            <a:r>
              <a:rPr sz="675" b="1" i="0">
                <a:solidFill>
                  <a:srgbClr val="FF654F"/>
                </a:solidFill>
                <a:latin typeface="Helvetica"/>
                <a:ea typeface="Helvetica"/>
                <a:cs typeface="Helvetica"/>
              </a:rPr>
              <a:t>ACT 4 / POSITIONING + NARRATIVE ANSWER</a:t>
            </a:r>
          </a:p>
        </p:txBody>
      </p:sp>
      <p:sp>
        <p:nvSpPr>
          <p:cNvPr id="2" name="">
            <a:extLst xmlns:a="http://schemas.openxmlformats.org/drawingml/2006/main">
              <a:ext uri="{FF2B5EF4-FFF2-40B4-BE49-F238E27FC236}">
                <a16:creationId xmlns:a16="http://schemas.microsoft.com/office/drawing/2014/main" id="{F526D123-6249-409E-9711-3AD2E7950EF4}"/>
              </a:ext>
            </a:extLst>
          </p:cNvPr>
          <p:cNvSpPr>
            <a:spLocks xmlns:a="http://schemas.openxmlformats.org/drawingml/2006/main" noGrp="1"/>
          </p:cNvSpPr>
          <p:nvPr/>
        </p:nvSpPr>
        <p:spPr>
          <a:xfrm xmlns:a="http://schemas.openxmlformats.org/drawingml/2006/main">
            <a:off x="647700" y="685800"/>
            <a:ext cx="1047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2325" b="1" i="0">
                <a:solidFill>
                  <a:srgbClr val="FFFDFC"/>
                </a:solidFill>
                <a:latin typeface="Helvetica"/>
                <a:ea typeface="Helvetica"/>
                <a:cs typeface="Helvetica"/>
              </a:defRPr>
            </a:defPPr>
          </a:lstStyle>
          <a:p xmlns:a="http://schemas.openxmlformats.org/drawingml/2006/main">
            <a:pPr algn="l">
              <a:defRPr sz="2325" b="1" i="0">
                <a:solidFill>
                  <a:srgbClr val="FFFDFC"/>
                </a:solidFill>
                <a:latin typeface="Helvetica"/>
                <a:ea typeface="Helvetica"/>
                <a:cs typeface="Helvetica"/>
              </a:defRPr>
            </a:pPr>
            <a:r>
              <a:rPr sz="2325" b="1" i="0">
                <a:solidFill>
                  <a:srgbClr val="FFFDFC"/>
                </a:solidFill>
                <a:latin typeface="Helvetica"/>
                <a:ea typeface="Helvetica"/>
                <a:cs typeface="Helvetica"/>
              </a:rPr>
              <a:t>Positioning Problem</a:t>
            </a:r>
          </a:p>
        </p:txBody>
      </p:sp>
      <p:sp>
        <p:nvSpPr>
          <p:cNvPr id="3" name="">
            <a:extLst xmlns:a="http://schemas.openxmlformats.org/drawingml/2006/main">
              <a:ext uri="{FF2B5EF4-FFF2-40B4-BE49-F238E27FC236}">
                <a16:creationId xmlns:a16="http://schemas.microsoft.com/office/drawing/2014/main" id="{7EB648B7-D222-4D14-BF3F-80A3334802BA}"/>
              </a:ext>
            </a:extLst>
          </p:cNvPr>
          <p:cNvSpPr>
            <a:spLocks xmlns:a="http://schemas.openxmlformats.org/drawingml/2006/main" noGrp="1"/>
          </p:cNvSpPr>
          <p:nvPr/>
        </p:nvSpPr>
        <p:spPr>
          <a:xfrm xmlns:a="http://schemas.openxmlformats.org/drawingml/2006/main">
            <a:off x="647700" y="1400175"/>
            <a:ext cx="10896600" cy="19050"/>
          </a:xfrm>
          <a:prstGeom xmlns:a="http://schemas.openxmlformats.org/drawingml/2006/main" prst="rect">
            <a:avLst/>
          </a:prstGeom>
          <a:solidFill xmlns:a="http://schemas.openxmlformats.org/drawingml/2006/main">
            <a:srgbClr val="5A2E78"/>
          </a:solidFill>
          <a:ln xmlns:a="http://schemas.openxmlformats.org/drawingml/2006/main" w="0">
            <a:solidFill>
              <a:srgbClr val="5A2E78"/>
            </a:solidFill>
          </a:ln>
        </p:spPr>
      </p:sp>
      <p:sp>
        <p:nvSpPr>
          <p:cNvPr id="4" name="">
            <a:extLst xmlns:a="http://schemas.openxmlformats.org/drawingml/2006/main">
              <a:ext uri="{FF2B5EF4-FFF2-40B4-BE49-F238E27FC236}">
                <a16:creationId xmlns:a16="http://schemas.microsoft.com/office/drawing/2014/main" id="{2EEA0DDB-4B77-45B7-AA92-6BBBB0985F99}"/>
              </a:ext>
            </a:extLst>
          </p:cNvPr>
          <p:cNvSpPr>
            <a:spLocks xmlns:a="http://schemas.openxmlformats.org/drawingml/2006/main" noGrp="1"/>
          </p:cNvSpPr>
          <p:nvPr/>
        </p:nvSpPr>
        <p:spPr>
          <a:xfrm xmlns:a="http://schemas.openxmlformats.org/drawingml/2006/main">
            <a:off x="762000" y="1752600"/>
            <a:ext cx="1428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750" b="1" i="0">
                <a:solidFill>
                  <a:srgbClr val="FF654F"/>
                </a:solidFill>
                <a:latin typeface="Helvetica"/>
                <a:ea typeface="Helvetica"/>
                <a:cs typeface="Helvetica"/>
              </a:defRPr>
            </a:defPPr>
          </a:lstStyle>
          <a:p xmlns:a="http://schemas.openxmlformats.org/drawingml/2006/main">
            <a:pPr algn="l">
              <a:defRPr sz="750" b="1" i="0">
                <a:solidFill>
                  <a:srgbClr val="FF654F"/>
                </a:solidFill>
                <a:latin typeface="Helvetica"/>
                <a:ea typeface="Helvetica"/>
                <a:cs typeface="Helvetica"/>
              </a:defRPr>
            </a:pPr>
            <a:r>
              <a:rPr sz="750" b="1" i="0">
                <a:solidFill>
                  <a:srgbClr val="FF654F"/>
                </a:solidFill>
                <a:latin typeface="Helvetica"/>
                <a:ea typeface="Helvetica"/>
                <a:cs typeface="Helvetica"/>
              </a:rPr>
              <a:t>POSITION</a:t>
            </a:r>
          </a:p>
        </p:txBody>
      </p:sp>
      <p:sp>
        <p:nvSpPr>
          <p:cNvPr id="5" name="">
            <a:extLst xmlns:a="http://schemas.openxmlformats.org/drawingml/2006/main">
              <a:ext uri="{FF2B5EF4-FFF2-40B4-BE49-F238E27FC236}">
                <a16:creationId xmlns:a16="http://schemas.microsoft.com/office/drawing/2014/main" id="{67034C0D-058D-41D3-91D8-A73AC135F7B1}"/>
              </a:ext>
            </a:extLst>
          </p:cNvPr>
          <p:cNvSpPr>
            <a:spLocks xmlns:a="http://schemas.openxmlformats.org/drawingml/2006/main" noGrp="1"/>
          </p:cNvSpPr>
          <p:nvPr/>
        </p:nvSpPr>
        <p:spPr>
          <a:xfrm xmlns:a="http://schemas.openxmlformats.org/drawingml/2006/main">
            <a:off x="2333625" y="1838325"/>
            <a:ext cx="495300" cy="19050"/>
          </a:xfrm>
          <a:prstGeom xmlns:a="http://schemas.openxmlformats.org/drawingml/2006/main" prst="rect">
            <a:avLst/>
          </a:prstGeom>
          <a:solidFill xmlns:a="http://schemas.openxmlformats.org/drawingml/2006/main">
            <a:srgbClr val="5A2E78"/>
          </a:solidFill>
          <a:ln xmlns:a="http://schemas.openxmlformats.org/drawingml/2006/main" w="0">
            <a:solidFill>
              <a:srgbClr val="5A2E78"/>
            </a:solidFill>
          </a:ln>
        </p:spPr>
      </p:sp>
      <p:sp>
        <p:nvSpPr>
          <p:cNvPr id="6" name="">
            <a:extLst xmlns:a="http://schemas.openxmlformats.org/drawingml/2006/main">
              <a:ext uri="{FF2B5EF4-FFF2-40B4-BE49-F238E27FC236}">
                <a16:creationId xmlns:a16="http://schemas.microsoft.com/office/drawing/2014/main" id="{A3F0DDB3-7315-443E-B2E3-AAD3AC929EE5}"/>
              </a:ext>
            </a:extLst>
          </p:cNvPr>
          <p:cNvSpPr>
            <a:spLocks xmlns:a="http://schemas.openxmlformats.org/drawingml/2006/main" noGrp="1"/>
          </p:cNvSpPr>
          <p:nvPr/>
        </p:nvSpPr>
        <p:spPr>
          <a:xfrm xmlns:a="http://schemas.openxmlformats.org/drawingml/2006/main">
            <a:off x="3143250" y="1676400"/>
            <a:ext cx="7334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875" b="1" i="0">
                <a:solidFill>
                  <a:srgbClr val="FFFDFC"/>
                </a:solidFill>
                <a:latin typeface="Helvetica"/>
                <a:ea typeface="Helvetica"/>
                <a:cs typeface="Helvetica"/>
              </a:defRPr>
            </a:defPPr>
          </a:lstStyle>
          <a:p xmlns:a="http://schemas.openxmlformats.org/drawingml/2006/main">
            <a:pPr algn="l">
              <a:defRPr sz="1875" b="1" i="0">
                <a:solidFill>
                  <a:srgbClr val="FFFDFC"/>
                </a:solidFill>
                <a:latin typeface="Helvetica"/>
                <a:ea typeface="Helvetica"/>
                <a:cs typeface="Helvetica"/>
              </a:defRPr>
            </a:pPr>
            <a:r>
              <a:rPr sz="1875" b="1" i="0">
                <a:solidFill>
                  <a:srgbClr val="FFFDFC"/>
                </a:solidFill>
                <a:latin typeface="Helvetica"/>
                <a:ea typeface="Helvetica"/>
                <a:cs typeface="Helvetica"/>
              </a:rPr>
              <a:t>Proof, not promise</a:t>
            </a:r>
          </a:p>
        </p:txBody>
      </p:sp>
      <p:sp>
        <p:nvSpPr>
          <p:cNvPr id="7" name="">
            <a:extLst xmlns:a="http://schemas.openxmlformats.org/drawingml/2006/main">
              <a:ext uri="{FF2B5EF4-FFF2-40B4-BE49-F238E27FC236}">
                <a16:creationId xmlns:a16="http://schemas.microsoft.com/office/drawing/2014/main" id="{3FD6F02D-E412-4E92-BEDD-84F9B994042A}"/>
              </a:ext>
            </a:extLst>
          </p:cNvPr>
          <p:cNvSpPr>
            <a:spLocks xmlns:a="http://schemas.openxmlformats.org/drawingml/2006/main" noGrp="1"/>
          </p:cNvSpPr>
          <p:nvPr/>
        </p:nvSpPr>
        <p:spPr>
          <a:xfrm xmlns:a="http://schemas.openxmlformats.org/drawingml/2006/main">
            <a:off x="762000" y="2609850"/>
            <a:ext cx="1428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750" b="1" i="0">
                <a:solidFill>
                  <a:srgbClr val="FF654F"/>
                </a:solidFill>
                <a:latin typeface="Helvetica"/>
                <a:ea typeface="Helvetica"/>
                <a:cs typeface="Helvetica"/>
              </a:defRPr>
            </a:defPPr>
          </a:lstStyle>
          <a:p xmlns:a="http://schemas.openxmlformats.org/drawingml/2006/main">
            <a:pPr algn="l">
              <a:defRPr sz="750" b="1" i="0">
                <a:solidFill>
                  <a:srgbClr val="FF654F"/>
                </a:solidFill>
                <a:latin typeface="Helvetica"/>
                <a:ea typeface="Helvetica"/>
                <a:cs typeface="Helvetica"/>
              </a:defRPr>
            </a:pPr>
            <a:r>
              <a:rPr sz="750" b="1" i="0">
                <a:solidFill>
                  <a:srgbClr val="FF654F"/>
                </a:solidFill>
                <a:latin typeface="Helvetica"/>
                <a:ea typeface="Helvetica"/>
                <a:cs typeface="Helvetica"/>
              </a:rPr>
              <a:t>BENEFIT</a:t>
            </a:r>
          </a:p>
        </p:txBody>
      </p:sp>
      <p:sp>
        <p:nvSpPr>
          <p:cNvPr id="8" name="">
            <a:extLst xmlns:a="http://schemas.openxmlformats.org/drawingml/2006/main">
              <a:ext uri="{FF2B5EF4-FFF2-40B4-BE49-F238E27FC236}">
                <a16:creationId xmlns:a16="http://schemas.microsoft.com/office/drawing/2014/main" id="{2957B265-C558-4862-B852-0C1DFD86707E}"/>
              </a:ext>
            </a:extLst>
          </p:cNvPr>
          <p:cNvSpPr>
            <a:spLocks xmlns:a="http://schemas.openxmlformats.org/drawingml/2006/main" noGrp="1"/>
          </p:cNvSpPr>
          <p:nvPr/>
        </p:nvSpPr>
        <p:spPr>
          <a:xfrm xmlns:a="http://schemas.openxmlformats.org/drawingml/2006/main">
            <a:off x="2333625" y="2695575"/>
            <a:ext cx="495300" cy="19050"/>
          </a:xfrm>
          <a:prstGeom xmlns:a="http://schemas.openxmlformats.org/drawingml/2006/main" prst="rect">
            <a:avLst/>
          </a:prstGeom>
          <a:solidFill xmlns:a="http://schemas.openxmlformats.org/drawingml/2006/main">
            <a:srgbClr val="5A2E78"/>
          </a:solidFill>
          <a:ln xmlns:a="http://schemas.openxmlformats.org/drawingml/2006/main" w="0">
            <a:solidFill>
              <a:srgbClr val="5A2E78"/>
            </a:solidFill>
          </a:ln>
        </p:spPr>
      </p:sp>
      <p:sp>
        <p:nvSpPr>
          <p:cNvPr id="9" name="">
            <a:extLst xmlns:a="http://schemas.openxmlformats.org/drawingml/2006/main">
              <a:ext uri="{FF2B5EF4-FFF2-40B4-BE49-F238E27FC236}">
                <a16:creationId xmlns:a16="http://schemas.microsoft.com/office/drawing/2014/main" id="{8D591D2C-1B1D-490B-8DF5-22E18FA43350}"/>
              </a:ext>
            </a:extLst>
          </p:cNvPr>
          <p:cNvSpPr>
            <a:spLocks xmlns:a="http://schemas.openxmlformats.org/drawingml/2006/main" noGrp="1"/>
          </p:cNvSpPr>
          <p:nvPr/>
        </p:nvSpPr>
        <p:spPr>
          <a:xfrm xmlns:a="http://schemas.openxmlformats.org/drawingml/2006/main">
            <a:off x="3143250" y="2533650"/>
            <a:ext cx="7334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875" b="1" i="0">
                <a:solidFill>
                  <a:srgbClr val="FF654F"/>
                </a:solidFill>
                <a:latin typeface="Helvetica"/>
                <a:ea typeface="Helvetica"/>
                <a:cs typeface="Helvetica"/>
              </a:defRPr>
            </a:defPPr>
          </a:lstStyle>
          <a:p xmlns:a="http://schemas.openxmlformats.org/drawingml/2006/main">
            <a:pPr algn="l">
              <a:defRPr sz="1875" b="1" i="0">
                <a:solidFill>
                  <a:srgbClr val="FF654F"/>
                </a:solidFill>
                <a:latin typeface="Helvetica"/>
                <a:ea typeface="Helvetica"/>
                <a:cs typeface="Helvetica"/>
              </a:defRPr>
            </a:pPr>
            <a:r>
              <a:rPr sz="1875" b="1" i="0">
                <a:solidFill>
                  <a:srgbClr val="FF654F"/>
                </a:solidFill>
                <a:latin typeface="Helvetica"/>
                <a:ea typeface="Helvetica"/>
                <a:cs typeface="Helvetica"/>
              </a:rPr>
              <a:t>Confidence without self-audit</a:t>
            </a:r>
          </a:p>
        </p:txBody>
      </p:sp>
      <p:sp>
        <p:nvSpPr>
          <p:cNvPr id="10" name="">
            <a:extLst xmlns:a="http://schemas.openxmlformats.org/drawingml/2006/main">
              <a:ext uri="{FF2B5EF4-FFF2-40B4-BE49-F238E27FC236}">
                <a16:creationId xmlns:a16="http://schemas.microsoft.com/office/drawing/2014/main" id="{3B592AA0-5EE2-48EC-8244-37581C15412E}"/>
              </a:ext>
            </a:extLst>
          </p:cNvPr>
          <p:cNvSpPr>
            <a:spLocks xmlns:a="http://schemas.openxmlformats.org/drawingml/2006/main" noGrp="1"/>
          </p:cNvSpPr>
          <p:nvPr/>
        </p:nvSpPr>
        <p:spPr>
          <a:xfrm xmlns:a="http://schemas.openxmlformats.org/drawingml/2006/main">
            <a:off x="762000" y="3467100"/>
            <a:ext cx="1428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750" b="1" i="0">
                <a:solidFill>
                  <a:srgbClr val="FF654F"/>
                </a:solidFill>
                <a:latin typeface="Helvetica"/>
                <a:ea typeface="Helvetica"/>
                <a:cs typeface="Helvetica"/>
              </a:defRPr>
            </a:defPPr>
          </a:lstStyle>
          <a:p xmlns:a="http://schemas.openxmlformats.org/drawingml/2006/main">
            <a:pPr algn="l">
              <a:defRPr sz="750" b="1" i="0">
                <a:solidFill>
                  <a:srgbClr val="FF654F"/>
                </a:solidFill>
                <a:latin typeface="Helvetica"/>
                <a:ea typeface="Helvetica"/>
                <a:cs typeface="Helvetica"/>
              </a:defRPr>
            </a:pPr>
            <a:r>
              <a:rPr sz="750" b="1" i="0">
                <a:solidFill>
                  <a:srgbClr val="FF654F"/>
                </a:solidFill>
                <a:latin typeface="Helvetica"/>
                <a:ea typeface="Helvetica"/>
                <a:cs typeface="Helvetica"/>
              </a:rPr>
              <a:t>PLATFORM</a:t>
            </a:r>
          </a:p>
        </p:txBody>
      </p:sp>
      <p:sp>
        <p:nvSpPr>
          <p:cNvPr id="11" name="">
            <a:extLst xmlns:a="http://schemas.openxmlformats.org/drawingml/2006/main">
              <a:ext uri="{FF2B5EF4-FFF2-40B4-BE49-F238E27FC236}">
                <a16:creationId xmlns:a16="http://schemas.microsoft.com/office/drawing/2014/main" id="{B16F6F0D-FB74-4BD7-948D-2CBEDA837FC4}"/>
              </a:ext>
            </a:extLst>
          </p:cNvPr>
          <p:cNvSpPr>
            <a:spLocks xmlns:a="http://schemas.openxmlformats.org/drawingml/2006/main" noGrp="1"/>
          </p:cNvSpPr>
          <p:nvPr/>
        </p:nvSpPr>
        <p:spPr>
          <a:xfrm xmlns:a="http://schemas.openxmlformats.org/drawingml/2006/main">
            <a:off x="2333625" y="3552825"/>
            <a:ext cx="495300" cy="19050"/>
          </a:xfrm>
          <a:prstGeom xmlns:a="http://schemas.openxmlformats.org/drawingml/2006/main" prst="rect">
            <a:avLst/>
          </a:prstGeom>
          <a:solidFill xmlns:a="http://schemas.openxmlformats.org/drawingml/2006/main">
            <a:srgbClr val="5A2E78"/>
          </a:solidFill>
          <a:ln xmlns:a="http://schemas.openxmlformats.org/drawingml/2006/main" w="0">
            <a:solidFill>
              <a:srgbClr val="5A2E78"/>
            </a:solidFill>
          </a:ln>
        </p:spPr>
      </p:sp>
      <p:sp>
        <p:nvSpPr>
          <p:cNvPr id="12" name="">
            <a:extLst xmlns:a="http://schemas.openxmlformats.org/drawingml/2006/main">
              <a:ext uri="{FF2B5EF4-FFF2-40B4-BE49-F238E27FC236}">
                <a16:creationId xmlns:a16="http://schemas.microsoft.com/office/drawing/2014/main" id="{D03E040E-FF70-49C2-968A-A43677147D09}"/>
              </a:ext>
            </a:extLst>
          </p:cNvPr>
          <p:cNvSpPr>
            <a:spLocks xmlns:a="http://schemas.openxmlformats.org/drawingml/2006/main" noGrp="1"/>
          </p:cNvSpPr>
          <p:nvPr/>
        </p:nvSpPr>
        <p:spPr>
          <a:xfrm xmlns:a="http://schemas.openxmlformats.org/drawingml/2006/main">
            <a:off x="3143250" y="3390900"/>
            <a:ext cx="7334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875" b="1" i="0">
                <a:solidFill>
                  <a:srgbClr val="FFFDFC"/>
                </a:solidFill>
                <a:latin typeface="Helvetica"/>
                <a:ea typeface="Helvetica"/>
                <a:cs typeface="Helvetica"/>
              </a:defRPr>
            </a:defPPr>
          </a:lstStyle>
          <a:p xmlns:a="http://schemas.openxmlformats.org/drawingml/2006/main">
            <a:pPr algn="l">
              <a:defRPr sz="1875" b="1" i="0">
                <a:solidFill>
                  <a:srgbClr val="FFFDFC"/>
                </a:solidFill>
                <a:latin typeface="Helvetica"/>
                <a:ea typeface="Helvetica"/>
                <a:cs typeface="Helvetica"/>
              </a:defRPr>
            </a:pPr>
            <a:r>
              <a:rPr sz="1875" b="1" i="0">
                <a:solidFill>
                  <a:srgbClr val="FFFDFC"/>
                </a:solidFill>
                <a:latin typeface="Helvetica"/>
                <a:ea typeface="Helvetica"/>
                <a:cs typeface="Helvetica"/>
              </a:rPr>
              <a:t>The science cats deserve</a:t>
            </a:r>
          </a:p>
        </p:txBody>
      </p:sp>
      <p:sp>
        <p:nvSpPr>
          <p:cNvPr id="13" name="">
            <a:extLst xmlns:a="http://schemas.openxmlformats.org/drawingml/2006/main">
              <a:ext uri="{FF2B5EF4-FFF2-40B4-BE49-F238E27FC236}">
                <a16:creationId xmlns:a16="http://schemas.microsoft.com/office/drawing/2014/main" id="{DE479141-65E7-4CD4-9202-85FB4063CA73}"/>
              </a:ext>
            </a:extLst>
          </p:cNvPr>
          <p:cNvSpPr>
            <a:spLocks xmlns:a="http://schemas.openxmlformats.org/drawingml/2006/main" noGrp="1"/>
          </p:cNvSpPr>
          <p:nvPr/>
        </p:nvSpPr>
        <p:spPr>
          <a:xfrm xmlns:a="http://schemas.openxmlformats.org/drawingml/2006/main">
            <a:off x="762000" y="4324350"/>
            <a:ext cx="1428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750" b="1" i="0">
                <a:solidFill>
                  <a:srgbClr val="FF654F"/>
                </a:solidFill>
                <a:latin typeface="Helvetica"/>
                <a:ea typeface="Helvetica"/>
                <a:cs typeface="Helvetica"/>
              </a:defRPr>
            </a:defPPr>
          </a:lstStyle>
          <a:p xmlns:a="http://schemas.openxmlformats.org/drawingml/2006/main">
            <a:pPr algn="l">
              <a:defRPr sz="750" b="1" i="0">
                <a:solidFill>
                  <a:srgbClr val="FF654F"/>
                </a:solidFill>
                <a:latin typeface="Helvetica"/>
                <a:ea typeface="Helvetica"/>
                <a:cs typeface="Helvetica"/>
              </a:defRPr>
            </a:pPr>
            <a:r>
              <a:rPr sz="750" b="1" i="0">
                <a:solidFill>
                  <a:srgbClr val="FF654F"/>
                </a:solidFill>
                <a:latin typeface="Helvetica"/>
                <a:ea typeface="Helvetica"/>
                <a:cs typeface="Helvetica"/>
              </a:rPr>
              <a:t>EXPRESSION</a:t>
            </a:r>
          </a:p>
        </p:txBody>
      </p:sp>
      <p:sp>
        <p:nvSpPr>
          <p:cNvPr id="14" name="">
            <a:extLst xmlns:a="http://schemas.openxmlformats.org/drawingml/2006/main">
              <a:ext uri="{FF2B5EF4-FFF2-40B4-BE49-F238E27FC236}">
                <a16:creationId xmlns:a16="http://schemas.microsoft.com/office/drawing/2014/main" id="{090ADF9B-BB4F-49B2-9BBA-D740FC35A9DA}"/>
              </a:ext>
            </a:extLst>
          </p:cNvPr>
          <p:cNvSpPr>
            <a:spLocks xmlns:a="http://schemas.openxmlformats.org/drawingml/2006/main" noGrp="1"/>
          </p:cNvSpPr>
          <p:nvPr/>
        </p:nvSpPr>
        <p:spPr>
          <a:xfrm xmlns:a="http://schemas.openxmlformats.org/drawingml/2006/main">
            <a:off x="2333625" y="4410075"/>
            <a:ext cx="495300" cy="19050"/>
          </a:xfrm>
          <a:prstGeom xmlns:a="http://schemas.openxmlformats.org/drawingml/2006/main" prst="rect">
            <a:avLst/>
          </a:prstGeom>
          <a:solidFill xmlns:a="http://schemas.openxmlformats.org/drawingml/2006/main">
            <a:srgbClr val="5A2E78"/>
          </a:solidFill>
          <a:ln xmlns:a="http://schemas.openxmlformats.org/drawingml/2006/main" w="0">
            <a:solidFill>
              <a:srgbClr val="5A2E78"/>
            </a:solidFill>
          </a:ln>
        </p:spPr>
      </p:sp>
      <p:sp>
        <p:nvSpPr>
          <p:cNvPr id="15" name="">
            <a:extLst xmlns:a="http://schemas.openxmlformats.org/drawingml/2006/main">
              <a:ext uri="{FF2B5EF4-FFF2-40B4-BE49-F238E27FC236}">
                <a16:creationId xmlns:a16="http://schemas.microsoft.com/office/drawing/2014/main" id="{80499D75-3680-4E92-9508-AC82182A4514}"/>
              </a:ext>
            </a:extLst>
          </p:cNvPr>
          <p:cNvSpPr>
            <a:spLocks xmlns:a="http://schemas.openxmlformats.org/drawingml/2006/main" noGrp="1"/>
          </p:cNvSpPr>
          <p:nvPr/>
        </p:nvSpPr>
        <p:spPr>
          <a:xfrm xmlns:a="http://schemas.openxmlformats.org/drawingml/2006/main">
            <a:off x="3143250" y="4248150"/>
            <a:ext cx="7334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875" b="1" i="0">
                <a:solidFill>
                  <a:srgbClr val="FFFDFC"/>
                </a:solidFill>
                <a:latin typeface="Helvetica"/>
                <a:ea typeface="Helvetica"/>
                <a:cs typeface="Helvetica"/>
              </a:defRPr>
            </a:defPPr>
          </a:lstStyle>
          <a:p xmlns:a="http://schemas.openxmlformats.org/drawingml/2006/main">
            <a:pPr algn="l">
              <a:defRPr sz="1875" b="1" i="0">
                <a:solidFill>
                  <a:srgbClr val="FFFDFC"/>
                </a:solidFill>
                <a:latin typeface="Helvetica"/>
                <a:ea typeface="Helvetica"/>
                <a:cs typeface="Helvetica"/>
              </a:defRPr>
            </a:pPr>
            <a:r>
              <a:rPr sz="1875" b="1" i="0">
                <a:solidFill>
                  <a:srgbClr val="FFFDFC"/>
                </a:solidFill>
                <a:latin typeface="Helvetica"/>
                <a:ea typeface="Helvetica"/>
                <a:cs typeface="Helvetica"/>
              </a:rPr>
              <a:t>Visible without personalisation</a:t>
            </a:r>
          </a:p>
        </p:txBody>
      </p:sp>
      <p:sp>
        <p:nvSpPr>
          <p:cNvPr id="16" name="">
            <a:extLst xmlns:a="http://schemas.openxmlformats.org/drawingml/2006/main">
              <a:ext uri="{FF2B5EF4-FFF2-40B4-BE49-F238E27FC236}">
                <a16:creationId xmlns:a16="http://schemas.microsoft.com/office/drawing/2014/main" id="{2ED17373-78CC-4E7E-85EC-90D6257BA347}"/>
              </a:ext>
            </a:extLst>
          </p:cNvPr>
          <p:cNvSpPr>
            <a:spLocks xmlns:a="http://schemas.openxmlformats.org/drawingml/2006/main" noGrp="1"/>
          </p:cNvSpPr>
          <p:nvPr/>
        </p:nvSpPr>
        <p:spPr>
          <a:xfrm xmlns:a="http://schemas.openxmlformats.org/drawingml/2006/main">
            <a:off x="647700" y="5572125"/>
            <a:ext cx="209550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675" b="1" i="0">
                <a:solidFill>
                  <a:srgbClr val="FF654F"/>
                </a:solidFill>
                <a:latin typeface="Helvetica"/>
                <a:ea typeface="Helvetica"/>
                <a:cs typeface="Helvetica"/>
              </a:defRPr>
            </a:defPPr>
          </a:lstStyle>
          <a:p xmlns:a="http://schemas.openxmlformats.org/drawingml/2006/main">
            <a:pPr algn="l">
              <a:defRPr sz="675" b="1" i="0">
                <a:solidFill>
                  <a:srgbClr val="FF654F"/>
                </a:solidFill>
                <a:latin typeface="Helvetica"/>
                <a:ea typeface="Helvetica"/>
                <a:cs typeface="Helvetica"/>
              </a:defRPr>
            </a:pPr>
            <a:r>
              <a:rPr sz="675" b="1" i="0">
                <a:solidFill>
                  <a:srgbClr val="FF654F"/>
                </a:solidFill>
                <a:latin typeface="Helvetica"/>
                <a:ea typeface="Helvetica"/>
                <a:cs typeface="Helvetica"/>
              </a:rPr>
              <a:t>COMMERCIAL CONSEQUENCE</a:t>
            </a:r>
          </a:p>
        </p:txBody>
      </p:sp>
      <p:sp>
        <p:nvSpPr>
          <p:cNvPr id="17" name="">
            <a:extLst xmlns:a="http://schemas.openxmlformats.org/drawingml/2006/main">
              <a:ext uri="{FF2B5EF4-FFF2-40B4-BE49-F238E27FC236}">
                <a16:creationId xmlns:a16="http://schemas.microsoft.com/office/drawing/2014/main" id="{A58BAD0F-6061-4110-BB24-8756B76ECB40}"/>
              </a:ext>
            </a:extLst>
          </p:cNvPr>
          <p:cNvSpPr>
            <a:spLocks xmlns:a="http://schemas.openxmlformats.org/drawingml/2006/main" noGrp="1"/>
          </p:cNvSpPr>
          <p:nvPr/>
        </p:nvSpPr>
        <p:spPr>
          <a:xfrm xmlns:a="http://schemas.openxmlformats.org/drawingml/2006/main">
            <a:off x="2619375" y="5505450"/>
            <a:ext cx="8382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200" b="1" i="0">
                <a:solidFill>
                  <a:srgbClr val="FFFDFC"/>
                </a:solidFill>
                <a:latin typeface="Helvetica"/>
                <a:ea typeface="Helvetica"/>
                <a:cs typeface="Helvetica"/>
              </a:defRPr>
            </a:defPPr>
          </a:lstStyle>
          <a:p xmlns:a="http://schemas.openxmlformats.org/drawingml/2006/main">
            <a:pPr algn="l">
              <a:defRPr sz="1200" b="1" i="0">
                <a:solidFill>
                  <a:srgbClr val="FFFDFC"/>
                </a:solidFill>
                <a:latin typeface="Helvetica"/>
                <a:ea typeface="Helvetica"/>
                <a:cs typeface="Helvetica"/>
              </a:defRPr>
            </a:pPr>
            <a:r>
              <a:rPr sz="1200" b="1" i="0">
                <a:solidFill>
                  <a:srgbClr val="FFFDFC"/>
                </a:solidFill>
                <a:latin typeface="Helvetica"/>
                <a:ea typeface="Helvetica"/>
                <a:cs typeface="Helvetica"/>
              </a:rPr>
              <a:t>The positioning hypothesis depends on resolving a credibility contradiction first.</a:t>
            </a:r>
          </a:p>
        </p:txBody>
      </p:sp>
      <p:sp>
        <p:nvSpPr>
          <p:cNvPr id="18" name="">
            <a:extLst xmlns:a="http://schemas.openxmlformats.org/drawingml/2006/main">
              <a:ext uri="{FF2B5EF4-FFF2-40B4-BE49-F238E27FC236}">
                <a16:creationId xmlns:a16="http://schemas.microsoft.com/office/drawing/2014/main" id="{EB32AF01-FA4D-4589-B49C-E1617BD127B2}"/>
              </a:ext>
            </a:extLst>
          </p:cNvPr>
          <p:cNvSpPr>
            <a:spLocks xmlns:a="http://schemas.openxmlformats.org/drawingml/2006/main" noGrp="1"/>
          </p:cNvSpPr>
          <p:nvPr/>
        </p:nvSpPr>
        <p:spPr>
          <a:xfrm xmlns:a="http://schemas.openxmlformats.org/drawingml/2006/main">
            <a:off x="647700" y="6134100"/>
            <a:ext cx="4953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825" b="1" i="0">
                <a:solidFill>
                  <a:srgbClr val="C8B7E8"/>
                </a:solidFill>
                <a:latin typeface="Helvetica"/>
                <a:ea typeface="Helvetica"/>
                <a:cs typeface="Helvetica"/>
              </a:defRPr>
            </a:defPPr>
          </a:lstStyle>
          <a:p xmlns:a="http://schemas.openxmlformats.org/drawingml/2006/main">
            <a:pPr algn="l">
              <a:defRPr sz="825" b="1" i="0">
                <a:solidFill>
                  <a:srgbClr val="C8B7E8"/>
                </a:solidFill>
                <a:latin typeface="Helvetica"/>
                <a:ea typeface="Helvetica"/>
                <a:cs typeface="Helvetica"/>
              </a:defRPr>
            </a:pPr>
            <a:r>
              <a:rPr sz="825" b="1" i="0">
                <a:solidFill>
                  <a:srgbClr val="C8B7E8"/>
                </a:solidFill>
                <a:latin typeface="Helvetica"/>
                <a:ea typeface="Helvetica"/>
                <a:cs typeface="Helvetica"/>
              </a:rPr>
              <a:t>SOURCES: T1</a:t>
            </a:r>
          </a:p>
        </p:txBody>
      </p:sp>
      <p:sp>
        <p:nvSpPr>
          <p:cNvPr id="19" name="">
            <a:extLst xmlns:a="http://schemas.openxmlformats.org/drawingml/2006/main">
              <a:ext uri="{FF2B5EF4-FFF2-40B4-BE49-F238E27FC236}">
                <a16:creationId xmlns:a16="http://schemas.microsoft.com/office/drawing/2014/main" id="{D6374EEB-C89E-4CA0-8E2E-03CC5AF54197}"/>
              </a:ext>
            </a:extLst>
          </p:cNvPr>
          <p:cNvSpPr>
            <a:spLocks xmlns:a="http://schemas.openxmlformats.org/drawingml/2006/main" noGrp="1"/>
          </p:cNvSpPr>
          <p:nvPr/>
        </p:nvSpPr>
        <p:spPr>
          <a:xfrm xmlns:a="http://schemas.openxmlformats.org/drawingml/2006/main">
            <a:off x="5715000" y="6134100"/>
            <a:ext cx="48768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r">
              <a:defRPr sz="825" b="1" i="0">
                <a:solidFill>
                  <a:srgbClr val="C8B7E8"/>
                </a:solidFill>
                <a:latin typeface="Helvetica"/>
                <a:ea typeface="Helvetica"/>
                <a:cs typeface="Helvetica"/>
              </a:defRPr>
            </a:defPPr>
          </a:lstStyle>
          <a:p xmlns:a="http://schemas.openxmlformats.org/drawingml/2006/main">
            <a:pPr algn="r">
              <a:defRPr sz="825" b="1" i="0">
                <a:solidFill>
                  <a:srgbClr val="C8B7E8"/>
                </a:solidFill>
                <a:latin typeface="Helvetica"/>
                <a:ea typeface="Helvetica"/>
                <a:cs typeface="Helvetica"/>
              </a:defRPr>
            </a:pPr>
            <a:r>
              <a:rPr sz="825" b="1" i="0">
                <a:solidFill>
                  <a:srgbClr val="C8B7E8"/>
                </a:solidFill>
                <a:latin typeface="Helvetica"/>
                <a:ea typeface="Helvetica"/>
                <a:cs typeface="Helvetica"/>
              </a:rPr>
              <a:t>APPROVED STRATEGY</a:t>
            </a:r>
          </a:p>
        </p:txBody>
      </p:sp>
      <p:sp>
        <p:nvSpPr>
          <p:cNvPr id="20" name="">
            <a:extLst xmlns:a="http://schemas.openxmlformats.org/drawingml/2006/main">
              <a:ext uri="{FF2B5EF4-FFF2-40B4-BE49-F238E27FC236}">
                <a16:creationId xmlns:a16="http://schemas.microsoft.com/office/drawing/2014/main" id="{183ADEC9-EB9E-4592-A1FE-7AE648DFD70B}"/>
              </a:ext>
            </a:extLst>
          </p:cNvPr>
          <p:cNvSpPr>
            <a:spLocks xmlns:a="http://schemas.openxmlformats.org/drawingml/2006/main" noGrp="1"/>
          </p:cNvSpPr>
          <p:nvPr/>
        </p:nvSpPr>
        <p:spPr>
          <a:xfrm xmlns:a="http://schemas.openxmlformats.org/drawingml/2006/main">
            <a:off x="647700" y="6515100"/>
            <a:ext cx="17145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675" b="1" i="0">
                <a:solidFill>
                  <a:srgbClr val="C8B7E8"/>
                </a:solidFill>
                <a:latin typeface="Helvetica"/>
                <a:ea typeface="Helvetica"/>
                <a:cs typeface="Helvetica"/>
              </a:defRPr>
            </a:defPPr>
          </a:lstStyle>
          <a:p xmlns:a="http://schemas.openxmlformats.org/drawingml/2006/main">
            <a:pPr algn="l">
              <a:defRPr sz="675" b="1" i="0">
                <a:solidFill>
                  <a:srgbClr val="C8B7E8"/>
                </a:solidFill>
                <a:latin typeface="Helvetica"/>
                <a:ea typeface="Helvetica"/>
                <a:cs typeface="Helvetica"/>
              </a:defRPr>
            </a:pPr>
            <a:r>
              <a:rPr sz="675" b="1" i="0">
                <a:solidFill>
                  <a:srgbClr val="C8B7E8"/>
                </a:solidFill>
                <a:latin typeface="Helvetica"/>
                <a:ea typeface="Helvetica"/>
                <a:cs typeface="Helvetica"/>
              </a:rPr>
              <a:t>NARRATIIVE</a:t>
            </a:r>
          </a:p>
        </p:txBody>
      </p:sp>
      <p:sp>
        <p:nvSpPr>
          <p:cNvPr id="21" name="">
            <a:extLst xmlns:a="http://schemas.openxmlformats.org/drawingml/2006/main">
              <a:ext uri="{FF2B5EF4-FFF2-40B4-BE49-F238E27FC236}">
                <a16:creationId xmlns:a16="http://schemas.microsoft.com/office/drawing/2014/main" id="{1B6D94C8-14C9-4905-B0C3-5E2B28906C51}"/>
              </a:ext>
            </a:extLst>
          </p:cNvPr>
          <p:cNvSpPr>
            <a:spLocks xmlns:a="http://schemas.openxmlformats.org/drawingml/2006/main" noGrp="1"/>
          </p:cNvSpPr>
          <p:nvPr/>
        </p:nvSpPr>
        <p:spPr>
          <a:xfrm xmlns:a="http://schemas.openxmlformats.org/drawingml/2006/main">
            <a:off x="10668000" y="6515100"/>
            <a:ext cx="8763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r">
              <a:defRPr sz="675" b="0" i="0">
                <a:solidFill>
                  <a:srgbClr val="C8B7E8"/>
                </a:solidFill>
                <a:latin typeface="Helvetica"/>
                <a:ea typeface="Helvetica"/>
                <a:cs typeface="Helvetica"/>
              </a:defRPr>
            </a:defPPr>
          </a:lstStyle>
          <a:p xmlns:a="http://schemas.openxmlformats.org/drawingml/2006/main">
            <a:pPr algn="r">
              <a:defRPr sz="675" b="0" i="0">
                <a:solidFill>
                  <a:srgbClr val="C8B7E8"/>
                </a:solidFill>
                <a:latin typeface="Helvetica"/>
                <a:ea typeface="Helvetica"/>
                <a:cs typeface="Helvetica"/>
              </a:defRPr>
            </a:pPr>
            <a:r>
              <a:rPr sz="675" b="0" i="0">
                <a:solidFill>
                  <a:srgbClr val="C8B7E8"/>
                </a:solidFill>
                <a:latin typeface="Helvetica"/>
                <a:ea typeface="Helvetica"/>
                <a:cs typeface="Helvetica"/>
              </a:rPr>
              <a:t>17 / 30</a:t>
            </a:r>
          </a:p>
        </p:txBody>
      </p:sp>
    </p:spTree>
    <p:extLst>
      <p:ext uri="{BB962C8B-B14F-4D97-AF65-F5344CB8AC3E}">
        <p14:creationId xmlns:p14="http://schemas.microsoft.com/office/powerpoint/2010/main" val="321594217"/>
      </p:ext>
    </p:extLst>
  </p:cSld>
</p:sld>
</file>

<file path=ppt/slides/slide18.xml><?xml version="1.0" encoding="utf-8"?>
<p:sld xmlns:p="http://schemas.openxmlformats.org/presentationml/2006/main">
  <p:cSld>
    <p:bg>
      <p:bgPr>
        <a:solidFill xmlns:a="http://schemas.openxmlformats.org/drawingml/2006/main">
          <a:srgbClr val="F6F0E8"/>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8D11343A-C587-4E90-8FDC-ED084F871983}"/>
              </a:ext>
            </a:extLst>
          </p:cNvPr>
          <p:cNvSpPr>
            <a:spLocks xmlns:a="http://schemas.openxmlformats.org/drawingml/2006/main" noGrp="1"/>
          </p:cNvSpPr>
          <p:nvPr/>
        </p:nvSpPr>
        <p:spPr>
          <a:xfrm xmlns:a="http://schemas.openxmlformats.org/drawingml/2006/main">
            <a:off x="647700" y="333375"/>
            <a:ext cx="57150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675" b="1" i="0">
                <a:solidFill>
                  <a:srgbClr val="FF654F"/>
                </a:solidFill>
                <a:latin typeface="Helvetica"/>
                <a:ea typeface="Helvetica"/>
                <a:cs typeface="Helvetica"/>
              </a:defRPr>
            </a:defPPr>
          </a:lstStyle>
          <a:p xmlns:a="http://schemas.openxmlformats.org/drawingml/2006/main">
            <a:pPr algn="l">
              <a:defRPr sz="675" b="1" i="0">
                <a:solidFill>
                  <a:srgbClr val="FF654F"/>
                </a:solidFill>
                <a:latin typeface="Helvetica"/>
                <a:ea typeface="Helvetica"/>
                <a:cs typeface="Helvetica"/>
              </a:defRPr>
            </a:pPr>
            <a:r>
              <a:rPr sz="675" b="1" i="0">
                <a:solidFill>
                  <a:srgbClr val="FF654F"/>
                </a:solidFill>
                <a:latin typeface="Helvetica"/>
                <a:ea typeface="Helvetica"/>
                <a:cs typeface="Helvetica"/>
              </a:rPr>
              <a:t>ACT 4 / POSITIONING + NARRATIVE ANSWER</a:t>
            </a:r>
          </a:p>
        </p:txBody>
      </p:sp>
      <p:sp>
        <p:nvSpPr>
          <p:cNvPr id="2" name="">
            <a:extLst xmlns:a="http://schemas.openxmlformats.org/drawingml/2006/main">
              <a:ext uri="{FF2B5EF4-FFF2-40B4-BE49-F238E27FC236}">
                <a16:creationId xmlns:a16="http://schemas.microsoft.com/office/drawing/2014/main" id="{6208625E-5060-4477-A28A-3E0BA465AB53}"/>
              </a:ext>
            </a:extLst>
          </p:cNvPr>
          <p:cNvSpPr>
            <a:spLocks xmlns:a="http://schemas.openxmlformats.org/drawingml/2006/main" noGrp="1"/>
          </p:cNvSpPr>
          <p:nvPr/>
        </p:nvSpPr>
        <p:spPr>
          <a:xfrm xmlns:a="http://schemas.openxmlformats.org/drawingml/2006/main">
            <a:off x="647700" y="685800"/>
            <a:ext cx="1047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2325" b="1" i="0">
                <a:solidFill>
                  <a:srgbClr val="15121B"/>
                </a:solidFill>
                <a:latin typeface="Helvetica"/>
                <a:ea typeface="Helvetica"/>
                <a:cs typeface="Helvetica"/>
              </a:defRPr>
            </a:defPPr>
          </a:lstStyle>
          <a:p xmlns:a="http://schemas.openxmlformats.org/drawingml/2006/main">
            <a:pPr algn="l">
              <a:defRPr sz="2325" b="1" i="0">
                <a:solidFill>
                  <a:srgbClr val="15121B"/>
                </a:solidFill>
                <a:latin typeface="Helvetica"/>
                <a:ea typeface="Helvetica"/>
                <a:cs typeface="Helvetica"/>
              </a:defRPr>
            </a:pPr>
            <a:r>
              <a:rPr sz="2325" b="1" i="0">
                <a:solidFill>
                  <a:srgbClr val="15121B"/>
                </a:solidFill>
                <a:latin typeface="Helvetica"/>
                <a:ea typeface="Helvetica"/>
                <a:cs typeface="Helvetica"/>
              </a:rPr>
              <a:t>Strategic Positioning</a:t>
            </a:r>
          </a:p>
        </p:txBody>
      </p:sp>
      <p:sp>
        <p:nvSpPr>
          <p:cNvPr id="3" name="">
            <a:extLst xmlns:a="http://schemas.openxmlformats.org/drawingml/2006/main">
              <a:ext uri="{FF2B5EF4-FFF2-40B4-BE49-F238E27FC236}">
                <a16:creationId xmlns:a16="http://schemas.microsoft.com/office/drawing/2014/main" id="{14C27AB3-E604-4C0C-A53E-DED03B9FEE17}"/>
              </a:ext>
            </a:extLst>
          </p:cNvPr>
          <p:cNvSpPr>
            <a:spLocks xmlns:a="http://schemas.openxmlformats.org/drawingml/2006/main" noGrp="1"/>
          </p:cNvSpPr>
          <p:nvPr/>
        </p:nvSpPr>
        <p:spPr>
          <a:xfrm xmlns:a="http://schemas.openxmlformats.org/drawingml/2006/main">
            <a:off x="647700" y="1400175"/>
            <a:ext cx="10896600" cy="19050"/>
          </a:xfrm>
          <a:prstGeom xmlns:a="http://schemas.openxmlformats.org/drawingml/2006/main" prst="rect">
            <a:avLst/>
          </a:prstGeom>
          <a:solidFill xmlns:a="http://schemas.openxmlformats.org/drawingml/2006/main">
            <a:srgbClr val="D9CFD5"/>
          </a:solidFill>
          <a:ln xmlns:a="http://schemas.openxmlformats.org/drawingml/2006/main" w="0">
            <a:solidFill>
              <a:srgbClr val="D9CFD5"/>
            </a:solidFill>
          </a:ln>
        </p:spPr>
      </p:sp>
      <p:sp>
        <p:nvSpPr>
          <p:cNvPr id="4" name="">
            <a:extLst xmlns:a="http://schemas.openxmlformats.org/drawingml/2006/main">
              <a:ext uri="{FF2B5EF4-FFF2-40B4-BE49-F238E27FC236}">
                <a16:creationId xmlns:a16="http://schemas.microsoft.com/office/drawing/2014/main" id="{06B71AAD-05D6-40E3-81EF-E5920F436940}"/>
              </a:ext>
            </a:extLst>
          </p:cNvPr>
          <p:cNvSpPr>
            <a:spLocks xmlns:a="http://schemas.openxmlformats.org/drawingml/2006/main" noGrp="1"/>
          </p:cNvSpPr>
          <p:nvPr/>
        </p:nvSpPr>
        <p:spPr>
          <a:xfrm xmlns:a="http://schemas.openxmlformats.org/drawingml/2006/main">
            <a:off x="647700" y="1790700"/>
            <a:ext cx="7096125" cy="2724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2025" b="1" i="0">
                <a:solidFill>
                  <a:srgbClr val="15121B"/>
                </a:solidFill>
                <a:latin typeface="Helvetica"/>
                <a:ea typeface="Helvetica"/>
                <a:cs typeface="Helvetica"/>
              </a:defRPr>
            </a:defPPr>
          </a:lstStyle>
          <a:p xmlns:a="http://schemas.openxmlformats.org/drawingml/2006/main">
            <a:pPr algn="l">
              <a:defRPr sz="2025" b="1" i="0">
                <a:solidFill>
                  <a:srgbClr val="15121B"/>
                </a:solidFill>
                <a:latin typeface="Helvetica"/>
                <a:ea typeface="Helvetica"/>
                <a:cs typeface="Helvetica"/>
              </a:defRPr>
            </a:pPr>
            <a:r>
              <a:rPr sz="2025" b="1" i="0">
                <a:solidFill>
                  <a:srgbClr val="15121B"/>
                </a:solidFill>
                <a:latin typeface="Helvetica"/>
                <a:ea typeface="Helvetica"/>
                <a:cs typeface="Helvetica"/>
              </a:rPr>
              <a:t>Approved positioning moves KatKin from 'fresh food is better' to the specific belief that cats deserve nutrition validated by independent science, not manufacturer assertion. This is explicitly provisional pending founder pressure-testing against competitive and customer evidence, per the approved</a:t>
            </a:r>
          </a:p>
        </p:txBody>
      </p:sp>
      <p:sp>
        <p:nvSpPr>
          <p:cNvPr id="5" name="">
            <a:extLst xmlns:a="http://schemas.openxmlformats.org/drawingml/2006/main">
              <a:ext uri="{FF2B5EF4-FFF2-40B4-BE49-F238E27FC236}">
                <a16:creationId xmlns:a16="http://schemas.microsoft.com/office/drawing/2014/main" id="{C99539F0-9711-4290-BEA4-EE9929639B74}"/>
              </a:ext>
            </a:extLst>
          </p:cNvPr>
          <p:cNvSpPr>
            <a:spLocks xmlns:a="http://schemas.openxmlformats.org/drawingml/2006/main" noGrp="1"/>
          </p:cNvSpPr>
          <p:nvPr/>
        </p:nvSpPr>
        <p:spPr>
          <a:xfrm xmlns:a="http://schemas.openxmlformats.org/drawingml/2006/main">
            <a:off x="8334375" y="1809750"/>
            <a:ext cx="2667000" cy="2667000"/>
          </a:xfrm>
          <a:prstGeom xmlns:a="http://schemas.openxmlformats.org/drawingml/2006/main" prst="ellipse">
            <a:avLst/>
          </a:prstGeom>
          <a:solidFill xmlns:a="http://schemas.openxmlformats.org/drawingml/2006/main">
            <a:srgbClr val="261A31"/>
          </a:solidFill>
          <a:ln xmlns:a="http://schemas.openxmlformats.org/drawingml/2006/main" w="0">
            <a:solidFill>
              <a:srgbClr val="261A31"/>
            </a:solidFill>
          </a:ln>
        </p:spPr>
      </p:sp>
      <p:sp>
        <p:nvSpPr>
          <p:cNvPr id="6" name="">
            <a:extLst xmlns:a="http://schemas.openxmlformats.org/drawingml/2006/main">
              <a:ext uri="{FF2B5EF4-FFF2-40B4-BE49-F238E27FC236}">
                <a16:creationId xmlns:a16="http://schemas.microsoft.com/office/drawing/2014/main" id="{263FFFF6-CB9B-4B10-A363-8CA61ADCED1F}"/>
              </a:ext>
            </a:extLst>
          </p:cNvPr>
          <p:cNvSpPr>
            <a:spLocks xmlns:a="http://schemas.openxmlformats.org/drawingml/2006/main" noGrp="1"/>
          </p:cNvSpPr>
          <p:nvPr/>
        </p:nvSpPr>
        <p:spPr>
          <a:xfrm xmlns:a="http://schemas.openxmlformats.org/drawingml/2006/main">
            <a:off x="8791575" y="2419350"/>
            <a:ext cx="17621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ctr">
              <a:defRPr sz="1800" b="1" i="0">
                <a:solidFill>
                  <a:srgbClr val="FFFDFC"/>
                </a:solidFill>
                <a:latin typeface="Helvetica"/>
                <a:ea typeface="Helvetica"/>
                <a:cs typeface="Helvetica"/>
              </a:defRPr>
            </a:defPPr>
          </a:lstStyle>
          <a:p xmlns:a="http://schemas.openxmlformats.org/drawingml/2006/main">
            <a:pPr algn="ctr">
              <a:defRPr sz="1800" b="1" i="0">
                <a:solidFill>
                  <a:srgbClr val="FFFDFC"/>
                </a:solidFill>
                <a:latin typeface="Helvetica"/>
                <a:ea typeface="Helvetica"/>
                <a:cs typeface="Helvetica"/>
              </a:defRPr>
            </a:pPr>
            <a:r>
              <a:rPr sz="1800" b="1" i="0">
                <a:solidFill>
                  <a:srgbClr val="FFFDFC"/>
                </a:solidFill>
                <a:latin typeface="Helvetica"/>
                <a:ea typeface="Helvetica"/>
                <a:cs typeface="Helvetica"/>
              </a:rPr>
              <a:t>DECISION</a:t>
            </a:r>
          </a:p>
        </p:txBody>
      </p:sp>
      <p:sp>
        <p:nvSpPr>
          <p:cNvPr id="7" name="">
            <a:extLst xmlns:a="http://schemas.openxmlformats.org/drawingml/2006/main">
              <a:ext uri="{FF2B5EF4-FFF2-40B4-BE49-F238E27FC236}">
                <a16:creationId xmlns:a16="http://schemas.microsoft.com/office/drawing/2014/main" id="{B4AE1EE3-A3DC-4552-B270-367D3F9E0171}"/>
              </a:ext>
            </a:extLst>
          </p:cNvPr>
          <p:cNvSpPr>
            <a:spLocks xmlns:a="http://schemas.openxmlformats.org/drawingml/2006/main" noGrp="1"/>
          </p:cNvSpPr>
          <p:nvPr/>
        </p:nvSpPr>
        <p:spPr>
          <a:xfrm xmlns:a="http://schemas.openxmlformats.org/drawingml/2006/main">
            <a:off x="8972550" y="2981325"/>
            <a:ext cx="1381125" cy="19050"/>
          </a:xfrm>
          <a:prstGeom xmlns:a="http://schemas.openxmlformats.org/drawingml/2006/main" prst="rect">
            <a:avLst/>
          </a:prstGeom>
          <a:solidFill xmlns:a="http://schemas.openxmlformats.org/drawingml/2006/main">
            <a:srgbClr val="FF654F"/>
          </a:solidFill>
          <a:ln xmlns:a="http://schemas.openxmlformats.org/drawingml/2006/main" w="0">
            <a:solidFill>
              <a:srgbClr val="FF654F"/>
            </a:solidFill>
          </a:ln>
        </p:spPr>
      </p:sp>
      <p:sp>
        <p:nvSpPr>
          <p:cNvPr id="8" name="">
            <a:extLst xmlns:a="http://schemas.openxmlformats.org/drawingml/2006/main">
              <a:ext uri="{FF2B5EF4-FFF2-40B4-BE49-F238E27FC236}">
                <a16:creationId xmlns:a16="http://schemas.microsoft.com/office/drawing/2014/main" id="{9BC2DDAD-1F91-47A6-ACB5-25DB96719A5A}"/>
              </a:ext>
            </a:extLst>
          </p:cNvPr>
          <p:cNvSpPr>
            <a:spLocks xmlns:a="http://schemas.openxmlformats.org/drawingml/2006/main" noGrp="1"/>
          </p:cNvSpPr>
          <p:nvPr/>
        </p:nvSpPr>
        <p:spPr>
          <a:xfrm xmlns:a="http://schemas.openxmlformats.org/drawingml/2006/main">
            <a:off x="8734425" y="3286125"/>
            <a:ext cx="18859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ctr">
              <a:defRPr sz="1275" b="1" i="0">
                <a:solidFill>
                  <a:srgbClr val="C8B7E8"/>
                </a:solidFill>
                <a:latin typeface="Helvetica"/>
                <a:ea typeface="Helvetica"/>
                <a:cs typeface="Helvetica"/>
              </a:defRPr>
            </a:defPPr>
          </a:lstStyle>
          <a:p xmlns:a="http://schemas.openxmlformats.org/drawingml/2006/main">
            <a:pPr algn="ctr">
              <a:defRPr sz="1275" b="1" i="0">
                <a:solidFill>
                  <a:srgbClr val="C8B7E8"/>
                </a:solidFill>
                <a:latin typeface="Helvetica"/>
                <a:ea typeface="Helvetica"/>
                <a:cs typeface="Helvetica"/>
              </a:defRPr>
            </a:pPr>
            <a:r>
              <a:rPr sz="1275" b="1" i="0">
                <a:solidFill>
                  <a:srgbClr val="C8B7E8"/>
                </a:solidFill>
                <a:latin typeface="Helvetica"/>
                <a:ea typeface="Helvetica"/>
                <a:cs typeface="Helvetica"/>
              </a:rPr>
              <a:t>The approved positioning is a testable strategic hypothesis, not a proven market fact.</a:t>
            </a:r>
          </a:p>
        </p:txBody>
      </p:sp>
      <p:sp>
        <p:nvSpPr>
          <p:cNvPr id="9" name="">
            <a:extLst xmlns:a="http://schemas.openxmlformats.org/drawingml/2006/main">
              <a:ext uri="{FF2B5EF4-FFF2-40B4-BE49-F238E27FC236}">
                <a16:creationId xmlns:a16="http://schemas.microsoft.com/office/drawing/2014/main" id="{8FF6FFB6-2A2B-4E56-9625-DA826657654C}"/>
              </a:ext>
            </a:extLst>
          </p:cNvPr>
          <p:cNvSpPr>
            <a:spLocks xmlns:a="http://schemas.openxmlformats.org/drawingml/2006/main" noGrp="1"/>
          </p:cNvSpPr>
          <p:nvPr/>
        </p:nvSpPr>
        <p:spPr>
          <a:xfrm xmlns:a="http://schemas.openxmlformats.org/drawingml/2006/main">
            <a:off x="647700" y="5572125"/>
            <a:ext cx="209550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675" b="1" i="0">
                <a:solidFill>
                  <a:srgbClr val="FF654F"/>
                </a:solidFill>
                <a:latin typeface="Helvetica"/>
                <a:ea typeface="Helvetica"/>
                <a:cs typeface="Helvetica"/>
              </a:defRPr>
            </a:defPPr>
          </a:lstStyle>
          <a:p xmlns:a="http://schemas.openxmlformats.org/drawingml/2006/main">
            <a:pPr algn="l">
              <a:defRPr sz="675" b="1" i="0">
                <a:solidFill>
                  <a:srgbClr val="FF654F"/>
                </a:solidFill>
                <a:latin typeface="Helvetica"/>
                <a:ea typeface="Helvetica"/>
                <a:cs typeface="Helvetica"/>
              </a:defRPr>
            </a:pPr>
            <a:r>
              <a:rPr sz="675" b="1" i="0">
                <a:solidFill>
                  <a:srgbClr val="FF654F"/>
                </a:solidFill>
                <a:latin typeface="Helvetica"/>
                <a:ea typeface="Helvetica"/>
                <a:cs typeface="Helvetica"/>
              </a:rPr>
              <a:t>COMMERCIAL CONSEQUENCE</a:t>
            </a:r>
          </a:p>
        </p:txBody>
      </p:sp>
      <p:sp>
        <p:nvSpPr>
          <p:cNvPr id="10" name="">
            <a:extLst xmlns:a="http://schemas.openxmlformats.org/drawingml/2006/main">
              <a:ext uri="{FF2B5EF4-FFF2-40B4-BE49-F238E27FC236}">
                <a16:creationId xmlns:a16="http://schemas.microsoft.com/office/drawing/2014/main" id="{575232C2-7273-4B62-9419-8F0908D54542}"/>
              </a:ext>
            </a:extLst>
          </p:cNvPr>
          <p:cNvSpPr>
            <a:spLocks xmlns:a="http://schemas.openxmlformats.org/drawingml/2006/main" noGrp="1"/>
          </p:cNvSpPr>
          <p:nvPr/>
        </p:nvSpPr>
        <p:spPr>
          <a:xfrm xmlns:a="http://schemas.openxmlformats.org/drawingml/2006/main">
            <a:off x="2619375" y="5505450"/>
            <a:ext cx="8382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200" b="1" i="0">
                <a:solidFill>
                  <a:srgbClr val="15121B"/>
                </a:solidFill>
                <a:latin typeface="Helvetica"/>
                <a:ea typeface="Helvetica"/>
                <a:cs typeface="Helvetica"/>
              </a:defRPr>
            </a:defPPr>
          </a:lstStyle>
          <a:p xmlns:a="http://schemas.openxmlformats.org/drawingml/2006/main">
            <a:pPr algn="l">
              <a:defRPr sz="1200" b="1" i="0">
                <a:solidFill>
                  <a:srgbClr val="15121B"/>
                </a:solidFill>
                <a:latin typeface="Helvetica"/>
                <a:ea typeface="Helvetica"/>
                <a:cs typeface="Helvetica"/>
              </a:defRPr>
            </a:pPr>
            <a:r>
              <a:rPr sz="1200" b="1" i="0">
                <a:solidFill>
                  <a:srgbClr val="15121B"/>
                </a:solidFill>
                <a:latin typeface="Helvetica"/>
                <a:ea typeface="Helvetica"/>
                <a:cs typeface="Helvetica"/>
              </a:rPr>
              <a:t>The approved positioning is a testable strategic hypothesis, not a proven market fact.</a:t>
            </a:r>
          </a:p>
        </p:txBody>
      </p:sp>
      <p:sp>
        <p:nvSpPr>
          <p:cNvPr id="11" name="">
            <a:extLst xmlns:a="http://schemas.openxmlformats.org/drawingml/2006/main">
              <a:ext uri="{FF2B5EF4-FFF2-40B4-BE49-F238E27FC236}">
                <a16:creationId xmlns:a16="http://schemas.microsoft.com/office/drawing/2014/main" id="{D769C582-9CC5-4FD2-B50B-114F94D8E997}"/>
              </a:ext>
            </a:extLst>
          </p:cNvPr>
          <p:cNvSpPr>
            <a:spLocks xmlns:a="http://schemas.openxmlformats.org/drawingml/2006/main" noGrp="1"/>
          </p:cNvSpPr>
          <p:nvPr/>
        </p:nvSpPr>
        <p:spPr>
          <a:xfrm xmlns:a="http://schemas.openxmlformats.org/drawingml/2006/main">
            <a:off x="647700" y="6134100"/>
            <a:ext cx="4953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825" b="1" i="0">
                <a:solidFill>
                  <a:srgbClr val="756D7A"/>
                </a:solidFill>
                <a:latin typeface="Helvetica"/>
                <a:ea typeface="Helvetica"/>
                <a:cs typeface="Helvetica"/>
              </a:defRPr>
            </a:defPPr>
          </a:lstStyle>
          <a:p xmlns:a="http://schemas.openxmlformats.org/drawingml/2006/main">
            <a:pPr algn="l">
              <a:defRPr sz="825" b="1" i="0">
                <a:solidFill>
                  <a:srgbClr val="756D7A"/>
                </a:solidFill>
                <a:latin typeface="Helvetica"/>
                <a:ea typeface="Helvetica"/>
                <a:cs typeface="Helvetica"/>
              </a:defRPr>
            </a:pPr>
            <a:r>
              <a:rPr sz="825" b="1" i="0">
                <a:solidFill>
                  <a:srgbClr val="756D7A"/>
                </a:solidFill>
                <a:latin typeface="Helvetica"/>
                <a:ea typeface="Helvetica"/>
                <a:cs typeface="Helvetica"/>
              </a:rPr>
              <a:t>SOURCES: S2, S3, T1</a:t>
            </a:r>
          </a:p>
        </p:txBody>
      </p:sp>
      <p:sp>
        <p:nvSpPr>
          <p:cNvPr id="12" name="">
            <a:extLst xmlns:a="http://schemas.openxmlformats.org/drawingml/2006/main">
              <a:ext uri="{FF2B5EF4-FFF2-40B4-BE49-F238E27FC236}">
                <a16:creationId xmlns:a16="http://schemas.microsoft.com/office/drawing/2014/main" id="{D9093DDC-349C-411A-857D-7424359F0D48}"/>
              </a:ext>
            </a:extLst>
          </p:cNvPr>
          <p:cNvSpPr>
            <a:spLocks xmlns:a="http://schemas.openxmlformats.org/drawingml/2006/main" noGrp="1"/>
          </p:cNvSpPr>
          <p:nvPr/>
        </p:nvSpPr>
        <p:spPr>
          <a:xfrm xmlns:a="http://schemas.openxmlformats.org/drawingml/2006/main">
            <a:off x="5715000" y="6134100"/>
            <a:ext cx="48768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r">
              <a:defRPr sz="825" b="1" i="0">
                <a:solidFill>
                  <a:srgbClr val="5A2E78"/>
                </a:solidFill>
                <a:latin typeface="Helvetica"/>
                <a:ea typeface="Helvetica"/>
                <a:cs typeface="Helvetica"/>
              </a:defRPr>
            </a:defPPr>
          </a:lstStyle>
          <a:p xmlns:a="http://schemas.openxmlformats.org/drawingml/2006/main">
            <a:pPr algn="r">
              <a:defRPr sz="825" b="1" i="0">
                <a:solidFill>
                  <a:srgbClr val="5A2E78"/>
                </a:solidFill>
                <a:latin typeface="Helvetica"/>
                <a:ea typeface="Helvetica"/>
                <a:cs typeface="Helvetica"/>
              </a:defRPr>
            </a:pPr>
            <a:r>
              <a:rPr sz="825" b="1" i="0">
                <a:solidFill>
                  <a:srgbClr val="5A2E78"/>
                </a:solidFill>
                <a:latin typeface="Helvetica"/>
                <a:ea typeface="Helvetica"/>
                <a:cs typeface="Helvetica"/>
              </a:rPr>
              <a:t>APPROVED STRATEGY + INTERPRETATION + VERIFIED FACT</a:t>
            </a:r>
          </a:p>
        </p:txBody>
      </p:sp>
      <p:sp>
        <p:nvSpPr>
          <p:cNvPr id="13" name="">
            <a:extLst xmlns:a="http://schemas.openxmlformats.org/drawingml/2006/main">
              <a:ext uri="{FF2B5EF4-FFF2-40B4-BE49-F238E27FC236}">
                <a16:creationId xmlns:a16="http://schemas.microsoft.com/office/drawing/2014/main" id="{F2B4525A-8F08-4FB0-B941-53050DE7DC72}"/>
              </a:ext>
            </a:extLst>
          </p:cNvPr>
          <p:cNvSpPr>
            <a:spLocks xmlns:a="http://schemas.openxmlformats.org/drawingml/2006/main" noGrp="1"/>
          </p:cNvSpPr>
          <p:nvPr/>
        </p:nvSpPr>
        <p:spPr>
          <a:xfrm xmlns:a="http://schemas.openxmlformats.org/drawingml/2006/main">
            <a:off x="647700" y="6515100"/>
            <a:ext cx="17145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675" b="1" i="0">
                <a:solidFill>
                  <a:srgbClr val="756D7A"/>
                </a:solidFill>
                <a:latin typeface="Helvetica"/>
                <a:ea typeface="Helvetica"/>
                <a:cs typeface="Helvetica"/>
              </a:defRPr>
            </a:defPPr>
          </a:lstStyle>
          <a:p xmlns:a="http://schemas.openxmlformats.org/drawingml/2006/main">
            <a:pPr algn="l">
              <a:defRPr sz="675" b="1" i="0">
                <a:solidFill>
                  <a:srgbClr val="756D7A"/>
                </a:solidFill>
                <a:latin typeface="Helvetica"/>
                <a:ea typeface="Helvetica"/>
                <a:cs typeface="Helvetica"/>
              </a:defRPr>
            </a:pPr>
            <a:r>
              <a:rPr sz="675" b="1" i="0">
                <a:solidFill>
                  <a:srgbClr val="756D7A"/>
                </a:solidFill>
                <a:latin typeface="Helvetica"/>
                <a:ea typeface="Helvetica"/>
                <a:cs typeface="Helvetica"/>
              </a:rPr>
              <a:t>NARRATIIVE</a:t>
            </a:r>
          </a:p>
        </p:txBody>
      </p:sp>
      <p:sp>
        <p:nvSpPr>
          <p:cNvPr id="14" name="">
            <a:extLst xmlns:a="http://schemas.openxmlformats.org/drawingml/2006/main">
              <a:ext uri="{FF2B5EF4-FFF2-40B4-BE49-F238E27FC236}">
                <a16:creationId xmlns:a16="http://schemas.microsoft.com/office/drawing/2014/main" id="{0FBB424B-2416-4D01-B251-2EDE7425E0EC}"/>
              </a:ext>
            </a:extLst>
          </p:cNvPr>
          <p:cNvSpPr>
            <a:spLocks xmlns:a="http://schemas.openxmlformats.org/drawingml/2006/main" noGrp="1"/>
          </p:cNvSpPr>
          <p:nvPr/>
        </p:nvSpPr>
        <p:spPr>
          <a:xfrm xmlns:a="http://schemas.openxmlformats.org/drawingml/2006/main">
            <a:off x="10668000" y="6515100"/>
            <a:ext cx="8763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r">
              <a:defRPr sz="675" b="0" i="0">
                <a:solidFill>
                  <a:srgbClr val="756D7A"/>
                </a:solidFill>
                <a:latin typeface="Helvetica"/>
                <a:ea typeface="Helvetica"/>
                <a:cs typeface="Helvetica"/>
              </a:defRPr>
            </a:defPPr>
          </a:lstStyle>
          <a:p xmlns:a="http://schemas.openxmlformats.org/drawingml/2006/main">
            <a:pPr algn="r">
              <a:defRPr sz="675" b="0" i="0">
                <a:solidFill>
                  <a:srgbClr val="756D7A"/>
                </a:solidFill>
                <a:latin typeface="Helvetica"/>
                <a:ea typeface="Helvetica"/>
                <a:cs typeface="Helvetica"/>
              </a:defRPr>
            </a:pPr>
            <a:r>
              <a:rPr sz="675" b="0" i="0">
                <a:solidFill>
                  <a:srgbClr val="756D7A"/>
                </a:solidFill>
                <a:latin typeface="Helvetica"/>
                <a:ea typeface="Helvetica"/>
                <a:cs typeface="Helvetica"/>
              </a:rPr>
              <a:t>18 / 30</a:t>
            </a:r>
          </a:p>
        </p:txBody>
      </p:sp>
    </p:spTree>
    <p:extLst>
      <p:ext uri="{BB962C8B-B14F-4D97-AF65-F5344CB8AC3E}">
        <p14:creationId xmlns:p14="http://schemas.microsoft.com/office/powerpoint/2010/main" val="1218734753"/>
      </p:ext>
    </p:extLst>
  </p:cSld>
</p:sld>
</file>

<file path=ppt/slides/slide19.xml><?xml version="1.0" encoding="utf-8"?>
<p:sld xmlns:p="http://schemas.openxmlformats.org/presentationml/2006/main">
  <p:cSld>
    <p:bg>
      <p:bgPr>
        <a:solidFill xmlns:a="http://schemas.openxmlformats.org/drawingml/2006/main">
          <a:srgbClr val="F6F0E8"/>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595C8EF4-1F20-4B3E-ACE2-9CE9BD480A65}"/>
              </a:ext>
            </a:extLst>
          </p:cNvPr>
          <p:cNvSpPr>
            <a:spLocks xmlns:a="http://schemas.openxmlformats.org/drawingml/2006/main" noGrp="1"/>
          </p:cNvSpPr>
          <p:nvPr/>
        </p:nvSpPr>
        <p:spPr>
          <a:xfrm xmlns:a="http://schemas.openxmlformats.org/drawingml/2006/main">
            <a:off x="647700" y="333375"/>
            <a:ext cx="57150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675" b="1" i="0">
                <a:solidFill>
                  <a:srgbClr val="FF654F"/>
                </a:solidFill>
                <a:latin typeface="Helvetica"/>
                <a:ea typeface="Helvetica"/>
                <a:cs typeface="Helvetica"/>
              </a:defRPr>
            </a:defPPr>
          </a:lstStyle>
          <a:p xmlns:a="http://schemas.openxmlformats.org/drawingml/2006/main">
            <a:pPr algn="l">
              <a:defRPr sz="675" b="1" i="0">
                <a:solidFill>
                  <a:srgbClr val="FF654F"/>
                </a:solidFill>
                <a:latin typeface="Helvetica"/>
                <a:ea typeface="Helvetica"/>
                <a:cs typeface="Helvetica"/>
              </a:defRPr>
            </a:pPr>
            <a:r>
              <a:rPr sz="675" b="1" i="0">
                <a:solidFill>
                  <a:srgbClr val="FF654F"/>
                </a:solidFill>
                <a:latin typeface="Helvetica"/>
                <a:ea typeface="Helvetica"/>
                <a:cs typeface="Helvetica"/>
              </a:rPr>
              <a:t>ACT 4 / POSITIONING + NARRATIVE ANSWER</a:t>
            </a:r>
          </a:p>
        </p:txBody>
      </p:sp>
      <p:sp>
        <p:nvSpPr>
          <p:cNvPr id="2" name="">
            <a:extLst xmlns:a="http://schemas.openxmlformats.org/drawingml/2006/main">
              <a:ext uri="{FF2B5EF4-FFF2-40B4-BE49-F238E27FC236}">
                <a16:creationId xmlns:a16="http://schemas.microsoft.com/office/drawing/2014/main" id="{4538339D-3B24-477A-96D6-EB207A560E5F}"/>
              </a:ext>
            </a:extLst>
          </p:cNvPr>
          <p:cNvSpPr>
            <a:spLocks xmlns:a="http://schemas.openxmlformats.org/drawingml/2006/main" noGrp="1"/>
          </p:cNvSpPr>
          <p:nvPr/>
        </p:nvSpPr>
        <p:spPr>
          <a:xfrm xmlns:a="http://schemas.openxmlformats.org/drawingml/2006/main">
            <a:off x="647700" y="685800"/>
            <a:ext cx="1047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2325" b="1" i="0">
                <a:solidFill>
                  <a:srgbClr val="15121B"/>
                </a:solidFill>
                <a:latin typeface="Helvetica"/>
                <a:ea typeface="Helvetica"/>
                <a:cs typeface="Helvetica"/>
              </a:defRPr>
            </a:defPPr>
          </a:lstStyle>
          <a:p xmlns:a="http://schemas.openxmlformats.org/drawingml/2006/main">
            <a:pPr algn="l">
              <a:defRPr sz="2325" b="1" i="0">
                <a:solidFill>
                  <a:srgbClr val="15121B"/>
                </a:solidFill>
                <a:latin typeface="Helvetica"/>
                <a:ea typeface="Helvetica"/>
                <a:cs typeface="Helvetica"/>
              </a:defRPr>
            </a:pPr>
            <a:r>
              <a:rPr sz="2325" b="1" i="0">
                <a:solidFill>
                  <a:srgbClr val="15121B"/>
                </a:solidFill>
                <a:latin typeface="Helvetica"/>
                <a:ea typeface="Helvetica"/>
                <a:cs typeface="Helvetica"/>
              </a:rPr>
              <a:t>Positioning Map</a:t>
            </a:r>
          </a:p>
        </p:txBody>
      </p:sp>
      <p:sp>
        <p:nvSpPr>
          <p:cNvPr id="3" name="">
            <a:extLst xmlns:a="http://schemas.openxmlformats.org/drawingml/2006/main">
              <a:ext uri="{FF2B5EF4-FFF2-40B4-BE49-F238E27FC236}">
                <a16:creationId xmlns:a16="http://schemas.microsoft.com/office/drawing/2014/main" id="{49555C76-38E2-4686-BF27-51990FA52508}"/>
              </a:ext>
            </a:extLst>
          </p:cNvPr>
          <p:cNvSpPr>
            <a:spLocks xmlns:a="http://schemas.openxmlformats.org/drawingml/2006/main" noGrp="1"/>
          </p:cNvSpPr>
          <p:nvPr/>
        </p:nvSpPr>
        <p:spPr>
          <a:xfrm xmlns:a="http://schemas.openxmlformats.org/drawingml/2006/main">
            <a:off x="647700" y="1400175"/>
            <a:ext cx="10896600" cy="19050"/>
          </a:xfrm>
          <a:prstGeom xmlns:a="http://schemas.openxmlformats.org/drawingml/2006/main" prst="rect">
            <a:avLst/>
          </a:prstGeom>
          <a:solidFill xmlns:a="http://schemas.openxmlformats.org/drawingml/2006/main">
            <a:srgbClr val="D9CFD5"/>
          </a:solidFill>
          <a:ln xmlns:a="http://schemas.openxmlformats.org/drawingml/2006/main" w="0">
            <a:solidFill>
              <a:srgbClr val="D9CFD5"/>
            </a:solidFill>
          </a:ln>
        </p:spPr>
      </p:sp>
      <p:sp>
        <p:nvSpPr>
          <p:cNvPr id="4" name="">
            <a:extLst xmlns:a="http://schemas.openxmlformats.org/drawingml/2006/main">
              <a:ext uri="{FF2B5EF4-FFF2-40B4-BE49-F238E27FC236}">
                <a16:creationId xmlns:a16="http://schemas.microsoft.com/office/drawing/2014/main" id="{28D78A8A-3EE1-429A-BACE-577CB83BA8A9}"/>
              </a:ext>
            </a:extLst>
          </p:cNvPr>
          <p:cNvSpPr>
            <a:spLocks xmlns:a="http://schemas.openxmlformats.org/drawingml/2006/main" noGrp="1"/>
          </p:cNvSpPr>
          <p:nvPr/>
        </p:nvSpPr>
        <p:spPr>
          <a:xfrm xmlns:a="http://schemas.openxmlformats.org/drawingml/2006/main">
            <a:off x="704850" y="1952625"/>
            <a:ext cx="3200400" cy="2590800"/>
          </a:xfrm>
          <a:prstGeom xmlns:a="http://schemas.openxmlformats.org/drawingml/2006/main" prst="roundRect">
            <a:avLst>
              <a:gd name="adj" fmla="val 2941"/>
            </a:avLst>
          </a:prstGeom>
          <a:solidFill xmlns:a="http://schemas.openxmlformats.org/drawingml/2006/main">
            <a:srgbClr val="261A31"/>
          </a:solidFill>
          <a:ln xmlns:a="http://schemas.openxmlformats.org/drawingml/2006/main" w="0">
            <a:solidFill>
              <a:srgbClr val="261A31"/>
            </a:solidFill>
          </a:ln>
        </p:spPr>
      </p:sp>
      <p:sp>
        <p:nvSpPr>
          <p:cNvPr id="5" name="">
            <a:extLst xmlns:a="http://schemas.openxmlformats.org/drawingml/2006/main">
              <a:ext uri="{FF2B5EF4-FFF2-40B4-BE49-F238E27FC236}">
                <a16:creationId xmlns:a16="http://schemas.microsoft.com/office/drawing/2014/main" id="{E7006F84-1B1C-4152-95C4-3B0B20BFECD3}"/>
              </a:ext>
            </a:extLst>
          </p:cNvPr>
          <p:cNvSpPr>
            <a:spLocks xmlns:a="http://schemas.openxmlformats.org/drawingml/2006/main" noGrp="1"/>
          </p:cNvSpPr>
          <p:nvPr/>
        </p:nvSpPr>
        <p:spPr>
          <a:xfrm xmlns:a="http://schemas.openxmlformats.org/drawingml/2006/main">
            <a:off x="933450" y="2181225"/>
            <a:ext cx="45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900" b="1" i="0">
                <a:solidFill>
                  <a:srgbClr val="C8B7E8"/>
                </a:solidFill>
                <a:latin typeface="Helvetica"/>
                <a:ea typeface="Helvetica"/>
                <a:cs typeface="Helvetica"/>
              </a:defRPr>
            </a:defPPr>
          </a:lstStyle>
          <a:p xmlns:a="http://schemas.openxmlformats.org/drawingml/2006/main">
            <a:pPr algn="l">
              <a:defRPr sz="900" b="1" i="0">
                <a:solidFill>
                  <a:srgbClr val="C8B7E8"/>
                </a:solidFill>
                <a:latin typeface="Helvetica"/>
                <a:ea typeface="Helvetica"/>
                <a:cs typeface="Helvetica"/>
              </a:defRPr>
            </a:pPr>
            <a:r>
              <a:rPr sz="900" b="1" i="0">
                <a:solidFill>
                  <a:srgbClr val="C8B7E8"/>
                </a:solidFill>
                <a:latin typeface="Helvetica"/>
                <a:ea typeface="Helvetica"/>
                <a:cs typeface="Helvetica"/>
              </a:rPr>
              <a:t>01</a:t>
            </a:r>
          </a:p>
        </p:txBody>
      </p:sp>
      <p:sp>
        <p:nvSpPr>
          <p:cNvPr id="6" name="">
            <a:extLst xmlns:a="http://schemas.openxmlformats.org/drawingml/2006/main">
              <a:ext uri="{FF2B5EF4-FFF2-40B4-BE49-F238E27FC236}">
                <a16:creationId xmlns:a16="http://schemas.microsoft.com/office/drawing/2014/main" id="{69191DCB-EE7B-4658-857E-64AB518C48F7}"/>
              </a:ext>
            </a:extLst>
          </p:cNvPr>
          <p:cNvSpPr>
            <a:spLocks xmlns:a="http://schemas.openxmlformats.org/drawingml/2006/main" noGrp="1"/>
          </p:cNvSpPr>
          <p:nvPr/>
        </p:nvSpPr>
        <p:spPr>
          <a:xfrm xmlns:a="http://schemas.openxmlformats.org/drawingml/2006/main">
            <a:off x="933450" y="2619375"/>
            <a:ext cx="2724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575" b="1" i="0">
                <a:solidFill>
                  <a:srgbClr val="FFFDFC"/>
                </a:solidFill>
                <a:latin typeface="Helvetica"/>
                <a:ea typeface="Helvetica"/>
                <a:cs typeface="Helvetica"/>
              </a:defRPr>
            </a:defPPr>
          </a:lstStyle>
          <a:p xmlns:a="http://schemas.openxmlformats.org/drawingml/2006/main">
            <a:pPr algn="l">
              <a:defRPr sz="1575" b="1" i="0">
                <a:solidFill>
                  <a:srgbClr val="FFFDFC"/>
                </a:solidFill>
                <a:latin typeface="Helvetica"/>
                <a:ea typeface="Helvetica"/>
                <a:cs typeface="Helvetica"/>
              </a:defRPr>
            </a:pPr>
            <a:r>
              <a:rPr sz="1575" b="1" i="0">
                <a:solidFill>
                  <a:srgbClr val="FFFDFC"/>
                </a:solidFill>
                <a:latin typeface="Helvetica"/>
                <a:ea typeface="Helvetica"/>
                <a:cs typeface="Helvetica"/>
              </a:rPr>
              <a:t>DISCOVERY</a:t>
            </a:r>
          </a:p>
        </p:txBody>
      </p:sp>
      <p:sp>
        <p:nvSpPr>
          <p:cNvPr id="7" name="">
            <a:extLst xmlns:a="http://schemas.openxmlformats.org/drawingml/2006/main">
              <a:ext uri="{FF2B5EF4-FFF2-40B4-BE49-F238E27FC236}">
                <a16:creationId xmlns:a16="http://schemas.microsoft.com/office/drawing/2014/main" id="{9DCE8DE5-B49D-4C53-93A8-F30D04483925}"/>
              </a:ext>
            </a:extLst>
          </p:cNvPr>
          <p:cNvSpPr>
            <a:spLocks xmlns:a="http://schemas.openxmlformats.org/drawingml/2006/main" noGrp="1"/>
          </p:cNvSpPr>
          <p:nvPr/>
        </p:nvSpPr>
        <p:spPr>
          <a:xfrm xmlns:a="http://schemas.openxmlformats.org/drawingml/2006/main">
            <a:off x="933450" y="3209925"/>
            <a:ext cx="27241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200" b="1" i="0">
                <a:solidFill>
                  <a:srgbClr val="FFFDFC"/>
                </a:solidFill>
                <a:latin typeface="Helvetica"/>
                <a:ea typeface="Helvetica"/>
                <a:cs typeface="Helvetica"/>
              </a:defRPr>
            </a:defPPr>
          </a:lstStyle>
          <a:p xmlns:a="http://schemas.openxmlformats.org/drawingml/2006/main">
            <a:pPr algn="l">
              <a:defRPr sz="1200" b="1" i="0">
                <a:solidFill>
                  <a:srgbClr val="FFFDFC"/>
                </a:solidFill>
                <a:latin typeface="Helvetica"/>
                <a:ea typeface="Helvetica"/>
                <a:cs typeface="Helvetica"/>
              </a:defRPr>
            </a:pPr>
            <a:r>
              <a:rPr sz="1200" b="1" i="0">
                <a:solidFill>
                  <a:srgbClr val="FFFDFC"/>
                </a:solidFill>
                <a:latin typeface="Helvetica"/>
                <a:ea typeface="Helvetica"/>
                <a:cs typeface="Helvetica"/>
              </a:rPr>
              <a:t>KatKin should test ownable territory against real customer perception, not marketing copy alone.</a:t>
            </a:r>
          </a:p>
        </p:txBody>
      </p:sp>
      <p:sp>
        <p:nvSpPr>
          <p:cNvPr id="8" name="">
            <a:extLst xmlns:a="http://schemas.openxmlformats.org/drawingml/2006/main">
              <a:ext uri="{FF2B5EF4-FFF2-40B4-BE49-F238E27FC236}">
                <a16:creationId xmlns:a16="http://schemas.microsoft.com/office/drawing/2014/main" id="{B3F79350-F218-45C9-91AD-AF941BF7A90B}"/>
              </a:ext>
            </a:extLst>
          </p:cNvPr>
          <p:cNvSpPr>
            <a:spLocks xmlns:a="http://schemas.openxmlformats.org/drawingml/2006/main" noGrp="1"/>
          </p:cNvSpPr>
          <p:nvPr/>
        </p:nvSpPr>
        <p:spPr>
          <a:xfrm xmlns:a="http://schemas.openxmlformats.org/drawingml/2006/main">
            <a:off x="4419600" y="2105025"/>
            <a:ext cx="3200400" cy="2590800"/>
          </a:xfrm>
          <a:prstGeom xmlns:a="http://schemas.openxmlformats.org/drawingml/2006/main" prst="roundRect">
            <a:avLst>
              <a:gd name="adj" fmla="val 2941"/>
            </a:avLst>
          </a:prstGeom>
          <a:solidFill xmlns:a="http://schemas.openxmlformats.org/drawingml/2006/main">
            <a:srgbClr val="5A2E78"/>
          </a:solidFill>
          <a:ln xmlns:a="http://schemas.openxmlformats.org/drawingml/2006/main" w="0">
            <a:solidFill>
              <a:srgbClr val="5A2E78"/>
            </a:solidFill>
          </a:ln>
        </p:spPr>
      </p:sp>
      <p:sp>
        <p:nvSpPr>
          <p:cNvPr id="9" name="">
            <a:extLst xmlns:a="http://schemas.openxmlformats.org/drawingml/2006/main">
              <a:ext uri="{FF2B5EF4-FFF2-40B4-BE49-F238E27FC236}">
                <a16:creationId xmlns:a16="http://schemas.microsoft.com/office/drawing/2014/main" id="{79A000F8-0B57-4C49-8EA6-33C12C26DE23}"/>
              </a:ext>
            </a:extLst>
          </p:cNvPr>
          <p:cNvSpPr>
            <a:spLocks xmlns:a="http://schemas.openxmlformats.org/drawingml/2006/main" noGrp="1"/>
          </p:cNvSpPr>
          <p:nvPr/>
        </p:nvSpPr>
        <p:spPr>
          <a:xfrm xmlns:a="http://schemas.openxmlformats.org/drawingml/2006/main">
            <a:off x="4648200" y="2333625"/>
            <a:ext cx="45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900" b="1" i="0">
                <a:solidFill>
                  <a:srgbClr val="C8B7E8"/>
                </a:solidFill>
                <a:latin typeface="Helvetica"/>
                <a:ea typeface="Helvetica"/>
                <a:cs typeface="Helvetica"/>
              </a:defRPr>
            </a:defPPr>
          </a:lstStyle>
          <a:p xmlns:a="http://schemas.openxmlformats.org/drawingml/2006/main">
            <a:pPr algn="l">
              <a:defRPr sz="900" b="1" i="0">
                <a:solidFill>
                  <a:srgbClr val="C8B7E8"/>
                </a:solidFill>
                <a:latin typeface="Helvetica"/>
                <a:ea typeface="Helvetica"/>
                <a:cs typeface="Helvetica"/>
              </a:defRPr>
            </a:pPr>
            <a:r>
              <a:rPr sz="900" b="1" i="0">
                <a:solidFill>
                  <a:srgbClr val="C8B7E8"/>
                </a:solidFill>
                <a:latin typeface="Helvetica"/>
                <a:ea typeface="Helvetica"/>
                <a:cs typeface="Helvetica"/>
              </a:rPr>
              <a:t>02</a:t>
            </a:r>
          </a:p>
        </p:txBody>
      </p:sp>
      <p:sp>
        <p:nvSpPr>
          <p:cNvPr id="10" name="">
            <a:extLst xmlns:a="http://schemas.openxmlformats.org/drawingml/2006/main">
              <a:ext uri="{FF2B5EF4-FFF2-40B4-BE49-F238E27FC236}">
                <a16:creationId xmlns:a16="http://schemas.microsoft.com/office/drawing/2014/main" id="{E25E19DD-6538-46BF-ABA4-4BB5529C3A86}"/>
              </a:ext>
            </a:extLst>
          </p:cNvPr>
          <p:cNvSpPr>
            <a:spLocks xmlns:a="http://schemas.openxmlformats.org/drawingml/2006/main" noGrp="1"/>
          </p:cNvSpPr>
          <p:nvPr/>
        </p:nvSpPr>
        <p:spPr>
          <a:xfrm xmlns:a="http://schemas.openxmlformats.org/drawingml/2006/main">
            <a:off x="4648200" y="2771775"/>
            <a:ext cx="2724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575" b="1" i="0">
                <a:solidFill>
                  <a:srgbClr val="FFFDFC"/>
                </a:solidFill>
                <a:latin typeface="Helvetica"/>
                <a:ea typeface="Helvetica"/>
                <a:cs typeface="Helvetica"/>
              </a:defRPr>
            </a:defPPr>
          </a:lstStyle>
          <a:p xmlns:a="http://schemas.openxmlformats.org/drawingml/2006/main">
            <a:pPr algn="l">
              <a:defRPr sz="1575" b="1" i="0">
                <a:solidFill>
                  <a:srgbClr val="FFFDFC"/>
                </a:solidFill>
                <a:latin typeface="Helvetica"/>
                <a:ea typeface="Helvetica"/>
                <a:cs typeface="Helvetica"/>
              </a:defRPr>
            </a:pPr>
            <a:r>
              <a:rPr sz="1575" b="1" i="0">
                <a:solidFill>
                  <a:srgbClr val="FFFDFC"/>
                </a:solidFill>
                <a:latin typeface="Helvetica"/>
                <a:ea typeface="Helvetica"/>
                <a:cs typeface="Helvetica"/>
              </a:rPr>
              <a:t>DECISION</a:t>
            </a:r>
          </a:p>
        </p:txBody>
      </p:sp>
      <p:sp>
        <p:nvSpPr>
          <p:cNvPr id="11" name="">
            <a:extLst xmlns:a="http://schemas.openxmlformats.org/drawingml/2006/main">
              <a:ext uri="{FF2B5EF4-FFF2-40B4-BE49-F238E27FC236}">
                <a16:creationId xmlns:a16="http://schemas.microsoft.com/office/drawing/2014/main" id="{AAD1716D-684A-4EDC-A487-3B47497A4068}"/>
              </a:ext>
            </a:extLst>
          </p:cNvPr>
          <p:cNvSpPr>
            <a:spLocks xmlns:a="http://schemas.openxmlformats.org/drawingml/2006/main" noGrp="1"/>
          </p:cNvSpPr>
          <p:nvPr/>
        </p:nvSpPr>
        <p:spPr>
          <a:xfrm xmlns:a="http://schemas.openxmlformats.org/drawingml/2006/main">
            <a:off x="4648200" y="3362325"/>
            <a:ext cx="27241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200" b="1" i="0">
                <a:solidFill>
                  <a:srgbClr val="FFFDFC"/>
                </a:solidFill>
                <a:latin typeface="Helvetica"/>
                <a:ea typeface="Helvetica"/>
                <a:cs typeface="Helvetica"/>
              </a:defRPr>
            </a:defPPr>
          </a:lstStyle>
          <a:p xmlns:a="http://schemas.openxmlformats.org/drawingml/2006/main">
            <a:pPr algn="l">
              <a:defRPr sz="1200" b="1" i="0">
                <a:solidFill>
                  <a:srgbClr val="FFFDFC"/>
                </a:solidFill>
                <a:latin typeface="Helvetica"/>
                <a:ea typeface="Helvetica"/>
                <a:cs typeface="Helvetica"/>
              </a:defRPr>
            </a:pPr>
            <a:r>
              <a:rPr sz="1200" b="1" i="0">
                <a:solidFill>
                  <a:srgbClr val="FFFDFC"/>
                </a:solidFill>
                <a:latin typeface="Helvetica"/>
                <a:ea typeface="Helvetica"/>
                <a:cs typeface="Helvetica"/>
              </a:rPr>
              <a:t>Founder pressure-test outcome is unknown and is a named downstream dependency</a:t>
            </a:r>
          </a:p>
        </p:txBody>
      </p:sp>
      <p:sp>
        <p:nvSpPr>
          <p:cNvPr id="12" name="">
            <a:extLst xmlns:a="http://schemas.openxmlformats.org/drawingml/2006/main">
              <a:ext uri="{FF2B5EF4-FFF2-40B4-BE49-F238E27FC236}">
                <a16:creationId xmlns:a16="http://schemas.microsoft.com/office/drawing/2014/main" id="{D688D5B6-AD1D-4FA2-B015-7254C0A65F9F}"/>
              </a:ext>
            </a:extLst>
          </p:cNvPr>
          <p:cNvSpPr>
            <a:spLocks xmlns:a="http://schemas.openxmlformats.org/drawingml/2006/main" noGrp="1"/>
          </p:cNvSpPr>
          <p:nvPr/>
        </p:nvSpPr>
        <p:spPr>
          <a:xfrm xmlns:a="http://schemas.openxmlformats.org/drawingml/2006/main">
            <a:off x="8134350" y="2257425"/>
            <a:ext cx="3200400" cy="2590800"/>
          </a:xfrm>
          <a:prstGeom xmlns:a="http://schemas.openxmlformats.org/drawingml/2006/main" prst="roundRect">
            <a:avLst>
              <a:gd name="adj" fmla="val 2941"/>
            </a:avLst>
          </a:prstGeom>
          <a:solidFill xmlns:a="http://schemas.openxmlformats.org/drawingml/2006/main">
            <a:srgbClr val="FF654F"/>
          </a:solidFill>
          <a:ln xmlns:a="http://schemas.openxmlformats.org/drawingml/2006/main" w="0">
            <a:solidFill>
              <a:srgbClr val="FF654F"/>
            </a:solidFill>
          </a:ln>
        </p:spPr>
      </p:sp>
      <p:sp>
        <p:nvSpPr>
          <p:cNvPr id="13" name="">
            <a:extLst xmlns:a="http://schemas.openxmlformats.org/drawingml/2006/main">
              <a:ext uri="{FF2B5EF4-FFF2-40B4-BE49-F238E27FC236}">
                <a16:creationId xmlns:a16="http://schemas.microsoft.com/office/drawing/2014/main" id="{D0F74060-7CE0-4ADC-B56B-FAAB58205F34}"/>
              </a:ext>
            </a:extLst>
          </p:cNvPr>
          <p:cNvSpPr>
            <a:spLocks xmlns:a="http://schemas.openxmlformats.org/drawingml/2006/main" noGrp="1"/>
          </p:cNvSpPr>
          <p:nvPr/>
        </p:nvSpPr>
        <p:spPr>
          <a:xfrm xmlns:a="http://schemas.openxmlformats.org/drawingml/2006/main">
            <a:off x="8362950" y="2486025"/>
            <a:ext cx="45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900" b="1" i="0">
                <a:solidFill>
                  <a:srgbClr val="C8B7E8"/>
                </a:solidFill>
                <a:latin typeface="Helvetica"/>
                <a:ea typeface="Helvetica"/>
                <a:cs typeface="Helvetica"/>
              </a:defRPr>
            </a:defPPr>
          </a:lstStyle>
          <a:p xmlns:a="http://schemas.openxmlformats.org/drawingml/2006/main">
            <a:pPr algn="l">
              <a:defRPr sz="900" b="1" i="0">
                <a:solidFill>
                  <a:srgbClr val="C8B7E8"/>
                </a:solidFill>
                <a:latin typeface="Helvetica"/>
                <a:ea typeface="Helvetica"/>
                <a:cs typeface="Helvetica"/>
              </a:defRPr>
            </a:pPr>
            <a:r>
              <a:rPr sz="900" b="1" i="0">
                <a:solidFill>
                  <a:srgbClr val="C8B7E8"/>
                </a:solidFill>
                <a:latin typeface="Helvetica"/>
                <a:ea typeface="Helvetica"/>
                <a:cs typeface="Helvetica"/>
              </a:rPr>
              <a:t>03</a:t>
            </a:r>
          </a:p>
        </p:txBody>
      </p:sp>
      <p:sp>
        <p:nvSpPr>
          <p:cNvPr id="14" name="">
            <a:extLst xmlns:a="http://schemas.openxmlformats.org/drawingml/2006/main">
              <a:ext uri="{FF2B5EF4-FFF2-40B4-BE49-F238E27FC236}">
                <a16:creationId xmlns:a16="http://schemas.microsoft.com/office/drawing/2014/main" id="{DAE57B00-4310-44CA-8F2E-2631A33DE118}"/>
              </a:ext>
            </a:extLst>
          </p:cNvPr>
          <p:cNvSpPr>
            <a:spLocks xmlns:a="http://schemas.openxmlformats.org/drawingml/2006/main" noGrp="1"/>
          </p:cNvSpPr>
          <p:nvPr/>
        </p:nvSpPr>
        <p:spPr>
          <a:xfrm xmlns:a="http://schemas.openxmlformats.org/drawingml/2006/main">
            <a:off x="8362950" y="2924175"/>
            <a:ext cx="2724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575" b="1" i="0">
                <a:solidFill>
                  <a:srgbClr val="FFFDFC"/>
                </a:solidFill>
                <a:latin typeface="Helvetica"/>
                <a:ea typeface="Helvetica"/>
                <a:cs typeface="Helvetica"/>
              </a:defRPr>
            </a:defPPr>
          </a:lstStyle>
          <a:p xmlns:a="http://schemas.openxmlformats.org/drawingml/2006/main">
            <a:pPr algn="l">
              <a:defRPr sz="1575" b="1" i="0">
                <a:solidFill>
                  <a:srgbClr val="FFFDFC"/>
                </a:solidFill>
                <a:latin typeface="Helvetica"/>
                <a:ea typeface="Helvetica"/>
                <a:cs typeface="Helvetica"/>
              </a:defRPr>
            </a:pPr>
            <a:r>
              <a:rPr sz="1575" b="1" i="0">
                <a:solidFill>
                  <a:srgbClr val="FFFDFC"/>
                </a:solidFill>
                <a:latin typeface="Helvetica"/>
                <a:ea typeface="Helvetica"/>
                <a:cs typeface="Helvetica"/>
              </a:rPr>
              <a:t>REPEAT</a:t>
            </a:r>
          </a:p>
        </p:txBody>
      </p:sp>
      <p:sp>
        <p:nvSpPr>
          <p:cNvPr id="15" name="">
            <a:extLst xmlns:a="http://schemas.openxmlformats.org/drawingml/2006/main">
              <a:ext uri="{FF2B5EF4-FFF2-40B4-BE49-F238E27FC236}">
                <a16:creationId xmlns:a16="http://schemas.microsoft.com/office/drawing/2014/main" id="{CBD4A526-B1DA-4838-ABF1-452ACCC3AC39}"/>
              </a:ext>
            </a:extLst>
          </p:cNvPr>
          <p:cNvSpPr>
            <a:spLocks xmlns:a="http://schemas.openxmlformats.org/drawingml/2006/main" noGrp="1"/>
          </p:cNvSpPr>
          <p:nvPr/>
        </p:nvSpPr>
        <p:spPr>
          <a:xfrm xmlns:a="http://schemas.openxmlformats.org/drawingml/2006/main">
            <a:off x="8362950" y="3514725"/>
            <a:ext cx="27241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200" b="1" i="0">
                <a:solidFill>
                  <a:srgbClr val="FFFDFC"/>
                </a:solidFill>
                <a:latin typeface="Helvetica"/>
                <a:ea typeface="Helvetica"/>
                <a:cs typeface="Helvetica"/>
              </a:defRPr>
            </a:defPPr>
          </a:lstStyle>
          <a:p xmlns:a="http://schemas.openxmlformats.org/drawingml/2006/main">
            <a:pPr algn="l">
              <a:defRPr sz="1200" b="1" i="0">
                <a:solidFill>
                  <a:srgbClr val="FFFDFC"/>
                </a:solidFill>
                <a:latin typeface="Helvetica"/>
                <a:ea typeface="Helvetica"/>
                <a:cs typeface="Helvetica"/>
              </a:defRPr>
            </a:pPr>
            <a:r>
              <a:rPr sz="1200" b="1" i="0">
                <a:solidFill>
                  <a:srgbClr val="FFFDFC"/>
                </a:solidFill>
                <a:latin typeface="Helvetica"/>
                <a:ea typeface="Helvetica"/>
                <a:cs typeface="Helvetica"/>
              </a:rPr>
              <a:t>KatKin should test ownable territory against real customer perception, not marketing copy alone.</a:t>
            </a:r>
          </a:p>
        </p:txBody>
      </p:sp>
      <p:sp>
        <p:nvSpPr>
          <p:cNvPr id="16" name="">
            <a:extLst xmlns:a="http://schemas.openxmlformats.org/drawingml/2006/main">
              <a:ext uri="{FF2B5EF4-FFF2-40B4-BE49-F238E27FC236}">
                <a16:creationId xmlns:a16="http://schemas.microsoft.com/office/drawing/2014/main" id="{EAEC6267-D65E-48BB-8E97-A1371FA3F1B0}"/>
              </a:ext>
            </a:extLst>
          </p:cNvPr>
          <p:cNvSpPr>
            <a:spLocks xmlns:a="http://schemas.openxmlformats.org/drawingml/2006/main" noGrp="1"/>
          </p:cNvSpPr>
          <p:nvPr/>
        </p:nvSpPr>
        <p:spPr>
          <a:xfrm xmlns:a="http://schemas.openxmlformats.org/drawingml/2006/main">
            <a:off x="647700" y="5572125"/>
            <a:ext cx="209550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675" b="1" i="0">
                <a:solidFill>
                  <a:srgbClr val="FF654F"/>
                </a:solidFill>
                <a:latin typeface="Helvetica"/>
                <a:ea typeface="Helvetica"/>
                <a:cs typeface="Helvetica"/>
              </a:defRPr>
            </a:defPPr>
          </a:lstStyle>
          <a:p xmlns:a="http://schemas.openxmlformats.org/drawingml/2006/main">
            <a:pPr algn="l">
              <a:defRPr sz="675" b="1" i="0">
                <a:solidFill>
                  <a:srgbClr val="FF654F"/>
                </a:solidFill>
                <a:latin typeface="Helvetica"/>
                <a:ea typeface="Helvetica"/>
                <a:cs typeface="Helvetica"/>
              </a:defRPr>
            </a:pPr>
            <a:r>
              <a:rPr sz="675" b="1" i="0">
                <a:solidFill>
                  <a:srgbClr val="FF654F"/>
                </a:solidFill>
                <a:latin typeface="Helvetica"/>
                <a:ea typeface="Helvetica"/>
                <a:cs typeface="Helvetica"/>
              </a:rPr>
              <a:t>COMMERCIAL CONSEQUENCE</a:t>
            </a:r>
          </a:p>
        </p:txBody>
      </p:sp>
      <p:sp>
        <p:nvSpPr>
          <p:cNvPr id="17" name="">
            <a:extLst xmlns:a="http://schemas.openxmlformats.org/drawingml/2006/main">
              <a:ext uri="{FF2B5EF4-FFF2-40B4-BE49-F238E27FC236}">
                <a16:creationId xmlns:a16="http://schemas.microsoft.com/office/drawing/2014/main" id="{8157C23D-4534-4C20-9F05-35E82B6616C7}"/>
              </a:ext>
            </a:extLst>
          </p:cNvPr>
          <p:cNvSpPr>
            <a:spLocks xmlns:a="http://schemas.openxmlformats.org/drawingml/2006/main" noGrp="1"/>
          </p:cNvSpPr>
          <p:nvPr/>
        </p:nvSpPr>
        <p:spPr>
          <a:xfrm xmlns:a="http://schemas.openxmlformats.org/drawingml/2006/main">
            <a:off x="2619375" y="5505450"/>
            <a:ext cx="8382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200" b="1" i="0">
                <a:solidFill>
                  <a:srgbClr val="15121B"/>
                </a:solidFill>
                <a:latin typeface="Helvetica"/>
                <a:ea typeface="Helvetica"/>
                <a:cs typeface="Helvetica"/>
              </a:defRPr>
            </a:defPPr>
          </a:lstStyle>
          <a:p xmlns:a="http://schemas.openxmlformats.org/drawingml/2006/main">
            <a:pPr algn="l">
              <a:defRPr sz="1200" b="1" i="0">
                <a:solidFill>
                  <a:srgbClr val="15121B"/>
                </a:solidFill>
                <a:latin typeface="Helvetica"/>
                <a:ea typeface="Helvetica"/>
                <a:cs typeface="Helvetica"/>
              </a:defRPr>
            </a:pPr>
            <a:r>
              <a:rPr sz="1200" b="1" i="0">
                <a:solidFill>
                  <a:srgbClr val="15121B"/>
                </a:solidFill>
                <a:latin typeface="Helvetica"/>
                <a:ea typeface="Helvetica"/>
                <a:cs typeface="Helvetica"/>
              </a:rPr>
              <a:t>KatKin should test ownable territory against real customer perception, not marketing copy alone.</a:t>
            </a:r>
          </a:p>
        </p:txBody>
      </p:sp>
      <p:sp>
        <p:nvSpPr>
          <p:cNvPr id="18" name="">
            <a:extLst xmlns:a="http://schemas.openxmlformats.org/drawingml/2006/main">
              <a:ext uri="{FF2B5EF4-FFF2-40B4-BE49-F238E27FC236}">
                <a16:creationId xmlns:a16="http://schemas.microsoft.com/office/drawing/2014/main" id="{BD1D1E5E-4D46-450D-BA3E-53A01B1974D7}"/>
              </a:ext>
            </a:extLst>
          </p:cNvPr>
          <p:cNvSpPr>
            <a:spLocks xmlns:a="http://schemas.openxmlformats.org/drawingml/2006/main" noGrp="1"/>
          </p:cNvSpPr>
          <p:nvPr/>
        </p:nvSpPr>
        <p:spPr>
          <a:xfrm xmlns:a="http://schemas.openxmlformats.org/drawingml/2006/main">
            <a:off x="647700" y="6134100"/>
            <a:ext cx="4953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825" b="1" i="0">
                <a:solidFill>
                  <a:srgbClr val="756D7A"/>
                </a:solidFill>
                <a:latin typeface="Helvetica"/>
                <a:ea typeface="Helvetica"/>
                <a:cs typeface="Helvetica"/>
              </a:defRPr>
            </a:defPPr>
          </a:lstStyle>
          <a:p xmlns:a="http://schemas.openxmlformats.org/drawingml/2006/main">
            <a:pPr algn="l">
              <a:defRPr sz="825" b="1" i="0">
                <a:solidFill>
                  <a:srgbClr val="756D7A"/>
                </a:solidFill>
                <a:latin typeface="Helvetica"/>
                <a:ea typeface="Helvetica"/>
                <a:cs typeface="Helvetica"/>
              </a:defRPr>
            </a:pPr>
            <a:r>
              <a:rPr sz="825" b="1" i="0">
                <a:solidFill>
                  <a:srgbClr val="756D7A"/>
                </a:solidFill>
                <a:latin typeface="Helvetica"/>
                <a:ea typeface="Helvetica"/>
                <a:cs typeface="Helvetica"/>
              </a:rPr>
              <a:t>SOURCES: S2, S3, T1</a:t>
            </a:r>
          </a:p>
        </p:txBody>
      </p:sp>
      <p:sp>
        <p:nvSpPr>
          <p:cNvPr id="19" name="">
            <a:extLst xmlns:a="http://schemas.openxmlformats.org/drawingml/2006/main">
              <a:ext uri="{FF2B5EF4-FFF2-40B4-BE49-F238E27FC236}">
                <a16:creationId xmlns:a16="http://schemas.microsoft.com/office/drawing/2014/main" id="{ADEA471C-9319-41B1-AE43-DDDAE4D4C710}"/>
              </a:ext>
            </a:extLst>
          </p:cNvPr>
          <p:cNvSpPr>
            <a:spLocks xmlns:a="http://schemas.openxmlformats.org/drawingml/2006/main" noGrp="1"/>
          </p:cNvSpPr>
          <p:nvPr/>
        </p:nvSpPr>
        <p:spPr>
          <a:xfrm xmlns:a="http://schemas.openxmlformats.org/drawingml/2006/main">
            <a:off x="5715000" y="6134100"/>
            <a:ext cx="48768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r">
              <a:defRPr sz="825" b="1" i="0">
                <a:solidFill>
                  <a:srgbClr val="5A2E78"/>
                </a:solidFill>
                <a:latin typeface="Helvetica"/>
                <a:ea typeface="Helvetica"/>
                <a:cs typeface="Helvetica"/>
              </a:defRPr>
            </a:defPPr>
          </a:lstStyle>
          <a:p xmlns:a="http://schemas.openxmlformats.org/drawingml/2006/main">
            <a:pPr algn="r">
              <a:defRPr sz="825" b="1" i="0">
                <a:solidFill>
                  <a:srgbClr val="5A2E78"/>
                </a:solidFill>
                <a:latin typeface="Helvetica"/>
                <a:ea typeface="Helvetica"/>
                <a:cs typeface="Helvetica"/>
              </a:defRPr>
            </a:pPr>
            <a:r>
              <a:rPr sz="825" b="1" i="0">
                <a:solidFill>
                  <a:srgbClr val="5A2E78"/>
                </a:solidFill>
                <a:latin typeface="Helvetica"/>
                <a:ea typeface="Helvetica"/>
                <a:cs typeface="Helvetica"/>
              </a:rPr>
              <a:t>APPROVED STRATEGY + INTERPRETATION + VERIFIED FACT</a:t>
            </a:r>
          </a:p>
        </p:txBody>
      </p:sp>
      <p:sp>
        <p:nvSpPr>
          <p:cNvPr id="20" name="">
            <a:extLst xmlns:a="http://schemas.openxmlformats.org/drawingml/2006/main">
              <a:ext uri="{FF2B5EF4-FFF2-40B4-BE49-F238E27FC236}">
                <a16:creationId xmlns:a16="http://schemas.microsoft.com/office/drawing/2014/main" id="{E765F6B2-022C-4FDD-9891-BB036B58146B}"/>
              </a:ext>
            </a:extLst>
          </p:cNvPr>
          <p:cNvSpPr>
            <a:spLocks xmlns:a="http://schemas.openxmlformats.org/drawingml/2006/main" noGrp="1"/>
          </p:cNvSpPr>
          <p:nvPr/>
        </p:nvSpPr>
        <p:spPr>
          <a:xfrm xmlns:a="http://schemas.openxmlformats.org/drawingml/2006/main">
            <a:off x="647700" y="6515100"/>
            <a:ext cx="17145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675" b="1" i="0">
                <a:solidFill>
                  <a:srgbClr val="756D7A"/>
                </a:solidFill>
                <a:latin typeface="Helvetica"/>
                <a:ea typeface="Helvetica"/>
                <a:cs typeface="Helvetica"/>
              </a:defRPr>
            </a:defPPr>
          </a:lstStyle>
          <a:p xmlns:a="http://schemas.openxmlformats.org/drawingml/2006/main">
            <a:pPr algn="l">
              <a:defRPr sz="675" b="1" i="0">
                <a:solidFill>
                  <a:srgbClr val="756D7A"/>
                </a:solidFill>
                <a:latin typeface="Helvetica"/>
                <a:ea typeface="Helvetica"/>
                <a:cs typeface="Helvetica"/>
              </a:defRPr>
            </a:pPr>
            <a:r>
              <a:rPr sz="675" b="1" i="0">
                <a:solidFill>
                  <a:srgbClr val="756D7A"/>
                </a:solidFill>
                <a:latin typeface="Helvetica"/>
                <a:ea typeface="Helvetica"/>
                <a:cs typeface="Helvetica"/>
              </a:rPr>
              <a:t>NARRATIIVE</a:t>
            </a:r>
          </a:p>
        </p:txBody>
      </p:sp>
      <p:sp>
        <p:nvSpPr>
          <p:cNvPr id="21" name="">
            <a:extLst xmlns:a="http://schemas.openxmlformats.org/drawingml/2006/main">
              <a:ext uri="{FF2B5EF4-FFF2-40B4-BE49-F238E27FC236}">
                <a16:creationId xmlns:a16="http://schemas.microsoft.com/office/drawing/2014/main" id="{1023B9F6-59AD-4729-9D7E-F3116AAE19E6}"/>
              </a:ext>
            </a:extLst>
          </p:cNvPr>
          <p:cNvSpPr>
            <a:spLocks xmlns:a="http://schemas.openxmlformats.org/drawingml/2006/main" noGrp="1"/>
          </p:cNvSpPr>
          <p:nvPr/>
        </p:nvSpPr>
        <p:spPr>
          <a:xfrm xmlns:a="http://schemas.openxmlformats.org/drawingml/2006/main">
            <a:off x="10668000" y="6515100"/>
            <a:ext cx="8763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r">
              <a:defRPr sz="675" b="0" i="0">
                <a:solidFill>
                  <a:srgbClr val="756D7A"/>
                </a:solidFill>
                <a:latin typeface="Helvetica"/>
                <a:ea typeface="Helvetica"/>
                <a:cs typeface="Helvetica"/>
              </a:defRPr>
            </a:defPPr>
          </a:lstStyle>
          <a:p xmlns:a="http://schemas.openxmlformats.org/drawingml/2006/main">
            <a:pPr algn="r">
              <a:defRPr sz="675" b="0" i="0">
                <a:solidFill>
                  <a:srgbClr val="756D7A"/>
                </a:solidFill>
                <a:latin typeface="Helvetica"/>
                <a:ea typeface="Helvetica"/>
                <a:cs typeface="Helvetica"/>
              </a:defRPr>
            </a:pPr>
            <a:r>
              <a:rPr sz="675" b="0" i="0">
                <a:solidFill>
                  <a:srgbClr val="756D7A"/>
                </a:solidFill>
                <a:latin typeface="Helvetica"/>
                <a:ea typeface="Helvetica"/>
                <a:cs typeface="Helvetica"/>
              </a:rPr>
              <a:t>19 / 30</a:t>
            </a:r>
          </a:p>
        </p:txBody>
      </p:sp>
    </p:spTree>
    <p:extLst>
      <p:ext uri="{BB962C8B-B14F-4D97-AF65-F5344CB8AC3E}">
        <p14:creationId xmlns:p14="http://schemas.microsoft.com/office/powerpoint/2010/main" val="1537338879"/>
      </p:ext>
    </p:extLst>
  </p:cSld>
</p:sld>
</file>

<file path=ppt/slides/slide20.xml><?xml version="1.0" encoding="utf-8"?>
<p:sld xmlns:p="http://schemas.openxmlformats.org/presentationml/2006/main">
  <p:cSld>
    <p:bg>
      <p:bgPr>
        <a:solidFill xmlns:a="http://schemas.openxmlformats.org/drawingml/2006/main">
          <a:srgbClr val="F6F0E8"/>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8D3DAF61-9732-405B-A16B-844AFE71FA87}"/>
              </a:ext>
            </a:extLst>
          </p:cNvPr>
          <p:cNvSpPr>
            <a:spLocks xmlns:a="http://schemas.openxmlformats.org/drawingml/2006/main" noGrp="1"/>
          </p:cNvSpPr>
          <p:nvPr/>
        </p:nvSpPr>
        <p:spPr>
          <a:xfrm xmlns:a="http://schemas.openxmlformats.org/drawingml/2006/main">
            <a:off x="647700" y="333375"/>
            <a:ext cx="57150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675" b="1" i="0">
                <a:solidFill>
                  <a:srgbClr val="FF654F"/>
                </a:solidFill>
                <a:latin typeface="Helvetica"/>
                <a:ea typeface="Helvetica"/>
                <a:cs typeface="Helvetica"/>
              </a:defRPr>
            </a:defPPr>
          </a:lstStyle>
          <a:p xmlns:a="http://schemas.openxmlformats.org/drawingml/2006/main">
            <a:pPr algn="l">
              <a:defRPr sz="675" b="1" i="0">
                <a:solidFill>
                  <a:srgbClr val="FF654F"/>
                </a:solidFill>
                <a:latin typeface="Helvetica"/>
                <a:ea typeface="Helvetica"/>
                <a:cs typeface="Helvetica"/>
              </a:defRPr>
            </a:pPr>
            <a:r>
              <a:rPr sz="675" b="1" i="0">
                <a:solidFill>
                  <a:srgbClr val="FF654F"/>
                </a:solidFill>
                <a:latin typeface="Helvetica"/>
                <a:ea typeface="Helvetica"/>
                <a:cs typeface="Helvetica"/>
              </a:rPr>
              <a:t>ACT 4 / POSITIONING + NARRATIVE ANSWER</a:t>
            </a:r>
          </a:p>
        </p:txBody>
      </p:sp>
      <p:sp>
        <p:nvSpPr>
          <p:cNvPr id="2" name="">
            <a:extLst xmlns:a="http://schemas.openxmlformats.org/drawingml/2006/main">
              <a:ext uri="{FF2B5EF4-FFF2-40B4-BE49-F238E27FC236}">
                <a16:creationId xmlns:a16="http://schemas.microsoft.com/office/drawing/2014/main" id="{5B5A8A3C-1E58-4B31-98D1-7E4BDEF9254C}"/>
              </a:ext>
            </a:extLst>
          </p:cNvPr>
          <p:cNvSpPr>
            <a:spLocks xmlns:a="http://schemas.openxmlformats.org/drawingml/2006/main" noGrp="1"/>
          </p:cNvSpPr>
          <p:nvPr/>
        </p:nvSpPr>
        <p:spPr>
          <a:xfrm xmlns:a="http://schemas.openxmlformats.org/drawingml/2006/main">
            <a:off x="647700" y="685800"/>
            <a:ext cx="1047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2325" b="1" i="0">
                <a:solidFill>
                  <a:srgbClr val="15121B"/>
                </a:solidFill>
                <a:latin typeface="Helvetica"/>
                <a:ea typeface="Helvetica"/>
                <a:cs typeface="Helvetica"/>
              </a:defRPr>
            </a:defPPr>
          </a:lstStyle>
          <a:p xmlns:a="http://schemas.openxmlformats.org/drawingml/2006/main">
            <a:pPr algn="l">
              <a:defRPr sz="2325" b="1" i="0">
                <a:solidFill>
                  <a:srgbClr val="15121B"/>
                </a:solidFill>
                <a:latin typeface="Helvetica"/>
                <a:ea typeface="Helvetica"/>
                <a:cs typeface="Helvetica"/>
              </a:defRPr>
            </a:pPr>
            <a:r>
              <a:rPr sz="2325" b="1" i="0">
                <a:solidFill>
                  <a:srgbClr val="15121B"/>
                </a:solidFill>
                <a:latin typeface="Helvetica"/>
                <a:ea typeface="Helvetica"/>
                <a:cs typeface="Helvetica"/>
              </a:rPr>
              <a:t>Narrative Platform</a:t>
            </a:r>
          </a:p>
        </p:txBody>
      </p:sp>
      <p:sp>
        <p:nvSpPr>
          <p:cNvPr id="3" name="">
            <a:extLst xmlns:a="http://schemas.openxmlformats.org/drawingml/2006/main">
              <a:ext uri="{FF2B5EF4-FFF2-40B4-BE49-F238E27FC236}">
                <a16:creationId xmlns:a16="http://schemas.microsoft.com/office/drawing/2014/main" id="{75A0FB1E-5DA2-40AF-9A54-6CB39C7D67FE}"/>
              </a:ext>
            </a:extLst>
          </p:cNvPr>
          <p:cNvSpPr>
            <a:spLocks xmlns:a="http://schemas.openxmlformats.org/drawingml/2006/main" noGrp="1"/>
          </p:cNvSpPr>
          <p:nvPr/>
        </p:nvSpPr>
        <p:spPr>
          <a:xfrm xmlns:a="http://schemas.openxmlformats.org/drawingml/2006/main">
            <a:off x="647700" y="1400175"/>
            <a:ext cx="10896600" cy="19050"/>
          </a:xfrm>
          <a:prstGeom xmlns:a="http://schemas.openxmlformats.org/drawingml/2006/main" prst="rect">
            <a:avLst/>
          </a:prstGeom>
          <a:solidFill xmlns:a="http://schemas.openxmlformats.org/drawingml/2006/main">
            <a:srgbClr val="D9CFD5"/>
          </a:solidFill>
          <a:ln xmlns:a="http://schemas.openxmlformats.org/drawingml/2006/main" w="0">
            <a:solidFill>
              <a:srgbClr val="D9CFD5"/>
            </a:solidFill>
          </a:ln>
        </p:spPr>
      </p:sp>
      <p:sp>
        <p:nvSpPr>
          <p:cNvPr id="4" name="">
            <a:extLst xmlns:a="http://schemas.openxmlformats.org/drawingml/2006/main">
              <a:ext uri="{FF2B5EF4-FFF2-40B4-BE49-F238E27FC236}">
                <a16:creationId xmlns:a16="http://schemas.microsoft.com/office/drawing/2014/main" id="{DBE98676-21B7-43D9-A7FD-98454616EC61}"/>
              </a:ext>
            </a:extLst>
          </p:cNvPr>
          <p:cNvSpPr>
            <a:spLocks xmlns:a="http://schemas.openxmlformats.org/drawingml/2006/main" noGrp="1"/>
          </p:cNvSpPr>
          <p:nvPr/>
        </p:nvSpPr>
        <p:spPr>
          <a:xfrm xmlns:a="http://schemas.openxmlformats.org/drawingml/2006/main">
            <a:off x="704850" y="1952625"/>
            <a:ext cx="3200400" cy="2476500"/>
          </a:xfrm>
          <a:prstGeom xmlns:a="http://schemas.openxmlformats.org/drawingml/2006/main" prst="roundRect">
            <a:avLst>
              <a:gd name="adj" fmla="val 3077"/>
            </a:avLst>
          </a:prstGeom>
          <a:solidFill xmlns:a="http://schemas.openxmlformats.org/drawingml/2006/main">
            <a:srgbClr val="FFFDFC"/>
          </a:solidFill>
          <a:ln xmlns:a="http://schemas.openxmlformats.org/drawingml/2006/main" w="0">
            <a:solidFill>
              <a:srgbClr val="FFFDFC"/>
            </a:solidFill>
          </a:ln>
        </p:spPr>
      </p:sp>
      <p:sp>
        <p:nvSpPr>
          <p:cNvPr id="5" name="">
            <a:extLst xmlns:a="http://schemas.openxmlformats.org/drawingml/2006/main">
              <a:ext uri="{FF2B5EF4-FFF2-40B4-BE49-F238E27FC236}">
                <a16:creationId xmlns:a16="http://schemas.microsoft.com/office/drawing/2014/main" id="{0D857B6A-83E7-4FF2-A8BA-B2B2DC4DC96A}"/>
              </a:ext>
            </a:extLst>
          </p:cNvPr>
          <p:cNvSpPr>
            <a:spLocks xmlns:a="http://schemas.openxmlformats.org/drawingml/2006/main" noGrp="1"/>
          </p:cNvSpPr>
          <p:nvPr/>
        </p:nvSpPr>
        <p:spPr>
          <a:xfrm xmlns:a="http://schemas.openxmlformats.org/drawingml/2006/main">
            <a:off x="914400" y="2171700"/>
            <a:ext cx="381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350" b="1" i="0">
                <a:solidFill>
                  <a:srgbClr val="FF654F"/>
                </a:solidFill>
                <a:latin typeface="Helvetica"/>
                <a:ea typeface="Helvetica"/>
                <a:cs typeface="Helvetica"/>
              </a:defRPr>
            </a:defPPr>
          </a:lstStyle>
          <a:p xmlns:a="http://schemas.openxmlformats.org/drawingml/2006/main">
            <a:pPr algn="l">
              <a:defRPr sz="1350" b="1" i="0">
                <a:solidFill>
                  <a:srgbClr val="FF654F"/>
                </a:solidFill>
                <a:latin typeface="Helvetica"/>
                <a:ea typeface="Helvetica"/>
                <a:cs typeface="Helvetica"/>
              </a:defRPr>
            </a:pPr>
            <a:r>
              <a:rPr sz="1350" b="1" i="0">
                <a:solidFill>
                  <a:srgbClr val="FF654F"/>
                </a:solidFill>
                <a:latin typeface="Helvetica"/>
                <a:ea typeface="Helvetica"/>
                <a:cs typeface="Helvetica"/>
              </a:rPr>
              <a:t>1</a:t>
            </a:r>
          </a:p>
        </p:txBody>
      </p:sp>
      <p:sp>
        <p:nvSpPr>
          <p:cNvPr id="6" name="">
            <a:extLst xmlns:a="http://schemas.openxmlformats.org/drawingml/2006/main">
              <a:ext uri="{FF2B5EF4-FFF2-40B4-BE49-F238E27FC236}">
                <a16:creationId xmlns:a16="http://schemas.microsoft.com/office/drawing/2014/main" id="{2655081C-0EEB-4857-AC74-CEB4B0DB05D6}"/>
              </a:ext>
            </a:extLst>
          </p:cNvPr>
          <p:cNvSpPr>
            <a:spLocks xmlns:a="http://schemas.openxmlformats.org/drawingml/2006/main" noGrp="1"/>
          </p:cNvSpPr>
          <p:nvPr/>
        </p:nvSpPr>
        <p:spPr>
          <a:xfrm xmlns:a="http://schemas.openxmlformats.org/drawingml/2006/main">
            <a:off x="914400" y="2647950"/>
            <a:ext cx="2667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750" b="1" i="0">
                <a:solidFill>
                  <a:srgbClr val="756D7A"/>
                </a:solidFill>
                <a:latin typeface="Helvetica"/>
                <a:ea typeface="Helvetica"/>
                <a:cs typeface="Helvetica"/>
              </a:defRPr>
            </a:defPPr>
          </a:lstStyle>
          <a:p xmlns:a="http://schemas.openxmlformats.org/drawingml/2006/main">
            <a:pPr algn="l">
              <a:defRPr sz="750" b="1" i="0">
                <a:solidFill>
                  <a:srgbClr val="756D7A"/>
                </a:solidFill>
                <a:latin typeface="Helvetica"/>
                <a:ea typeface="Helvetica"/>
                <a:cs typeface="Helvetica"/>
              </a:defRPr>
            </a:pPr>
            <a:r>
              <a:rPr sz="750" b="1" i="0">
                <a:solidFill>
                  <a:srgbClr val="756D7A"/>
                </a:solidFill>
                <a:latin typeface="Helvetica"/>
                <a:ea typeface="Helvetica"/>
                <a:cs typeface="Helvetica"/>
              </a:rPr>
              <a:t>TENSION</a:t>
            </a:r>
          </a:p>
        </p:txBody>
      </p:sp>
      <p:sp>
        <p:nvSpPr>
          <p:cNvPr id="7" name="">
            <a:extLst xmlns:a="http://schemas.openxmlformats.org/drawingml/2006/main">
              <a:ext uri="{FF2B5EF4-FFF2-40B4-BE49-F238E27FC236}">
                <a16:creationId xmlns:a16="http://schemas.microsoft.com/office/drawing/2014/main" id="{B7872BCC-424F-4F65-B8F6-EE0B4F3E4515}"/>
              </a:ext>
            </a:extLst>
          </p:cNvPr>
          <p:cNvSpPr>
            <a:spLocks xmlns:a="http://schemas.openxmlformats.org/drawingml/2006/main" noGrp="1"/>
          </p:cNvSpPr>
          <p:nvPr/>
        </p:nvSpPr>
        <p:spPr>
          <a:xfrm xmlns:a="http://schemas.openxmlformats.org/drawingml/2006/main">
            <a:off x="914400" y="3086100"/>
            <a:ext cx="27146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500" b="1" i="0">
                <a:solidFill>
                  <a:srgbClr val="15121B"/>
                </a:solidFill>
                <a:latin typeface="Helvetica"/>
                <a:ea typeface="Helvetica"/>
                <a:cs typeface="Helvetica"/>
              </a:defRPr>
            </a:defPPr>
          </a:lstStyle>
          <a:p xmlns:a="http://schemas.openxmlformats.org/drawingml/2006/main">
            <a:pPr algn="l">
              <a:defRPr sz="1500" b="1" i="0">
                <a:solidFill>
                  <a:srgbClr val="15121B"/>
                </a:solidFill>
                <a:latin typeface="Helvetica"/>
                <a:ea typeface="Helvetica"/>
                <a:cs typeface="Helvetica"/>
              </a:defRPr>
            </a:pPr>
            <a:r>
              <a:rPr sz="1500" b="1" i="0">
                <a:solidFill>
                  <a:srgbClr val="15121B"/>
                </a:solidFill>
                <a:latin typeface="Helvetica"/>
                <a:ea typeface="Helvetica"/>
                <a:cs typeface="Helvetica"/>
              </a:rPr>
              <a:t>The category asks owners to trust claims</a:t>
            </a:r>
          </a:p>
        </p:txBody>
      </p:sp>
      <p:sp>
        <p:nvSpPr>
          <p:cNvPr id="8" name="">
            <a:extLst xmlns:a="http://schemas.openxmlformats.org/drawingml/2006/main">
              <a:ext uri="{FF2B5EF4-FFF2-40B4-BE49-F238E27FC236}">
                <a16:creationId xmlns:a16="http://schemas.microsoft.com/office/drawing/2014/main" id="{51107ADE-D40C-43F0-A309-B847E2E011CF}"/>
              </a:ext>
            </a:extLst>
          </p:cNvPr>
          <p:cNvSpPr>
            <a:spLocks xmlns:a="http://schemas.openxmlformats.org/drawingml/2006/main" noGrp="1"/>
          </p:cNvSpPr>
          <p:nvPr/>
        </p:nvSpPr>
        <p:spPr>
          <a:xfrm xmlns:a="http://schemas.openxmlformats.org/drawingml/2006/main">
            <a:off x="4419600" y="1952625"/>
            <a:ext cx="3200400" cy="2476500"/>
          </a:xfrm>
          <a:prstGeom xmlns:a="http://schemas.openxmlformats.org/drawingml/2006/main" prst="roundRect">
            <a:avLst>
              <a:gd name="adj" fmla="val 3077"/>
            </a:avLst>
          </a:prstGeom>
          <a:solidFill xmlns:a="http://schemas.openxmlformats.org/drawingml/2006/main">
            <a:srgbClr val="FF654F"/>
          </a:solidFill>
          <a:ln xmlns:a="http://schemas.openxmlformats.org/drawingml/2006/main" w="0">
            <a:solidFill>
              <a:srgbClr val="FF654F"/>
            </a:solidFill>
          </a:ln>
        </p:spPr>
      </p:sp>
      <p:sp>
        <p:nvSpPr>
          <p:cNvPr id="9" name="">
            <a:extLst xmlns:a="http://schemas.openxmlformats.org/drawingml/2006/main">
              <a:ext uri="{FF2B5EF4-FFF2-40B4-BE49-F238E27FC236}">
                <a16:creationId xmlns:a16="http://schemas.microsoft.com/office/drawing/2014/main" id="{86DA275A-B2D5-4DAC-B6F6-387E97C5F895}"/>
              </a:ext>
            </a:extLst>
          </p:cNvPr>
          <p:cNvSpPr>
            <a:spLocks xmlns:a="http://schemas.openxmlformats.org/drawingml/2006/main" noGrp="1"/>
          </p:cNvSpPr>
          <p:nvPr/>
        </p:nvSpPr>
        <p:spPr>
          <a:xfrm xmlns:a="http://schemas.openxmlformats.org/drawingml/2006/main">
            <a:off x="4629150" y="2171700"/>
            <a:ext cx="381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350" b="1" i="0">
                <a:solidFill>
                  <a:srgbClr val="FFFDFC"/>
                </a:solidFill>
                <a:latin typeface="Helvetica"/>
                <a:ea typeface="Helvetica"/>
                <a:cs typeface="Helvetica"/>
              </a:defRPr>
            </a:defPPr>
          </a:lstStyle>
          <a:p xmlns:a="http://schemas.openxmlformats.org/drawingml/2006/main">
            <a:pPr algn="l">
              <a:defRPr sz="1350" b="1" i="0">
                <a:solidFill>
                  <a:srgbClr val="FFFDFC"/>
                </a:solidFill>
                <a:latin typeface="Helvetica"/>
                <a:ea typeface="Helvetica"/>
                <a:cs typeface="Helvetica"/>
              </a:defRPr>
            </a:pPr>
            <a:r>
              <a:rPr sz="1350" b="1" i="0">
                <a:solidFill>
                  <a:srgbClr val="FFFDFC"/>
                </a:solidFill>
                <a:latin typeface="Helvetica"/>
                <a:ea typeface="Helvetica"/>
                <a:cs typeface="Helvetica"/>
              </a:rPr>
              <a:t>2</a:t>
            </a:r>
          </a:p>
        </p:txBody>
      </p:sp>
      <p:sp>
        <p:nvSpPr>
          <p:cNvPr id="10" name="">
            <a:extLst xmlns:a="http://schemas.openxmlformats.org/drawingml/2006/main">
              <a:ext uri="{FF2B5EF4-FFF2-40B4-BE49-F238E27FC236}">
                <a16:creationId xmlns:a16="http://schemas.microsoft.com/office/drawing/2014/main" id="{A26473C4-9E4C-4826-A764-ECB187DBF669}"/>
              </a:ext>
            </a:extLst>
          </p:cNvPr>
          <p:cNvSpPr>
            <a:spLocks xmlns:a="http://schemas.openxmlformats.org/drawingml/2006/main" noGrp="1"/>
          </p:cNvSpPr>
          <p:nvPr/>
        </p:nvSpPr>
        <p:spPr>
          <a:xfrm xmlns:a="http://schemas.openxmlformats.org/drawingml/2006/main">
            <a:off x="4629150" y="2647950"/>
            <a:ext cx="2667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750" b="1" i="0">
                <a:solidFill>
                  <a:srgbClr val="FFFDFC"/>
                </a:solidFill>
                <a:latin typeface="Helvetica"/>
                <a:ea typeface="Helvetica"/>
                <a:cs typeface="Helvetica"/>
              </a:defRPr>
            </a:defPPr>
          </a:lstStyle>
          <a:p xmlns:a="http://schemas.openxmlformats.org/drawingml/2006/main">
            <a:pPr algn="l">
              <a:defRPr sz="750" b="1" i="0">
                <a:solidFill>
                  <a:srgbClr val="FFFDFC"/>
                </a:solidFill>
                <a:latin typeface="Helvetica"/>
                <a:ea typeface="Helvetica"/>
                <a:cs typeface="Helvetica"/>
              </a:defRPr>
            </a:pPr>
            <a:r>
              <a:rPr sz="750" b="1" i="0">
                <a:solidFill>
                  <a:srgbClr val="FFFDFC"/>
                </a:solidFill>
                <a:latin typeface="Helvetica"/>
                <a:ea typeface="Helvetica"/>
                <a:cs typeface="Helvetica"/>
              </a:rPr>
              <a:t>SHIFT</a:t>
            </a:r>
          </a:p>
        </p:txBody>
      </p:sp>
      <p:sp>
        <p:nvSpPr>
          <p:cNvPr id="11" name="">
            <a:extLst xmlns:a="http://schemas.openxmlformats.org/drawingml/2006/main">
              <a:ext uri="{FF2B5EF4-FFF2-40B4-BE49-F238E27FC236}">
                <a16:creationId xmlns:a16="http://schemas.microsoft.com/office/drawing/2014/main" id="{E1273A64-2878-45D0-8DB1-8CA14884340B}"/>
              </a:ext>
            </a:extLst>
          </p:cNvPr>
          <p:cNvSpPr>
            <a:spLocks xmlns:a="http://schemas.openxmlformats.org/drawingml/2006/main" noGrp="1"/>
          </p:cNvSpPr>
          <p:nvPr/>
        </p:nvSpPr>
        <p:spPr>
          <a:xfrm xmlns:a="http://schemas.openxmlformats.org/drawingml/2006/main">
            <a:off x="4629150" y="3086100"/>
            <a:ext cx="27146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500" b="1" i="0">
                <a:solidFill>
                  <a:srgbClr val="FFFDFC"/>
                </a:solidFill>
                <a:latin typeface="Helvetica"/>
                <a:ea typeface="Helvetica"/>
                <a:cs typeface="Helvetica"/>
              </a:defRPr>
            </a:defPPr>
          </a:lstStyle>
          <a:p xmlns:a="http://schemas.openxmlformats.org/drawingml/2006/main">
            <a:pPr algn="l">
              <a:defRPr sz="1500" b="1" i="0">
                <a:solidFill>
                  <a:srgbClr val="FFFDFC"/>
                </a:solidFill>
                <a:latin typeface="Helvetica"/>
                <a:ea typeface="Helvetica"/>
                <a:cs typeface="Helvetica"/>
              </a:defRPr>
            </a:pPr>
            <a:r>
              <a:rPr sz="1500" b="1" i="0">
                <a:solidFill>
                  <a:srgbClr val="FFFDFC"/>
                </a:solidFill>
                <a:latin typeface="Helvetica"/>
                <a:ea typeface="Helvetica"/>
                <a:cs typeface="Helvetica"/>
              </a:rPr>
              <a:t>KatKin makes proof the starting point</a:t>
            </a:r>
          </a:p>
        </p:txBody>
      </p:sp>
      <p:sp>
        <p:nvSpPr>
          <p:cNvPr id="12" name="">
            <a:extLst xmlns:a="http://schemas.openxmlformats.org/drawingml/2006/main">
              <a:ext uri="{FF2B5EF4-FFF2-40B4-BE49-F238E27FC236}">
                <a16:creationId xmlns:a16="http://schemas.microsoft.com/office/drawing/2014/main" id="{A15B2F2B-2013-46E3-9711-A76DA04392D4}"/>
              </a:ext>
            </a:extLst>
          </p:cNvPr>
          <p:cNvSpPr>
            <a:spLocks xmlns:a="http://schemas.openxmlformats.org/drawingml/2006/main" noGrp="1"/>
          </p:cNvSpPr>
          <p:nvPr/>
        </p:nvSpPr>
        <p:spPr>
          <a:xfrm xmlns:a="http://schemas.openxmlformats.org/drawingml/2006/main">
            <a:off x="8134350" y="1952625"/>
            <a:ext cx="3200400" cy="2476500"/>
          </a:xfrm>
          <a:prstGeom xmlns:a="http://schemas.openxmlformats.org/drawingml/2006/main" prst="roundRect">
            <a:avLst>
              <a:gd name="adj" fmla="val 3077"/>
            </a:avLst>
          </a:prstGeom>
          <a:solidFill xmlns:a="http://schemas.openxmlformats.org/drawingml/2006/main">
            <a:srgbClr val="FFFDFC"/>
          </a:solidFill>
          <a:ln xmlns:a="http://schemas.openxmlformats.org/drawingml/2006/main" w="0">
            <a:solidFill>
              <a:srgbClr val="FFFDFC"/>
            </a:solidFill>
          </a:ln>
        </p:spPr>
      </p:sp>
      <p:sp>
        <p:nvSpPr>
          <p:cNvPr id="13" name="">
            <a:extLst xmlns:a="http://schemas.openxmlformats.org/drawingml/2006/main">
              <a:ext uri="{FF2B5EF4-FFF2-40B4-BE49-F238E27FC236}">
                <a16:creationId xmlns:a16="http://schemas.microsoft.com/office/drawing/2014/main" id="{D02DFBE3-F14E-46FD-AE02-3D31162F3643}"/>
              </a:ext>
            </a:extLst>
          </p:cNvPr>
          <p:cNvSpPr>
            <a:spLocks xmlns:a="http://schemas.openxmlformats.org/drawingml/2006/main" noGrp="1"/>
          </p:cNvSpPr>
          <p:nvPr/>
        </p:nvSpPr>
        <p:spPr>
          <a:xfrm xmlns:a="http://schemas.openxmlformats.org/drawingml/2006/main">
            <a:off x="8343900" y="2171700"/>
            <a:ext cx="381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350" b="1" i="0">
                <a:solidFill>
                  <a:srgbClr val="FF654F"/>
                </a:solidFill>
                <a:latin typeface="Helvetica"/>
                <a:ea typeface="Helvetica"/>
                <a:cs typeface="Helvetica"/>
              </a:defRPr>
            </a:defPPr>
          </a:lstStyle>
          <a:p xmlns:a="http://schemas.openxmlformats.org/drawingml/2006/main">
            <a:pPr algn="l">
              <a:defRPr sz="1350" b="1" i="0">
                <a:solidFill>
                  <a:srgbClr val="FF654F"/>
                </a:solidFill>
                <a:latin typeface="Helvetica"/>
                <a:ea typeface="Helvetica"/>
                <a:cs typeface="Helvetica"/>
              </a:defRPr>
            </a:pPr>
            <a:r>
              <a:rPr sz="1350" b="1" i="0">
                <a:solidFill>
                  <a:srgbClr val="FF654F"/>
                </a:solidFill>
                <a:latin typeface="Helvetica"/>
                <a:ea typeface="Helvetica"/>
                <a:cs typeface="Helvetica"/>
              </a:rPr>
              <a:t>3</a:t>
            </a:r>
          </a:p>
        </p:txBody>
      </p:sp>
      <p:sp>
        <p:nvSpPr>
          <p:cNvPr id="14" name="">
            <a:extLst xmlns:a="http://schemas.openxmlformats.org/drawingml/2006/main">
              <a:ext uri="{FF2B5EF4-FFF2-40B4-BE49-F238E27FC236}">
                <a16:creationId xmlns:a16="http://schemas.microsoft.com/office/drawing/2014/main" id="{54754D36-9FEC-4B44-9687-DD02A5E6E63B}"/>
              </a:ext>
            </a:extLst>
          </p:cNvPr>
          <p:cNvSpPr>
            <a:spLocks xmlns:a="http://schemas.openxmlformats.org/drawingml/2006/main" noGrp="1"/>
          </p:cNvSpPr>
          <p:nvPr/>
        </p:nvSpPr>
        <p:spPr>
          <a:xfrm xmlns:a="http://schemas.openxmlformats.org/drawingml/2006/main">
            <a:off x="8343900" y="2647950"/>
            <a:ext cx="2667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750" b="1" i="0">
                <a:solidFill>
                  <a:srgbClr val="756D7A"/>
                </a:solidFill>
                <a:latin typeface="Helvetica"/>
                <a:ea typeface="Helvetica"/>
                <a:cs typeface="Helvetica"/>
              </a:defRPr>
            </a:defPPr>
          </a:lstStyle>
          <a:p xmlns:a="http://schemas.openxmlformats.org/drawingml/2006/main">
            <a:pPr algn="l">
              <a:defRPr sz="750" b="1" i="0">
                <a:solidFill>
                  <a:srgbClr val="756D7A"/>
                </a:solidFill>
                <a:latin typeface="Helvetica"/>
                <a:ea typeface="Helvetica"/>
                <a:cs typeface="Helvetica"/>
              </a:defRPr>
            </a:pPr>
            <a:r>
              <a:rPr sz="750" b="1" i="0">
                <a:solidFill>
                  <a:srgbClr val="756D7A"/>
                </a:solidFill>
                <a:latin typeface="Helvetica"/>
                <a:ea typeface="Helvetica"/>
                <a:cs typeface="Helvetica"/>
              </a:rPr>
              <a:t>RESOLUTION</a:t>
            </a:r>
          </a:p>
        </p:txBody>
      </p:sp>
      <p:sp>
        <p:nvSpPr>
          <p:cNvPr id="15" name="">
            <a:extLst xmlns:a="http://schemas.openxmlformats.org/drawingml/2006/main">
              <a:ext uri="{FF2B5EF4-FFF2-40B4-BE49-F238E27FC236}">
                <a16:creationId xmlns:a16="http://schemas.microsoft.com/office/drawing/2014/main" id="{55B25031-3B33-41D3-9A5A-5F24A856C885}"/>
              </a:ext>
            </a:extLst>
          </p:cNvPr>
          <p:cNvSpPr>
            <a:spLocks xmlns:a="http://schemas.openxmlformats.org/drawingml/2006/main" noGrp="1"/>
          </p:cNvSpPr>
          <p:nvPr/>
        </p:nvSpPr>
        <p:spPr>
          <a:xfrm xmlns:a="http://schemas.openxmlformats.org/drawingml/2006/main">
            <a:off x="8343900" y="3086100"/>
            <a:ext cx="27146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500" b="1" i="0">
                <a:solidFill>
                  <a:srgbClr val="15121B"/>
                </a:solidFill>
                <a:latin typeface="Helvetica"/>
                <a:ea typeface="Helvetica"/>
                <a:cs typeface="Helvetica"/>
              </a:defRPr>
            </a:defPPr>
          </a:lstStyle>
          <a:p xmlns:a="http://schemas.openxmlformats.org/drawingml/2006/main">
            <a:pPr algn="l">
              <a:defRPr sz="1500" b="1" i="0">
                <a:solidFill>
                  <a:srgbClr val="15121B"/>
                </a:solidFill>
                <a:latin typeface="Helvetica"/>
                <a:ea typeface="Helvetica"/>
                <a:cs typeface="Helvetica"/>
              </a:defRPr>
            </a:pPr>
            <a:r>
              <a:rPr sz="1500" b="1" i="0">
                <a:solidFill>
                  <a:srgbClr val="15121B"/>
                </a:solidFill>
                <a:latin typeface="Helvetica"/>
                <a:ea typeface="Helvetica"/>
                <a:cs typeface="Helvetica"/>
              </a:rPr>
              <a:t>Independent science carries the decision</a:t>
            </a:r>
          </a:p>
        </p:txBody>
      </p:sp>
      <p:sp>
        <p:nvSpPr>
          <p:cNvPr id="16" name="">
            <a:extLst xmlns:a="http://schemas.openxmlformats.org/drawingml/2006/main">
              <a:ext uri="{FF2B5EF4-FFF2-40B4-BE49-F238E27FC236}">
                <a16:creationId xmlns:a16="http://schemas.microsoft.com/office/drawing/2014/main" id="{CBC7591C-8EED-4447-9F39-06A9EAC490A4}"/>
              </a:ext>
            </a:extLst>
          </p:cNvPr>
          <p:cNvSpPr>
            <a:spLocks xmlns:a="http://schemas.openxmlformats.org/drawingml/2006/main" noGrp="1"/>
          </p:cNvSpPr>
          <p:nvPr/>
        </p:nvSpPr>
        <p:spPr>
          <a:xfrm xmlns:a="http://schemas.openxmlformats.org/drawingml/2006/main">
            <a:off x="2714625" y="4619625"/>
            <a:ext cx="6762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ctr">
              <a:defRPr sz="2175" b="1" i="0">
                <a:solidFill>
                  <a:srgbClr val="5A2E78"/>
                </a:solidFill>
                <a:latin typeface="Helvetica"/>
                <a:ea typeface="Helvetica"/>
                <a:cs typeface="Helvetica"/>
              </a:defRPr>
            </a:defPPr>
          </a:lstStyle>
          <a:p xmlns:a="http://schemas.openxmlformats.org/drawingml/2006/main">
            <a:pPr algn="ctr">
              <a:defRPr sz="2175" b="1" i="0">
                <a:solidFill>
                  <a:srgbClr val="5A2E78"/>
                </a:solidFill>
                <a:latin typeface="Helvetica"/>
                <a:ea typeface="Helvetica"/>
                <a:cs typeface="Helvetica"/>
              </a:defRPr>
            </a:pPr>
            <a:r>
              <a:rPr sz="2175" b="1" i="0">
                <a:solidFill>
                  <a:srgbClr val="5A2E78"/>
                </a:solidFill>
                <a:latin typeface="Helvetica"/>
                <a:ea typeface="Helvetica"/>
                <a:cs typeface="Helvetica"/>
              </a:rPr>
              <a:t>THE SCIENCE CATS DESERVE</a:t>
            </a:r>
          </a:p>
        </p:txBody>
      </p:sp>
      <p:sp>
        <p:nvSpPr>
          <p:cNvPr id="17" name="">
            <a:extLst xmlns:a="http://schemas.openxmlformats.org/drawingml/2006/main">
              <a:ext uri="{FF2B5EF4-FFF2-40B4-BE49-F238E27FC236}">
                <a16:creationId xmlns:a16="http://schemas.microsoft.com/office/drawing/2014/main" id="{C053C186-5A72-47C4-9B87-9809CD62D3A2}"/>
              </a:ext>
            </a:extLst>
          </p:cNvPr>
          <p:cNvSpPr>
            <a:spLocks xmlns:a="http://schemas.openxmlformats.org/drawingml/2006/main" noGrp="1"/>
          </p:cNvSpPr>
          <p:nvPr/>
        </p:nvSpPr>
        <p:spPr>
          <a:xfrm xmlns:a="http://schemas.openxmlformats.org/drawingml/2006/main">
            <a:off x="647700" y="5572125"/>
            <a:ext cx="209550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675" b="1" i="0">
                <a:solidFill>
                  <a:srgbClr val="FF654F"/>
                </a:solidFill>
                <a:latin typeface="Helvetica"/>
                <a:ea typeface="Helvetica"/>
                <a:cs typeface="Helvetica"/>
              </a:defRPr>
            </a:defPPr>
          </a:lstStyle>
          <a:p xmlns:a="http://schemas.openxmlformats.org/drawingml/2006/main">
            <a:pPr algn="l">
              <a:defRPr sz="675" b="1" i="0">
                <a:solidFill>
                  <a:srgbClr val="FF654F"/>
                </a:solidFill>
                <a:latin typeface="Helvetica"/>
                <a:ea typeface="Helvetica"/>
                <a:cs typeface="Helvetica"/>
              </a:defRPr>
            </a:pPr>
            <a:r>
              <a:rPr sz="675" b="1" i="0">
                <a:solidFill>
                  <a:srgbClr val="FF654F"/>
                </a:solidFill>
                <a:latin typeface="Helvetica"/>
                <a:ea typeface="Helvetica"/>
                <a:cs typeface="Helvetica"/>
              </a:rPr>
              <a:t>COMMERCIAL CONSEQUENCE</a:t>
            </a:r>
          </a:p>
        </p:txBody>
      </p:sp>
      <p:sp>
        <p:nvSpPr>
          <p:cNvPr id="18" name="">
            <a:extLst xmlns:a="http://schemas.openxmlformats.org/drawingml/2006/main">
              <a:ext uri="{FF2B5EF4-FFF2-40B4-BE49-F238E27FC236}">
                <a16:creationId xmlns:a16="http://schemas.microsoft.com/office/drawing/2014/main" id="{646379F6-06A1-4FD1-97C0-6401DCE881CE}"/>
              </a:ext>
            </a:extLst>
          </p:cNvPr>
          <p:cNvSpPr>
            <a:spLocks xmlns:a="http://schemas.openxmlformats.org/drawingml/2006/main" noGrp="1"/>
          </p:cNvSpPr>
          <p:nvPr/>
        </p:nvSpPr>
        <p:spPr>
          <a:xfrm xmlns:a="http://schemas.openxmlformats.org/drawingml/2006/main">
            <a:off x="2619375" y="5505450"/>
            <a:ext cx="8382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200" b="1" i="0">
                <a:solidFill>
                  <a:srgbClr val="15121B"/>
                </a:solidFill>
                <a:latin typeface="Helvetica"/>
                <a:ea typeface="Helvetica"/>
                <a:cs typeface="Helvetica"/>
              </a:defRPr>
            </a:defPPr>
          </a:lstStyle>
          <a:p xmlns:a="http://schemas.openxmlformats.org/drawingml/2006/main">
            <a:pPr algn="l">
              <a:defRPr sz="1200" b="1" i="0">
                <a:solidFill>
                  <a:srgbClr val="15121B"/>
                </a:solidFill>
                <a:latin typeface="Helvetica"/>
                <a:ea typeface="Helvetica"/>
                <a:cs typeface="Helvetica"/>
              </a:defRPr>
            </a:pPr>
            <a:r>
              <a:rPr sz="1200" b="1" i="0">
                <a:solidFill>
                  <a:srgbClr val="15121B"/>
                </a:solidFill>
                <a:latin typeface="Helvetica"/>
                <a:ea typeface="Helvetica"/>
                <a:cs typeface="Helvetica"/>
              </a:rPr>
              <a:t>A clearer progression could turn breadth of range into a guided reason to return.</a:t>
            </a:r>
          </a:p>
        </p:txBody>
      </p:sp>
      <p:sp>
        <p:nvSpPr>
          <p:cNvPr id="19" name="">
            <a:extLst xmlns:a="http://schemas.openxmlformats.org/drawingml/2006/main">
              <a:ext uri="{FF2B5EF4-FFF2-40B4-BE49-F238E27FC236}">
                <a16:creationId xmlns:a16="http://schemas.microsoft.com/office/drawing/2014/main" id="{C5584F48-EDA7-485D-89FF-2BB8C06B9643}"/>
              </a:ext>
            </a:extLst>
          </p:cNvPr>
          <p:cNvSpPr>
            <a:spLocks xmlns:a="http://schemas.openxmlformats.org/drawingml/2006/main" noGrp="1"/>
          </p:cNvSpPr>
          <p:nvPr/>
        </p:nvSpPr>
        <p:spPr>
          <a:xfrm xmlns:a="http://schemas.openxmlformats.org/drawingml/2006/main">
            <a:off x="647700" y="6134100"/>
            <a:ext cx="4953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825" b="1" i="0">
                <a:solidFill>
                  <a:srgbClr val="756D7A"/>
                </a:solidFill>
                <a:latin typeface="Helvetica"/>
                <a:ea typeface="Helvetica"/>
                <a:cs typeface="Helvetica"/>
              </a:defRPr>
            </a:defPPr>
          </a:lstStyle>
          <a:p xmlns:a="http://schemas.openxmlformats.org/drawingml/2006/main">
            <a:pPr algn="l">
              <a:defRPr sz="825" b="1" i="0">
                <a:solidFill>
                  <a:srgbClr val="756D7A"/>
                </a:solidFill>
                <a:latin typeface="Helvetica"/>
                <a:ea typeface="Helvetica"/>
                <a:cs typeface="Helvetica"/>
              </a:defRPr>
            </a:pPr>
            <a:r>
              <a:rPr sz="825" b="1" i="0">
                <a:solidFill>
                  <a:srgbClr val="756D7A"/>
                </a:solidFill>
                <a:latin typeface="Helvetica"/>
                <a:ea typeface="Helvetica"/>
                <a:cs typeface="Helvetica"/>
              </a:rPr>
              <a:t>SOURCES: S2, T1</a:t>
            </a:r>
          </a:p>
        </p:txBody>
      </p:sp>
      <p:sp>
        <p:nvSpPr>
          <p:cNvPr id="20" name="">
            <a:extLst xmlns:a="http://schemas.openxmlformats.org/drawingml/2006/main">
              <a:ext uri="{FF2B5EF4-FFF2-40B4-BE49-F238E27FC236}">
                <a16:creationId xmlns:a16="http://schemas.microsoft.com/office/drawing/2014/main" id="{45AF6E72-1BD6-44C0-A175-0945528A56A3}"/>
              </a:ext>
            </a:extLst>
          </p:cNvPr>
          <p:cNvSpPr>
            <a:spLocks xmlns:a="http://schemas.openxmlformats.org/drawingml/2006/main" noGrp="1"/>
          </p:cNvSpPr>
          <p:nvPr/>
        </p:nvSpPr>
        <p:spPr>
          <a:xfrm xmlns:a="http://schemas.openxmlformats.org/drawingml/2006/main">
            <a:off x="5715000" y="6134100"/>
            <a:ext cx="48768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r">
              <a:defRPr sz="825" b="1" i="0">
                <a:solidFill>
                  <a:srgbClr val="5A2E78"/>
                </a:solidFill>
                <a:latin typeface="Helvetica"/>
                <a:ea typeface="Helvetica"/>
                <a:cs typeface="Helvetica"/>
              </a:defRPr>
            </a:defPPr>
          </a:lstStyle>
          <a:p xmlns:a="http://schemas.openxmlformats.org/drawingml/2006/main">
            <a:pPr algn="r">
              <a:defRPr sz="825" b="1" i="0">
                <a:solidFill>
                  <a:srgbClr val="5A2E78"/>
                </a:solidFill>
                <a:latin typeface="Helvetica"/>
                <a:ea typeface="Helvetica"/>
                <a:cs typeface="Helvetica"/>
              </a:defRPr>
            </a:pPr>
            <a:r>
              <a:rPr sz="825" b="1" i="0">
                <a:solidFill>
                  <a:srgbClr val="5A2E78"/>
                </a:solidFill>
                <a:latin typeface="Helvetica"/>
                <a:ea typeface="Helvetica"/>
                <a:cs typeface="Helvetica"/>
              </a:rPr>
              <a:t>APPROVED STRATEGY + VERIFIED FACT</a:t>
            </a:r>
          </a:p>
        </p:txBody>
      </p:sp>
      <p:sp>
        <p:nvSpPr>
          <p:cNvPr id="21" name="">
            <a:extLst xmlns:a="http://schemas.openxmlformats.org/drawingml/2006/main">
              <a:ext uri="{FF2B5EF4-FFF2-40B4-BE49-F238E27FC236}">
                <a16:creationId xmlns:a16="http://schemas.microsoft.com/office/drawing/2014/main" id="{9C0A31B5-F3F1-4FAC-944B-F8E4D15FAFCE}"/>
              </a:ext>
            </a:extLst>
          </p:cNvPr>
          <p:cNvSpPr>
            <a:spLocks xmlns:a="http://schemas.openxmlformats.org/drawingml/2006/main" noGrp="1"/>
          </p:cNvSpPr>
          <p:nvPr/>
        </p:nvSpPr>
        <p:spPr>
          <a:xfrm xmlns:a="http://schemas.openxmlformats.org/drawingml/2006/main">
            <a:off x="647700" y="6515100"/>
            <a:ext cx="17145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675" b="1" i="0">
                <a:solidFill>
                  <a:srgbClr val="756D7A"/>
                </a:solidFill>
                <a:latin typeface="Helvetica"/>
                <a:ea typeface="Helvetica"/>
                <a:cs typeface="Helvetica"/>
              </a:defRPr>
            </a:defPPr>
          </a:lstStyle>
          <a:p xmlns:a="http://schemas.openxmlformats.org/drawingml/2006/main">
            <a:pPr algn="l">
              <a:defRPr sz="675" b="1" i="0">
                <a:solidFill>
                  <a:srgbClr val="756D7A"/>
                </a:solidFill>
                <a:latin typeface="Helvetica"/>
                <a:ea typeface="Helvetica"/>
                <a:cs typeface="Helvetica"/>
              </a:defRPr>
            </a:pPr>
            <a:r>
              <a:rPr sz="675" b="1" i="0">
                <a:solidFill>
                  <a:srgbClr val="756D7A"/>
                </a:solidFill>
                <a:latin typeface="Helvetica"/>
                <a:ea typeface="Helvetica"/>
                <a:cs typeface="Helvetica"/>
              </a:rPr>
              <a:t>NARRATIIVE</a:t>
            </a:r>
          </a:p>
        </p:txBody>
      </p:sp>
      <p:sp>
        <p:nvSpPr>
          <p:cNvPr id="22" name="">
            <a:extLst xmlns:a="http://schemas.openxmlformats.org/drawingml/2006/main">
              <a:ext uri="{FF2B5EF4-FFF2-40B4-BE49-F238E27FC236}">
                <a16:creationId xmlns:a16="http://schemas.microsoft.com/office/drawing/2014/main" id="{5E8670A6-3CED-4749-9734-08E91B194739}"/>
              </a:ext>
            </a:extLst>
          </p:cNvPr>
          <p:cNvSpPr>
            <a:spLocks xmlns:a="http://schemas.openxmlformats.org/drawingml/2006/main" noGrp="1"/>
          </p:cNvSpPr>
          <p:nvPr/>
        </p:nvSpPr>
        <p:spPr>
          <a:xfrm xmlns:a="http://schemas.openxmlformats.org/drawingml/2006/main">
            <a:off x="10668000" y="6515100"/>
            <a:ext cx="8763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r">
              <a:defRPr sz="675" b="0" i="0">
                <a:solidFill>
                  <a:srgbClr val="756D7A"/>
                </a:solidFill>
                <a:latin typeface="Helvetica"/>
                <a:ea typeface="Helvetica"/>
                <a:cs typeface="Helvetica"/>
              </a:defRPr>
            </a:defPPr>
          </a:lstStyle>
          <a:p xmlns:a="http://schemas.openxmlformats.org/drawingml/2006/main">
            <a:pPr algn="r">
              <a:defRPr sz="675" b="0" i="0">
                <a:solidFill>
                  <a:srgbClr val="756D7A"/>
                </a:solidFill>
                <a:latin typeface="Helvetica"/>
                <a:ea typeface="Helvetica"/>
                <a:cs typeface="Helvetica"/>
              </a:defRPr>
            </a:pPr>
            <a:r>
              <a:rPr sz="675" b="0" i="0">
                <a:solidFill>
                  <a:srgbClr val="756D7A"/>
                </a:solidFill>
                <a:latin typeface="Helvetica"/>
                <a:ea typeface="Helvetica"/>
                <a:cs typeface="Helvetica"/>
              </a:rPr>
              <a:t>20 / 30</a:t>
            </a:r>
          </a:p>
        </p:txBody>
      </p:sp>
    </p:spTree>
    <p:extLst>
      <p:ext uri="{BB962C8B-B14F-4D97-AF65-F5344CB8AC3E}">
        <p14:creationId xmlns:p14="http://schemas.microsoft.com/office/powerpoint/2010/main" val="1686041326"/>
      </p:ext>
    </p:extLst>
  </p:cSld>
</p:sld>
</file>

<file path=ppt/slides/slide21.xml><?xml version="1.0" encoding="utf-8"?>
<p:sld xmlns:p="http://schemas.openxmlformats.org/presentationml/2006/main">
  <p:cSld>
    <p:bg>
      <p:bgPr>
        <a:solidFill xmlns:a="http://schemas.openxmlformats.org/drawingml/2006/main">
          <a:srgbClr val="F6F0E8"/>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7756B9F3-B9E1-48B9-82D6-E2004670D0E5}"/>
              </a:ext>
            </a:extLst>
          </p:cNvPr>
          <p:cNvSpPr>
            <a:spLocks xmlns:a="http://schemas.openxmlformats.org/drawingml/2006/main" noGrp="1"/>
          </p:cNvSpPr>
          <p:nvPr/>
        </p:nvSpPr>
        <p:spPr>
          <a:xfrm xmlns:a="http://schemas.openxmlformats.org/drawingml/2006/main">
            <a:off x="647700" y="333375"/>
            <a:ext cx="57150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675" b="1" i="0">
                <a:solidFill>
                  <a:srgbClr val="FF654F"/>
                </a:solidFill>
                <a:latin typeface="Helvetica"/>
                <a:ea typeface="Helvetica"/>
                <a:cs typeface="Helvetica"/>
              </a:defRPr>
            </a:defPPr>
          </a:lstStyle>
          <a:p xmlns:a="http://schemas.openxmlformats.org/drawingml/2006/main">
            <a:pPr algn="l">
              <a:defRPr sz="675" b="1" i="0">
                <a:solidFill>
                  <a:srgbClr val="FF654F"/>
                </a:solidFill>
                <a:latin typeface="Helvetica"/>
                <a:ea typeface="Helvetica"/>
                <a:cs typeface="Helvetica"/>
              </a:defRPr>
            </a:pPr>
            <a:r>
              <a:rPr sz="675" b="1" i="0">
                <a:solidFill>
                  <a:srgbClr val="FF654F"/>
                </a:solidFill>
                <a:latin typeface="Helvetica"/>
                <a:ea typeface="Helvetica"/>
                <a:cs typeface="Helvetica"/>
              </a:rPr>
              <a:t>ACT 4 / POSITIONING + NARRATIVE ANSWER</a:t>
            </a:r>
          </a:p>
        </p:txBody>
      </p:sp>
      <p:sp>
        <p:nvSpPr>
          <p:cNvPr id="2" name="">
            <a:extLst xmlns:a="http://schemas.openxmlformats.org/drawingml/2006/main">
              <a:ext uri="{FF2B5EF4-FFF2-40B4-BE49-F238E27FC236}">
                <a16:creationId xmlns:a16="http://schemas.microsoft.com/office/drawing/2014/main" id="{D491B3FF-BCDB-49F8-B23F-EB47DC2F2137}"/>
              </a:ext>
            </a:extLst>
          </p:cNvPr>
          <p:cNvSpPr>
            <a:spLocks xmlns:a="http://schemas.openxmlformats.org/drawingml/2006/main" noGrp="1"/>
          </p:cNvSpPr>
          <p:nvPr/>
        </p:nvSpPr>
        <p:spPr>
          <a:xfrm xmlns:a="http://schemas.openxmlformats.org/drawingml/2006/main">
            <a:off x="647700" y="685800"/>
            <a:ext cx="1047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2325" b="1" i="0">
                <a:solidFill>
                  <a:srgbClr val="15121B"/>
                </a:solidFill>
                <a:latin typeface="Helvetica"/>
                <a:ea typeface="Helvetica"/>
                <a:cs typeface="Helvetica"/>
              </a:defRPr>
            </a:defPPr>
          </a:lstStyle>
          <a:p xmlns:a="http://schemas.openxmlformats.org/drawingml/2006/main">
            <a:pPr algn="l">
              <a:defRPr sz="2325" b="1" i="0">
                <a:solidFill>
                  <a:srgbClr val="15121B"/>
                </a:solidFill>
                <a:latin typeface="Helvetica"/>
                <a:ea typeface="Helvetica"/>
                <a:cs typeface="Helvetica"/>
              </a:defRPr>
            </a:pPr>
            <a:r>
              <a:rPr sz="2325" b="1" i="0">
                <a:solidFill>
                  <a:srgbClr val="15121B"/>
                </a:solidFill>
                <a:latin typeface="Helvetica"/>
                <a:ea typeface="Helvetica"/>
                <a:cs typeface="Helvetica"/>
              </a:rPr>
              <a:t>Core Message Architecture</a:t>
            </a:r>
          </a:p>
        </p:txBody>
      </p:sp>
      <p:sp>
        <p:nvSpPr>
          <p:cNvPr id="3" name="">
            <a:extLst xmlns:a="http://schemas.openxmlformats.org/drawingml/2006/main">
              <a:ext uri="{FF2B5EF4-FFF2-40B4-BE49-F238E27FC236}">
                <a16:creationId xmlns:a16="http://schemas.microsoft.com/office/drawing/2014/main" id="{A461005E-CBF5-4561-8175-DFBFCC13146F}"/>
              </a:ext>
            </a:extLst>
          </p:cNvPr>
          <p:cNvSpPr>
            <a:spLocks xmlns:a="http://schemas.openxmlformats.org/drawingml/2006/main" noGrp="1"/>
          </p:cNvSpPr>
          <p:nvPr/>
        </p:nvSpPr>
        <p:spPr>
          <a:xfrm xmlns:a="http://schemas.openxmlformats.org/drawingml/2006/main">
            <a:off x="647700" y="1400175"/>
            <a:ext cx="10896600" cy="19050"/>
          </a:xfrm>
          <a:prstGeom xmlns:a="http://schemas.openxmlformats.org/drawingml/2006/main" prst="rect">
            <a:avLst/>
          </a:prstGeom>
          <a:solidFill xmlns:a="http://schemas.openxmlformats.org/drawingml/2006/main">
            <a:srgbClr val="D9CFD5"/>
          </a:solidFill>
          <a:ln xmlns:a="http://schemas.openxmlformats.org/drawingml/2006/main" w="0">
            <a:solidFill>
              <a:srgbClr val="D9CFD5"/>
            </a:solidFill>
          </a:ln>
        </p:spPr>
      </p:sp>
      <p:sp>
        <p:nvSpPr>
          <p:cNvPr id="4" name="">
            <a:extLst xmlns:a="http://schemas.openxmlformats.org/drawingml/2006/main">
              <a:ext uri="{FF2B5EF4-FFF2-40B4-BE49-F238E27FC236}">
                <a16:creationId xmlns:a16="http://schemas.microsoft.com/office/drawing/2014/main" id="{75A1B970-CE69-4F65-9F2D-E927E18EE774}"/>
              </a:ext>
            </a:extLst>
          </p:cNvPr>
          <p:cNvSpPr>
            <a:spLocks xmlns:a="http://schemas.openxmlformats.org/drawingml/2006/main" noGrp="1"/>
          </p:cNvSpPr>
          <p:nvPr/>
        </p:nvSpPr>
        <p:spPr>
          <a:xfrm xmlns:a="http://schemas.openxmlformats.org/drawingml/2006/main">
            <a:off x="723900" y="1866900"/>
            <a:ext cx="2381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750" b="1" i="0">
                <a:solidFill>
                  <a:srgbClr val="FF654F"/>
                </a:solidFill>
                <a:latin typeface="Helvetica"/>
                <a:ea typeface="Helvetica"/>
                <a:cs typeface="Helvetica"/>
              </a:defRPr>
            </a:defPPr>
          </a:lstStyle>
          <a:p xmlns:a="http://schemas.openxmlformats.org/drawingml/2006/main">
            <a:pPr algn="l">
              <a:defRPr sz="750" b="1" i="0">
                <a:solidFill>
                  <a:srgbClr val="FF654F"/>
                </a:solidFill>
                <a:latin typeface="Helvetica"/>
                <a:ea typeface="Helvetica"/>
                <a:cs typeface="Helvetica"/>
              </a:defRPr>
            </a:pPr>
            <a:r>
              <a:rPr sz="750" b="1" i="0">
                <a:solidFill>
                  <a:srgbClr val="FF654F"/>
                </a:solidFill>
                <a:latin typeface="Helvetica"/>
                <a:ea typeface="Helvetica"/>
                <a:cs typeface="Helvetica"/>
              </a:rPr>
              <a:t>MASTER MESSAGE</a:t>
            </a:r>
          </a:p>
        </p:txBody>
      </p:sp>
      <p:sp>
        <p:nvSpPr>
          <p:cNvPr id="5" name="">
            <a:extLst xmlns:a="http://schemas.openxmlformats.org/drawingml/2006/main">
              <a:ext uri="{FF2B5EF4-FFF2-40B4-BE49-F238E27FC236}">
                <a16:creationId xmlns:a16="http://schemas.microsoft.com/office/drawing/2014/main" id="{692842F5-C86C-4978-AD89-A89842E9443E}"/>
              </a:ext>
            </a:extLst>
          </p:cNvPr>
          <p:cNvSpPr>
            <a:spLocks xmlns:a="http://schemas.openxmlformats.org/drawingml/2006/main" noGrp="1"/>
          </p:cNvSpPr>
          <p:nvPr/>
        </p:nvSpPr>
        <p:spPr>
          <a:xfrm xmlns:a="http://schemas.openxmlformats.org/drawingml/2006/main">
            <a:off x="723900" y="2266950"/>
            <a:ext cx="4762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2550" b="1" i="0">
                <a:solidFill>
                  <a:srgbClr val="5A2E78"/>
                </a:solidFill>
                <a:latin typeface="Helvetica"/>
                <a:ea typeface="Helvetica"/>
                <a:cs typeface="Helvetica"/>
              </a:defRPr>
            </a:defPPr>
          </a:lstStyle>
          <a:p xmlns:a="http://schemas.openxmlformats.org/drawingml/2006/main">
            <a:pPr algn="l">
              <a:defRPr sz="2550" b="1" i="0">
                <a:solidFill>
                  <a:srgbClr val="5A2E78"/>
                </a:solidFill>
                <a:latin typeface="Helvetica"/>
                <a:ea typeface="Helvetica"/>
                <a:cs typeface="Helvetica"/>
              </a:defRPr>
            </a:pPr>
            <a:r>
              <a:rPr sz="2550" b="1" i="0">
                <a:solidFill>
                  <a:srgbClr val="5A2E78"/>
                </a:solidFill>
                <a:latin typeface="Helvetica"/>
                <a:ea typeface="Helvetica"/>
                <a:cs typeface="Helvetica"/>
              </a:rPr>
              <a:t>Nutrition proven, not promised</a:t>
            </a:r>
          </a:p>
        </p:txBody>
      </p:sp>
      <p:sp>
        <p:nvSpPr>
          <p:cNvPr id="6" name="">
            <a:extLst xmlns:a="http://schemas.openxmlformats.org/drawingml/2006/main">
              <a:ext uri="{FF2B5EF4-FFF2-40B4-BE49-F238E27FC236}">
                <a16:creationId xmlns:a16="http://schemas.microsoft.com/office/drawing/2014/main" id="{11370FCF-9A31-41B5-81BA-AA740DEC7046}"/>
              </a:ext>
            </a:extLst>
          </p:cNvPr>
          <p:cNvSpPr>
            <a:spLocks xmlns:a="http://schemas.openxmlformats.org/drawingml/2006/main" noGrp="1"/>
          </p:cNvSpPr>
          <p:nvPr/>
        </p:nvSpPr>
        <p:spPr>
          <a:xfrm xmlns:a="http://schemas.openxmlformats.org/drawingml/2006/main">
            <a:off x="6096000" y="1809750"/>
            <a:ext cx="19050" cy="19050"/>
          </a:xfrm>
          <a:prstGeom xmlns:a="http://schemas.openxmlformats.org/drawingml/2006/main" prst="rect">
            <a:avLst/>
          </a:prstGeom>
          <a:solidFill xmlns:a="http://schemas.openxmlformats.org/drawingml/2006/main">
            <a:srgbClr val="FF654F"/>
          </a:solidFill>
          <a:ln xmlns:a="http://schemas.openxmlformats.org/drawingml/2006/main" w="0">
            <a:solidFill>
              <a:srgbClr val="FF654F"/>
            </a:solidFill>
          </a:ln>
        </p:spPr>
      </p:sp>
      <p:sp>
        <p:nvSpPr>
          <p:cNvPr id="7" name="">
            <a:extLst xmlns:a="http://schemas.openxmlformats.org/drawingml/2006/main">
              <a:ext uri="{FF2B5EF4-FFF2-40B4-BE49-F238E27FC236}">
                <a16:creationId xmlns:a16="http://schemas.microsoft.com/office/drawing/2014/main" id="{F42D675A-D51E-477C-B4FF-8C34A184005C}"/>
              </a:ext>
            </a:extLst>
          </p:cNvPr>
          <p:cNvSpPr>
            <a:spLocks xmlns:a="http://schemas.openxmlformats.org/drawingml/2006/main" noGrp="1"/>
          </p:cNvSpPr>
          <p:nvPr/>
        </p:nvSpPr>
        <p:spPr>
          <a:xfrm xmlns:a="http://schemas.openxmlformats.org/drawingml/2006/main">
            <a:off x="6572250" y="1809750"/>
            <a:ext cx="1619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750" b="1" i="0">
                <a:solidFill>
                  <a:srgbClr val="FF654F"/>
                </a:solidFill>
                <a:latin typeface="Helvetica"/>
                <a:ea typeface="Helvetica"/>
                <a:cs typeface="Helvetica"/>
              </a:defRPr>
            </a:defPPr>
          </a:lstStyle>
          <a:p xmlns:a="http://schemas.openxmlformats.org/drawingml/2006/main">
            <a:pPr algn="l">
              <a:defRPr sz="750" b="1" i="0">
                <a:solidFill>
                  <a:srgbClr val="FF654F"/>
                </a:solidFill>
                <a:latin typeface="Helvetica"/>
                <a:ea typeface="Helvetica"/>
                <a:cs typeface="Helvetica"/>
              </a:defRPr>
            </a:pPr>
            <a:r>
              <a:rPr sz="750" b="1" i="0">
                <a:solidFill>
                  <a:srgbClr val="FF654F"/>
                </a:solidFill>
                <a:latin typeface="Helvetica"/>
                <a:ea typeface="Helvetica"/>
                <a:cs typeface="Helvetica"/>
              </a:rPr>
              <a:t>PUBLISHED</a:t>
            </a:r>
          </a:p>
        </p:txBody>
      </p:sp>
      <p:sp>
        <p:nvSpPr>
          <p:cNvPr id="8" name="">
            <a:extLst xmlns:a="http://schemas.openxmlformats.org/drawingml/2006/main">
              <a:ext uri="{FF2B5EF4-FFF2-40B4-BE49-F238E27FC236}">
                <a16:creationId xmlns:a16="http://schemas.microsoft.com/office/drawing/2014/main" id="{21A2DB03-1687-402C-95FD-D218152B8886}"/>
              </a:ext>
            </a:extLst>
          </p:cNvPr>
          <p:cNvSpPr>
            <a:spLocks xmlns:a="http://schemas.openxmlformats.org/drawingml/2006/main" noGrp="1"/>
          </p:cNvSpPr>
          <p:nvPr/>
        </p:nvSpPr>
        <p:spPr>
          <a:xfrm xmlns:a="http://schemas.openxmlformats.org/drawingml/2006/main">
            <a:off x="6572250" y="2114550"/>
            <a:ext cx="4286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500" b="1" i="0">
                <a:solidFill>
                  <a:srgbClr val="15121B"/>
                </a:solidFill>
                <a:latin typeface="Helvetica"/>
                <a:ea typeface="Helvetica"/>
                <a:cs typeface="Helvetica"/>
              </a:defRPr>
            </a:defPPr>
          </a:lstStyle>
          <a:p xmlns:a="http://schemas.openxmlformats.org/drawingml/2006/main">
            <a:pPr algn="l">
              <a:defRPr sz="1500" b="1" i="0">
                <a:solidFill>
                  <a:srgbClr val="15121B"/>
                </a:solidFill>
                <a:latin typeface="Helvetica"/>
                <a:ea typeface="Helvetica"/>
                <a:cs typeface="Helvetica"/>
              </a:defRPr>
            </a:pPr>
            <a:r>
              <a:rPr sz="1500" b="1" i="0">
                <a:solidFill>
                  <a:srgbClr val="15121B"/>
                </a:solidFill>
                <a:latin typeface="Helvetica"/>
                <a:ea typeface="Helvetica"/>
                <a:cs typeface="Helvetica"/>
              </a:rPr>
              <a:t>Peer-reviewed research</a:t>
            </a:r>
          </a:p>
        </p:txBody>
      </p:sp>
      <p:sp>
        <p:nvSpPr>
          <p:cNvPr id="9" name="">
            <a:extLst xmlns:a="http://schemas.openxmlformats.org/drawingml/2006/main">
              <a:ext uri="{FF2B5EF4-FFF2-40B4-BE49-F238E27FC236}">
                <a16:creationId xmlns:a16="http://schemas.microsoft.com/office/drawing/2014/main" id="{567F3A7C-4E8F-4B6F-BFE2-05A5934EC5F6}"/>
              </a:ext>
            </a:extLst>
          </p:cNvPr>
          <p:cNvSpPr>
            <a:spLocks xmlns:a="http://schemas.openxmlformats.org/drawingml/2006/main" noGrp="1"/>
          </p:cNvSpPr>
          <p:nvPr/>
        </p:nvSpPr>
        <p:spPr>
          <a:xfrm xmlns:a="http://schemas.openxmlformats.org/drawingml/2006/main">
            <a:off x="6572250" y="2809875"/>
            <a:ext cx="1619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750" b="1" i="0">
                <a:solidFill>
                  <a:srgbClr val="FF654F"/>
                </a:solidFill>
                <a:latin typeface="Helvetica"/>
                <a:ea typeface="Helvetica"/>
                <a:cs typeface="Helvetica"/>
              </a:defRPr>
            </a:defPPr>
          </a:lstStyle>
          <a:p xmlns:a="http://schemas.openxmlformats.org/drawingml/2006/main">
            <a:pPr algn="l">
              <a:defRPr sz="750" b="1" i="0">
                <a:solidFill>
                  <a:srgbClr val="FF654F"/>
                </a:solidFill>
                <a:latin typeface="Helvetica"/>
                <a:ea typeface="Helvetica"/>
                <a:cs typeface="Helvetica"/>
              </a:defRPr>
            </a:pPr>
            <a:r>
              <a:rPr sz="750" b="1" i="0">
                <a:solidFill>
                  <a:srgbClr val="FF654F"/>
                </a:solidFill>
                <a:latin typeface="Helvetica"/>
                <a:ea typeface="Helvetica"/>
                <a:cs typeface="Helvetica"/>
              </a:rPr>
              <a:t>FORMULATED</a:t>
            </a:r>
          </a:p>
        </p:txBody>
      </p:sp>
      <p:sp>
        <p:nvSpPr>
          <p:cNvPr id="10" name="">
            <a:extLst xmlns:a="http://schemas.openxmlformats.org/drawingml/2006/main">
              <a:ext uri="{FF2B5EF4-FFF2-40B4-BE49-F238E27FC236}">
                <a16:creationId xmlns:a16="http://schemas.microsoft.com/office/drawing/2014/main" id="{3A1E7CDB-BE0E-43FE-A59C-096A3790B151}"/>
              </a:ext>
            </a:extLst>
          </p:cNvPr>
          <p:cNvSpPr>
            <a:spLocks xmlns:a="http://schemas.openxmlformats.org/drawingml/2006/main" noGrp="1"/>
          </p:cNvSpPr>
          <p:nvPr/>
        </p:nvSpPr>
        <p:spPr>
          <a:xfrm xmlns:a="http://schemas.openxmlformats.org/drawingml/2006/main">
            <a:off x="6572250" y="3114675"/>
            <a:ext cx="4286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500" b="1" i="0">
                <a:solidFill>
                  <a:srgbClr val="15121B"/>
                </a:solidFill>
                <a:latin typeface="Helvetica"/>
                <a:ea typeface="Helvetica"/>
                <a:cs typeface="Helvetica"/>
              </a:defRPr>
            </a:defPPr>
          </a:lstStyle>
          <a:p xmlns:a="http://schemas.openxmlformats.org/drawingml/2006/main">
            <a:pPr algn="l">
              <a:defRPr sz="1500" b="1" i="0">
                <a:solidFill>
                  <a:srgbClr val="15121B"/>
                </a:solidFill>
                <a:latin typeface="Helvetica"/>
                <a:ea typeface="Helvetica"/>
                <a:cs typeface="Helvetica"/>
              </a:defRPr>
            </a:pPr>
            <a:r>
              <a:rPr sz="1500" b="1" i="0">
                <a:solidFill>
                  <a:srgbClr val="15121B"/>
                </a:solidFill>
                <a:latin typeface="Helvetica"/>
                <a:ea typeface="Helvetica"/>
                <a:cs typeface="Helvetica"/>
              </a:rPr>
              <a:t>Board-Certified Veterinary Nutritionist</a:t>
            </a:r>
          </a:p>
        </p:txBody>
      </p:sp>
      <p:sp>
        <p:nvSpPr>
          <p:cNvPr id="11" name="">
            <a:extLst xmlns:a="http://schemas.openxmlformats.org/drawingml/2006/main">
              <a:ext uri="{FF2B5EF4-FFF2-40B4-BE49-F238E27FC236}">
                <a16:creationId xmlns:a16="http://schemas.microsoft.com/office/drawing/2014/main" id="{6013AE1D-9C04-45EA-83E2-4CE047F1F055}"/>
              </a:ext>
            </a:extLst>
          </p:cNvPr>
          <p:cNvSpPr>
            <a:spLocks xmlns:a="http://schemas.openxmlformats.org/drawingml/2006/main" noGrp="1"/>
          </p:cNvSpPr>
          <p:nvPr/>
        </p:nvSpPr>
        <p:spPr>
          <a:xfrm xmlns:a="http://schemas.openxmlformats.org/drawingml/2006/main">
            <a:off x="6572250" y="3810000"/>
            <a:ext cx="1619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750" b="1" i="0">
                <a:solidFill>
                  <a:srgbClr val="FF654F"/>
                </a:solidFill>
                <a:latin typeface="Helvetica"/>
                <a:ea typeface="Helvetica"/>
                <a:cs typeface="Helvetica"/>
              </a:defRPr>
            </a:defPPr>
          </a:lstStyle>
          <a:p xmlns:a="http://schemas.openxmlformats.org/drawingml/2006/main">
            <a:pPr algn="l">
              <a:defRPr sz="750" b="1" i="0">
                <a:solidFill>
                  <a:srgbClr val="FF654F"/>
                </a:solidFill>
                <a:latin typeface="Helvetica"/>
                <a:ea typeface="Helvetica"/>
                <a:cs typeface="Helvetica"/>
              </a:defRPr>
            </a:pPr>
            <a:r>
              <a:rPr sz="750" b="1" i="0">
                <a:solidFill>
                  <a:srgbClr val="FF654F"/>
                </a:solidFill>
                <a:latin typeface="Helvetica"/>
                <a:ea typeface="Helvetica"/>
                <a:cs typeface="Helvetica"/>
              </a:rPr>
              <a:t>MADE</a:t>
            </a:r>
          </a:p>
        </p:txBody>
      </p:sp>
      <p:sp>
        <p:nvSpPr>
          <p:cNvPr id="12" name="">
            <a:extLst xmlns:a="http://schemas.openxmlformats.org/drawingml/2006/main">
              <a:ext uri="{FF2B5EF4-FFF2-40B4-BE49-F238E27FC236}">
                <a16:creationId xmlns:a16="http://schemas.microsoft.com/office/drawing/2014/main" id="{23303C9F-0BFD-4056-9E52-4CCF5EB8A7D7}"/>
              </a:ext>
            </a:extLst>
          </p:cNvPr>
          <p:cNvSpPr>
            <a:spLocks xmlns:a="http://schemas.openxmlformats.org/drawingml/2006/main" noGrp="1"/>
          </p:cNvSpPr>
          <p:nvPr/>
        </p:nvSpPr>
        <p:spPr>
          <a:xfrm xmlns:a="http://schemas.openxmlformats.org/drawingml/2006/main">
            <a:off x="6572250" y="4114800"/>
            <a:ext cx="4286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500" b="1" i="0">
                <a:solidFill>
                  <a:srgbClr val="15121B"/>
                </a:solidFill>
                <a:latin typeface="Helvetica"/>
                <a:ea typeface="Helvetica"/>
                <a:cs typeface="Helvetica"/>
              </a:defRPr>
            </a:defPPr>
          </a:lstStyle>
          <a:p xmlns:a="http://schemas.openxmlformats.org/drawingml/2006/main">
            <a:pPr algn="l">
              <a:defRPr sz="1500" b="1" i="0">
                <a:solidFill>
                  <a:srgbClr val="15121B"/>
                </a:solidFill>
                <a:latin typeface="Helvetica"/>
                <a:ea typeface="Helvetica"/>
                <a:cs typeface="Helvetica"/>
              </a:defRPr>
            </a:pPr>
            <a:r>
              <a:rPr sz="1500" b="1" i="0">
                <a:solidFill>
                  <a:srgbClr val="15121B"/>
                </a:solidFill>
                <a:latin typeface="Helvetica"/>
                <a:ea typeface="Helvetica"/>
                <a:cs typeface="Helvetica"/>
              </a:rPr>
              <a:t>Vertically integrated production</a:t>
            </a:r>
          </a:p>
        </p:txBody>
      </p:sp>
      <p:sp>
        <p:nvSpPr>
          <p:cNvPr id="13" name="">
            <a:extLst xmlns:a="http://schemas.openxmlformats.org/drawingml/2006/main">
              <a:ext uri="{FF2B5EF4-FFF2-40B4-BE49-F238E27FC236}">
                <a16:creationId xmlns:a16="http://schemas.microsoft.com/office/drawing/2014/main" id="{10CFC560-A355-4050-9B65-5EE2B8D1AA07}"/>
              </a:ext>
            </a:extLst>
          </p:cNvPr>
          <p:cNvSpPr>
            <a:spLocks xmlns:a="http://schemas.openxmlformats.org/drawingml/2006/main" noGrp="1"/>
          </p:cNvSpPr>
          <p:nvPr/>
        </p:nvSpPr>
        <p:spPr>
          <a:xfrm xmlns:a="http://schemas.openxmlformats.org/drawingml/2006/main">
            <a:off x="723900" y="3667125"/>
            <a:ext cx="47625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275" b="0" i="0">
                <a:solidFill>
                  <a:srgbClr val="15121B"/>
                </a:solidFill>
                <a:latin typeface="Helvetica"/>
                <a:ea typeface="Helvetica"/>
                <a:cs typeface="Helvetica"/>
              </a:defRPr>
            </a:defPPr>
          </a:lstStyle>
          <a:p xmlns:a="http://schemas.openxmlformats.org/drawingml/2006/main">
            <a:pPr algn="l">
              <a:defRPr sz="1275" b="0" i="0">
                <a:solidFill>
                  <a:srgbClr val="15121B"/>
                </a:solidFill>
                <a:latin typeface="Helvetica"/>
                <a:ea typeface="Helvetica"/>
                <a:cs typeface="Helvetica"/>
              </a:defRPr>
            </a:pPr>
            <a:r>
              <a:rPr sz="1275" b="0" i="0">
                <a:solidFill>
                  <a:srgbClr val="15121B"/>
                </a:solidFill>
                <a:latin typeface="Helvetica"/>
                <a:ea typeface="Helvetica"/>
                <a:cs typeface="Helvetica"/>
              </a:rPr>
              <a:t>Narrative translation work must produce a shelf-legible version of the science claim within the few seconds available at point of sale, distinct from the longer-form DTC/CRM articulation.</a:t>
            </a:r>
          </a:p>
        </p:txBody>
      </p:sp>
      <p:sp>
        <p:nvSpPr>
          <p:cNvPr id="14" name="">
            <a:extLst xmlns:a="http://schemas.openxmlformats.org/drawingml/2006/main">
              <a:ext uri="{FF2B5EF4-FFF2-40B4-BE49-F238E27FC236}">
                <a16:creationId xmlns:a16="http://schemas.microsoft.com/office/drawing/2014/main" id="{A70A2B7F-1D30-401D-A719-5B64247F4A82}"/>
              </a:ext>
            </a:extLst>
          </p:cNvPr>
          <p:cNvSpPr>
            <a:spLocks xmlns:a="http://schemas.openxmlformats.org/drawingml/2006/main" noGrp="1"/>
          </p:cNvSpPr>
          <p:nvPr/>
        </p:nvSpPr>
        <p:spPr>
          <a:xfrm xmlns:a="http://schemas.openxmlformats.org/drawingml/2006/main">
            <a:off x="647700" y="5572125"/>
            <a:ext cx="209550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675" b="1" i="0">
                <a:solidFill>
                  <a:srgbClr val="FF654F"/>
                </a:solidFill>
                <a:latin typeface="Helvetica"/>
                <a:ea typeface="Helvetica"/>
                <a:cs typeface="Helvetica"/>
              </a:defRPr>
            </a:defPPr>
          </a:lstStyle>
          <a:p xmlns:a="http://schemas.openxmlformats.org/drawingml/2006/main">
            <a:pPr algn="l">
              <a:defRPr sz="675" b="1" i="0">
                <a:solidFill>
                  <a:srgbClr val="FF654F"/>
                </a:solidFill>
                <a:latin typeface="Helvetica"/>
                <a:ea typeface="Helvetica"/>
                <a:cs typeface="Helvetica"/>
              </a:defRPr>
            </a:pPr>
            <a:r>
              <a:rPr sz="675" b="1" i="0">
                <a:solidFill>
                  <a:srgbClr val="FF654F"/>
                </a:solidFill>
                <a:latin typeface="Helvetica"/>
                <a:ea typeface="Helvetica"/>
                <a:cs typeface="Helvetica"/>
              </a:rPr>
              <a:t>COMMERCIAL CONSEQUENCE</a:t>
            </a:r>
          </a:p>
        </p:txBody>
      </p:sp>
      <p:sp>
        <p:nvSpPr>
          <p:cNvPr id="15" name="">
            <a:extLst xmlns:a="http://schemas.openxmlformats.org/drawingml/2006/main">
              <a:ext uri="{FF2B5EF4-FFF2-40B4-BE49-F238E27FC236}">
                <a16:creationId xmlns:a16="http://schemas.microsoft.com/office/drawing/2014/main" id="{7CB1E37C-40B6-4E13-86AF-CB000AD42E7A}"/>
              </a:ext>
            </a:extLst>
          </p:cNvPr>
          <p:cNvSpPr>
            <a:spLocks xmlns:a="http://schemas.openxmlformats.org/drawingml/2006/main" noGrp="1"/>
          </p:cNvSpPr>
          <p:nvPr/>
        </p:nvSpPr>
        <p:spPr>
          <a:xfrm xmlns:a="http://schemas.openxmlformats.org/drawingml/2006/main">
            <a:off x="2619375" y="5505450"/>
            <a:ext cx="8382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200" b="1" i="0">
                <a:solidFill>
                  <a:srgbClr val="15121B"/>
                </a:solidFill>
                <a:latin typeface="Helvetica"/>
                <a:ea typeface="Helvetica"/>
                <a:cs typeface="Helvetica"/>
              </a:defRPr>
            </a:defPPr>
          </a:lstStyle>
          <a:p xmlns:a="http://schemas.openxmlformats.org/drawingml/2006/main">
            <a:pPr algn="l">
              <a:defRPr sz="1200" b="1" i="0">
                <a:solidFill>
                  <a:srgbClr val="15121B"/>
                </a:solidFill>
                <a:latin typeface="Helvetica"/>
                <a:ea typeface="Helvetica"/>
                <a:cs typeface="Helvetica"/>
              </a:defRPr>
            </a:pPr>
            <a:r>
              <a:rPr sz="1200" b="1" i="0">
                <a:solidFill>
                  <a:srgbClr val="15121B"/>
                </a:solidFill>
                <a:latin typeface="Helvetica"/>
                <a:ea typeface="Helvetica"/>
                <a:cs typeface="Helvetica"/>
              </a:rPr>
              <a:t>One front door can make two subscription jobs easier to understand.</a:t>
            </a:r>
          </a:p>
        </p:txBody>
      </p:sp>
      <p:sp>
        <p:nvSpPr>
          <p:cNvPr id="16" name="">
            <a:extLst xmlns:a="http://schemas.openxmlformats.org/drawingml/2006/main">
              <a:ext uri="{FF2B5EF4-FFF2-40B4-BE49-F238E27FC236}">
                <a16:creationId xmlns:a16="http://schemas.microsoft.com/office/drawing/2014/main" id="{4DA42815-F1A9-448F-8E5B-89A71374EE58}"/>
              </a:ext>
            </a:extLst>
          </p:cNvPr>
          <p:cNvSpPr>
            <a:spLocks xmlns:a="http://schemas.openxmlformats.org/drawingml/2006/main" noGrp="1"/>
          </p:cNvSpPr>
          <p:nvPr/>
        </p:nvSpPr>
        <p:spPr>
          <a:xfrm xmlns:a="http://schemas.openxmlformats.org/drawingml/2006/main">
            <a:off x="647700" y="6134100"/>
            <a:ext cx="4953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825" b="1" i="0">
                <a:solidFill>
                  <a:srgbClr val="756D7A"/>
                </a:solidFill>
                <a:latin typeface="Helvetica"/>
                <a:ea typeface="Helvetica"/>
                <a:cs typeface="Helvetica"/>
              </a:defRPr>
            </a:defPPr>
          </a:lstStyle>
          <a:p xmlns:a="http://schemas.openxmlformats.org/drawingml/2006/main">
            <a:pPr algn="l">
              <a:defRPr sz="825" b="1" i="0">
                <a:solidFill>
                  <a:srgbClr val="756D7A"/>
                </a:solidFill>
                <a:latin typeface="Helvetica"/>
                <a:ea typeface="Helvetica"/>
                <a:cs typeface="Helvetica"/>
              </a:defRPr>
            </a:pPr>
            <a:r>
              <a:rPr sz="825" b="1" i="0">
                <a:solidFill>
                  <a:srgbClr val="756D7A"/>
                </a:solidFill>
                <a:latin typeface="Helvetica"/>
                <a:ea typeface="Helvetica"/>
                <a:cs typeface="Helvetica"/>
              </a:rPr>
              <a:t>SOURCES: S2, T1</a:t>
            </a:r>
          </a:p>
        </p:txBody>
      </p:sp>
      <p:sp>
        <p:nvSpPr>
          <p:cNvPr id="17" name="">
            <a:extLst xmlns:a="http://schemas.openxmlformats.org/drawingml/2006/main">
              <a:ext uri="{FF2B5EF4-FFF2-40B4-BE49-F238E27FC236}">
                <a16:creationId xmlns:a16="http://schemas.microsoft.com/office/drawing/2014/main" id="{F587CE0C-7289-4B54-AA51-3F8C49DED8EC}"/>
              </a:ext>
            </a:extLst>
          </p:cNvPr>
          <p:cNvSpPr>
            <a:spLocks xmlns:a="http://schemas.openxmlformats.org/drawingml/2006/main" noGrp="1"/>
          </p:cNvSpPr>
          <p:nvPr/>
        </p:nvSpPr>
        <p:spPr>
          <a:xfrm xmlns:a="http://schemas.openxmlformats.org/drawingml/2006/main">
            <a:off x="5715000" y="6134100"/>
            <a:ext cx="48768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r">
              <a:defRPr sz="825" b="1" i="0">
                <a:solidFill>
                  <a:srgbClr val="5A2E78"/>
                </a:solidFill>
                <a:latin typeface="Helvetica"/>
                <a:ea typeface="Helvetica"/>
                <a:cs typeface="Helvetica"/>
              </a:defRPr>
            </a:defPPr>
          </a:lstStyle>
          <a:p xmlns:a="http://schemas.openxmlformats.org/drawingml/2006/main">
            <a:pPr algn="r">
              <a:defRPr sz="825" b="1" i="0">
                <a:solidFill>
                  <a:srgbClr val="5A2E78"/>
                </a:solidFill>
                <a:latin typeface="Helvetica"/>
                <a:ea typeface="Helvetica"/>
                <a:cs typeface="Helvetica"/>
              </a:defRPr>
            </a:pPr>
            <a:r>
              <a:rPr sz="825" b="1" i="0">
                <a:solidFill>
                  <a:srgbClr val="5A2E78"/>
                </a:solidFill>
                <a:latin typeface="Helvetica"/>
                <a:ea typeface="Helvetica"/>
                <a:cs typeface="Helvetica"/>
              </a:rPr>
              <a:t>APPROVED STRATEGY + VERIFIED FACT</a:t>
            </a:r>
          </a:p>
        </p:txBody>
      </p:sp>
      <p:sp>
        <p:nvSpPr>
          <p:cNvPr id="18" name="">
            <a:extLst xmlns:a="http://schemas.openxmlformats.org/drawingml/2006/main">
              <a:ext uri="{FF2B5EF4-FFF2-40B4-BE49-F238E27FC236}">
                <a16:creationId xmlns:a16="http://schemas.microsoft.com/office/drawing/2014/main" id="{F0F1E7E8-69C4-4EF0-A01A-F06AFC4504CC}"/>
              </a:ext>
            </a:extLst>
          </p:cNvPr>
          <p:cNvSpPr>
            <a:spLocks xmlns:a="http://schemas.openxmlformats.org/drawingml/2006/main" noGrp="1"/>
          </p:cNvSpPr>
          <p:nvPr/>
        </p:nvSpPr>
        <p:spPr>
          <a:xfrm xmlns:a="http://schemas.openxmlformats.org/drawingml/2006/main">
            <a:off x="647700" y="6515100"/>
            <a:ext cx="17145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675" b="1" i="0">
                <a:solidFill>
                  <a:srgbClr val="756D7A"/>
                </a:solidFill>
                <a:latin typeface="Helvetica"/>
                <a:ea typeface="Helvetica"/>
                <a:cs typeface="Helvetica"/>
              </a:defRPr>
            </a:defPPr>
          </a:lstStyle>
          <a:p xmlns:a="http://schemas.openxmlformats.org/drawingml/2006/main">
            <a:pPr algn="l">
              <a:defRPr sz="675" b="1" i="0">
                <a:solidFill>
                  <a:srgbClr val="756D7A"/>
                </a:solidFill>
                <a:latin typeface="Helvetica"/>
                <a:ea typeface="Helvetica"/>
                <a:cs typeface="Helvetica"/>
              </a:defRPr>
            </a:pPr>
            <a:r>
              <a:rPr sz="675" b="1" i="0">
                <a:solidFill>
                  <a:srgbClr val="756D7A"/>
                </a:solidFill>
                <a:latin typeface="Helvetica"/>
                <a:ea typeface="Helvetica"/>
                <a:cs typeface="Helvetica"/>
              </a:rPr>
              <a:t>NARRATIIVE</a:t>
            </a:r>
          </a:p>
        </p:txBody>
      </p:sp>
      <p:sp>
        <p:nvSpPr>
          <p:cNvPr id="19" name="">
            <a:extLst xmlns:a="http://schemas.openxmlformats.org/drawingml/2006/main">
              <a:ext uri="{FF2B5EF4-FFF2-40B4-BE49-F238E27FC236}">
                <a16:creationId xmlns:a16="http://schemas.microsoft.com/office/drawing/2014/main" id="{D9C6FD5C-79F7-45F9-86FB-A17AE7CA66A3}"/>
              </a:ext>
            </a:extLst>
          </p:cNvPr>
          <p:cNvSpPr>
            <a:spLocks xmlns:a="http://schemas.openxmlformats.org/drawingml/2006/main" noGrp="1"/>
          </p:cNvSpPr>
          <p:nvPr/>
        </p:nvSpPr>
        <p:spPr>
          <a:xfrm xmlns:a="http://schemas.openxmlformats.org/drawingml/2006/main">
            <a:off x="10668000" y="6515100"/>
            <a:ext cx="8763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r">
              <a:defRPr sz="675" b="0" i="0">
                <a:solidFill>
                  <a:srgbClr val="756D7A"/>
                </a:solidFill>
                <a:latin typeface="Helvetica"/>
                <a:ea typeface="Helvetica"/>
                <a:cs typeface="Helvetica"/>
              </a:defRPr>
            </a:defPPr>
          </a:lstStyle>
          <a:p xmlns:a="http://schemas.openxmlformats.org/drawingml/2006/main">
            <a:pPr algn="r">
              <a:defRPr sz="675" b="0" i="0">
                <a:solidFill>
                  <a:srgbClr val="756D7A"/>
                </a:solidFill>
                <a:latin typeface="Helvetica"/>
                <a:ea typeface="Helvetica"/>
                <a:cs typeface="Helvetica"/>
              </a:defRPr>
            </a:pPr>
            <a:r>
              <a:rPr sz="675" b="0" i="0">
                <a:solidFill>
                  <a:srgbClr val="756D7A"/>
                </a:solidFill>
                <a:latin typeface="Helvetica"/>
                <a:ea typeface="Helvetica"/>
                <a:cs typeface="Helvetica"/>
              </a:rPr>
              <a:t>21 / 30</a:t>
            </a:r>
          </a:p>
        </p:txBody>
      </p:sp>
    </p:spTree>
    <p:extLst>
      <p:ext uri="{BB962C8B-B14F-4D97-AF65-F5344CB8AC3E}">
        <p14:creationId xmlns:p14="http://schemas.microsoft.com/office/powerpoint/2010/main" val="2034175628"/>
      </p:ext>
    </p:extLst>
  </p:cSld>
</p:sld>
</file>

<file path=ppt/slides/slide22.xml><?xml version="1.0" encoding="utf-8"?>
<p:sld xmlns:p="http://schemas.openxmlformats.org/presentationml/2006/main">
  <p:cSld>
    <p:bg>
      <p:bgPr>
        <a:solidFill xmlns:a="http://schemas.openxmlformats.org/drawingml/2006/main">
          <a:srgbClr val="15121B"/>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983CDCC0-D371-484D-AB20-5228823A718C}"/>
              </a:ext>
            </a:extLst>
          </p:cNvPr>
          <p:cNvSpPr>
            <a:spLocks xmlns:a="http://schemas.openxmlformats.org/drawingml/2006/main" noGrp="1"/>
          </p:cNvSpPr>
          <p:nvPr/>
        </p:nvSpPr>
        <p:spPr>
          <a:xfrm xmlns:a="http://schemas.openxmlformats.org/drawingml/2006/main">
            <a:off x="647700" y="333375"/>
            <a:ext cx="57150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675" b="1" i="0">
                <a:solidFill>
                  <a:srgbClr val="FF654F"/>
                </a:solidFill>
                <a:latin typeface="Helvetica"/>
                <a:ea typeface="Helvetica"/>
                <a:cs typeface="Helvetica"/>
              </a:defRPr>
            </a:defPPr>
          </a:lstStyle>
          <a:p xmlns:a="http://schemas.openxmlformats.org/drawingml/2006/main">
            <a:pPr algn="l">
              <a:defRPr sz="675" b="1" i="0">
                <a:solidFill>
                  <a:srgbClr val="FF654F"/>
                </a:solidFill>
                <a:latin typeface="Helvetica"/>
                <a:ea typeface="Helvetica"/>
                <a:cs typeface="Helvetica"/>
              </a:defRPr>
            </a:pPr>
            <a:r>
              <a:rPr sz="675" b="1" i="0">
                <a:solidFill>
                  <a:srgbClr val="FF654F"/>
                </a:solidFill>
                <a:latin typeface="Helvetica"/>
                <a:ea typeface="Helvetica"/>
                <a:cs typeface="Helvetica"/>
              </a:rPr>
              <a:t>ACT 4 / POSITIONING + NARRATIVE ANSWER</a:t>
            </a:r>
          </a:p>
        </p:txBody>
      </p:sp>
      <p:sp>
        <p:nvSpPr>
          <p:cNvPr id="2" name="">
            <a:extLst xmlns:a="http://schemas.openxmlformats.org/drawingml/2006/main">
              <a:ext uri="{FF2B5EF4-FFF2-40B4-BE49-F238E27FC236}">
                <a16:creationId xmlns:a16="http://schemas.microsoft.com/office/drawing/2014/main" id="{6000D64F-B77F-4438-B741-E5FD5731610C}"/>
              </a:ext>
            </a:extLst>
          </p:cNvPr>
          <p:cNvSpPr>
            <a:spLocks xmlns:a="http://schemas.openxmlformats.org/drawingml/2006/main" noGrp="1"/>
          </p:cNvSpPr>
          <p:nvPr/>
        </p:nvSpPr>
        <p:spPr>
          <a:xfrm xmlns:a="http://schemas.openxmlformats.org/drawingml/2006/main">
            <a:off x="647700" y="685800"/>
            <a:ext cx="1047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2325" b="1" i="0">
                <a:solidFill>
                  <a:srgbClr val="FFFDFC"/>
                </a:solidFill>
                <a:latin typeface="Helvetica"/>
                <a:ea typeface="Helvetica"/>
                <a:cs typeface="Helvetica"/>
              </a:defRPr>
            </a:defPPr>
          </a:lstStyle>
          <a:p xmlns:a="http://schemas.openxmlformats.org/drawingml/2006/main">
            <a:pPr algn="l">
              <a:defRPr sz="2325" b="1" i="0">
                <a:solidFill>
                  <a:srgbClr val="FFFDFC"/>
                </a:solidFill>
                <a:latin typeface="Helvetica"/>
                <a:ea typeface="Helvetica"/>
                <a:cs typeface="Helvetica"/>
              </a:defRPr>
            </a:pPr>
            <a:r>
              <a:rPr sz="2325" b="1" i="0">
                <a:solidFill>
                  <a:srgbClr val="FFFDFC"/>
                </a:solidFill>
                <a:latin typeface="Helvetica"/>
                <a:ea typeface="Helvetica"/>
                <a:cs typeface="Helvetica"/>
              </a:rPr>
              <a:t>Messaging Territories / Distinctive Assets</a:t>
            </a:r>
          </a:p>
        </p:txBody>
      </p:sp>
      <p:sp>
        <p:nvSpPr>
          <p:cNvPr id="3" name="">
            <a:extLst xmlns:a="http://schemas.openxmlformats.org/drawingml/2006/main">
              <a:ext uri="{FF2B5EF4-FFF2-40B4-BE49-F238E27FC236}">
                <a16:creationId xmlns:a16="http://schemas.microsoft.com/office/drawing/2014/main" id="{92FE01E0-1F6E-4FB2-9FE8-9176BB4A627A}"/>
              </a:ext>
            </a:extLst>
          </p:cNvPr>
          <p:cNvSpPr>
            <a:spLocks xmlns:a="http://schemas.openxmlformats.org/drawingml/2006/main" noGrp="1"/>
          </p:cNvSpPr>
          <p:nvPr/>
        </p:nvSpPr>
        <p:spPr>
          <a:xfrm xmlns:a="http://schemas.openxmlformats.org/drawingml/2006/main">
            <a:off x="647700" y="1400175"/>
            <a:ext cx="10896600" cy="19050"/>
          </a:xfrm>
          <a:prstGeom xmlns:a="http://schemas.openxmlformats.org/drawingml/2006/main" prst="rect">
            <a:avLst/>
          </a:prstGeom>
          <a:solidFill xmlns:a="http://schemas.openxmlformats.org/drawingml/2006/main">
            <a:srgbClr val="5A2E78"/>
          </a:solidFill>
          <a:ln xmlns:a="http://schemas.openxmlformats.org/drawingml/2006/main" w="0">
            <a:solidFill>
              <a:srgbClr val="5A2E78"/>
            </a:solidFill>
          </a:ln>
        </p:spPr>
      </p:sp>
      <p:sp>
        <p:nvSpPr>
          <p:cNvPr id="4" name="">
            <a:extLst xmlns:a="http://schemas.openxmlformats.org/drawingml/2006/main">
              <a:ext uri="{FF2B5EF4-FFF2-40B4-BE49-F238E27FC236}">
                <a16:creationId xmlns:a16="http://schemas.microsoft.com/office/drawing/2014/main" id="{A9632DCD-4257-4372-9845-642DA6CD6854}"/>
              </a:ext>
            </a:extLst>
          </p:cNvPr>
          <p:cNvSpPr>
            <a:spLocks xmlns:a="http://schemas.openxmlformats.org/drawingml/2006/main" noGrp="1"/>
          </p:cNvSpPr>
          <p:nvPr/>
        </p:nvSpPr>
        <p:spPr>
          <a:xfrm xmlns:a="http://schemas.openxmlformats.org/drawingml/2006/main">
            <a:off x="762000" y="2000250"/>
            <a:ext cx="3143250" cy="2381250"/>
          </a:xfrm>
          <a:prstGeom xmlns:a="http://schemas.openxmlformats.org/drawingml/2006/main" prst="roundRect">
            <a:avLst>
              <a:gd name="adj" fmla="val 3200"/>
            </a:avLst>
          </a:prstGeom>
          <a:solidFill xmlns:a="http://schemas.openxmlformats.org/drawingml/2006/main">
            <a:srgbClr val="261A31"/>
          </a:solidFill>
          <a:ln xmlns:a="http://schemas.openxmlformats.org/drawingml/2006/main" w="9525">
            <a:solidFill>
              <a:srgbClr val="FF654F"/>
            </a:solidFill>
          </a:ln>
        </p:spPr>
      </p:sp>
      <p:sp>
        <p:nvSpPr>
          <p:cNvPr id="5" name="">
            <a:extLst xmlns:a="http://schemas.openxmlformats.org/drawingml/2006/main">
              <a:ext uri="{FF2B5EF4-FFF2-40B4-BE49-F238E27FC236}">
                <a16:creationId xmlns:a16="http://schemas.microsoft.com/office/drawing/2014/main" id="{DC50A765-703A-4C6B-AFF2-D2D1F7DF96CA}"/>
              </a:ext>
            </a:extLst>
          </p:cNvPr>
          <p:cNvSpPr>
            <a:spLocks xmlns:a="http://schemas.openxmlformats.org/drawingml/2006/main" noGrp="1"/>
          </p:cNvSpPr>
          <p:nvPr/>
        </p:nvSpPr>
        <p:spPr>
          <a:xfrm xmlns:a="http://schemas.openxmlformats.org/drawingml/2006/main">
            <a:off x="990600" y="2286000"/>
            <a:ext cx="4286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975" b="1" i="0">
                <a:solidFill>
                  <a:srgbClr val="FF654F"/>
                </a:solidFill>
                <a:latin typeface="Helvetica"/>
                <a:ea typeface="Helvetica"/>
                <a:cs typeface="Helvetica"/>
              </a:defRPr>
            </a:defPPr>
          </a:lstStyle>
          <a:p xmlns:a="http://schemas.openxmlformats.org/drawingml/2006/main">
            <a:pPr algn="l">
              <a:defRPr sz="975" b="1" i="0">
                <a:solidFill>
                  <a:srgbClr val="FF654F"/>
                </a:solidFill>
                <a:latin typeface="Helvetica"/>
                <a:ea typeface="Helvetica"/>
                <a:cs typeface="Helvetica"/>
              </a:defRPr>
            </a:pPr>
            <a:r>
              <a:rPr sz="975" b="1" i="0">
                <a:solidFill>
                  <a:srgbClr val="FF654F"/>
                </a:solidFill>
                <a:latin typeface="Helvetica"/>
                <a:ea typeface="Helvetica"/>
                <a:cs typeface="Helvetica"/>
              </a:rPr>
              <a:t>01</a:t>
            </a:r>
          </a:p>
        </p:txBody>
      </p:sp>
      <p:sp>
        <p:nvSpPr>
          <p:cNvPr id="6" name="">
            <a:extLst xmlns:a="http://schemas.openxmlformats.org/drawingml/2006/main">
              <a:ext uri="{FF2B5EF4-FFF2-40B4-BE49-F238E27FC236}">
                <a16:creationId xmlns:a16="http://schemas.microsoft.com/office/drawing/2014/main" id="{63F0FB19-0B7F-4F9E-BF75-AB8D9C2EF941}"/>
              </a:ext>
            </a:extLst>
          </p:cNvPr>
          <p:cNvSpPr>
            <a:spLocks xmlns:a="http://schemas.openxmlformats.org/drawingml/2006/main" noGrp="1"/>
          </p:cNvSpPr>
          <p:nvPr/>
        </p:nvSpPr>
        <p:spPr>
          <a:xfrm xmlns:a="http://schemas.openxmlformats.org/drawingml/2006/main">
            <a:off x="990600" y="2857500"/>
            <a:ext cx="2667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875" b="1" i="0">
                <a:solidFill>
                  <a:srgbClr val="FFFDFC"/>
                </a:solidFill>
                <a:latin typeface="Helvetica"/>
                <a:ea typeface="Helvetica"/>
                <a:cs typeface="Helvetica"/>
              </a:defRPr>
            </a:defPPr>
          </a:lstStyle>
          <a:p xmlns:a="http://schemas.openxmlformats.org/drawingml/2006/main">
            <a:pPr algn="l">
              <a:defRPr sz="1875" b="1" i="0">
                <a:solidFill>
                  <a:srgbClr val="FFFDFC"/>
                </a:solidFill>
                <a:latin typeface="Helvetica"/>
                <a:ea typeface="Helvetica"/>
                <a:cs typeface="Helvetica"/>
              </a:defRPr>
            </a:pPr>
            <a:r>
              <a:rPr sz="1875" b="1" i="0">
                <a:solidFill>
                  <a:srgbClr val="FFFDFC"/>
                </a:solidFill>
                <a:latin typeface="Helvetica"/>
                <a:ea typeface="Helvetica"/>
                <a:cs typeface="Helvetica"/>
              </a:rPr>
              <a:t>OBSERVE</a:t>
            </a:r>
          </a:p>
        </p:txBody>
      </p:sp>
      <p:sp>
        <p:nvSpPr>
          <p:cNvPr id="7" name="">
            <a:extLst xmlns:a="http://schemas.openxmlformats.org/drawingml/2006/main">
              <a:ext uri="{FF2B5EF4-FFF2-40B4-BE49-F238E27FC236}">
                <a16:creationId xmlns:a16="http://schemas.microsoft.com/office/drawing/2014/main" id="{3151B517-49BB-4D93-8F03-21DCA9ED4684}"/>
              </a:ext>
            </a:extLst>
          </p:cNvPr>
          <p:cNvSpPr>
            <a:spLocks xmlns:a="http://schemas.openxmlformats.org/drawingml/2006/main" noGrp="1"/>
          </p:cNvSpPr>
          <p:nvPr/>
        </p:nvSpPr>
        <p:spPr>
          <a:xfrm xmlns:a="http://schemas.openxmlformats.org/drawingml/2006/main">
            <a:off x="990600" y="3381375"/>
            <a:ext cx="2667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125" b="0" i="0">
                <a:solidFill>
                  <a:srgbClr val="C8B7E8"/>
                </a:solidFill>
                <a:latin typeface="Helvetica"/>
                <a:ea typeface="Helvetica"/>
                <a:cs typeface="Helvetica"/>
              </a:defRPr>
            </a:defPPr>
          </a:lstStyle>
          <a:p xmlns:a="http://schemas.openxmlformats.org/drawingml/2006/main">
            <a:pPr algn="l">
              <a:defRPr sz="1125" b="0" i="0">
                <a:solidFill>
                  <a:srgbClr val="C8B7E8"/>
                </a:solidFill>
                <a:latin typeface="Helvetica"/>
                <a:ea typeface="Helvetica"/>
                <a:cs typeface="Helvetica"/>
              </a:defRPr>
            </a:pPr>
            <a:r>
              <a:rPr sz="1125" b="0" i="0">
                <a:solidFill>
                  <a:srgbClr val="C8B7E8"/>
                </a:solidFill>
                <a:latin typeface="Helvetica"/>
                <a:ea typeface="Helvetica"/>
                <a:cs typeface="Helvetica"/>
              </a:rPr>
              <a:t>No evidence currently exists on whether the proof-led narrative is comprehensible or</a:t>
            </a:r>
          </a:p>
        </p:txBody>
      </p:sp>
      <p:sp>
        <p:nvSpPr>
          <p:cNvPr id="8" name="">
            <a:extLst xmlns:a="http://schemas.openxmlformats.org/drawingml/2006/main">
              <a:ext uri="{FF2B5EF4-FFF2-40B4-BE49-F238E27FC236}">
                <a16:creationId xmlns:a16="http://schemas.microsoft.com/office/drawing/2014/main" id="{07FEB7DB-9E66-4D5F-8EB4-2F62AFA8D2E5}"/>
              </a:ext>
            </a:extLst>
          </p:cNvPr>
          <p:cNvSpPr>
            <a:spLocks xmlns:a="http://schemas.openxmlformats.org/drawingml/2006/main" noGrp="1"/>
          </p:cNvSpPr>
          <p:nvPr/>
        </p:nvSpPr>
        <p:spPr>
          <a:xfrm xmlns:a="http://schemas.openxmlformats.org/drawingml/2006/main">
            <a:off x="4476750" y="2171700"/>
            <a:ext cx="3143250" cy="2381250"/>
          </a:xfrm>
          <a:prstGeom xmlns:a="http://schemas.openxmlformats.org/drawingml/2006/main" prst="roundRect">
            <a:avLst>
              <a:gd name="adj" fmla="val 3200"/>
            </a:avLst>
          </a:prstGeom>
          <a:solidFill xmlns:a="http://schemas.openxmlformats.org/drawingml/2006/main">
            <a:srgbClr val="5A2E78"/>
          </a:solidFill>
          <a:ln xmlns:a="http://schemas.openxmlformats.org/drawingml/2006/main" w="9525">
            <a:solidFill>
              <a:srgbClr val="FF654F"/>
            </a:solidFill>
          </a:ln>
        </p:spPr>
      </p:sp>
      <p:sp>
        <p:nvSpPr>
          <p:cNvPr id="9" name="">
            <a:extLst xmlns:a="http://schemas.openxmlformats.org/drawingml/2006/main">
              <a:ext uri="{FF2B5EF4-FFF2-40B4-BE49-F238E27FC236}">
                <a16:creationId xmlns:a16="http://schemas.microsoft.com/office/drawing/2014/main" id="{04092393-2656-4EB8-B871-BAE0B7761F0C}"/>
              </a:ext>
            </a:extLst>
          </p:cNvPr>
          <p:cNvSpPr>
            <a:spLocks xmlns:a="http://schemas.openxmlformats.org/drawingml/2006/main" noGrp="1"/>
          </p:cNvSpPr>
          <p:nvPr/>
        </p:nvSpPr>
        <p:spPr>
          <a:xfrm xmlns:a="http://schemas.openxmlformats.org/drawingml/2006/main">
            <a:off x="4705350" y="2457450"/>
            <a:ext cx="4286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975" b="1" i="0">
                <a:solidFill>
                  <a:srgbClr val="FF654F"/>
                </a:solidFill>
                <a:latin typeface="Helvetica"/>
                <a:ea typeface="Helvetica"/>
                <a:cs typeface="Helvetica"/>
              </a:defRPr>
            </a:defPPr>
          </a:lstStyle>
          <a:p xmlns:a="http://schemas.openxmlformats.org/drawingml/2006/main">
            <a:pPr algn="l">
              <a:defRPr sz="975" b="1" i="0">
                <a:solidFill>
                  <a:srgbClr val="FF654F"/>
                </a:solidFill>
                <a:latin typeface="Helvetica"/>
                <a:ea typeface="Helvetica"/>
                <a:cs typeface="Helvetica"/>
              </a:defRPr>
            </a:pPr>
            <a:r>
              <a:rPr sz="975" b="1" i="0">
                <a:solidFill>
                  <a:srgbClr val="FF654F"/>
                </a:solidFill>
                <a:latin typeface="Helvetica"/>
                <a:ea typeface="Helvetica"/>
                <a:cs typeface="Helvetica"/>
              </a:rPr>
              <a:t>02</a:t>
            </a:r>
          </a:p>
        </p:txBody>
      </p:sp>
      <p:sp>
        <p:nvSpPr>
          <p:cNvPr id="10" name="">
            <a:extLst xmlns:a="http://schemas.openxmlformats.org/drawingml/2006/main">
              <a:ext uri="{FF2B5EF4-FFF2-40B4-BE49-F238E27FC236}">
                <a16:creationId xmlns:a16="http://schemas.microsoft.com/office/drawing/2014/main" id="{83BBF192-6199-49EB-8C56-7E9DC6531005}"/>
              </a:ext>
            </a:extLst>
          </p:cNvPr>
          <p:cNvSpPr>
            <a:spLocks xmlns:a="http://schemas.openxmlformats.org/drawingml/2006/main" noGrp="1"/>
          </p:cNvSpPr>
          <p:nvPr/>
        </p:nvSpPr>
        <p:spPr>
          <a:xfrm xmlns:a="http://schemas.openxmlformats.org/drawingml/2006/main">
            <a:off x="4705350" y="3028950"/>
            <a:ext cx="2667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875" b="1" i="0">
                <a:solidFill>
                  <a:srgbClr val="FFFDFC"/>
                </a:solidFill>
                <a:latin typeface="Helvetica"/>
                <a:ea typeface="Helvetica"/>
                <a:cs typeface="Helvetica"/>
              </a:defRPr>
            </a:defPPr>
          </a:lstStyle>
          <a:p xmlns:a="http://schemas.openxmlformats.org/drawingml/2006/main">
            <a:pPr algn="l">
              <a:defRPr sz="1875" b="1" i="0">
                <a:solidFill>
                  <a:srgbClr val="FFFDFC"/>
                </a:solidFill>
                <a:latin typeface="Helvetica"/>
                <a:ea typeface="Helvetica"/>
                <a:cs typeface="Helvetica"/>
              </a:defRPr>
            </a:pPr>
            <a:r>
              <a:rPr sz="1875" b="1" i="0">
                <a:solidFill>
                  <a:srgbClr val="FFFDFC"/>
                </a:solidFill>
                <a:latin typeface="Helvetica"/>
                <a:ea typeface="Helvetica"/>
                <a:cs typeface="Helvetica"/>
              </a:rPr>
              <a:t>MARK</a:t>
            </a:r>
          </a:p>
        </p:txBody>
      </p:sp>
      <p:sp>
        <p:nvSpPr>
          <p:cNvPr id="11" name="">
            <a:extLst xmlns:a="http://schemas.openxmlformats.org/drawingml/2006/main">
              <a:ext uri="{FF2B5EF4-FFF2-40B4-BE49-F238E27FC236}">
                <a16:creationId xmlns:a16="http://schemas.microsoft.com/office/drawing/2014/main" id="{E710B8C9-8881-4C87-B8A8-697251A08EE1}"/>
              </a:ext>
            </a:extLst>
          </p:cNvPr>
          <p:cNvSpPr>
            <a:spLocks xmlns:a="http://schemas.openxmlformats.org/drawingml/2006/main" noGrp="1"/>
          </p:cNvSpPr>
          <p:nvPr/>
        </p:nvSpPr>
        <p:spPr>
          <a:xfrm xmlns:a="http://schemas.openxmlformats.org/drawingml/2006/main">
            <a:off x="4705350" y="3552825"/>
            <a:ext cx="2667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125" b="0" i="0">
                <a:solidFill>
                  <a:srgbClr val="C8B7E8"/>
                </a:solidFill>
                <a:latin typeface="Helvetica"/>
                <a:ea typeface="Helvetica"/>
                <a:cs typeface="Helvetica"/>
              </a:defRPr>
            </a:defPPr>
          </a:lstStyle>
          <a:p xmlns:a="http://schemas.openxmlformats.org/drawingml/2006/main">
            <a:pPr algn="l">
              <a:defRPr sz="1125" b="0" i="0">
                <a:solidFill>
                  <a:srgbClr val="C8B7E8"/>
                </a:solidFill>
                <a:latin typeface="Helvetica"/>
                <a:ea typeface="Helvetica"/>
                <a:cs typeface="Helvetica"/>
              </a:defRPr>
            </a:pPr>
            <a:r>
              <a:rPr sz="1125" b="0" i="0">
                <a:solidFill>
                  <a:srgbClr val="C8B7E8"/>
                </a:solidFill>
                <a:latin typeface="Helvetica"/>
                <a:ea typeface="Helvetica"/>
                <a:cs typeface="Helvetica"/>
              </a:rPr>
              <a:t>No evidence currently exists on whether the proof-led narrative is comprehensible or</a:t>
            </a:r>
          </a:p>
        </p:txBody>
      </p:sp>
      <p:sp>
        <p:nvSpPr>
          <p:cNvPr id="12" name="">
            <a:extLst xmlns:a="http://schemas.openxmlformats.org/drawingml/2006/main">
              <a:ext uri="{FF2B5EF4-FFF2-40B4-BE49-F238E27FC236}">
                <a16:creationId xmlns:a16="http://schemas.microsoft.com/office/drawing/2014/main" id="{E9B5E8E3-CDFF-497E-8DB6-03339EC2BB88}"/>
              </a:ext>
            </a:extLst>
          </p:cNvPr>
          <p:cNvSpPr>
            <a:spLocks xmlns:a="http://schemas.openxmlformats.org/drawingml/2006/main" noGrp="1"/>
          </p:cNvSpPr>
          <p:nvPr/>
        </p:nvSpPr>
        <p:spPr>
          <a:xfrm xmlns:a="http://schemas.openxmlformats.org/drawingml/2006/main">
            <a:off x="8191500" y="2343150"/>
            <a:ext cx="3143250" cy="2381250"/>
          </a:xfrm>
          <a:prstGeom xmlns:a="http://schemas.openxmlformats.org/drawingml/2006/main" prst="roundRect">
            <a:avLst>
              <a:gd name="adj" fmla="val 3200"/>
            </a:avLst>
          </a:prstGeom>
          <a:solidFill xmlns:a="http://schemas.openxmlformats.org/drawingml/2006/main">
            <a:srgbClr val="261A31"/>
          </a:solidFill>
          <a:ln xmlns:a="http://schemas.openxmlformats.org/drawingml/2006/main" w="9525">
            <a:solidFill>
              <a:srgbClr val="FF654F"/>
            </a:solidFill>
          </a:ln>
        </p:spPr>
      </p:sp>
      <p:sp>
        <p:nvSpPr>
          <p:cNvPr id="13" name="">
            <a:extLst xmlns:a="http://schemas.openxmlformats.org/drawingml/2006/main">
              <a:ext uri="{FF2B5EF4-FFF2-40B4-BE49-F238E27FC236}">
                <a16:creationId xmlns:a16="http://schemas.microsoft.com/office/drawing/2014/main" id="{F30233AD-8926-4AB8-9D78-C2DDEC3FCD70}"/>
              </a:ext>
            </a:extLst>
          </p:cNvPr>
          <p:cNvSpPr>
            <a:spLocks xmlns:a="http://schemas.openxmlformats.org/drawingml/2006/main" noGrp="1"/>
          </p:cNvSpPr>
          <p:nvPr/>
        </p:nvSpPr>
        <p:spPr>
          <a:xfrm xmlns:a="http://schemas.openxmlformats.org/drawingml/2006/main">
            <a:off x="8420100" y="2628900"/>
            <a:ext cx="4286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975" b="1" i="0">
                <a:solidFill>
                  <a:srgbClr val="FF654F"/>
                </a:solidFill>
                <a:latin typeface="Helvetica"/>
                <a:ea typeface="Helvetica"/>
                <a:cs typeface="Helvetica"/>
              </a:defRPr>
            </a:defPPr>
          </a:lstStyle>
          <a:p xmlns:a="http://schemas.openxmlformats.org/drawingml/2006/main">
            <a:pPr algn="l">
              <a:defRPr sz="975" b="1" i="0">
                <a:solidFill>
                  <a:srgbClr val="FF654F"/>
                </a:solidFill>
                <a:latin typeface="Helvetica"/>
                <a:ea typeface="Helvetica"/>
                <a:cs typeface="Helvetica"/>
              </a:defRPr>
            </a:pPr>
            <a:r>
              <a:rPr sz="975" b="1" i="0">
                <a:solidFill>
                  <a:srgbClr val="FF654F"/>
                </a:solidFill>
                <a:latin typeface="Helvetica"/>
                <a:ea typeface="Helvetica"/>
                <a:cs typeface="Helvetica"/>
              </a:rPr>
              <a:t>03</a:t>
            </a:r>
          </a:p>
        </p:txBody>
      </p:sp>
      <p:sp>
        <p:nvSpPr>
          <p:cNvPr id="14" name="">
            <a:extLst xmlns:a="http://schemas.openxmlformats.org/drawingml/2006/main">
              <a:ext uri="{FF2B5EF4-FFF2-40B4-BE49-F238E27FC236}">
                <a16:creationId xmlns:a16="http://schemas.microsoft.com/office/drawing/2014/main" id="{A7B78A81-F325-4FBD-8704-46701DB430AA}"/>
              </a:ext>
            </a:extLst>
          </p:cNvPr>
          <p:cNvSpPr>
            <a:spLocks xmlns:a="http://schemas.openxmlformats.org/drawingml/2006/main" noGrp="1"/>
          </p:cNvSpPr>
          <p:nvPr/>
        </p:nvSpPr>
        <p:spPr>
          <a:xfrm xmlns:a="http://schemas.openxmlformats.org/drawingml/2006/main">
            <a:off x="8420100" y="3200400"/>
            <a:ext cx="2667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875" b="1" i="0">
                <a:solidFill>
                  <a:srgbClr val="FFFDFC"/>
                </a:solidFill>
                <a:latin typeface="Helvetica"/>
                <a:ea typeface="Helvetica"/>
                <a:cs typeface="Helvetica"/>
              </a:defRPr>
            </a:defPPr>
          </a:lstStyle>
          <a:p xmlns:a="http://schemas.openxmlformats.org/drawingml/2006/main">
            <a:pPr algn="l">
              <a:defRPr sz="1875" b="1" i="0">
                <a:solidFill>
                  <a:srgbClr val="FFFDFC"/>
                </a:solidFill>
                <a:latin typeface="Helvetica"/>
                <a:ea typeface="Helvetica"/>
                <a:cs typeface="Helvetica"/>
              </a:defRPr>
            </a:pPr>
            <a:r>
              <a:rPr sz="1875" b="1" i="0">
                <a:solidFill>
                  <a:srgbClr val="FFFDFC"/>
                </a:solidFill>
                <a:latin typeface="Helvetica"/>
                <a:ea typeface="Helvetica"/>
                <a:cs typeface="Helvetica"/>
              </a:rPr>
              <a:t>SIGNAL</a:t>
            </a:r>
          </a:p>
        </p:txBody>
      </p:sp>
      <p:sp>
        <p:nvSpPr>
          <p:cNvPr id="15" name="">
            <a:extLst xmlns:a="http://schemas.openxmlformats.org/drawingml/2006/main">
              <a:ext uri="{FF2B5EF4-FFF2-40B4-BE49-F238E27FC236}">
                <a16:creationId xmlns:a16="http://schemas.microsoft.com/office/drawing/2014/main" id="{D958A7AC-8C8A-44C1-8718-9D5F0F5FBC25}"/>
              </a:ext>
            </a:extLst>
          </p:cNvPr>
          <p:cNvSpPr>
            <a:spLocks xmlns:a="http://schemas.openxmlformats.org/drawingml/2006/main" noGrp="1"/>
          </p:cNvSpPr>
          <p:nvPr/>
        </p:nvSpPr>
        <p:spPr>
          <a:xfrm xmlns:a="http://schemas.openxmlformats.org/drawingml/2006/main">
            <a:off x="8420100" y="3724275"/>
            <a:ext cx="2667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125" b="0" i="0">
                <a:solidFill>
                  <a:srgbClr val="C8B7E8"/>
                </a:solidFill>
                <a:latin typeface="Helvetica"/>
                <a:ea typeface="Helvetica"/>
                <a:cs typeface="Helvetica"/>
              </a:defRPr>
            </a:defPPr>
          </a:lstStyle>
          <a:p xmlns:a="http://schemas.openxmlformats.org/drawingml/2006/main">
            <a:pPr algn="l">
              <a:defRPr sz="1125" b="0" i="0">
                <a:solidFill>
                  <a:srgbClr val="C8B7E8"/>
                </a:solidFill>
                <a:latin typeface="Helvetica"/>
                <a:ea typeface="Helvetica"/>
                <a:cs typeface="Helvetica"/>
              </a:defRPr>
            </a:pPr>
            <a:r>
              <a:rPr sz="1125" b="0" i="0">
                <a:solidFill>
                  <a:srgbClr val="C8B7E8"/>
                </a:solidFill>
                <a:latin typeface="Helvetica"/>
                <a:ea typeface="Helvetica"/>
                <a:cs typeface="Helvetica"/>
              </a:rPr>
              <a:t>No evidence currently exists on whether the proof-led narrative is comprehensible or</a:t>
            </a:r>
          </a:p>
        </p:txBody>
      </p:sp>
      <p:sp>
        <p:nvSpPr>
          <p:cNvPr id="16" name="">
            <a:extLst xmlns:a="http://schemas.openxmlformats.org/drawingml/2006/main">
              <a:ext uri="{FF2B5EF4-FFF2-40B4-BE49-F238E27FC236}">
                <a16:creationId xmlns:a16="http://schemas.microsoft.com/office/drawing/2014/main" id="{70027282-9CAF-4EB5-B9BC-C54B017A8553}"/>
              </a:ext>
            </a:extLst>
          </p:cNvPr>
          <p:cNvSpPr>
            <a:spLocks xmlns:a="http://schemas.openxmlformats.org/drawingml/2006/main" noGrp="1"/>
          </p:cNvSpPr>
          <p:nvPr/>
        </p:nvSpPr>
        <p:spPr>
          <a:xfrm xmlns:a="http://schemas.openxmlformats.org/drawingml/2006/main">
            <a:off x="647700" y="5572125"/>
            <a:ext cx="209550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675" b="1" i="0">
                <a:solidFill>
                  <a:srgbClr val="FF654F"/>
                </a:solidFill>
                <a:latin typeface="Helvetica"/>
                <a:ea typeface="Helvetica"/>
                <a:cs typeface="Helvetica"/>
              </a:defRPr>
            </a:defPPr>
          </a:lstStyle>
          <a:p xmlns:a="http://schemas.openxmlformats.org/drawingml/2006/main">
            <a:pPr algn="l">
              <a:defRPr sz="675" b="1" i="0">
                <a:solidFill>
                  <a:srgbClr val="FF654F"/>
                </a:solidFill>
                <a:latin typeface="Helvetica"/>
                <a:ea typeface="Helvetica"/>
                <a:cs typeface="Helvetica"/>
              </a:defRPr>
            </a:pPr>
            <a:r>
              <a:rPr sz="675" b="1" i="0">
                <a:solidFill>
                  <a:srgbClr val="FF654F"/>
                </a:solidFill>
                <a:latin typeface="Helvetica"/>
                <a:ea typeface="Helvetica"/>
                <a:cs typeface="Helvetica"/>
              </a:rPr>
              <a:t>COMMERCIAL CONSEQUENCE</a:t>
            </a:r>
          </a:p>
        </p:txBody>
      </p:sp>
      <p:sp>
        <p:nvSpPr>
          <p:cNvPr id="17" name="">
            <a:extLst xmlns:a="http://schemas.openxmlformats.org/drawingml/2006/main">
              <a:ext uri="{FF2B5EF4-FFF2-40B4-BE49-F238E27FC236}">
                <a16:creationId xmlns:a16="http://schemas.microsoft.com/office/drawing/2014/main" id="{82CD5C6B-DAFF-4244-8D1E-206D9271AE70}"/>
              </a:ext>
            </a:extLst>
          </p:cNvPr>
          <p:cNvSpPr>
            <a:spLocks xmlns:a="http://schemas.openxmlformats.org/drawingml/2006/main" noGrp="1"/>
          </p:cNvSpPr>
          <p:nvPr/>
        </p:nvSpPr>
        <p:spPr>
          <a:xfrm xmlns:a="http://schemas.openxmlformats.org/drawingml/2006/main">
            <a:off x="2619375" y="5505450"/>
            <a:ext cx="8382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200" b="1" i="0">
                <a:solidFill>
                  <a:srgbClr val="FFFDFC"/>
                </a:solidFill>
                <a:latin typeface="Helvetica"/>
                <a:ea typeface="Helvetica"/>
                <a:cs typeface="Helvetica"/>
              </a:defRPr>
            </a:defPPr>
          </a:lstStyle>
          <a:p xmlns:a="http://schemas.openxmlformats.org/drawingml/2006/main">
            <a:pPr algn="l">
              <a:defRPr sz="1200" b="1" i="0">
                <a:solidFill>
                  <a:srgbClr val="FFFDFC"/>
                </a:solidFill>
                <a:latin typeface="Helvetica"/>
                <a:ea typeface="Helvetica"/>
                <a:cs typeface="Helvetica"/>
              </a:defRPr>
            </a:pPr>
            <a:r>
              <a:rPr sz="1200" b="1" i="0">
                <a:solidFill>
                  <a:srgbClr val="FFFDFC"/>
                </a:solidFill>
                <a:latin typeface="Helvetica"/>
                <a:ea typeface="Helvetica"/>
                <a:cs typeface="Helvetica"/>
              </a:rPr>
              <a:t>Distinctiveness must be earned through proof, not asserted through tone.</a:t>
            </a:r>
          </a:p>
        </p:txBody>
      </p:sp>
      <p:sp>
        <p:nvSpPr>
          <p:cNvPr id="18" name="">
            <a:extLst xmlns:a="http://schemas.openxmlformats.org/drawingml/2006/main">
              <a:ext uri="{FF2B5EF4-FFF2-40B4-BE49-F238E27FC236}">
                <a16:creationId xmlns:a16="http://schemas.microsoft.com/office/drawing/2014/main" id="{8E796C36-A5A0-472F-BA62-F6A3A8407D84}"/>
              </a:ext>
            </a:extLst>
          </p:cNvPr>
          <p:cNvSpPr>
            <a:spLocks xmlns:a="http://schemas.openxmlformats.org/drawingml/2006/main" noGrp="1"/>
          </p:cNvSpPr>
          <p:nvPr/>
        </p:nvSpPr>
        <p:spPr>
          <a:xfrm xmlns:a="http://schemas.openxmlformats.org/drawingml/2006/main">
            <a:off x="647700" y="6134100"/>
            <a:ext cx="4953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825" b="1" i="0">
                <a:solidFill>
                  <a:srgbClr val="C8B7E8"/>
                </a:solidFill>
                <a:latin typeface="Helvetica"/>
                <a:ea typeface="Helvetica"/>
                <a:cs typeface="Helvetica"/>
              </a:defRPr>
            </a:defPPr>
          </a:lstStyle>
          <a:p xmlns:a="http://schemas.openxmlformats.org/drawingml/2006/main">
            <a:pPr algn="l">
              <a:defRPr sz="825" b="1" i="0">
                <a:solidFill>
                  <a:srgbClr val="C8B7E8"/>
                </a:solidFill>
                <a:latin typeface="Helvetica"/>
                <a:ea typeface="Helvetica"/>
                <a:cs typeface="Helvetica"/>
              </a:defRPr>
            </a:pPr>
            <a:r>
              <a:rPr sz="825" b="1" i="0">
                <a:solidFill>
                  <a:srgbClr val="C8B7E8"/>
                </a:solidFill>
                <a:latin typeface="Helvetica"/>
                <a:ea typeface="Helvetica"/>
                <a:cs typeface="Helvetica"/>
              </a:rPr>
              <a:t>SOURCES: S2, T1</a:t>
            </a:r>
          </a:p>
        </p:txBody>
      </p:sp>
      <p:sp>
        <p:nvSpPr>
          <p:cNvPr id="19" name="">
            <a:extLst xmlns:a="http://schemas.openxmlformats.org/drawingml/2006/main">
              <a:ext uri="{FF2B5EF4-FFF2-40B4-BE49-F238E27FC236}">
                <a16:creationId xmlns:a16="http://schemas.microsoft.com/office/drawing/2014/main" id="{99D50F30-3EFB-4BDC-8600-68E82A41A358}"/>
              </a:ext>
            </a:extLst>
          </p:cNvPr>
          <p:cNvSpPr>
            <a:spLocks xmlns:a="http://schemas.openxmlformats.org/drawingml/2006/main" noGrp="1"/>
          </p:cNvSpPr>
          <p:nvPr/>
        </p:nvSpPr>
        <p:spPr>
          <a:xfrm xmlns:a="http://schemas.openxmlformats.org/drawingml/2006/main">
            <a:off x="5715000" y="6134100"/>
            <a:ext cx="48768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r">
              <a:defRPr sz="825" b="1" i="0">
                <a:solidFill>
                  <a:srgbClr val="C8B7E8"/>
                </a:solidFill>
                <a:latin typeface="Helvetica"/>
                <a:ea typeface="Helvetica"/>
                <a:cs typeface="Helvetica"/>
              </a:defRPr>
            </a:defPPr>
          </a:lstStyle>
          <a:p xmlns:a="http://schemas.openxmlformats.org/drawingml/2006/main">
            <a:pPr algn="r">
              <a:defRPr sz="825" b="1" i="0">
                <a:solidFill>
                  <a:srgbClr val="C8B7E8"/>
                </a:solidFill>
                <a:latin typeface="Helvetica"/>
                <a:ea typeface="Helvetica"/>
                <a:cs typeface="Helvetica"/>
              </a:defRPr>
            </a:pPr>
            <a:r>
              <a:rPr sz="825" b="1" i="0">
                <a:solidFill>
                  <a:srgbClr val="C8B7E8"/>
                </a:solidFill>
                <a:latin typeface="Helvetica"/>
                <a:ea typeface="Helvetica"/>
                <a:cs typeface="Helvetica"/>
              </a:rPr>
              <a:t>APPROVED STRATEGY + VERIFIED FACT</a:t>
            </a:r>
          </a:p>
        </p:txBody>
      </p:sp>
      <p:sp>
        <p:nvSpPr>
          <p:cNvPr id="20" name="">
            <a:extLst xmlns:a="http://schemas.openxmlformats.org/drawingml/2006/main">
              <a:ext uri="{FF2B5EF4-FFF2-40B4-BE49-F238E27FC236}">
                <a16:creationId xmlns:a16="http://schemas.microsoft.com/office/drawing/2014/main" id="{1DF585AC-0C93-46B7-B465-2DC9DCB2E9AC}"/>
              </a:ext>
            </a:extLst>
          </p:cNvPr>
          <p:cNvSpPr>
            <a:spLocks xmlns:a="http://schemas.openxmlformats.org/drawingml/2006/main" noGrp="1"/>
          </p:cNvSpPr>
          <p:nvPr/>
        </p:nvSpPr>
        <p:spPr>
          <a:xfrm xmlns:a="http://schemas.openxmlformats.org/drawingml/2006/main">
            <a:off x="647700" y="6515100"/>
            <a:ext cx="17145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675" b="1" i="0">
                <a:solidFill>
                  <a:srgbClr val="C8B7E8"/>
                </a:solidFill>
                <a:latin typeface="Helvetica"/>
                <a:ea typeface="Helvetica"/>
                <a:cs typeface="Helvetica"/>
              </a:defRPr>
            </a:defPPr>
          </a:lstStyle>
          <a:p xmlns:a="http://schemas.openxmlformats.org/drawingml/2006/main">
            <a:pPr algn="l">
              <a:defRPr sz="675" b="1" i="0">
                <a:solidFill>
                  <a:srgbClr val="C8B7E8"/>
                </a:solidFill>
                <a:latin typeface="Helvetica"/>
                <a:ea typeface="Helvetica"/>
                <a:cs typeface="Helvetica"/>
              </a:defRPr>
            </a:pPr>
            <a:r>
              <a:rPr sz="675" b="1" i="0">
                <a:solidFill>
                  <a:srgbClr val="C8B7E8"/>
                </a:solidFill>
                <a:latin typeface="Helvetica"/>
                <a:ea typeface="Helvetica"/>
                <a:cs typeface="Helvetica"/>
              </a:rPr>
              <a:t>NARRATIIVE</a:t>
            </a:r>
          </a:p>
        </p:txBody>
      </p:sp>
      <p:sp>
        <p:nvSpPr>
          <p:cNvPr id="21" name="">
            <a:extLst xmlns:a="http://schemas.openxmlformats.org/drawingml/2006/main">
              <a:ext uri="{FF2B5EF4-FFF2-40B4-BE49-F238E27FC236}">
                <a16:creationId xmlns:a16="http://schemas.microsoft.com/office/drawing/2014/main" id="{921205CE-87EB-4D6F-8AE8-85D4B90D4572}"/>
              </a:ext>
            </a:extLst>
          </p:cNvPr>
          <p:cNvSpPr>
            <a:spLocks xmlns:a="http://schemas.openxmlformats.org/drawingml/2006/main" noGrp="1"/>
          </p:cNvSpPr>
          <p:nvPr/>
        </p:nvSpPr>
        <p:spPr>
          <a:xfrm xmlns:a="http://schemas.openxmlformats.org/drawingml/2006/main">
            <a:off x="10668000" y="6515100"/>
            <a:ext cx="8763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r">
              <a:defRPr sz="675" b="0" i="0">
                <a:solidFill>
                  <a:srgbClr val="C8B7E8"/>
                </a:solidFill>
                <a:latin typeface="Helvetica"/>
                <a:ea typeface="Helvetica"/>
                <a:cs typeface="Helvetica"/>
              </a:defRPr>
            </a:defPPr>
          </a:lstStyle>
          <a:p xmlns:a="http://schemas.openxmlformats.org/drawingml/2006/main">
            <a:pPr algn="r">
              <a:defRPr sz="675" b="0" i="0">
                <a:solidFill>
                  <a:srgbClr val="C8B7E8"/>
                </a:solidFill>
                <a:latin typeface="Helvetica"/>
                <a:ea typeface="Helvetica"/>
                <a:cs typeface="Helvetica"/>
              </a:defRPr>
            </a:pPr>
            <a:r>
              <a:rPr sz="675" b="0" i="0">
                <a:solidFill>
                  <a:srgbClr val="C8B7E8"/>
                </a:solidFill>
                <a:latin typeface="Helvetica"/>
                <a:ea typeface="Helvetica"/>
                <a:cs typeface="Helvetica"/>
              </a:rPr>
              <a:t>22 / 30</a:t>
            </a:r>
          </a:p>
        </p:txBody>
      </p:sp>
    </p:spTree>
    <p:extLst>
      <p:ext uri="{BB962C8B-B14F-4D97-AF65-F5344CB8AC3E}">
        <p14:creationId xmlns:p14="http://schemas.microsoft.com/office/powerpoint/2010/main" val="201946658"/>
      </p:ext>
    </p:extLst>
  </p:cSld>
</p:sld>
</file>

<file path=ppt/slides/slide23.xml><?xml version="1.0" encoding="utf-8"?>
<p:sld xmlns:p="http://schemas.openxmlformats.org/presentationml/2006/main">
  <p:cSld>
    <p:bg>
      <p:bgPr>
        <a:solidFill xmlns:a="http://schemas.openxmlformats.org/drawingml/2006/main">
          <a:srgbClr val="F6F0E8"/>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8CFABAFD-4B1B-4E10-87E9-CE6A62EF1254}"/>
              </a:ext>
            </a:extLst>
          </p:cNvPr>
          <p:cNvSpPr>
            <a:spLocks xmlns:a="http://schemas.openxmlformats.org/drawingml/2006/main" noGrp="1"/>
          </p:cNvSpPr>
          <p:nvPr/>
        </p:nvSpPr>
        <p:spPr>
          <a:xfrm xmlns:a="http://schemas.openxmlformats.org/drawingml/2006/main">
            <a:off x="647700" y="333375"/>
            <a:ext cx="57150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675" b="1" i="0">
                <a:solidFill>
                  <a:srgbClr val="FF654F"/>
                </a:solidFill>
                <a:latin typeface="Helvetica"/>
                <a:ea typeface="Helvetica"/>
                <a:cs typeface="Helvetica"/>
              </a:defRPr>
            </a:defPPr>
          </a:lstStyle>
          <a:p xmlns:a="http://schemas.openxmlformats.org/drawingml/2006/main">
            <a:pPr algn="l">
              <a:defRPr sz="675" b="1" i="0">
                <a:solidFill>
                  <a:srgbClr val="FF654F"/>
                </a:solidFill>
                <a:latin typeface="Helvetica"/>
                <a:ea typeface="Helvetica"/>
                <a:cs typeface="Helvetica"/>
              </a:defRPr>
            </a:pPr>
            <a:r>
              <a:rPr sz="675" b="1" i="0">
                <a:solidFill>
                  <a:srgbClr val="FF654F"/>
                </a:solidFill>
                <a:latin typeface="Helvetica"/>
                <a:ea typeface="Helvetica"/>
                <a:cs typeface="Helvetica"/>
              </a:rPr>
              <a:t>ACT 5 / THE GROWTH SYSTEM</a:t>
            </a:r>
          </a:p>
        </p:txBody>
      </p:sp>
      <p:sp>
        <p:nvSpPr>
          <p:cNvPr id="2" name="">
            <a:extLst xmlns:a="http://schemas.openxmlformats.org/drawingml/2006/main">
              <a:ext uri="{FF2B5EF4-FFF2-40B4-BE49-F238E27FC236}">
                <a16:creationId xmlns:a16="http://schemas.microsoft.com/office/drawing/2014/main" id="{D5EB4591-E804-4B47-8DFD-DA9351C411AA}"/>
              </a:ext>
            </a:extLst>
          </p:cNvPr>
          <p:cNvSpPr>
            <a:spLocks xmlns:a="http://schemas.openxmlformats.org/drawingml/2006/main" noGrp="1"/>
          </p:cNvSpPr>
          <p:nvPr/>
        </p:nvSpPr>
        <p:spPr>
          <a:xfrm xmlns:a="http://schemas.openxmlformats.org/drawingml/2006/main">
            <a:off x="647700" y="685800"/>
            <a:ext cx="1047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2325" b="1" i="0">
                <a:solidFill>
                  <a:srgbClr val="15121B"/>
                </a:solidFill>
                <a:latin typeface="Helvetica"/>
                <a:ea typeface="Helvetica"/>
                <a:cs typeface="Helvetica"/>
              </a:defRPr>
            </a:defPPr>
          </a:lstStyle>
          <a:p xmlns:a="http://schemas.openxmlformats.org/drawingml/2006/main">
            <a:pPr algn="l">
              <a:defRPr sz="2325" b="1" i="0">
                <a:solidFill>
                  <a:srgbClr val="15121B"/>
                </a:solidFill>
                <a:latin typeface="Helvetica"/>
                <a:ea typeface="Helvetica"/>
                <a:cs typeface="Helvetica"/>
              </a:defRPr>
            </a:pPr>
            <a:r>
              <a:rPr sz="2325" b="1" i="0">
                <a:solidFill>
                  <a:srgbClr val="15121B"/>
                </a:solidFill>
                <a:latin typeface="Helvetica"/>
                <a:ea typeface="Helvetica"/>
                <a:cs typeface="Helvetica"/>
              </a:rPr>
              <a:t>Commercial Prize</a:t>
            </a:r>
          </a:p>
        </p:txBody>
      </p:sp>
      <p:sp>
        <p:nvSpPr>
          <p:cNvPr id="3" name="">
            <a:extLst xmlns:a="http://schemas.openxmlformats.org/drawingml/2006/main">
              <a:ext uri="{FF2B5EF4-FFF2-40B4-BE49-F238E27FC236}">
                <a16:creationId xmlns:a16="http://schemas.microsoft.com/office/drawing/2014/main" id="{0E3EEE5C-B48C-4972-BA07-3B09AA5D2B12}"/>
              </a:ext>
            </a:extLst>
          </p:cNvPr>
          <p:cNvSpPr>
            <a:spLocks xmlns:a="http://schemas.openxmlformats.org/drawingml/2006/main" noGrp="1"/>
          </p:cNvSpPr>
          <p:nvPr/>
        </p:nvSpPr>
        <p:spPr>
          <a:xfrm xmlns:a="http://schemas.openxmlformats.org/drawingml/2006/main">
            <a:off x="647700" y="1400175"/>
            <a:ext cx="10896600" cy="19050"/>
          </a:xfrm>
          <a:prstGeom xmlns:a="http://schemas.openxmlformats.org/drawingml/2006/main" prst="rect">
            <a:avLst/>
          </a:prstGeom>
          <a:solidFill xmlns:a="http://schemas.openxmlformats.org/drawingml/2006/main">
            <a:srgbClr val="D9CFD5"/>
          </a:solidFill>
          <a:ln xmlns:a="http://schemas.openxmlformats.org/drawingml/2006/main" w="0">
            <a:solidFill>
              <a:srgbClr val="D9CFD5"/>
            </a:solidFill>
          </a:ln>
        </p:spPr>
      </p:sp>
      <p:graphicFrame>
        <p:nvGraphicFramePr>
          <p:cNvPr id="4" name="">
            <a:extLst xmlns:a="http://schemas.openxmlformats.org/drawingml/2006/main">
              <a:ext uri="{FF2B5EF4-FFF2-40B4-BE49-F238E27FC236}">
                <a16:creationId xmlns:a16="http://schemas.microsoft.com/office/drawing/2014/main" id="{DD4E2C6F-9231-48D4-9586-99D4C7376B42}"/>
              </a:ext>
            </a:extLst>
          </p:cNvPr>
          <p:cNvGraphicFramePr/>
          <p:nvPr/>
        </p:nvGraphicFramePr>
        <p:xfrm>
          <a:off xmlns:a="http://schemas.openxmlformats.org/drawingml/2006/main" x="647700" y="1885950"/>
          <a:ext xmlns:a="http://schemas.openxmlformats.org/drawingml/2006/main" cx="10896600" cy="2524125"/>
        </p:xfrm>
        <a:graphic xmlns:a="http://schemas.openxmlformats.org/drawingml/2006/main">
          <a:graphicData uri="http://schemas.openxmlformats.org/drawingml/2006/table">
            <a:tbl>
              <a:tblPr firstRow="1" bandRow="1"/>
              <a:tblGrid>
                <a:gridCol w="2179320"/>
                <a:gridCol w="2179320"/>
                <a:gridCol w="2179320"/>
                <a:gridCol w="2179320"/>
                <a:gridCol w="2179320"/>
              </a:tblGrid>
              <a:tr h="631031">
                <a:tc>
                  <a:txBody>
                    <a:bodyPr/>
                    <a:lstStyle/>
                    <a:p>
                      <a:r>
                        <a:rPr sz="1125" b="1">
                          <a:solidFill>
                            <a:srgbClr val="FFFDFC"/>
                          </a:solidFill>
                          <a:latin typeface="Helvetica"/>
                          <a:ea typeface="Helvetica"/>
                          <a:cs typeface="Helvetica"/>
                        </a:rPr>
                        <a:t>Scenario</a:t>
                      </a:r>
                    </a:p>
                  </a:txBody>
                  <a:tcPr marL="91440" marR="91440" marT="45720" marB="45720">
                    <a:lnL w="9525">
                      <a:solidFill>
                        <a:srgbClr val="D9CFD5"/>
                      </a:solidFill>
                      <a:prstDash val="solid"/>
                    </a:lnL>
                    <a:lnR w="9525">
                      <a:solidFill>
                        <a:srgbClr val="D9CFD5"/>
                      </a:solidFill>
                      <a:prstDash val="solid"/>
                    </a:lnR>
                    <a:lnT w="9525">
                      <a:solidFill>
                        <a:srgbClr val="D9CFD5"/>
                      </a:solidFill>
                      <a:prstDash val="solid"/>
                    </a:lnT>
                    <a:lnB w="9525">
                      <a:solidFill>
                        <a:srgbClr val="D9CFD5"/>
                      </a:solidFill>
                      <a:prstDash val="solid"/>
                    </a:lnB>
                    <a:solidFill>
                      <a:srgbClr val="261A31"/>
                    </a:solidFill>
                  </a:tcPr>
                </a:tc>
                <a:tc>
                  <a:txBody>
                    <a:bodyPr/>
                    <a:lstStyle/>
                    <a:p>
                      <a:r>
                        <a:rPr sz="1125" b="1">
                          <a:solidFill>
                            <a:srgbClr val="FFFDFC"/>
                          </a:solidFill>
                          <a:latin typeface="Helvetica"/>
                          <a:ea typeface="Helvetica"/>
                          <a:cs typeface="Helvetica"/>
                        </a:rPr>
                        <a:t>Target share</a:t>
                      </a:r>
                    </a:p>
                  </a:txBody>
                  <a:tcPr marL="91440" marR="91440" marT="45720" marB="45720">
                    <a:lnR w="9525">
                      <a:solidFill>
                        <a:srgbClr val="D9CFD5"/>
                      </a:solidFill>
                      <a:prstDash val="solid"/>
                    </a:lnR>
                    <a:lnT w="9525">
                      <a:solidFill>
                        <a:srgbClr val="D9CFD5"/>
                      </a:solidFill>
                      <a:prstDash val="solid"/>
                    </a:lnT>
                    <a:lnB w="9525">
                      <a:solidFill>
                        <a:srgbClr val="D9CFD5"/>
                      </a:solidFill>
                      <a:prstDash val="solid"/>
                    </a:lnB>
                    <a:solidFill>
                      <a:srgbClr val="261A31"/>
                    </a:solidFill>
                  </a:tcPr>
                </a:tc>
                <a:tc>
                  <a:txBody>
                    <a:bodyPr/>
                    <a:lstStyle/>
                    <a:p>
                      <a:r>
                        <a:rPr sz="1125" b="1">
                          <a:solidFill>
                            <a:srgbClr val="FFFDFC"/>
                          </a:solidFill>
                          <a:latin typeface="Helvetica"/>
                          <a:ea typeface="Helvetica"/>
                          <a:cs typeface="Helvetica"/>
                        </a:rPr>
                        <a:t>Revenue upside</a:t>
                      </a:r>
                    </a:p>
                  </a:txBody>
                  <a:tcPr marL="91440" marR="91440" marT="45720" marB="45720">
                    <a:lnR w="9525">
                      <a:solidFill>
                        <a:srgbClr val="D9CFD5"/>
                      </a:solidFill>
                      <a:prstDash val="solid"/>
                    </a:lnR>
                    <a:lnT w="9525">
                      <a:solidFill>
                        <a:srgbClr val="D9CFD5"/>
                      </a:solidFill>
                      <a:prstDash val="solid"/>
                    </a:lnT>
                    <a:lnB w="9525">
                      <a:solidFill>
                        <a:srgbClr val="D9CFD5"/>
                      </a:solidFill>
                      <a:prstDash val="solid"/>
                    </a:lnB>
                    <a:solidFill>
                      <a:srgbClr val="261A31"/>
                    </a:solidFill>
                  </a:tcPr>
                </a:tc>
                <a:tc>
                  <a:txBody>
                    <a:bodyPr/>
                    <a:lstStyle/>
                    <a:p>
                      <a:r>
                        <a:rPr sz="1125" b="1">
                          <a:solidFill>
                            <a:srgbClr val="FFFDFC"/>
                          </a:solidFill>
                          <a:latin typeface="Helvetica"/>
                          <a:ea typeface="Helvetica"/>
                          <a:cs typeface="Helvetica"/>
                        </a:rPr>
                        <a:t>Contribution</a:t>
                      </a:r>
                    </a:p>
                  </a:txBody>
                  <a:tcPr marL="91440" marR="91440" marT="45720" marB="45720">
                    <a:lnR w="9525">
                      <a:solidFill>
                        <a:srgbClr val="D9CFD5"/>
                      </a:solidFill>
                      <a:prstDash val="solid"/>
                    </a:lnR>
                    <a:lnT w="9525">
                      <a:solidFill>
                        <a:srgbClr val="D9CFD5"/>
                      </a:solidFill>
                      <a:prstDash val="solid"/>
                    </a:lnT>
                    <a:lnB w="9525">
                      <a:solidFill>
                        <a:srgbClr val="D9CFD5"/>
                      </a:solidFill>
                      <a:prstDash val="solid"/>
                    </a:lnB>
                    <a:solidFill>
                      <a:srgbClr val="261A31"/>
                    </a:solidFill>
                  </a:tcPr>
                </a:tc>
                <a:tc>
                  <a:txBody>
                    <a:bodyPr/>
                    <a:lstStyle/>
                    <a:p>
                      <a:r>
                        <a:rPr sz="1125" b="1">
                          <a:solidFill>
                            <a:srgbClr val="FFFDFC"/>
                          </a:solidFill>
                          <a:latin typeface="Helvetica"/>
                          <a:ea typeface="Helvetica"/>
                          <a:cs typeface="Helvetica"/>
                        </a:rPr>
                        <a:t>Margin assumption</a:t>
                      </a:r>
                    </a:p>
                  </a:txBody>
                  <a:tcPr marL="91440" marR="91440" marT="45720" marB="45720">
                    <a:lnR w="9525">
                      <a:solidFill>
                        <a:srgbClr val="D9CFD5"/>
                      </a:solidFill>
                      <a:prstDash val="solid"/>
                    </a:lnR>
                    <a:lnT w="9525">
                      <a:solidFill>
                        <a:srgbClr val="D9CFD5"/>
                      </a:solidFill>
                      <a:prstDash val="solid"/>
                    </a:lnT>
                    <a:lnB w="9525">
                      <a:solidFill>
                        <a:srgbClr val="D9CFD5"/>
                      </a:solidFill>
                      <a:prstDash val="solid"/>
                    </a:lnB>
                    <a:solidFill>
                      <a:srgbClr val="261A31"/>
                    </a:solidFill>
                  </a:tcPr>
                </a:tc>
              </a:tr>
              <a:tr h="631031">
                <a:tc>
                  <a:txBody>
                    <a:bodyPr/>
                    <a:lstStyle/>
                    <a:p>
                      <a:r>
                        <a:rPr sz="1200" b="1">
                          <a:solidFill>
                            <a:srgbClr val="15121B"/>
                          </a:solidFill>
                          <a:latin typeface="Helvetica"/>
                          <a:ea typeface="Helvetica"/>
                          <a:cs typeface="Helvetica"/>
                        </a:rPr>
                        <a:t>Conservative</a:t>
                      </a:r>
                    </a:p>
                  </a:txBody>
                  <a:tcPr marL="91440" marR="91440" marT="45720" marB="45720">
                    <a:lnL w="9525">
                      <a:solidFill>
                        <a:srgbClr val="D9CFD5"/>
                      </a:solidFill>
                      <a:prstDash val="solid"/>
                    </a:lnL>
                    <a:lnR w="9525">
                      <a:solidFill>
                        <a:srgbClr val="D9CFD5"/>
                      </a:solidFill>
                      <a:prstDash val="solid"/>
                    </a:lnR>
                    <a:lnB w="9525">
                      <a:solidFill>
                        <a:srgbClr val="D9CFD5"/>
                      </a:solidFill>
                      <a:prstDash val="solid"/>
                    </a:lnB>
                  </a:tcPr>
                </a:tc>
                <a:tc>
                  <a:txBody>
                    <a:bodyPr/>
                    <a:lstStyle/>
                    <a:p>
                      <a:r>
                        <a:rPr sz="1200" b="0">
                          <a:solidFill>
                            <a:srgbClr val="15121B"/>
                          </a:solidFill>
                          <a:latin typeface="Helvetica"/>
                          <a:ea typeface="Helvetica"/>
                          <a:cs typeface="Helvetica"/>
                        </a:rPr>
                        <a:t>2.25%</a:t>
                      </a:r>
                    </a:p>
                  </a:txBody>
                  <a:tcPr marL="91440" marR="91440" marT="45720" marB="45720">
                    <a:lnR w="9525">
                      <a:solidFill>
                        <a:srgbClr val="D9CFD5"/>
                      </a:solidFill>
                      <a:prstDash val="solid"/>
                    </a:lnR>
                    <a:lnB w="9525">
                      <a:solidFill>
                        <a:srgbClr val="D9CFD5"/>
                      </a:solidFill>
                      <a:prstDash val="solid"/>
                    </a:lnB>
                  </a:tcPr>
                </a:tc>
                <a:tc>
                  <a:txBody>
                    <a:bodyPr/>
                    <a:lstStyle/>
                    <a:p>
                      <a:r>
                        <a:rPr sz="1200" b="0">
                          <a:solidFill>
                            <a:srgbClr val="15121B"/>
                          </a:solidFill>
                          <a:latin typeface="Helvetica"/>
                          <a:ea typeface="Helvetica"/>
                          <a:cs typeface="Helvetica"/>
                        </a:rPr>
                        <a:t>£1.50m</a:t>
                      </a:r>
                    </a:p>
                  </a:txBody>
                  <a:tcPr marL="91440" marR="91440" marT="45720" marB="45720">
                    <a:lnR w="9525">
                      <a:solidFill>
                        <a:srgbClr val="D9CFD5"/>
                      </a:solidFill>
                      <a:prstDash val="solid"/>
                    </a:lnR>
                    <a:lnB w="9525">
                      <a:solidFill>
                        <a:srgbClr val="D9CFD5"/>
                      </a:solidFill>
                      <a:prstDash val="solid"/>
                    </a:lnB>
                  </a:tcPr>
                </a:tc>
                <a:tc>
                  <a:txBody>
                    <a:bodyPr/>
                    <a:lstStyle/>
                    <a:p>
                      <a:r>
                        <a:rPr sz="1200" b="0">
                          <a:solidFill>
                            <a:srgbClr val="15121B"/>
                          </a:solidFill>
                          <a:latin typeface="Helvetica"/>
                          <a:ea typeface="Helvetica"/>
                          <a:cs typeface="Helvetica"/>
                        </a:rPr>
                        <a:t>£0.45m</a:t>
                      </a:r>
                    </a:p>
                  </a:txBody>
                  <a:tcPr marL="91440" marR="91440" marT="45720" marB="45720">
                    <a:lnR w="9525">
                      <a:solidFill>
                        <a:srgbClr val="D9CFD5"/>
                      </a:solidFill>
                      <a:prstDash val="solid"/>
                    </a:lnR>
                    <a:lnB w="9525">
                      <a:solidFill>
                        <a:srgbClr val="D9CFD5"/>
                      </a:solidFill>
                      <a:prstDash val="solid"/>
                    </a:lnB>
                  </a:tcPr>
                </a:tc>
                <a:tc>
                  <a:txBody>
                    <a:bodyPr/>
                    <a:lstStyle/>
                    <a:p>
                      <a:r>
                        <a:rPr sz="1200" b="0">
                          <a:solidFill>
                            <a:srgbClr val="15121B"/>
                          </a:solidFill>
                          <a:latin typeface="Helvetica"/>
                          <a:ea typeface="Helvetica"/>
                          <a:cs typeface="Helvetica"/>
                        </a:rPr>
                        <a:t>30%</a:t>
                      </a:r>
                    </a:p>
                  </a:txBody>
                  <a:tcPr marL="91440" marR="91440" marT="45720" marB="45720">
                    <a:lnR w="9525">
                      <a:solidFill>
                        <a:srgbClr val="D9CFD5"/>
                      </a:solidFill>
                      <a:prstDash val="solid"/>
                    </a:lnR>
                    <a:lnB w="9525">
                      <a:solidFill>
                        <a:srgbClr val="D9CFD5"/>
                      </a:solidFill>
                      <a:prstDash val="solid"/>
                    </a:lnB>
                  </a:tcPr>
                </a:tc>
              </a:tr>
              <a:tr h="631031">
                <a:tc>
                  <a:txBody>
                    <a:bodyPr/>
                    <a:lstStyle/>
                    <a:p>
                      <a:r>
                        <a:rPr sz="1200" b="1">
                          <a:solidFill>
                            <a:srgbClr val="15121B"/>
                          </a:solidFill>
                          <a:latin typeface="Helvetica"/>
                          <a:ea typeface="Helvetica"/>
                          <a:cs typeface="Helvetica"/>
                        </a:rPr>
                        <a:t>Base</a:t>
                      </a:r>
                    </a:p>
                  </a:txBody>
                  <a:tcPr marL="91440" marR="91440" marT="45720" marB="45720">
                    <a:lnL w="9525">
                      <a:solidFill>
                        <a:srgbClr val="D9CFD5"/>
                      </a:solidFill>
                      <a:prstDash val="solid"/>
                    </a:lnL>
                    <a:lnR w="9525">
                      <a:solidFill>
                        <a:srgbClr val="D9CFD5"/>
                      </a:solidFill>
                      <a:prstDash val="solid"/>
                    </a:lnR>
                    <a:lnB w="9525">
                      <a:solidFill>
                        <a:srgbClr val="D9CFD5"/>
                      </a:solidFill>
                      <a:prstDash val="solid"/>
                    </a:lnB>
                  </a:tcPr>
                </a:tc>
                <a:tc>
                  <a:txBody>
                    <a:bodyPr/>
                    <a:lstStyle/>
                    <a:p>
                      <a:r>
                        <a:rPr sz="1200" b="0">
                          <a:solidFill>
                            <a:srgbClr val="15121B"/>
                          </a:solidFill>
                          <a:latin typeface="Helvetica"/>
                          <a:ea typeface="Helvetica"/>
                          <a:cs typeface="Helvetica"/>
                        </a:rPr>
                        <a:t>2.50%</a:t>
                      </a:r>
                    </a:p>
                  </a:txBody>
                  <a:tcPr marL="91440" marR="91440" marT="45720" marB="45720">
                    <a:lnR w="9525">
                      <a:solidFill>
                        <a:srgbClr val="D9CFD5"/>
                      </a:solidFill>
                      <a:prstDash val="solid"/>
                    </a:lnR>
                    <a:lnB w="9525">
                      <a:solidFill>
                        <a:srgbClr val="D9CFD5"/>
                      </a:solidFill>
                      <a:prstDash val="solid"/>
                    </a:lnB>
                  </a:tcPr>
                </a:tc>
                <a:tc>
                  <a:txBody>
                    <a:bodyPr/>
                    <a:lstStyle/>
                    <a:p>
                      <a:r>
                        <a:rPr sz="1200" b="0">
                          <a:solidFill>
                            <a:srgbClr val="15121B"/>
                          </a:solidFill>
                          <a:latin typeface="Helvetica"/>
                          <a:ea typeface="Helvetica"/>
                          <a:cs typeface="Helvetica"/>
                        </a:rPr>
                        <a:t>£3.00m</a:t>
                      </a:r>
                    </a:p>
                  </a:txBody>
                  <a:tcPr marL="91440" marR="91440" marT="45720" marB="45720">
                    <a:lnR w="9525">
                      <a:solidFill>
                        <a:srgbClr val="D9CFD5"/>
                      </a:solidFill>
                      <a:prstDash val="solid"/>
                    </a:lnR>
                    <a:lnB w="9525">
                      <a:solidFill>
                        <a:srgbClr val="D9CFD5"/>
                      </a:solidFill>
                      <a:prstDash val="solid"/>
                    </a:lnB>
                  </a:tcPr>
                </a:tc>
                <a:tc>
                  <a:txBody>
                    <a:bodyPr/>
                    <a:lstStyle/>
                    <a:p>
                      <a:r>
                        <a:rPr sz="1200" b="0">
                          <a:solidFill>
                            <a:srgbClr val="15121B"/>
                          </a:solidFill>
                          <a:latin typeface="Helvetica"/>
                          <a:ea typeface="Helvetica"/>
                          <a:cs typeface="Helvetica"/>
                        </a:rPr>
                        <a:t>£1.20m</a:t>
                      </a:r>
                    </a:p>
                  </a:txBody>
                  <a:tcPr marL="91440" marR="91440" marT="45720" marB="45720">
                    <a:lnR w="9525">
                      <a:solidFill>
                        <a:srgbClr val="D9CFD5"/>
                      </a:solidFill>
                      <a:prstDash val="solid"/>
                    </a:lnR>
                    <a:lnB w="9525">
                      <a:solidFill>
                        <a:srgbClr val="D9CFD5"/>
                      </a:solidFill>
                      <a:prstDash val="solid"/>
                    </a:lnB>
                  </a:tcPr>
                </a:tc>
                <a:tc>
                  <a:txBody>
                    <a:bodyPr/>
                    <a:lstStyle/>
                    <a:p>
                      <a:r>
                        <a:rPr sz="1200" b="0">
                          <a:solidFill>
                            <a:srgbClr val="15121B"/>
                          </a:solidFill>
                          <a:latin typeface="Helvetica"/>
                          <a:ea typeface="Helvetica"/>
                          <a:cs typeface="Helvetica"/>
                        </a:rPr>
                        <a:t>40%</a:t>
                      </a:r>
                    </a:p>
                  </a:txBody>
                  <a:tcPr marL="91440" marR="91440" marT="45720" marB="45720">
                    <a:lnR w="9525">
                      <a:solidFill>
                        <a:srgbClr val="D9CFD5"/>
                      </a:solidFill>
                      <a:prstDash val="solid"/>
                    </a:lnR>
                    <a:lnB w="9525">
                      <a:solidFill>
                        <a:srgbClr val="D9CFD5"/>
                      </a:solidFill>
                      <a:prstDash val="solid"/>
                    </a:lnB>
                  </a:tcPr>
                </a:tc>
              </a:tr>
              <a:tr h="631031">
                <a:tc>
                  <a:txBody>
                    <a:bodyPr/>
                    <a:lstStyle/>
                    <a:p>
                      <a:r>
                        <a:rPr sz="1200" b="1">
                          <a:solidFill>
                            <a:srgbClr val="15121B"/>
                          </a:solidFill>
                          <a:latin typeface="Helvetica"/>
                          <a:ea typeface="Helvetica"/>
                          <a:cs typeface="Helvetica"/>
                        </a:rPr>
                        <a:t>Ambitious</a:t>
                      </a:r>
                    </a:p>
                  </a:txBody>
                  <a:tcPr marL="91440" marR="91440" marT="45720" marB="45720">
                    <a:lnL w="9525">
                      <a:solidFill>
                        <a:srgbClr val="D9CFD5"/>
                      </a:solidFill>
                      <a:prstDash val="solid"/>
                    </a:lnL>
                    <a:lnR w="9525">
                      <a:solidFill>
                        <a:srgbClr val="D9CFD5"/>
                      </a:solidFill>
                      <a:prstDash val="solid"/>
                    </a:lnR>
                    <a:lnB w="9525">
                      <a:solidFill>
                        <a:srgbClr val="D9CFD5"/>
                      </a:solidFill>
                      <a:prstDash val="solid"/>
                    </a:lnB>
                  </a:tcPr>
                </a:tc>
                <a:tc>
                  <a:txBody>
                    <a:bodyPr/>
                    <a:lstStyle/>
                    <a:p>
                      <a:r>
                        <a:rPr sz="1200" b="0">
                          <a:solidFill>
                            <a:srgbClr val="15121B"/>
                          </a:solidFill>
                          <a:latin typeface="Helvetica"/>
                          <a:ea typeface="Helvetica"/>
                          <a:cs typeface="Helvetica"/>
                        </a:rPr>
                        <a:t>3.00%</a:t>
                      </a:r>
                    </a:p>
                  </a:txBody>
                  <a:tcPr marL="91440" marR="91440" marT="45720" marB="45720">
                    <a:lnR w="9525">
                      <a:solidFill>
                        <a:srgbClr val="D9CFD5"/>
                      </a:solidFill>
                      <a:prstDash val="solid"/>
                    </a:lnR>
                    <a:lnB w="9525">
                      <a:solidFill>
                        <a:srgbClr val="D9CFD5"/>
                      </a:solidFill>
                      <a:prstDash val="solid"/>
                    </a:lnB>
                  </a:tcPr>
                </a:tc>
                <a:tc>
                  <a:txBody>
                    <a:bodyPr/>
                    <a:lstStyle/>
                    <a:p>
                      <a:r>
                        <a:rPr sz="1200" b="0">
                          <a:solidFill>
                            <a:srgbClr val="15121B"/>
                          </a:solidFill>
                          <a:latin typeface="Helvetica"/>
                          <a:ea typeface="Helvetica"/>
                          <a:cs typeface="Helvetica"/>
                        </a:rPr>
                        <a:t>£6.00m</a:t>
                      </a:r>
                    </a:p>
                  </a:txBody>
                  <a:tcPr marL="91440" marR="91440" marT="45720" marB="45720">
                    <a:lnR w="9525">
                      <a:solidFill>
                        <a:srgbClr val="D9CFD5"/>
                      </a:solidFill>
                      <a:prstDash val="solid"/>
                    </a:lnR>
                    <a:lnB w="9525">
                      <a:solidFill>
                        <a:srgbClr val="D9CFD5"/>
                      </a:solidFill>
                      <a:prstDash val="solid"/>
                    </a:lnB>
                  </a:tcPr>
                </a:tc>
                <a:tc>
                  <a:txBody>
                    <a:bodyPr/>
                    <a:lstStyle/>
                    <a:p>
                      <a:r>
                        <a:rPr sz="1200" b="0">
                          <a:solidFill>
                            <a:srgbClr val="15121B"/>
                          </a:solidFill>
                          <a:latin typeface="Helvetica"/>
                          <a:ea typeface="Helvetica"/>
                          <a:cs typeface="Helvetica"/>
                        </a:rPr>
                        <a:t>£3.00m</a:t>
                      </a:r>
                    </a:p>
                  </a:txBody>
                  <a:tcPr marL="91440" marR="91440" marT="45720" marB="45720">
                    <a:lnR w="9525">
                      <a:solidFill>
                        <a:srgbClr val="D9CFD5"/>
                      </a:solidFill>
                      <a:prstDash val="solid"/>
                    </a:lnR>
                    <a:lnB w="9525">
                      <a:solidFill>
                        <a:srgbClr val="D9CFD5"/>
                      </a:solidFill>
                      <a:prstDash val="solid"/>
                    </a:lnB>
                  </a:tcPr>
                </a:tc>
                <a:tc>
                  <a:txBody>
                    <a:bodyPr/>
                    <a:lstStyle/>
                    <a:p>
                      <a:r>
                        <a:rPr sz="1200" b="0">
                          <a:solidFill>
                            <a:srgbClr val="15121B"/>
                          </a:solidFill>
                          <a:latin typeface="Helvetica"/>
                          <a:ea typeface="Helvetica"/>
                          <a:cs typeface="Helvetica"/>
                        </a:rPr>
                        <a:t>50%</a:t>
                      </a:r>
                    </a:p>
                  </a:txBody>
                  <a:tcPr marL="91440" marR="91440" marT="45720" marB="45720">
                    <a:lnR w="9525">
                      <a:solidFill>
                        <a:srgbClr val="D9CFD5"/>
                      </a:solidFill>
                      <a:prstDash val="solid"/>
                    </a:lnR>
                    <a:lnB w="9525">
                      <a:solidFill>
                        <a:srgbClr val="D9CFD5"/>
                      </a:solidFill>
                      <a:prstDash val="solid"/>
                    </a:lnB>
                  </a:tcPr>
                </a:tc>
              </a:tr>
            </a:tbl>
          </a:graphicData>
        </a:graphic>
      </p:graphicFrame>
      <p:sp>
        <p:nvSpPr>
          <p:cNvPr id="5" name="">
            <a:extLst xmlns:a="http://schemas.openxmlformats.org/drawingml/2006/main">
              <a:ext uri="{FF2B5EF4-FFF2-40B4-BE49-F238E27FC236}">
                <a16:creationId xmlns:a16="http://schemas.microsoft.com/office/drawing/2014/main" id="{88DA2C97-2C7F-4E4E-A867-7A35B5442716}"/>
              </a:ext>
            </a:extLst>
          </p:cNvPr>
          <p:cNvSpPr>
            <a:spLocks xmlns:a="http://schemas.openxmlformats.org/drawingml/2006/main" noGrp="1"/>
          </p:cNvSpPr>
          <p:nvPr/>
        </p:nvSpPr>
        <p:spPr>
          <a:xfrm xmlns:a="http://schemas.openxmlformats.org/drawingml/2006/main">
            <a:off x="647700" y="4619625"/>
            <a:ext cx="108966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750" b="1" i="0">
                <a:solidFill>
                  <a:srgbClr val="FF654F"/>
                </a:solidFill>
                <a:latin typeface="Helvetica"/>
                <a:ea typeface="Helvetica"/>
                <a:cs typeface="Helvetica"/>
              </a:defRPr>
            </a:defPPr>
          </a:lstStyle>
          <a:p xmlns:a="http://schemas.openxmlformats.org/drawingml/2006/main">
            <a:pPr algn="l">
              <a:defRPr sz="750" b="1" i="0">
                <a:solidFill>
                  <a:srgbClr val="FF654F"/>
                </a:solidFill>
                <a:latin typeface="Helvetica"/>
                <a:ea typeface="Helvetica"/>
                <a:cs typeface="Helvetica"/>
              </a:defRPr>
            </a:pPr>
            <a:r>
              <a:rPr sz="750" b="1" i="0">
                <a:solidFill>
                  <a:srgbClr val="FF654F"/>
                </a:solidFill>
                <a:latin typeface="Helvetica"/>
                <a:ea typeface="Helvetica"/>
                <a:cs typeface="Helvetica"/>
              </a:rPr>
              <a:t>ILLUSTRATIVE SCENARIOS. MARKET SHARE AND CONTRIBUTION MARGIN ARE ASSUMPTIONS, NOT COMPANY FORECASTS.</a:t>
            </a:r>
          </a:p>
        </p:txBody>
      </p:sp>
      <p:sp>
        <p:nvSpPr>
          <p:cNvPr id="6" name="">
            <a:extLst xmlns:a="http://schemas.openxmlformats.org/drawingml/2006/main">
              <a:ext uri="{FF2B5EF4-FFF2-40B4-BE49-F238E27FC236}">
                <a16:creationId xmlns:a16="http://schemas.microsoft.com/office/drawing/2014/main" id="{EA154E16-E734-4268-9CFF-5770D80D41DD}"/>
              </a:ext>
            </a:extLst>
          </p:cNvPr>
          <p:cNvSpPr>
            <a:spLocks xmlns:a="http://schemas.openxmlformats.org/drawingml/2006/main" noGrp="1"/>
          </p:cNvSpPr>
          <p:nvPr/>
        </p:nvSpPr>
        <p:spPr>
          <a:xfrm xmlns:a="http://schemas.openxmlformats.org/drawingml/2006/main">
            <a:off x="647700" y="5572125"/>
            <a:ext cx="209550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675" b="1" i="0">
                <a:solidFill>
                  <a:srgbClr val="FF654F"/>
                </a:solidFill>
                <a:latin typeface="Helvetica"/>
                <a:ea typeface="Helvetica"/>
                <a:cs typeface="Helvetica"/>
              </a:defRPr>
            </a:defPPr>
          </a:lstStyle>
          <a:p xmlns:a="http://schemas.openxmlformats.org/drawingml/2006/main">
            <a:pPr algn="l">
              <a:defRPr sz="675" b="1" i="0">
                <a:solidFill>
                  <a:srgbClr val="FF654F"/>
                </a:solidFill>
                <a:latin typeface="Helvetica"/>
                <a:ea typeface="Helvetica"/>
                <a:cs typeface="Helvetica"/>
              </a:defRPr>
            </a:pPr>
            <a:r>
              <a:rPr sz="675" b="1" i="0">
                <a:solidFill>
                  <a:srgbClr val="FF654F"/>
                </a:solidFill>
                <a:latin typeface="Helvetica"/>
                <a:ea typeface="Helvetica"/>
                <a:cs typeface="Helvetica"/>
              </a:rPr>
              <a:t>COMMERCIAL CONSEQUENCE</a:t>
            </a:r>
          </a:p>
        </p:txBody>
      </p:sp>
      <p:sp>
        <p:nvSpPr>
          <p:cNvPr id="7" name="">
            <a:extLst xmlns:a="http://schemas.openxmlformats.org/drawingml/2006/main">
              <a:ext uri="{FF2B5EF4-FFF2-40B4-BE49-F238E27FC236}">
                <a16:creationId xmlns:a16="http://schemas.microsoft.com/office/drawing/2014/main" id="{81543D04-6448-4C56-BBF9-E5CD49C97519}"/>
              </a:ext>
            </a:extLst>
          </p:cNvPr>
          <p:cNvSpPr>
            <a:spLocks xmlns:a="http://schemas.openxmlformats.org/drawingml/2006/main" noGrp="1"/>
          </p:cNvSpPr>
          <p:nvPr/>
        </p:nvSpPr>
        <p:spPr>
          <a:xfrm xmlns:a="http://schemas.openxmlformats.org/drawingml/2006/main">
            <a:off x="2619375" y="5505450"/>
            <a:ext cx="8382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200" b="1" i="0">
                <a:solidFill>
                  <a:srgbClr val="15121B"/>
                </a:solidFill>
                <a:latin typeface="Helvetica"/>
                <a:ea typeface="Helvetica"/>
                <a:cs typeface="Helvetica"/>
              </a:defRPr>
            </a:defPPr>
          </a:lstStyle>
          <a:p xmlns:a="http://schemas.openxmlformats.org/drawingml/2006/main">
            <a:pPr algn="l">
              <a:defRPr sz="1200" b="1" i="0">
                <a:solidFill>
                  <a:srgbClr val="15121B"/>
                </a:solidFill>
                <a:latin typeface="Helvetica"/>
                <a:ea typeface="Helvetica"/>
                <a:cs typeface="Helvetica"/>
              </a:defRPr>
            </a:pPr>
            <a:r>
              <a:rPr sz="1200" b="1" i="0">
                <a:solidFill>
                  <a:srgbClr val="15121B"/>
                </a:solidFill>
                <a:latin typeface="Helvetica"/>
                <a:ea typeface="Helvetica"/>
                <a:cs typeface="Helvetica"/>
              </a:rPr>
              <a:t>A 0.5-point share gain implies about £3.0m in incremental annual revenue in the base scenario.</a:t>
            </a:r>
          </a:p>
        </p:txBody>
      </p:sp>
      <p:sp>
        <p:nvSpPr>
          <p:cNvPr id="8" name="">
            <a:extLst xmlns:a="http://schemas.openxmlformats.org/drawingml/2006/main">
              <a:ext uri="{FF2B5EF4-FFF2-40B4-BE49-F238E27FC236}">
                <a16:creationId xmlns:a16="http://schemas.microsoft.com/office/drawing/2014/main" id="{CEAA5FC1-2542-4562-AE83-726DBD269D3D}"/>
              </a:ext>
            </a:extLst>
          </p:cNvPr>
          <p:cNvSpPr>
            <a:spLocks xmlns:a="http://schemas.openxmlformats.org/drawingml/2006/main" noGrp="1"/>
          </p:cNvSpPr>
          <p:nvPr/>
        </p:nvSpPr>
        <p:spPr>
          <a:xfrm xmlns:a="http://schemas.openxmlformats.org/drawingml/2006/main">
            <a:off x="647700" y="6134100"/>
            <a:ext cx="4953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825" b="1" i="0">
                <a:solidFill>
                  <a:srgbClr val="756D7A"/>
                </a:solidFill>
                <a:latin typeface="Helvetica"/>
                <a:ea typeface="Helvetica"/>
                <a:cs typeface="Helvetica"/>
              </a:defRPr>
            </a:defPPr>
          </a:lstStyle>
          <a:p xmlns:a="http://schemas.openxmlformats.org/drawingml/2006/main">
            <a:pPr algn="l">
              <a:defRPr sz="825" b="1" i="0">
                <a:solidFill>
                  <a:srgbClr val="756D7A"/>
                </a:solidFill>
                <a:latin typeface="Helvetica"/>
                <a:ea typeface="Helvetica"/>
                <a:cs typeface="Helvetica"/>
              </a:defRPr>
            </a:pPr>
            <a:r>
              <a:rPr sz="825" b="1" i="0">
                <a:solidFill>
                  <a:srgbClr val="756D7A"/>
                </a:solidFill>
                <a:latin typeface="Helvetica"/>
                <a:ea typeface="Helvetica"/>
                <a:cs typeface="Helvetica"/>
              </a:rPr>
              <a:t>SOURCES: S8, S1A</a:t>
            </a:r>
          </a:p>
        </p:txBody>
      </p:sp>
      <p:sp>
        <p:nvSpPr>
          <p:cNvPr id="9" name="">
            <a:extLst xmlns:a="http://schemas.openxmlformats.org/drawingml/2006/main">
              <a:ext uri="{FF2B5EF4-FFF2-40B4-BE49-F238E27FC236}">
                <a16:creationId xmlns:a16="http://schemas.microsoft.com/office/drawing/2014/main" id="{9C41E8AD-7DA1-43C5-9656-00599A170BA0}"/>
              </a:ext>
            </a:extLst>
          </p:cNvPr>
          <p:cNvSpPr>
            <a:spLocks xmlns:a="http://schemas.openxmlformats.org/drawingml/2006/main" noGrp="1"/>
          </p:cNvSpPr>
          <p:nvPr/>
        </p:nvSpPr>
        <p:spPr>
          <a:xfrm xmlns:a="http://schemas.openxmlformats.org/drawingml/2006/main">
            <a:off x="5715000" y="6134100"/>
            <a:ext cx="48768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r">
              <a:defRPr sz="825" b="1" i="0">
                <a:solidFill>
                  <a:srgbClr val="5A2E78"/>
                </a:solidFill>
                <a:latin typeface="Helvetica"/>
                <a:ea typeface="Helvetica"/>
                <a:cs typeface="Helvetica"/>
              </a:defRPr>
            </a:defPPr>
          </a:lstStyle>
          <a:p xmlns:a="http://schemas.openxmlformats.org/drawingml/2006/main">
            <a:pPr algn="r">
              <a:defRPr sz="825" b="1" i="0">
                <a:solidFill>
                  <a:srgbClr val="5A2E78"/>
                </a:solidFill>
                <a:latin typeface="Helvetica"/>
                <a:ea typeface="Helvetica"/>
                <a:cs typeface="Helvetica"/>
              </a:defRPr>
            </a:pPr>
            <a:r>
              <a:rPr sz="825" b="1" i="0">
                <a:solidFill>
                  <a:srgbClr val="5A2E78"/>
                </a:solidFill>
                <a:latin typeface="Helvetica"/>
                <a:ea typeface="Helvetica"/>
                <a:cs typeface="Helvetica"/>
              </a:rPr>
              <a:t>ESTIMATE + ASSUMPTION</a:t>
            </a:r>
          </a:p>
        </p:txBody>
      </p:sp>
      <p:sp>
        <p:nvSpPr>
          <p:cNvPr id="10" name="">
            <a:extLst xmlns:a="http://schemas.openxmlformats.org/drawingml/2006/main">
              <a:ext uri="{FF2B5EF4-FFF2-40B4-BE49-F238E27FC236}">
                <a16:creationId xmlns:a16="http://schemas.microsoft.com/office/drawing/2014/main" id="{E2C4D43E-6A14-49F7-A6F7-32CFCCC07544}"/>
              </a:ext>
            </a:extLst>
          </p:cNvPr>
          <p:cNvSpPr>
            <a:spLocks xmlns:a="http://schemas.openxmlformats.org/drawingml/2006/main" noGrp="1"/>
          </p:cNvSpPr>
          <p:nvPr/>
        </p:nvSpPr>
        <p:spPr>
          <a:xfrm xmlns:a="http://schemas.openxmlformats.org/drawingml/2006/main">
            <a:off x="647700" y="6515100"/>
            <a:ext cx="17145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675" b="1" i="0">
                <a:solidFill>
                  <a:srgbClr val="756D7A"/>
                </a:solidFill>
                <a:latin typeface="Helvetica"/>
                <a:ea typeface="Helvetica"/>
                <a:cs typeface="Helvetica"/>
              </a:defRPr>
            </a:defPPr>
          </a:lstStyle>
          <a:p xmlns:a="http://schemas.openxmlformats.org/drawingml/2006/main">
            <a:pPr algn="l">
              <a:defRPr sz="675" b="1" i="0">
                <a:solidFill>
                  <a:srgbClr val="756D7A"/>
                </a:solidFill>
                <a:latin typeface="Helvetica"/>
                <a:ea typeface="Helvetica"/>
                <a:cs typeface="Helvetica"/>
              </a:defRPr>
            </a:pPr>
            <a:r>
              <a:rPr sz="675" b="1" i="0">
                <a:solidFill>
                  <a:srgbClr val="756D7A"/>
                </a:solidFill>
                <a:latin typeface="Helvetica"/>
                <a:ea typeface="Helvetica"/>
                <a:cs typeface="Helvetica"/>
              </a:rPr>
              <a:t>NARRATIIVE</a:t>
            </a:r>
          </a:p>
        </p:txBody>
      </p:sp>
      <p:sp>
        <p:nvSpPr>
          <p:cNvPr id="11" name="">
            <a:extLst xmlns:a="http://schemas.openxmlformats.org/drawingml/2006/main">
              <a:ext uri="{FF2B5EF4-FFF2-40B4-BE49-F238E27FC236}">
                <a16:creationId xmlns:a16="http://schemas.microsoft.com/office/drawing/2014/main" id="{B0210072-0357-4D0C-90CD-4DAE8EC81E30}"/>
              </a:ext>
            </a:extLst>
          </p:cNvPr>
          <p:cNvSpPr>
            <a:spLocks xmlns:a="http://schemas.openxmlformats.org/drawingml/2006/main" noGrp="1"/>
          </p:cNvSpPr>
          <p:nvPr/>
        </p:nvSpPr>
        <p:spPr>
          <a:xfrm xmlns:a="http://schemas.openxmlformats.org/drawingml/2006/main">
            <a:off x="10668000" y="6515100"/>
            <a:ext cx="8763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r">
              <a:defRPr sz="675" b="0" i="0">
                <a:solidFill>
                  <a:srgbClr val="756D7A"/>
                </a:solidFill>
                <a:latin typeface="Helvetica"/>
                <a:ea typeface="Helvetica"/>
                <a:cs typeface="Helvetica"/>
              </a:defRPr>
            </a:defPPr>
          </a:lstStyle>
          <a:p xmlns:a="http://schemas.openxmlformats.org/drawingml/2006/main">
            <a:pPr algn="r">
              <a:defRPr sz="675" b="0" i="0">
                <a:solidFill>
                  <a:srgbClr val="756D7A"/>
                </a:solidFill>
                <a:latin typeface="Helvetica"/>
                <a:ea typeface="Helvetica"/>
                <a:cs typeface="Helvetica"/>
              </a:defRPr>
            </a:pPr>
            <a:r>
              <a:rPr sz="675" b="0" i="0">
                <a:solidFill>
                  <a:srgbClr val="756D7A"/>
                </a:solidFill>
                <a:latin typeface="Helvetica"/>
                <a:ea typeface="Helvetica"/>
                <a:cs typeface="Helvetica"/>
              </a:rPr>
              <a:t>23 / 30</a:t>
            </a:r>
          </a:p>
        </p:txBody>
      </p:sp>
    </p:spTree>
    <p:extLst>
      <p:ext uri="{BB962C8B-B14F-4D97-AF65-F5344CB8AC3E}">
        <p14:creationId xmlns:p14="http://schemas.microsoft.com/office/powerpoint/2010/main" val="1470015556"/>
      </p:ext>
    </p:extLst>
  </p:cSld>
</p:sld>
</file>

<file path=ppt/slides/slide24.xml><?xml version="1.0" encoding="utf-8"?>
<p:sld xmlns:p="http://schemas.openxmlformats.org/presentationml/2006/main">
  <p:cSld>
    <p:bg>
      <p:bgPr>
        <a:solidFill xmlns:a="http://schemas.openxmlformats.org/drawingml/2006/main">
          <a:srgbClr val="F6F0E8"/>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2E2645AC-5F22-4EDF-A7E8-165F9A120451}"/>
              </a:ext>
            </a:extLst>
          </p:cNvPr>
          <p:cNvSpPr>
            <a:spLocks xmlns:a="http://schemas.openxmlformats.org/drawingml/2006/main" noGrp="1"/>
          </p:cNvSpPr>
          <p:nvPr/>
        </p:nvSpPr>
        <p:spPr>
          <a:xfrm xmlns:a="http://schemas.openxmlformats.org/drawingml/2006/main">
            <a:off x="647700" y="333375"/>
            <a:ext cx="57150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675" b="1" i="0">
                <a:solidFill>
                  <a:srgbClr val="FF654F"/>
                </a:solidFill>
                <a:latin typeface="Helvetica"/>
                <a:ea typeface="Helvetica"/>
                <a:cs typeface="Helvetica"/>
              </a:defRPr>
            </a:defPPr>
          </a:lstStyle>
          <a:p xmlns:a="http://schemas.openxmlformats.org/drawingml/2006/main">
            <a:pPr algn="l">
              <a:defRPr sz="675" b="1" i="0">
                <a:solidFill>
                  <a:srgbClr val="FF654F"/>
                </a:solidFill>
                <a:latin typeface="Helvetica"/>
                <a:ea typeface="Helvetica"/>
                <a:cs typeface="Helvetica"/>
              </a:defRPr>
            </a:pPr>
            <a:r>
              <a:rPr sz="675" b="1" i="0">
                <a:solidFill>
                  <a:srgbClr val="FF654F"/>
                </a:solidFill>
                <a:latin typeface="Helvetica"/>
                <a:ea typeface="Helvetica"/>
                <a:cs typeface="Helvetica"/>
              </a:rPr>
              <a:t>ACT 5 / THE GROWTH SYSTEM</a:t>
            </a:r>
          </a:p>
        </p:txBody>
      </p:sp>
      <p:sp>
        <p:nvSpPr>
          <p:cNvPr id="2" name="">
            <a:extLst xmlns:a="http://schemas.openxmlformats.org/drawingml/2006/main">
              <a:ext uri="{FF2B5EF4-FFF2-40B4-BE49-F238E27FC236}">
                <a16:creationId xmlns:a16="http://schemas.microsoft.com/office/drawing/2014/main" id="{08645772-47CB-43F6-911A-243AD28872E4}"/>
              </a:ext>
            </a:extLst>
          </p:cNvPr>
          <p:cNvSpPr>
            <a:spLocks xmlns:a="http://schemas.openxmlformats.org/drawingml/2006/main" noGrp="1"/>
          </p:cNvSpPr>
          <p:nvPr/>
        </p:nvSpPr>
        <p:spPr>
          <a:xfrm xmlns:a="http://schemas.openxmlformats.org/drawingml/2006/main">
            <a:off x="647700" y="685800"/>
            <a:ext cx="1047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2325" b="1" i="0">
                <a:solidFill>
                  <a:srgbClr val="15121B"/>
                </a:solidFill>
                <a:latin typeface="Helvetica"/>
                <a:ea typeface="Helvetica"/>
                <a:cs typeface="Helvetica"/>
              </a:defRPr>
            </a:defPPr>
          </a:lstStyle>
          <a:p xmlns:a="http://schemas.openxmlformats.org/drawingml/2006/main">
            <a:pPr algn="l">
              <a:defRPr sz="2325" b="1" i="0">
                <a:solidFill>
                  <a:srgbClr val="15121B"/>
                </a:solidFill>
                <a:latin typeface="Helvetica"/>
                <a:ea typeface="Helvetica"/>
                <a:cs typeface="Helvetica"/>
              </a:defRPr>
            </a:pPr>
            <a:r>
              <a:rPr sz="2325" b="1" i="0">
                <a:solidFill>
                  <a:srgbClr val="15121B"/>
                </a:solidFill>
                <a:latin typeface="Helvetica"/>
                <a:ea typeface="Helvetica"/>
                <a:cs typeface="Helvetica"/>
              </a:rPr>
              <a:t>Attention Strategy</a:t>
            </a:r>
          </a:p>
        </p:txBody>
      </p:sp>
      <p:sp>
        <p:nvSpPr>
          <p:cNvPr id="3" name="">
            <a:extLst xmlns:a="http://schemas.openxmlformats.org/drawingml/2006/main">
              <a:ext uri="{FF2B5EF4-FFF2-40B4-BE49-F238E27FC236}">
                <a16:creationId xmlns:a16="http://schemas.microsoft.com/office/drawing/2014/main" id="{FD908788-4984-4EDC-B296-FFE41F8EA278}"/>
              </a:ext>
            </a:extLst>
          </p:cNvPr>
          <p:cNvSpPr>
            <a:spLocks xmlns:a="http://schemas.openxmlformats.org/drawingml/2006/main" noGrp="1"/>
          </p:cNvSpPr>
          <p:nvPr/>
        </p:nvSpPr>
        <p:spPr>
          <a:xfrm xmlns:a="http://schemas.openxmlformats.org/drawingml/2006/main">
            <a:off x="647700" y="1400175"/>
            <a:ext cx="10896600" cy="19050"/>
          </a:xfrm>
          <a:prstGeom xmlns:a="http://schemas.openxmlformats.org/drawingml/2006/main" prst="rect">
            <a:avLst/>
          </a:prstGeom>
          <a:solidFill xmlns:a="http://schemas.openxmlformats.org/drawingml/2006/main">
            <a:srgbClr val="D9CFD5"/>
          </a:solidFill>
          <a:ln xmlns:a="http://schemas.openxmlformats.org/drawingml/2006/main" w="0">
            <a:solidFill>
              <a:srgbClr val="D9CFD5"/>
            </a:solidFill>
          </a:ln>
        </p:spPr>
      </p:sp>
      <p:sp>
        <p:nvSpPr>
          <p:cNvPr id="4" name="">
            <a:extLst xmlns:a="http://schemas.openxmlformats.org/drawingml/2006/main">
              <a:ext uri="{FF2B5EF4-FFF2-40B4-BE49-F238E27FC236}">
                <a16:creationId xmlns:a16="http://schemas.microsoft.com/office/drawing/2014/main" id="{414CDD6B-6B5F-473C-9F6A-9EE0C3832D33}"/>
              </a:ext>
            </a:extLst>
          </p:cNvPr>
          <p:cNvSpPr>
            <a:spLocks xmlns:a="http://schemas.openxmlformats.org/drawingml/2006/main" noGrp="1"/>
          </p:cNvSpPr>
          <p:nvPr/>
        </p:nvSpPr>
        <p:spPr>
          <a:xfrm xmlns:a="http://schemas.openxmlformats.org/drawingml/2006/main">
            <a:off x="1143000" y="3238500"/>
            <a:ext cx="9525000" cy="19050"/>
          </a:xfrm>
          <a:prstGeom xmlns:a="http://schemas.openxmlformats.org/drawingml/2006/main" prst="rect">
            <a:avLst/>
          </a:prstGeom>
          <a:solidFill xmlns:a="http://schemas.openxmlformats.org/drawingml/2006/main">
            <a:srgbClr val="5A2E78"/>
          </a:solidFill>
          <a:ln xmlns:a="http://schemas.openxmlformats.org/drawingml/2006/main" w="0">
            <a:solidFill>
              <a:srgbClr val="5A2E78"/>
            </a:solidFill>
          </a:ln>
        </p:spPr>
      </p:sp>
      <p:sp>
        <p:nvSpPr>
          <p:cNvPr id="5" name="">
            <a:extLst xmlns:a="http://schemas.openxmlformats.org/drawingml/2006/main">
              <a:ext uri="{FF2B5EF4-FFF2-40B4-BE49-F238E27FC236}">
                <a16:creationId xmlns:a16="http://schemas.microsoft.com/office/drawing/2014/main" id="{AB6AF9C6-F2DA-4E88-9AB2-221CDD7F2E36}"/>
              </a:ext>
            </a:extLst>
          </p:cNvPr>
          <p:cNvSpPr>
            <a:spLocks xmlns:a="http://schemas.openxmlformats.org/drawingml/2006/main" noGrp="1"/>
          </p:cNvSpPr>
          <p:nvPr/>
        </p:nvSpPr>
        <p:spPr>
          <a:xfrm xmlns:a="http://schemas.openxmlformats.org/drawingml/2006/main">
            <a:off x="1524000" y="2714625"/>
            <a:ext cx="1066800" cy="1066800"/>
          </a:xfrm>
          <a:prstGeom xmlns:a="http://schemas.openxmlformats.org/drawingml/2006/main" prst="ellipse">
            <a:avLst/>
          </a:prstGeom>
          <a:solidFill xmlns:a="http://schemas.openxmlformats.org/drawingml/2006/main">
            <a:srgbClr val="261A31"/>
          </a:solidFill>
          <a:ln xmlns:a="http://schemas.openxmlformats.org/drawingml/2006/main" w="0">
            <a:solidFill>
              <a:srgbClr val="261A31"/>
            </a:solidFill>
          </a:ln>
        </p:spPr>
      </p:sp>
      <p:sp>
        <p:nvSpPr>
          <p:cNvPr id="6" name="">
            <a:extLst xmlns:a="http://schemas.openxmlformats.org/drawingml/2006/main">
              <a:ext uri="{FF2B5EF4-FFF2-40B4-BE49-F238E27FC236}">
                <a16:creationId xmlns:a16="http://schemas.microsoft.com/office/drawing/2014/main" id="{9BA7BCC7-3E01-4078-B053-EAB7C9CA4D74}"/>
              </a:ext>
            </a:extLst>
          </p:cNvPr>
          <p:cNvSpPr>
            <a:spLocks xmlns:a="http://schemas.openxmlformats.org/drawingml/2006/main" noGrp="1"/>
          </p:cNvSpPr>
          <p:nvPr/>
        </p:nvSpPr>
        <p:spPr>
          <a:xfrm xmlns:a="http://schemas.openxmlformats.org/drawingml/2006/main">
            <a:off x="1885950" y="29241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ctr">
              <a:defRPr sz="1500" b="1" i="0">
                <a:solidFill>
                  <a:srgbClr val="FFFDFC"/>
                </a:solidFill>
                <a:latin typeface="Helvetica"/>
                <a:ea typeface="Helvetica"/>
                <a:cs typeface="Helvetica"/>
              </a:defRPr>
            </a:defPPr>
          </a:lstStyle>
          <a:p xmlns:a="http://schemas.openxmlformats.org/drawingml/2006/main">
            <a:pPr algn="ctr">
              <a:defRPr sz="1500" b="1" i="0">
                <a:solidFill>
                  <a:srgbClr val="FFFDFC"/>
                </a:solidFill>
                <a:latin typeface="Helvetica"/>
                <a:ea typeface="Helvetica"/>
                <a:cs typeface="Helvetica"/>
              </a:defRPr>
            </a:pPr>
            <a:r>
              <a:rPr sz="1500" b="1" i="0">
                <a:solidFill>
                  <a:srgbClr val="FFFDFC"/>
                </a:solidFill>
                <a:latin typeface="Helvetica"/>
                <a:ea typeface="Helvetica"/>
                <a:cs typeface="Helvetica"/>
              </a:rPr>
              <a:t>1</a:t>
            </a:r>
          </a:p>
        </p:txBody>
      </p:sp>
      <p:sp>
        <p:nvSpPr>
          <p:cNvPr id="7" name="">
            <a:extLst xmlns:a="http://schemas.openxmlformats.org/drawingml/2006/main">
              <a:ext uri="{FF2B5EF4-FFF2-40B4-BE49-F238E27FC236}">
                <a16:creationId xmlns:a16="http://schemas.microsoft.com/office/drawing/2014/main" id="{512D4286-F364-4B15-A4B7-D62C9E49E3ED}"/>
              </a:ext>
            </a:extLst>
          </p:cNvPr>
          <p:cNvSpPr>
            <a:spLocks xmlns:a="http://schemas.openxmlformats.org/drawingml/2006/main" noGrp="1"/>
          </p:cNvSpPr>
          <p:nvPr/>
        </p:nvSpPr>
        <p:spPr>
          <a:xfrm xmlns:a="http://schemas.openxmlformats.org/drawingml/2006/main">
            <a:off x="1190625" y="4048125"/>
            <a:ext cx="17335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ctr">
              <a:defRPr sz="900" b="1" i="0">
                <a:solidFill>
                  <a:srgbClr val="5A2E78"/>
                </a:solidFill>
                <a:latin typeface="Helvetica"/>
                <a:ea typeface="Helvetica"/>
                <a:cs typeface="Helvetica"/>
              </a:defRPr>
            </a:defPPr>
          </a:lstStyle>
          <a:p xmlns:a="http://schemas.openxmlformats.org/drawingml/2006/main">
            <a:pPr algn="ctr">
              <a:defRPr sz="900" b="1" i="0">
                <a:solidFill>
                  <a:srgbClr val="5A2E78"/>
                </a:solidFill>
                <a:latin typeface="Helvetica"/>
                <a:ea typeface="Helvetica"/>
                <a:cs typeface="Helvetica"/>
              </a:defRPr>
            </a:pPr>
            <a:r>
              <a:rPr sz="900" b="1" i="0">
                <a:solidFill>
                  <a:srgbClr val="5A2E78"/>
                </a:solidFill>
                <a:latin typeface="Helvetica"/>
                <a:ea typeface="Helvetica"/>
                <a:cs typeface="Helvetica"/>
              </a:rPr>
              <a:t>FOUNDER</a:t>
            </a:r>
          </a:p>
        </p:txBody>
      </p:sp>
      <p:sp>
        <p:nvSpPr>
          <p:cNvPr id="8" name="">
            <a:extLst xmlns:a="http://schemas.openxmlformats.org/drawingml/2006/main">
              <a:ext uri="{FF2B5EF4-FFF2-40B4-BE49-F238E27FC236}">
                <a16:creationId xmlns:a16="http://schemas.microsoft.com/office/drawing/2014/main" id="{5EF6FCF2-D24C-446A-8090-1095C28E5EB8}"/>
              </a:ext>
            </a:extLst>
          </p:cNvPr>
          <p:cNvSpPr>
            <a:spLocks xmlns:a="http://schemas.openxmlformats.org/drawingml/2006/main" noGrp="1"/>
          </p:cNvSpPr>
          <p:nvPr/>
        </p:nvSpPr>
        <p:spPr>
          <a:xfrm xmlns:a="http://schemas.openxmlformats.org/drawingml/2006/main">
            <a:off x="4667250" y="2714625"/>
            <a:ext cx="1066800" cy="1066800"/>
          </a:xfrm>
          <a:prstGeom xmlns:a="http://schemas.openxmlformats.org/drawingml/2006/main" prst="ellipse">
            <a:avLst/>
          </a:prstGeom>
          <a:solidFill xmlns:a="http://schemas.openxmlformats.org/drawingml/2006/main">
            <a:srgbClr val="261A31"/>
          </a:solidFill>
          <a:ln xmlns:a="http://schemas.openxmlformats.org/drawingml/2006/main" w="0">
            <a:solidFill>
              <a:srgbClr val="261A31"/>
            </a:solidFill>
          </a:ln>
        </p:spPr>
      </p:sp>
      <p:sp>
        <p:nvSpPr>
          <p:cNvPr id="9" name="">
            <a:extLst xmlns:a="http://schemas.openxmlformats.org/drawingml/2006/main">
              <a:ext uri="{FF2B5EF4-FFF2-40B4-BE49-F238E27FC236}">
                <a16:creationId xmlns:a16="http://schemas.microsoft.com/office/drawing/2014/main" id="{484CCBE7-C578-4E03-8BF1-1F72BB72619A}"/>
              </a:ext>
            </a:extLst>
          </p:cNvPr>
          <p:cNvSpPr>
            <a:spLocks xmlns:a="http://schemas.openxmlformats.org/drawingml/2006/main" noGrp="1"/>
          </p:cNvSpPr>
          <p:nvPr/>
        </p:nvSpPr>
        <p:spPr>
          <a:xfrm xmlns:a="http://schemas.openxmlformats.org/drawingml/2006/main">
            <a:off x="5029200" y="29241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ctr">
              <a:defRPr sz="1500" b="1" i="0">
                <a:solidFill>
                  <a:srgbClr val="FFFDFC"/>
                </a:solidFill>
                <a:latin typeface="Helvetica"/>
                <a:ea typeface="Helvetica"/>
                <a:cs typeface="Helvetica"/>
              </a:defRPr>
            </a:defPPr>
          </a:lstStyle>
          <a:p xmlns:a="http://schemas.openxmlformats.org/drawingml/2006/main">
            <a:pPr algn="ctr">
              <a:defRPr sz="1500" b="1" i="0">
                <a:solidFill>
                  <a:srgbClr val="FFFDFC"/>
                </a:solidFill>
                <a:latin typeface="Helvetica"/>
                <a:ea typeface="Helvetica"/>
                <a:cs typeface="Helvetica"/>
              </a:defRPr>
            </a:pPr>
            <a:r>
              <a:rPr sz="1500" b="1" i="0">
                <a:solidFill>
                  <a:srgbClr val="FFFDFC"/>
                </a:solidFill>
                <a:latin typeface="Helvetica"/>
                <a:ea typeface="Helvetica"/>
                <a:cs typeface="Helvetica"/>
              </a:rPr>
              <a:t>2</a:t>
            </a:r>
          </a:p>
        </p:txBody>
      </p:sp>
      <p:sp>
        <p:nvSpPr>
          <p:cNvPr id="10" name="">
            <a:extLst xmlns:a="http://schemas.openxmlformats.org/drawingml/2006/main">
              <a:ext uri="{FF2B5EF4-FFF2-40B4-BE49-F238E27FC236}">
                <a16:creationId xmlns:a16="http://schemas.microsoft.com/office/drawing/2014/main" id="{FC1011A6-D742-4952-84A2-1298FCA38362}"/>
              </a:ext>
            </a:extLst>
          </p:cNvPr>
          <p:cNvSpPr>
            <a:spLocks xmlns:a="http://schemas.openxmlformats.org/drawingml/2006/main" noGrp="1"/>
          </p:cNvSpPr>
          <p:nvPr/>
        </p:nvSpPr>
        <p:spPr>
          <a:xfrm xmlns:a="http://schemas.openxmlformats.org/drawingml/2006/main">
            <a:off x="4333875" y="4048125"/>
            <a:ext cx="17335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ctr">
              <a:defRPr sz="900" b="1" i="0">
                <a:solidFill>
                  <a:srgbClr val="5A2E78"/>
                </a:solidFill>
                <a:latin typeface="Helvetica"/>
                <a:ea typeface="Helvetica"/>
                <a:cs typeface="Helvetica"/>
              </a:defRPr>
            </a:defPPr>
          </a:lstStyle>
          <a:p xmlns:a="http://schemas.openxmlformats.org/drawingml/2006/main">
            <a:pPr algn="ctr">
              <a:defRPr sz="900" b="1" i="0">
                <a:solidFill>
                  <a:srgbClr val="5A2E78"/>
                </a:solidFill>
                <a:latin typeface="Helvetica"/>
                <a:ea typeface="Helvetica"/>
                <a:cs typeface="Helvetica"/>
              </a:defRPr>
            </a:pPr>
            <a:r>
              <a:rPr sz="900" b="1" i="0">
                <a:solidFill>
                  <a:srgbClr val="5A2E78"/>
                </a:solidFill>
                <a:latin typeface="Helvetica"/>
                <a:ea typeface="Helvetica"/>
                <a:cs typeface="Helvetica"/>
              </a:rPr>
              <a:t>RETAIL</a:t>
            </a:r>
          </a:p>
        </p:txBody>
      </p:sp>
      <p:sp>
        <p:nvSpPr>
          <p:cNvPr id="11" name="">
            <a:extLst xmlns:a="http://schemas.openxmlformats.org/drawingml/2006/main">
              <a:ext uri="{FF2B5EF4-FFF2-40B4-BE49-F238E27FC236}">
                <a16:creationId xmlns:a16="http://schemas.microsoft.com/office/drawing/2014/main" id="{C5A7FCFD-1DE8-48A3-87D7-EBD05184576F}"/>
              </a:ext>
            </a:extLst>
          </p:cNvPr>
          <p:cNvSpPr>
            <a:spLocks xmlns:a="http://schemas.openxmlformats.org/drawingml/2006/main" noGrp="1"/>
          </p:cNvSpPr>
          <p:nvPr/>
        </p:nvSpPr>
        <p:spPr>
          <a:xfrm xmlns:a="http://schemas.openxmlformats.org/drawingml/2006/main">
            <a:off x="7810500" y="2714625"/>
            <a:ext cx="1066800" cy="1066800"/>
          </a:xfrm>
          <a:prstGeom xmlns:a="http://schemas.openxmlformats.org/drawingml/2006/main" prst="ellipse">
            <a:avLst/>
          </a:prstGeom>
          <a:solidFill xmlns:a="http://schemas.openxmlformats.org/drawingml/2006/main">
            <a:srgbClr val="FF654F"/>
          </a:solidFill>
          <a:ln xmlns:a="http://schemas.openxmlformats.org/drawingml/2006/main" w="0">
            <a:solidFill>
              <a:srgbClr val="FF654F"/>
            </a:solidFill>
          </a:ln>
        </p:spPr>
      </p:sp>
      <p:sp>
        <p:nvSpPr>
          <p:cNvPr id="12" name="">
            <a:extLst xmlns:a="http://schemas.openxmlformats.org/drawingml/2006/main">
              <a:ext uri="{FF2B5EF4-FFF2-40B4-BE49-F238E27FC236}">
                <a16:creationId xmlns:a16="http://schemas.microsoft.com/office/drawing/2014/main" id="{983C0424-0E4A-4265-BBDB-8592672CE6DE}"/>
              </a:ext>
            </a:extLst>
          </p:cNvPr>
          <p:cNvSpPr>
            <a:spLocks xmlns:a="http://schemas.openxmlformats.org/drawingml/2006/main" noGrp="1"/>
          </p:cNvSpPr>
          <p:nvPr/>
        </p:nvSpPr>
        <p:spPr>
          <a:xfrm xmlns:a="http://schemas.openxmlformats.org/drawingml/2006/main">
            <a:off x="8172450" y="29241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ctr">
              <a:defRPr sz="1500" b="1" i="0">
                <a:solidFill>
                  <a:srgbClr val="FFFDFC"/>
                </a:solidFill>
                <a:latin typeface="Helvetica"/>
                <a:ea typeface="Helvetica"/>
                <a:cs typeface="Helvetica"/>
              </a:defRPr>
            </a:defPPr>
          </a:lstStyle>
          <a:p xmlns:a="http://schemas.openxmlformats.org/drawingml/2006/main">
            <a:pPr algn="ctr">
              <a:defRPr sz="1500" b="1" i="0">
                <a:solidFill>
                  <a:srgbClr val="FFFDFC"/>
                </a:solidFill>
                <a:latin typeface="Helvetica"/>
                <a:ea typeface="Helvetica"/>
                <a:cs typeface="Helvetica"/>
              </a:defRPr>
            </a:pPr>
            <a:r>
              <a:rPr sz="1500" b="1" i="0">
                <a:solidFill>
                  <a:srgbClr val="FFFDFC"/>
                </a:solidFill>
                <a:latin typeface="Helvetica"/>
                <a:ea typeface="Helvetica"/>
                <a:cs typeface="Helvetica"/>
              </a:rPr>
              <a:t>3</a:t>
            </a:r>
          </a:p>
        </p:txBody>
      </p:sp>
      <p:sp>
        <p:nvSpPr>
          <p:cNvPr id="13" name="">
            <a:extLst xmlns:a="http://schemas.openxmlformats.org/drawingml/2006/main">
              <a:ext uri="{FF2B5EF4-FFF2-40B4-BE49-F238E27FC236}">
                <a16:creationId xmlns:a16="http://schemas.microsoft.com/office/drawing/2014/main" id="{622A6F82-595B-4EE7-9D36-EFD73F740813}"/>
              </a:ext>
            </a:extLst>
          </p:cNvPr>
          <p:cNvSpPr>
            <a:spLocks xmlns:a="http://schemas.openxmlformats.org/drawingml/2006/main" noGrp="1"/>
          </p:cNvSpPr>
          <p:nvPr/>
        </p:nvSpPr>
        <p:spPr>
          <a:xfrm xmlns:a="http://schemas.openxmlformats.org/drawingml/2006/main">
            <a:off x="7477125" y="4048125"/>
            <a:ext cx="17335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ctr">
              <a:defRPr sz="900" b="1" i="0">
                <a:solidFill>
                  <a:srgbClr val="5A2E78"/>
                </a:solidFill>
                <a:latin typeface="Helvetica"/>
                <a:ea typeface="Helvetica"/>
                <a:cs typeface="Helvetica"/>
              </a:defRPr>
            </a:defPPr>
          </a:lstStyle>
          <a:p xmlns:a="http://schemas.openxmlformats.org/drawingml/2006/main">
            <a:pPr algn="ctr">
              <a:defRPr sz="900" b="1" i="0">
                <a:solidFill>
                  <a:srgbClr val="5A2E78"/>
                </a:solidFill>
                <a:latin typeface="Helvetica"/>
                <a:ea typeface="Helvetica"/>
                <a:cs typeface="Helvetica"/>
              </a:defRPr>
            </a:pPr>
            <a:r>
              <a:rPr sz="900" b="1" i="0">
                <a:solidFill>
                  <a:srgbClr val="5A2E78"/>
                </a:solidFill>
                <a:latin typeface="Helvetica"/>
                <a:ea typeface="Helvetica"/>
                <a:cs typeface="Helvetica"/>
              </a:rPr>
              <a:t>CRM</a:t>
            </a:r>
          </a:p>
        </p:txBody>
      </p:sp>
      <p:sp>
        <p:nvSpPr>
          <p:cNvPr id="14" name="">
            <a:extLst xmlns:a="http://schemas.openxmlformats.org/drawingml/2006/main">
              <a:ext uri="{FF2B5EF4-FFF2-40B4-BE49-F238E27FC236}">
                <a16:creationId xmlns:a16="http://schemas.microsoft.com/office/drawing/2014/main" id="{FC21F290-388C-40FE-AD21-A07F62AA8C97}"/>
              </a:ext>
            </a:extLst>
          </p:cNvPr>
          <p:cNvSpPr>
            <a:spLocks xmlns:a="http://schemas.openxmlformats.org/drawingml/2006/main" noGrp="1"/>
          </p:cNvSpPr>
          <p:nvPr/>
        </p:nvSpPr>
        <p:spPr>
          <a:xfrm xmlns:a="http://schemas.openxmlformats.org/drawingml/2006/main">
            <a:off x="2476500" y="1809750"/>
            <a:ext cx="723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ctr">
              <a:defRPr sz="1500" b="1" i="0">
                <a:solidFill>
                  <a:srgbClr val="15121B"/>
                </a:solidFill>
                <a:latin typeface="Helvetica"/>
                <a:ea typeface="Helvetica"/>
                <a:cs typeface="Helvetica"/>
              </a:defRPr>
            </a:defPPr>
          </a:lstStyle>
          <a:p xmlns:a="http://schemas.openxmlformats.org/drawingml/2006/main">
            <a:pPr algn="ctr">
              <a:defRPr sz="1500" b="1" i="0">
                <a:solidFill>
                  <a:srgbClr val="15121B"/>
                </a:solidFill>
                <a:latin typeface="Helvetica"/>
                <a:ea typeface="Helvetica"/>
                <a:cs typeface="Helvetica"/>
              </a:defRPr>
            </a:pPr>
            <a:r>
              <a:rPr sz="1500" b="1" i="0">
                <a:solidFill>
                  <a:srgbClr val="15121B"/>
                </a:solidFill>
                <a:latin typeface="Helvetica"/>
                <a:ea typeface="Helvetica"/>
                <a:cs typeface="Helvetica"/>
              </a:rPr>
              <a:t>Approved activation principles constrain delivery: positioning must be validated against founder input before finalisation; segmentation must use existing first-party data without new</a:t>
            </a:r>
          </a:p>
        </p:txBody>
      </p:sp>
      <p:sp>
        <p:nvSpPr>
          <p:cNvPr id="15" name="">
            <a:extLst xmlns:a="http://schemas.openxmlformats.org/drawingml/2006/main">
              <a:ext uri="{FF2B5EF4-FFF2-40B4-BE49-F238E27FC236}">
                <a16:creationId xmlns:a16="http://schemas.microsoft.com/office/drawing/2014/main" id="{5A92777C-594F-4B91-934C-99AD3574F6BB}"/>
              </a:ext>
            </a:extLst>
          </p:cNvPr>
          <p:cNvSpPr>
            <a:spLocks xmlns:a="http://schemas.openxmlformats.org/drawingml/2006/main" noGrp="1"/>
          </p:cNvSpPr>
          <p:nvPr/>
        </p:nvSpPr>
        <p:spPr>
          <a:xfrm xmlns:a="http://schemas.openxmlformats.org/drawingml/2006/main">
            <a:off x="647700" y="5572125"/>
            <a:ext cx="209550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675" b="1" i="0">
                <a:solidFill>
                  <a:srgbClr val="FF654F"/>
                </a:solidFill>
                <a:latin typeface="Helvetica"/>
                <a:ea typeface="Helvetica"/>
                <a:cs typeface="Helvetica"/>
              </a:defRPr>
            </a:defPPr>
          </a:lstStyle>
          <a:p xmlns:a="http://schemas.openxmlformats.org/drawingml/2006/main">
            <a:pPr algn="l">
              <a:defRPr sz="675" b="1" i="0">
                <a:solidFill>
                  <a:srgbClr val="FF654F"/>
                </a:solidFill>
                <a:latin typeface="Helvetica"/>
                <a:ea typeface="Helvetica"/>
                <a:cs typeface="Helvetica"/>
              </a:defRPr>
            </a:pPr>
            <a:r>
              <a:rPr sz="675" b="1" i="0">
                <a:solidFill>
                  <a:srgbClr val="FF654F"/>
                </a:solidFill>
                <a:latin typeface="Helvetica"/>
                <a:ea typeface="Helvetica"/>
                <a:cs typeface="Helvetica"/>
              </a:rPr>
              <a:t>COMMERCIAL CONSEQUENCE</a:t>
            </a:r>
          </a:p>
        </p:txBody>
      </p:sp>
      <p:sp>
        <p:nvSpPr>
          <p:cNvPr id="16" name="">
            <a:extLst xmlns:a="http://schemas.openxmlformats.org/drawingml/2006/main">
              <a:ext uri="{FF2B5EF4-FFF2-40B4-BE49-F238E27FC236}">
                <a16:creationId xmlns:a16="http://schemas.microsoft.com/office/drawing/2014/main" id="{435EB0D1-9896-4870-8BC7-3DD59C89FDBE}"/>
              </a:ext>
            </a:extLst>
          </p:cNvPr>
          <p:cNvSpPr>
            <a:spLocks xmlns:a="http://schemas.openxmlformats.org/drawingml/2006/main" noGrp="1"/>
          </p:cNvSpPr>
          <p:nvPr/>
        </p:nvSpPr>
        <p:spPr>
          <a:xfrm xmlns:a="http://schemas.openxmlformats.org/drawingml/2006/main">
            <a:off x="2619375" y="5505450"/>
            <a:ext cx="8382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200" b="1" i="0">
                <a:solidFill>
                  <a:srgbClr val="15121B"/>
                </a:solidFill>
                <a:latin typeface="Helvetica"/>
                <a:ea typeface="Helvetica"/>
                <a:cs typeface="Helvetica"/>
              </a:defRPr>
            </a:defPPr>
          </a:lstStyle>
          <a:p xmlns:a="http://schemas.openxmlformats.org/drawingml/2006/main">
            <a:pPr algn="l">
              <a:defRPr sz="1200" b="1" i="0">
                <a:solidFill>
                  <a:srgbClr val="15121B"/>
                </a:solidFill>
                <a:latin typeface="Helvetica"/>
                <a:ea typeface="Helvetica"/>
                <a:cs typeface="Helvetica"/>
              </a:defRPr>
            </a:pPr>
            <a:r>
              <a:rPr sz="1200" b="1" i="0">
                <a:solidFill>
                  <a:srgbClr val="15121B"/>
                </a:solidFill>
                <a:latin typeface="Helvetica"/>
                <a:ea typeface="Helvetica"/>
                <a:cs typeface="Helvetica"/>
              </a:rPr>
              <a:t>Attention should make the specific proposition easier to notice and remember.</a:t>
            </a:r>
          </a:p>
        </p:txBody>
      </p:sp>
      <p:sp>
        <p:nvSpPr>
          <p:cNvPr id="17" name="">
            <a:extLst xmlns:a="http://schemas.openxmlformats.org/drawingml/2006/main">
              <a:ext uri="{FF2B5EF4-FFF2-40B4-BE49-F238E27FC236}">
                <a16:creationId xmlns:a16="http://schemas.microsoft.com/office/drawing/2014/main" id="{69AD3598-2ED4-437D-8138-D127F895AA34}"/>
              </a:ext>
            </a:extLst>
          </p:cNvPr>
          <p:cNvSpPr>
            <a:spLocks xmlns:a="http://schemas.openxmlformats.org/drawingml/2006/main" noGrp="1"/>
          </p:cNvSpPr>
          <p:nvPr/>
        </p:nvSpPr>
        <p:spPr>
          <a:xfrm xmlns:a="http://schemas.openxmlformats.org/drawingml/2006/main">
            <a:off x="647700" y="6134100"/>
            <a:ext cx="4953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825" b="1" i="0">
                <a:solidFill>
                  <a:srgbClr val="756D7A"/>
                </a:solidFill>
                <a:latin typeface="Helvetica"/>
                <a:ea typeface="Helvetica"/>
                <a:cs typeface="Helvetica"/>
              </a:defRPr>
            </a:defPPr>
          </a:lstStyle>
          <a:p xmlns:a="http://schemas.openxmlformats.org/drawingml/2006/main">
            <a:pPr algn="l">
              <a:defRPr sz="825" b="1" i="0">
                <a:solidFill>
                  <a:srgbClr val="756D7A"/>
                </a:solidFill>
                <a:latin typeface="Helvetica"/>
                <a:ea typeface="Helvetica"/>
                <a:cs typeface="Helvetica"/>
              </a:defRPr>
            </a:pPr>
            <a:r>
              <a:rPr sz="825" b="1" i="0">
                <a:solidFill>
                  <a:srgbClr val="756D7A"/>
                </a:solidFill>
                <a:latin typeface="Helvetica"/>
                <a:ea typeface="Helvetica"/>
                <a:cs typeface="Helvetica"/>
              </a:rPr>
              <a:t>SOURCES: T1</a:t>
            </a:r>
          </a:p>
        </p:txBody>
      </p:sp>
      <p:sp>
        <p:nvSpPr>
          <p:cNvPr id="18" name="">
            <a:extLst xmlns:a="http://schemas.openxmlformats.org/drawingml/2006/main">
              <a:ext uri="{FF2B5EF4-FFF2-40B4-BE49-F238E27FC236}">
                <a16:creationId xmlns:a16="http://schemas.microsoft.com/office/drawing/2014/main" id="{F102DDA1-32D7-4D96-9007-3833D18F6C16}"/>
              </a:ext>
            </a:extLst>
          </p:cNvPr>
          <p:cNvSpPr>
            <a:spLocks xmlns:a="http://schemas.openxmlformats.org/drawingml/2006/main" noGrp="1"/>
          </p:cNvSpPr>
          <p:nvPr/>
        </p:nvSpPr>
        <p:spPr>
          <a:xfrm xmlns:a="http://schemas.openxmlformats.org/drawingml/2006/main">
            <a:off x="5715000" y="6134100"/>
            <a:ext cx="48768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r">
              <a:defRPr sz="825" b="1" i="0">
                <a:solidFill>
                  <a:srgbClr val="5A2E78"/>
                </a:solidFill>
                <a:latin typeface="Helvetica"/>
                <a:ea typeface="Helvetica"/>
                <a:cs typeface="Helvetica"/>
              </a:defRPr>
            </a:defPPr>
          </a:lstStyle>
          <a:p xmlns:a="http://schemas.openxmlformats.org/drawingml/2006/main">
            <a:pPr algn="r">
              <a:defRPr sz="825" b="1" i="0">
                <a:solidFill>
                  <a:srgbClr val="5A2E78"/>
                </a:solidFill>
                <a:latin typeface="Helvetica"/>
                <a:ea typeface="Helvetica"/>
                <a:cs typeface="Helvetica"/>
              </a:defRPr>
            </a:pPr>
            <a:r>
              <a:rPr sz="825" b="1" i="0">
                <a:solidFill>
                  <a:srgbClr val="5A2E78"/>
                </a:solidFill>
                <a:latin typeface="Helvetica"/>
                <a:ea typeface="Helvetica"/>
                <a:cs typeface="Helvetica"/>
              </a:rPr>
              <a:t>APPROVED STRATEGY</a:t>
            </a:r>
          </a:p>
        </p:txBody>
      </p:sp>
      <p:sp>
        <p:nvSpPr>
          <p:cNvPr id="19" name="">
            <a:extLst xmlns:a="http://schemas.openxmlformats.org/drawingml/2006/main">
              <a:ext uri="{FF2B5EF4-FFF2-40B4-BE49-F238E27FC236}">
                <a16:creationId xmlns:a16="http://schemas.microsoft.com/office/drawing/2014/main" id="{DBB1A9B2-4C3B-4B4E-B3C8-6AA6A8EF2771}"/>
              </a:ext>
            </a:extLst>
          </p:cNvPr>
          <p:cNvSpPr>
            <a:spLocks xmlns:a="http://schemas.openxmlformats.org/drawingml/2006/main" noGrp="1"/>
          </p:cNvSpPr>
          <p:nvPr/>
        </p:nvSpPr>
        <p:spPr>
          <a:xfrm xmlns:a="http://schemas.openxmlformats.org/drawingml/2006/main">
            <a:off x="647700" y="6515100"/>
            <a:ext cx="17145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675" b="1" i="0">
                <a:solidFill>
                  <a:srgbClr val="756D7A"/>
                </a:solidFill>
                <a:latin typeface="Helvetica"/>
                <a:ea typeface="Helvetica"/>
                <a:cs typeface="Helvetica"/>
              </a:defRPr>
            </a:defPPr>
          </a:lstStyle>
          <a:p xmlns:a="http://schemas.openxmlformats.org/drawingml/2006/main">
            <a:pPr algn="l">
              <a:defRPr sz="675" b="1" i="0">
                <a:solidFill>
                  <a:srgbClr val="756D7A"/>
                </a:solidFill>
                <a:latin typeface="Helvetica"/>
                <a:ea typeface="Helvetica"/>
                <a:cs typeface="Helvetica"/>
              </a:defRPr>
            </a:pPr>
            <a:r>
              <a:rPr sz="675" b="1" i="0">
                <a:solidFill>
                  <a:srgbClr val="756D7A"/>
                </a:solidFill>
                <a:latin typeface="Helvetica"/>
                <a:ea typeface="Helvetica"/>
                <a:cs typeface="Helvetica"/>
              </a:rPr>
              <a:t>NARRATIIVE</a:t>
            </a:r>
          </a:p>
        </p:txBody>
      </p:sp>
      <p:sp>
        <p:nvSpPr>
          <p:cNvPr id="20" name="">
            <a:extLst xmlns:a="http://schemas.openxmlformats.org/drawingml/2006/main">
              <a:ext uri="{FF2B5EF4-FFF2-40B4-BE49-F238E27FC236}">
                <a16:creationId xmlns:a16="http://schemas.microsoft.com/office/drawing/2014/main" id="{A29791FF-2E11-4259-9886-A3303ED7C49C}"/>
              </a:ext>
            </a:extLst>
          </p:cNvPr>
          <p:cNvSpPr>
            <a:spLocks xmlns:a="http://schemas.openxmlformats.org/drawingml/2006/main" noGrp="1"/>
          </p:cNvSpPr>
          <p:nvPr/>
        </p:nvSpPr>
        <p:spPr>
          <a:xfrm xmlns:a="http://schemas.openxmlformats.org/drawingml/2006/main">
            <a:off x="10668000" y="6515100"/>
            <a:ext cx="8763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r">
              <a:defRPr sz="675" b="0" i="0">
                <a:solidFill>
                  <a:srgbClr val="756D7A"/>
                </a:solidFill>
                <a:latin typeface="Helvetica"/>
                <a:ea typeface="Helvetica"/>
                <a:cs typeface="Helvetica"/>
              </a:defRPr>
            </a:defPPr>
          </a:lstStyle>
          <a:p xmlns:a="http://schemas.openxmlformats.org/drawingml/2006/main">
            <a:pPr algn="r">
              <a:defRPr sz="675" b="0" i="0">
                <a:solidFill>
                  <a:srgbClr val="756D7A"/>
                </a:solidFill>
                <a:latin typeface="Helvetica"/>
                <a:ea typeface="Helvetica"/>
                <a:cs typeface="Helvetica"/>
              </a:defRPr>
            </a:pPr>
            <a:r>
              <a:rPr sz="675" b="0" i="0">
                <a:solidFill>
                  <a:srgbClr val="756D7A"/>
                </a:solidFill>
                <a:latin typeface="Helvetica"/>
                <a:ea typeface="Helvetica"/>
                <a:cs typeface="Helvetica"/>
              </a:rPr>
              <a:t>24 / 30</a:t>
            </a:r>
          </a:p>
        </p:txBody>
      </p:sp>
    </p:spTree>
    <p:extLst>
      <p:ext uri="{BB962C8B-B14F-4D97-AF65-F5344CB8AC3E}">
        <p14:creationId xmlns:p14="http://schemas.microsoft.com/office/powerpoint/2010/main" val="2120328778"/>
      </p:ext>
    </p:extLst>
  </p:cSld>
</p:sld>
</file>

<file path=ppt/slides/slide25.xml><?xml version="1.0" encoding="utf-8"?>
<p:sld xmlns:p="http://schemas.openxmlformats.org/presentationml/2006/main">
  <p:cSld>
    <p:bg>
      <p:bgPr>
        <a:solidFill xmlns:a="http://schemas.openxmlformats.org/drawingml/2006/main">
          <a:srgbClr val="F6F0E8"/>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3C7417FE-029C-4D77-9C71-BF4D5F20F10E}"/>
              </a:ext>
            </a:extLst>
          </p:cNvPr>
          <p:cNvSpPr>
            <a:spLocks xmlns:a="http://schemas.openxmlformats.org/drawingml/2006/main" noGrp="1"/>
          </p:cNvSpPr>
          <p:nvPr/>
        </p:nvSpPr>
        <p:spPr>
          <a:xfrm xmlns:a="http://schemas.openxmlformats.org/drawingml/2006/main">
            <a:off x="647700" y="333375"/>
            <a:ext cx="57150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675" b="1" i="0">
                <a:solidFill>
                  <a:srgbClr val="FF654F"/>
                </a:solidFill>
                <a:latin typeface="Helvetica"/>
                <a:ea typeface="Helvetica"/>
                <a:cs typeface="Helvetica"/>
              </a:defRPr>
            </a:defPPr>
          </a:lstStyle>
          <a:p xmlns:a="http://schemas.openxmlformats.org/drawingml/2006/main">
            <a:pPr algn="l">
              <a:defRPr sz="675" b="1" i="0">
                <a:solidFill>
                  <a:srgbClr val="FF654F"/>
                </a:solidFill>
                <a:latin typeface="Helvetica"/>
                <a:ea typeface="Helvetica"/>
                <a:cs typeface="Helvetica"/>
              </a:defRPr>
            </a:pPr>
            <a:r>
              <a:rPr sz="675" b="1" i="0">
                <a:solidFill>
                  <a:srgbClr val="FF654F"/>
                </a:solidFill>
                <a:latin typeface="Helvetica"/>
                <a:ea typeface="Helvetica"/>
                <a:cs typeface="Helvetica"/>
              </a:rPr>
              <a:t>ACT 5 / THE GROWTH SYSTEM</a:t>
            </a:r>
          </a:p>
        </p:txBody>
      </p:sp>
      <p:sp>
        <p:nvSpPr>
          <p:cNvPr id="2" name="">
            <a:extLst xmlns:a="http://schemas.openxmlformats.org/drawingml/2006/main">
              <a:ext uri="{FF2B5EF4-FFF2-40B4-BE49-F238E27FC236}">
                <a16:creationId xmlns:a16="http://schemas.microsoft.com/office/drawing/2014/main" id="{89A0B427-DBC9-400E-B76A-114ACB32ECCF}"/>
              </a:ext>
            </a:extLst>
          </p:cNvPr>
          <p:cNvSpPr>
            <a:spLocks xmlns:a="http://schemas.openxmlformats.org/drawingml/2006/main" noGrp="1"/>
          </p:cNvSpPr>
          <p:nvPr/>
        </p:nvSpPr>
        <p:spPr>
          <a:xfrm xmlns:a="http://schemas.openxmlformats.org/drawingml/2006/main">
            <a:off x="647700" y="685800"/>
            <a:ext cx="1047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2325" b="1" i="0">
                <a:solidFill>
                  <a:srgbClr val="15121B"/>
                </a:solidFill>
                <a:latin typeface="Helvetica"/>
                <a:ea typeface="Helvetica"/>
                <a:cs typeface="Helvetica"/>
              </a:defRPr>
            </a:defPPr>
          </a:lstStyle>
          <a:p xmlns:a="http://schemas.openxmlformats.org/drawingml/2006/main">
            <a:pPr algn="l">
              <a:defRPr sz="2325" b="1" i="0">
                <a:solidFill>
                  <a:srgbClr val="15121B"/>
                </a:solidFill>
                <a:latin typeface="Helvetica"/>
                <a:ea typeface="Helvetica"/>
                <a:cs typeface="Helvetica"/>
              </a:defRPr>
            </a:pPr>
            <a:r>
              <a:rPr sz="2325" b="1" i="0">
                <a:solidFill>
                  <a:srgbClr val="15121B"/>
                </a:solidFill>
                <a:latin typeface="Helvetica"/>
                <a:ea typeface="Helvetica"/>
                <a:cs typeface="Helvetica"/>
              </a:rPr>
              <a:t>Channel Roles</a:t>
            </a:r>
          </a:p>
        </p:txBody>
      </p:sp>
      <p:sp>
        <p:nvSpPr>
          <p:cNvPr id="3" name="">
            <a:extLst xmlns:a="http://schemas.openxmlformats.org/drawingml/2006/main">
              <a:ext uri="{FF2B5EF4-FFF2-40B4-BE49-F238E27FC236}">
                <a16:creationId xmlns:a16="http://schemas.microsoft.com/office/drawing/2014/main" id="{0675FAE8-2FE7-4D61-A0F9-50C88F3F40B7}"/>
              </a:ext>
            </a:extLst>
          </p:cNvPr>
          <p:cNvSpPr>
            <a:spLocks xmlns:a="http://schemas.openxmlformats.org/drawingml/2006/main" noGrp="1"/>
          </p:cNvSpPr>
          <p:nvPr/>
        </p:nvSpPr>
        <p:spPr>
          <a:xfrm xmlns:a="http://schemas.openxmlformats.org/drawingml/2006/main">
            <a:off x="647700" y="1400175"/>
            <a:ext cx="10896600" cy="19050"/>
          </a:xfrm>
          <a:prstGeom xmlns:a="http://schemas.openxmlformats.org/drawingml/2006/main" prst="rect">
            <a:avLst/>
          </a:prstGeom>
          <a:solidFill xmlns:a="http://schemas.openxmlformats.org/drawingml/2006/main">
            <a:srgbClr val="D9CFD5"/>
          </a:solidFill>
          <a:ln xmlns:a="http://schemas.openxmlformats.org/drawingml/2006/main" w="0">
            <a:solidFill>
              <a:srgbClr val="D9CFD5"/>
            </a:solidFill>
          </a:ln>
        </p:spPr>
      </p:sp>
      <p:sp>
        <p:nvSpPr>
          <p:cNvPr id="4" name="">
            <a:extLst xmlns:a="http://schemas.openxmlformats.org/drawingml/2006/main">
              <a:ext uri="{FF2B5EF4-FFF2-40B4-BE49-F238E27FC236}">
                <a16:creationId xmlns:a16="http://schemas.microsoft.com/office/drawing/2014/main" id="{121D80B5-8C8E-4FC3-986D-241FE695D835}"/>
              </a:ext>
            </a:extLst>
          </p:cNvPr>
          <p:cNvSpPr>
            <a:spLocks xmlns:a="http://schemas.openxmlformats.org/drawingml/2006/main" noGrp="1"/>
          </p:cNvSpPr>
          <p:nvPr/>
        </p:nvSpPr>
        <p:spPr>
          <a:xfrm xmlns:a="http://schemas.openxmlformats.org/drawingml/2006/main">
            <a:off x="819150" y="1714500"/>
            <a:ext cx="2000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750" b="1" i="0">
                <a:solidFill>
                  <a:srgbClr val="756D7A"/>
                </a:solidFill>
                <a:latin typeface="Helvetica"/>
                <a:ea typeface="Helvetica"/>
                <a:cs typeface="Helvetica"/>
              </a:defRPr>
            </a:defPPr>
          </a:lstStyle>
          <a:p xmlns:a="http://schemas.openxmlformats.org/drawingml/2006/main">
            <a:pPr algn="l">
              <a:defRPr sz="750" b="1" i="0">
                <a:solidFill>
                  <a:srgbClr val="756D7A"/>
                </a:solidFill>
                <a:latin typeface="Helvetica"/>
                <a:ea typeface="Helvetica"/>
                <a:cs typeface="Helvetica"/>
              </a:defRPr>
            </a:pPr>
            <a:r>
              <a:rPr sz="750" b="1" i="0">
                <a:solidFill>
                  <a:srgbClr val="756D7A"/>
                </a:solidFill>
                <a:latin typeface="Helvetica"/>
                <a:ea typeface="Helvetica"/>
                <a:cs typeface="Helvetica"/>
              </a:rPr>
              <a:t>DTC QUIZ</a:t>
            </a:r>
          </a:p>
        </p:txBody>
      </p:sp>
      <p:sp>
        <p:nvSpPr>
          <p:cNvPr id="5" name="">
            <a:extLst xmlns:a="http://schemas.openxmlformats.org/drawingml/2006/main">
              <a:ext uri="{FF2B5EF4-FFF2-40B4-BE49-F238E27FC236}">
                <a16:creationId xmlns:a16="http://schemas.microsoft.com/office/drawing/2014/main" id="{4D2BD5D1-D3D9-417A-8000-795E1D7EAB4A}"/>
              </a:ext>
            </a:extLst>
          </p:cNvPr>
          <p:cNvSpPr>
            <a:spLocks xmlns:a="http://schemas.openxmlformats.org/drawingml/2006/main" noGrp="1"/>
          </p:cNvSpPr>
          <p:nvPr/>
        </p:nvSpPr>
        <p:spPr>
          <a:xfrm xmlns:a="http://schemas.openxmlformats.org/drawingml/2006/main">
            <a:off x="3105150" y="1676400"/>
            <a:ext cx="485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425" b="1" i="0">
                <a:solidFill>
                  <a:srgbClr val="15121B"/>
                </a:solidFill>
                <a:latin typeface="Helvetica"/>
                <a:ea typeface="Helvetica"/>
                <a:cs typeface="Helvetica"/>
              </a:defRPr>
            </a:defPPr>
          </a:lstStyle>
          <a:p xmlns:a="http://schemas.openxmlformats.org/drawingml/2006/main">
            <a:pPr algn="l">
              <a:defRPr sz="1425" b="1" i="0">
                <a:solidFill>
                  <a:srgbClr val="15121B"/>
                </a:solidFill>
                <a:latin typeface="Helvetica"/>
                <a:ea typeface="Helvetica"/>
                <a:cs typeface="Helvetica"/>
              </a:defRPr>
            </a:pPr>
            <a:r>
              <a:rPr sz="1425" b="1" i="0">
                <a:solidFill>
                  <a:srgbClr val="15121B"/>
                </a:solidFill>
                <a:latin typeface="Helvetica"/>
                <a:ea typeface="Helvetica"/>
                <a:cs typeface="Helvetica"/>
              </a:rPr>
              <a:t>Discovery and education</a:t>
            </a:r>
          </a:p>
        </p:txBody>
      </p:sp>
      <p:sp>
        <p:nvSpPr>
          <p:cNvPr id="6" name="">
            <a:extLst xmlns:a="http://schemas.openxmlformats.org/drawingml/2006/main">
              <a:ext uri="{FF2B5EF4-FFF2-40B4-BE49-F238E27FC236}">
                <a16:creationId xmlns:a16="http://schemas.microsoft.com/office/drawing/2014/main" id="{FFC3A471-B674-402B-9C53-391AE7BD0B4D}"/>
              </a:ext>
            </a:extLst>
          </p:cNvPr>
          <p:cNvSpPr>
            <a:spLocks xmlns:a="http://schemas.openxmlformats.org/drawingml/2006/main" noGrp="1"/>
          </p:cNvSpPr>
          <p:nvPr/>
        </p:nvSpPr>
        <p:spPr>
          <a:xfrm xmlns:a="http://schemas.openxmlformats.org/drawingml/2006/main">
            <a:off x="8953500" y="1714500"/>
            <a:ext cx="2095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r">
              <a:defRPr sz="825" b="1" i="0">
                <a:solidFill>
                  <a:srgbClr val="5A2E78"/>
                </a:solidFill>
                <a:latin typeface="Helvetica"/>
                <a:ea typeface="Helvetica"/>
                <a:cs typeface="Helvetica"/>
              </a:defRPr>
            </a:defPPr>
          </a:lstStyle>
          <a:p xmlns:a="http://schemas.openxmlformats.org/drawingml/2006/main">
            <a:pPr algn="r">
              <a:defRPr sz="825" b="1" i="0">
                <a:solidFill>
                  <a:srgbClr val="5A2E78"/>
                </a:solidFill>
                <a:latin typeface="Helvetica"/>
                <a:ea typeface="Helvetica"/>
                <a:cs typeface="Helvetica"/>
              </a:defRPr>
            </a:pPr>
            <a:r>
              <a:rPr sz="825" b="1" i="0">
                <a:solidFill>
                  <a:srgbClr val="5A2E78"/>
                </a:solidFill>
                <a:latin typeface="Helvetica"/>
                <a:ea typeface="Helvetica"/>
                <a:cs typeface="Helvetica"/>
              </a:rPr>
              <a:t>Personalised</a:t>
            </a:r>
          </a:p>
        </p:txBody>
      </p:sp>
      <p:sp>
        <p:nvSpPr>
          <p:cNvPr id="7" name="">
            <a:extLst xmlns:a="http://schemas.openxmlformats.org/drawingml/2006/main">
              <a:ext uri="{FF2B5EF4-FFF2-40B4-BE49-F238E27FC236}">
                <a16:creationId xmlns:a16="http://schemas.microsoft.com/office/drawing/2014/main" id="{741294B2-B951-4385-86D0-C3371100F07C}"/>
              </a:ext>
            </a:extLst>
          </p:cNvPr>
          <p:cNvSpPr>
            <a:spLocks xmlns:a="http://schemas.openxmlformats.org/drawingml/2006/main" noGrp="1"/>
          </p:cNvSpPr>
          <p:nvPr/>
        </p:nvSpPr>
        <p:spPr>
          <a:xfrm xmlns:a="http://schemas.openxmlformats.org/drawingml/2006/main">
            <a:off x="647700" y="2114550"/>
            <a:ext cx="10896600" cy="19050"/>
          </a:xfrm>
          <a:prstGeom xmlns:a="http://schemas.openxmlformats.org/drawingml/2006/main" prst="rect">
            <a:avLst/>
          </a:prstGeom>
          <a:solidFill xmlns:a="http://schemas.openxmlformats.org/drawingml/2006/main">
            <a:srgbClr val="D9CFD5"/>
          </a:solidFill>
          <a:ln xmlns:a="http://schemas.openxmlformats.org/drawingml/2006/main" w="0">
            <a:solidFill>
              <a:srgbClr val="D9CFD5"/>
            </a:solidFill>
          </a:ln>
        </p:spPr>
      </p:sp>
      <p:sp>
        <p:nvSpPr>
          <p:cNvPr id="8" name="">
            <a:extLst xmlns:a="http://schemas.openxmlformats.org/drawingml/2006/main">
              <a:ext uri="{FF2B5EF4-FFF2-40B4-BE49-F238E27FC236}">
                <a16:creationId xmlns:a16="http://schemas.microsoft.com/office/drawing/2014/main" id="{BF4962BC-AF93-49BC-A867-9F3894EE9F93}"/>
              </a:ext>
            </a:extLst>
          </p:cNvPr>
          <p:cNvSpPr>
            <a:spLocks xmlns:a="http://schemas.openxmlformats.org/drawingml/2006/main" noGrp="1"/>
          </p:cNvSpPr>
          <p:nvPr/>
        </p:nvSpPr>
        <p:spPr>
          <a:xfrm xmlns:a="http://schemas.openxmlformats.org/drawingml/2006/main">
            <a:off x="819150" y="2362200"/>
            <a:ext cx="2000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750" b="1" i="0">
                <a:solidFill>
                  <a:srgbClr val="756D7A"/>
                </a:solidFill>
                <a:latin typeface="Helvetica"/>
                <a:ea typeface="Helvetica"/>
                <a:cs typeface="Helvetica"/>
              </a:defRPr>
            </a:defPPr>
          </a:lstStyle>
          <a:p xmlns:a="http://schemas.openxmlformats.org/drawingml/2006/main">
            <a:pPr algn="l">
              <a:defRPr sz="750" b="1" i="0">
                <a:solidFill>
                  <a:srgbClr val="756D7A"/>
                </a:solidFill>
                <a:latin typeface="Helvetica"/>
                <a:ea typeface="Helvetica"/>
                <a:cs typeface="Helvetica"/>
              </a:defRPr>
            </a:pPr>
            <a:r>
              <a:rPr sz="750" b="1" i="0">
                <a:solidFill>
                  <a:srgbClr val="756D7A"/>
                </a:solidFill>
                <a:latin typeface="Helvetica"/>
                <a:ea typeface="Helvetica"/>
                <a:cs typeface="Helvetica"/>
              </a:rPr>
              <a:t>CRM</a:t>
            </a:r>
          </a:p>
        </p:txBody>
      </p:sp>
      <p:sp>
        <p:nvSpPr>
          <p:cNvPr id="9" name="">
            <a:extLst xmlns:a="http://schemas.openxmlformats.org/drawingml/2006/main">
              <a:ext uri="{FF2B5EF4-FFF2-40B4-BE49-F238E27FC236}">
                <a16:creationId xmlns:a16="http://schemas.microsoft.com/office/drawing/2014/main" id="{50EC93D7-90A4-4B95-9200-BF870D382A1C}"/>
              </a:ext>
            </a:extLst>
          </p:cNvPr>
          <p:cNvSpPr>
            <a:spLocks xmlns:a="http://schemas.openxmlformats.org/drawingml/2006/main" noGrp="1"/>
          </p:cNvSpPr>
          <p:nvPr/>
        </p:nvSpPr>
        <p:spPr>
          <a:xfrm xmlns:a="http://schemas.openxmlformats.org/drawingml/2006/main">
            <a:off x="3105150" y="2324100"/>
            <a:ext cx="485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425" b="1" i="0">
                <a:solidFill>
                  <a:srgbClr val="15121B"/>
                </a:solidFill>
                <a:latin typeface="Helvetica"/>
                <a:ea typeface="Helvetica"/>
                <a:cs typeface="Helvetica"/>
              </a:defRPr>
            </a:defPPr>
          </a:lstStyle>
          <a:p xmlns:a="http://schemas.openxmlformats.org/drawingml/2006/main">
            <a:pPr algn="l">
              <a:defRPr sz="1425" b="1" i="0">
                <a:solidFill>
                  <a:srgbClr val="15121B"/>
                </a:solidFill>
                <a:latin typeface="Helvetica"/>
                <a:ea typeface="Helvetica"/>
                <a:cs typeface="Helvetica"/>
              </a:defRPr>
            </a:pPr>
            <a:r>
              <a:rPr sz="1425" b="1" i="0">
                <a:solidFill>
                  <a:srgbClr val="15121B"/>
                </a:solidFill>
                <a:latin typeface="Helvetica"/>
                <a:ea typeface="Helvetica"/>
                <a:cs typeface="Helvetica"/>
              </a:rPr>
              <a:t>Trust and retention</a:t>
            </a:r>
          </a:p>
        </p:txBody>
      </p:sp>
      <p:sp>
        <p:nvSpPr>
          <p:cNvPr id="10" name="">
            <a:extLst xmlns:a="http://schemas.openxmlformats.org/drawingml/2006/main">
              <a:ext uri="{FF2B5EF4-FFF2-40B4-BE49-F238E27FC236}">
                <a16:creationId xmlns:a16="http://schemas.microsoft.com/office/drawing/2014/main" id="{F4AFEAAD-A9A3-44D0-91BD-51E6701DECC2}"/>
              </a:ext>
            </a:extLst>
          </p:cNvPr>
          <p:cNvSpPr>
            <a:spLocks xmlns:a="http://schemas.openxmlformats.org/drawingml/2006/main" noGrp="1"/>
          </p:cNvSpPr>
          <p:nvPr/>
        </p:nvSpPr>
        <p:spPr>
          <a:xfrm xmlns:a="http://schemas.openxmlformats.org/drawingml/2006/main">
            <a:off x="8953500" y="2362200"/>
            <a:ext cx="2095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r">
              <a:defRPr sz="825" b="1" i="0">
                <a:solidFill>
                  <a:srgbClr val="5A2E78"/>
                </a:solidFill>
                <a:latin typeface="Helvetica"/>
                <a:ea typeface="Helvetica"/>
                <a:cs typeface="Helvetica"/>
              </a:defRPr>
            </a:defPPr>
          </a:lstStyle>
          <a:p xmlns:a="http://schemas.openxmlformats.org/drawingml/2006/main">
            <a:pPr algn="r">
              <a:defRPr sz="825" b="1" i="0">
                <a:solidFill>
                  <a:srgbClr val="5A2E78"/>
                </a:solidFill>
                <a:latin typeface="Helvetica"/>
                <a:ea typeface="Helvetica"/>
                <a:cs typeface="Helvetica"/>
              </a:defRPr>
            </a:pPr>
            <a:r>
              <a:rPr sz="825" b="1" i="0">
                <a:solidFill>
                  <a:srgbClr val="5A2E78"/>
                </a:solidFill>
                <a:latin typeface="Helvetica"/>
                <a:ea typeface="Helvetica"/>
                <a:cs typeface="Helvetica"/>
              </a:rPr>
              <a:t>First party</a:t>
            </a:r>
          </a:p>
        </p:txBody>
      </p:sp>
      <p:sp>
        <p:nvSpPr>
          <p:cNvPr id="11" name="">
            <a:extLst xmlns:a="http://schemas.openxmlformats.org/drawingml/2006/main">
              <a:ext uri="{FF2B5EF4-FFF2-40B4-BE49-F238E27FC236}">
                <a16:creationId xmlns:a16="http://schemas.microsoft.com/office/drawing/2014/main" id="{0CFEEA65-5C2F-4A46-9838-5C2ABEA307C8}"/>
              </a:ext>
            </a:extLst>
          </p:cNvPr>
          <p:cNvSpPr>
            <a:spLocks xmlns:a="http://schemas.openxmlformats.org/drawingml/2006/main" noGrp="1"/>
          </p:cNvSpPr>
          <p:nvPr/>
        </p:nvSpPr>
        <p:spPr>
          <a:xfrm xmlns:a="http://schemas.openxmlformats.org/drawingml/2006/main">
            <a:off x="647700" y="2762250"/>
            <a:ext cx="10896600" cy="19050"/>
          </a:xfrm>
          <a:prstGeom xmlns:a="http://schemas.openxmlformats.org/drawingml/2006/main" prst="rect">
            <a:avLst/>
          </a:prstGeom>
          <a:solidFill xmlns:a="http://schemas.openxmlformats.org/drawingml/2006/main">
            <a:srgbClr val="D9CFD5"/>
          </a:solidFill>
          <a:ln xmlns:a="http://schemas.openxmlformats.org/drawingml/2006/main" w="0">
            <a:solidFill>
              <a:srgbClr val="D9CFD5"/>
            </a:solidFill>
          </a:ln>
        </p:spPr>
      </p:sp>
      <p:sp>
        <p:nvSpPr>
          <p:cNvPr id="12" name="">
            <a:extLst xmlns:a="http://schemas.openxmlformats.org/drawingml/2006/main">
              <a:ext uri="{FF2B5EF4-FFF2-40B4-BE49-F238E27FC236}">
                <a16:creationId xmlns:a16="http://schemas.microsoft.com/office/drawing/2014/main" id="{E237CB0A-92EC-4EFE-AC6C-254DDF177544}"/>
              </a:ext>
            </a:extLst>
          </p:cNvPr>
          <p:cNvSpPr>
            <a:spLocks xmlns:a="http://schemas.openxmlformats.org/drawingml/2006/main" noGrp="1"/>
          </p:cNvSpPr>
          <p:nvPr/>
        </p:nvSpPr>
        <p:spPr>
          <a:xfrm xmlns:a="http://schemas.openxmlformats.org/drawingml/2006/main">
            <a:off x="647700" y="2933700"/>
            <a:ext cx="10896600" cy="552450"/>
          </a:xfrm>
          <a:prstGeom xmlns:a="http://schemas.openxmlformats.org/drawingml/2006/main" prst="roundRect">
            <a:avLst>
              <a:gd name="adj" fmla="val 13793"/>
            </a:avLst>
          </a:prstGeom>
          <a:solidFill xmlns:a="http://schemas.openxmlformats.org/drawingml/2006/main">
            <a:srgbClr val="F8D8D2"/>
          </a:solidFill>
          <a:ln xmlns:a="http://schemas.openxmlformats.org/drawingml/2006/main" w="0">
            <a:solidFill>
              <a:srgbClr val="F8D8D2"/>
            </a:solidFill>
          </a:ln>
        </p:spPr>
      </p:sp>
      <p:sp>
        <p:nvSpPr>
          <p:cNvPr id="13" name="">
            <a:extLst xmlns:a="http://schemas.openxmlformats.org/drawingml/2006/main">
              <a:ext uri="{FF2B5EF4-FFF2-40B4-BE49-F238E27FC236}">
                <a16:creationId xmlns:a16="http://schemas.microsoft.com/office/drawing/2014/main" id="{B6F02959-060C-448A-8C30-84CABE323841}"/>
              </a:ext>
            </a:extLst>
          </p:cNvPr>
          <p:cNvSpPr>
            <a:spLocks xmlns:a="http://schemas.openxmlformats.org/drawingml/2006/main" noGrp="1"/>
          </p:cNvSpPr>
          <p:nvPr/>
        </p:nvSpPr>
        <p:spPr>
          <a:xfrm xmlns:a="http://schemas.openxmlformats.org/drawingml/2006/main">
            <a:off x="819150" y="3009900"/>
            <a:ext cx="2000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750" b="1" i="0">
                <a:solidFill>
                  <a:srgbClr val="FF654F"/>
                </a:solidFill>
                <a:latin typeface="Helvetica"/>
                <a:ea typeface="Helvetica"/>
                <a:cs typeface="Helvetica"/>
              </a:defRPr>
            </a:defPPr>
          </a:lstStyle>
          <a:p xmlns:a="http://schemas.openxmlformats.org/drawingml/2006/main">
            <a:pPr algn="l">
              <a:defRPr sz="750" b="1" i="0">
                <a:solidFill>
                  <a:srgbClr val="FF654F"/>
                </a:solidFill>
                <a:latin typeface="Helvetica"/>
                <a:ea typeface="Helvetica"/>
                <a:cs typeface="Helvetica"/>
              </a:defRPr>
            </a:pPr>
            <a:r>
              <a:rPr sz="750" b="1" i="0">
                <a:solidFill>
                  <a:srgbClr val="FF654F"/>
                </a:solidFill>
                <a:latin typeface="Helvetica"/>
                <a:ea typeface="Helvetica"/>
                <a:cs typeface="Helvetica"/>
              </a:rPr>
              <a:t>RETAIL</a:t>
            </a:r>
          </a:p>
        </p:txBody>
      </p:sp>
      <p:sp>
        <p:nvSpPr>
          <p:cNvPr id="14" name="">
            <a:extLst xmlns:a="http://schemas.openxmlformats.org/drawingml/2006/main">
              <a:ext uri="{FF2B5EF4-FFF2-40B4-BE49-F238E27FC236}">
                <a16:creationId xmlns:a16="http://schemas.microsoft.com/office/drawing/2014/main" id="{C7F966C1-2EE9-4D4A-9FC0-0CB3C5899402}"/>
              </a:ext>
            </a:extLst>
          </p:cNvPr>
          <p:cNvSpPr>
            <a:spLocks xmlns:a="http://schemas.openxmlformats.org/drawingml/2006/main" noGrp="1"/>
          </p:cNvSpPr>
          <p:nvPr/>
        </p:nvSpPr>
        <p:spPr>
          <a:xfrm xmlns:a="http://schemas.openxmlformats.org/drawingml/2006/main">
            <a:off x="3105150" y="2971800"/>
            <a:ext cx="485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425" b="1" i="0">
                <a:solidFill>
                  <a:srgbClr val="15121B"/>
                </a:solidFill>
                <a:latin typeface="Helvetica"/>
                <a:ea typeface="Helvetica"/>
                <a:cs typeface="Helvetica"/>
              </a:defRPr>
            </a:defPPr>
          </a:lstStyle>
          <a:p xmlns:a="http://schemas.openxmlformats.org/drawingml/2006/main">
            <a:pPr algn="l">
              <a:defRPr sz="1425" b="1" i="0">
                <a:solidFill>
                  <a:srgbClr val="15121B"/>
                </a:solidFill>
                <a:latin typeface="Helvetica"/>
                <a:ea typeface="Helvetica"/>
                <a:cs typeface="Helvetica"/>
              </a:defRPr>
            </a:pPr>
            <a:r>
              <a:rPr sz="1425" b="1" i="0">
                <a:solidFill>
                  <a:srgbClr val="15121B"/>
                </a:solidFill>
                <a:latin typeface="Helvetica"/>
                <a:ea typeface="Helvetica"/>
                <a:cs typeface="Helvetica"/>
              </a:rPr>
              <a:t>Conversion</a:t>
            </a:r>
          </a:p>
        </p:txBody>
      </p:sp>
      <p:sp>
        <p:nvSpPr>
          <p:cNvPr id="15" name="">
            <a:extLst xmlns:a="http://schemas.openxmlformats.org/drawingml/2006/main">
              <a:ext uri="{FF2B5EF4-FFF2-40B4-BE49-F238E27FC236}">
                <a16:creationId xmlns:a16="http://schemas.microsoft.com/office/drawing/2014/main" id="{5EB64B45-2683-4094-86B7-C45447845BA8}"/>
              </a:ext>
            </a:extLst>
          </p:cNvPr>
          <p:cNvSpPr>
            <a:spLocks xmlns:a="http://schemas.openxmlformats.org/drawingml/2006/main" noGrp="1"/>
          </p:cNvSpPr>
          <p:nvPr/>
        </p:nvSpPr>
        <p:spPr>
          <a:xfrm xmlns:a="http://schemas.openxmlformats.org/drawingml/2006/main">
            <a:off x="8953500" y="3009900"/>
            <a:ext cx="2095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r">
              <a:defRPr sz="825" b="1" i="0">
                <a:solidFill>
                  <a:srgbClr val="5A2E78"/>
                </a:solidFill>
                <a:latin typeface="Helvetica"/>
                <a:ea typeface="Helvetica"/>
                <a:cs typeface="Helvetica"/>
              </a:defRPr>
            </a:defPPr>
          </a:lstStyle>
          <a:p xmlns:a="http://schemas.openxmlformats.org/drawingml/2006/main">
            <a:pPr algn="r">
              <a:defRPr sz="825" b="1" i="0">
                <a:solidFill>
                  <a:srgbClr val="5A2E78"/>
                </a:solidFill>
                <a:latin typeface="Helvetica"/>
                <a:ea typeface="Helvetica"/>
                <a:cs typeface="Helvetica"/>
              </a:defRPr>
            </a:pPr>
            <a:r>
              <a:rPr sz="825" b="1" i="0">
                <a:solidFill>
                  <a:srgbClr val="5A2E78"/>
                </a:solidFill>
                <a:latin typeface="Helvetica"/>
                <a:ea typeface="Helvetica"/>
                <a:cs typeface="Helvetica"/>
              </a:rPr>
              <a:t>Unaided</a:t>
            </a:r>
          </a:p>
        </p:txBody>
      </p:sp>
      <p:sp>
        <p:nvSpPr>
          <p:cNvPr id="16" name="">
            <a:extLst xmlns:a="http://schemas.openxmlformats.org/drawingml/2006/main">
              <a:ext uri="{FF2B5EF4-FFF2-40B4-BE49-F238E27FC236}">
                <a16:creationId xmlns:a16="http://schemas.microsoft.com/office/drawing/2014/main" id="{FEC3F17F-69B0-4F15-A724-F4C1909875B2}"/>
              </a:ext>
            </a:extLst>
          </p:cNvPr>
          <p:cNvSpPr>
            <a:spLocks xmlns:a="http://schemas.openxmlformats.org/drawingml/2006/main" noGrp="1"/>
          </p:cNvSpPr>
          <p:nvPr/>
        </p:nvSpPr>
        <p:spPr>
          <a:xfrm xmlns:a="http://schemas.openxmlformats.org/drawingml/2006/main">
            <a:off x="647700" y="3409950"/>
            <a:ext cx="10896600" cy="19050"/>
          </a:xfrm>
          <a:prstGeom xmlns:a="http://schemas.openxmlformats.org/drawingml/2006/main" prst="rect">
            <a:avLst/>
          </a:prstGeom>
          <a:solidFill xmlns:a="http://schemas.openxmlformats.org/drawingml/2006/main">
            <a:srgbClr val="D9CFD5"/>
          </a:solidFill>
          <a:ln xmlns:a="http://schemas.openxmlformats.org/drawingml/2006/main" w="0">
            <a:solidFill>
              <a:srgbClr val="D9CFD5"/>
            </a:solidFill>
          </a:ln>
        </p:spPr>
      </p:sp>
      <p:sp>
        <p:nvSpPr>
          <p:cNvPr id="17" name="">
            <a:extLst xmlns:a="http://schemas.openxmlformats.org/drawingml/2006/main">
              <a:ext uri="{FF2B5EF4-FFF2-40B4-BE49-F238E27FC236}">
                <a16:creationId xmlns:a16="http://schemas.microsoft.com/office/drawing/2014/main" id="{5B1E4721-65CF-40E8-BE93-9C2A2F984E54}"/>
              </a:ext>
            </a:extLst>
          </p:cNvPr>
          <p:cNvSpPr>
            <a:spLocks xmlns:a="http://schemas.openxmlformats.org/drawingml/2006/main" noGrp="1"/>
          </p:cNvSpPr>
          <p:nvPr/>
        </p:nvSpPr>
        <p:spPr>
          <a:xfrm xmlns:a="http://schemas.openxmlformats.org/drawingml/2006/main">
            <a:off x="819150" y="3657600"/>
            <a:ext cx="2000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750" b="1" i="0">
                <a:solidFill>
                  <a:srgbClr val="756D7A"/>
                </a:solidFill>
                <a:latin typeface="Helvetica"/>
                <a:ea typeface="Helvetica"/>
                <a:cs typeface="Helvetica"/>
              </a:defRPr>
            </a:defPPr>
          </a:lstStyle>
          <a:p xmlns:a="http://schemas.openxmlformats.org/drawingml/2006/main">
            <a:pPr algn="l">
              <a:defRPr sz="750" b="1" i="0">
                <a:solidFill>
                  <a:srgbClr val="756D7A"/>
                </a:solidFill>
                <a:latin typeface="Helvetica"/>
                <a:ea typeface="Helvetica"/>
                <a:cs typeface="Helvetica"/>
              </a:defRPr>
            </a:pPr>
            <a:r>
              <a:rPr sz="750" b="1" i="0">
                <a:solidFill>
                  <a:srgbClr val="756D7A"/>
                </a:solidFill>
                <a:latin typeface="Helvetica"/>
                <a:ea typeface="Helvetica"/>
                <a:cs typeface="Helvetica"/>
              </a:rPr>
              <a:t>EARNED / SEARCH</a:t>
            </a:r>
          </a:p>
        </p:txBody>
      </p:sp>
      <p:sp>
        <p:nvSpPr>
          <p:cNvPr id="18" name="">
            <a:extLst xmlns:a="http://schemas.openxmlformats.org/drawingml/2006/main">
              <a:ext uri="{FF2B5EF4-FFF2-40B4-BE49-F238E27FC236}">
                <a16:creationId xmlns:a16="http://schemas.microsoft.com/office/drawing/2014/main" id="{23FA3E72-B535-4A84-9546-D58812EEB527}"/>
              </a:ext>
            </a:extLst>
          </p:cNvPr>
          <p:cNvSpPr>
            <a:spLocks xmlns:a="http://schemas.openxmlformats.org/drawingml/2006/main" noGrp="1"/>
          </p:cNvSpPr>
          <p:nvPr/>
        </p:nvSpPr>
        <p:spPr>
          <a:xfrm xmlns:a="http://schemas.openxmlformats.org/drawingml/2006/main">
            <a:off x="3105150" y="3619500"/>
            <a:ext cx="485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425" b="1" i="0">
                <a:solidFill>
                  <a:srgbClr val="15121B"/>
                </a:solidFill>
                <a:latin typeface="Helvetica"/>
                <a:ea typeface="Helvetica"/>
                <a:cs typeface="Helvetica"/>
              </a:defRPr>
            </a:defPPr>
          </a:lstStyle>
          <a:p xmlns:a="http://schemas.openxmlformats.org/drawingml/2006/main">
            <a:pPr algn="l">
              <a:defRPr sz="1425" b="1" i="0">
                <a:solidFill>
                  <a:srgbClr val="15121B"/>
                </a:solidFill>
                <a:latin typeface="Helvetica"/>
                <a:ea typeface="Helvetica"/>
                <a:cs typeface="Helvetica"/>
              </a:defRPr>
            </a:pPr>
            <a:r>
              <a:rPr sz="1425" b="1" i="0">
                <a:solidFill>
                  <a:srgbClr val="15121B"/>
                </a:solidFill>
                <a:latin typeface="Helvetica"/>
                <a:ea typeface="Helvetica"/>
                <a:cs typeface="Helvetica"/>
              </a:rPr>
              <a:t>Scale discovery</a:t>
            </a:r>
          </a:p>
        </p:txBody>
      </p:sp>
      <p:sp>
        <p:nvSpPr>
          <p:cNvPr id="19" name="">
            <a:extLst xmlns:a="http://schemas.openxmlformats.org/drawingml/2006/main">
              <a:ext uri="{FF2B5EF4-FFF2-40B4-BE49-F238E27FC236}">
                <a16:creationId xmlns:a16="http://schemas.microsoft.com/office/drawing/2014/main" id="{26196C8D-ECBA-497C-AED7-D326B51E94E0}"/>
              </a:ext>
            </a:extLst>
          </p:cNvPr>
          <p:cNvSpPr>
            <a:spLocks xmlns:a="http://schemas.openxmlformats.org/drawingml/2006/main" noGrp="1"/>
          </p:cNvSpPr>
          <p:nvPr/>
        </p:nvSpPr>
        <p:spPr>
          <a:xfrm xmlns:a="http://schemas.openxmlformats.org/drawingml/2006/main">
            <a:off x="8953500" y="3657600"/>
            <a:ext cx="2095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r">
              <a:defRPr sz="825" b="1" i="0">
                <a:solidFill>
                  <a:srgbClr val="5A2E78"/>
                </a:solidFill>
                <a:latin typeface="Helvetica"/>
                <a:ea typeface="Helvetica"/>
                <a:cs typeface="Helvetica"/>
              </a:defRPr>
            </a:defPPr>
          </a:lstStyle>
          <a:p xmlns:a="http://schemas.openxmlformats.org/drawingml/2006/main">
            <a:pPr algn="r">
              <a:defRPr sz="825" b="1" i="0">
                <a:solidFill>
                  <a:srgbClr val="5A2E78"/>
                </a:solidFill>
                <a:latin typeface="Helvetica"/>
                <a:ea typeface="Helvetica"/>
                <a:cs typeface="Helvetica"/>
              </a:defRPr>
            </a:pPr>
            <a:r>
              <a:rPr sz="825" b="1" i="0">
                <a:solidFill>
                  <a:srgbClr val="5A2E78"/>
                </a:solidFill>
                <a:latin typeface="Helvetica"/>
                <a:ea typeface="Helvetica"/>
                <a:cs typeface="Helvetica"/>
              </a:rPr>
              <a:t>Citable</a:t>
            </a:r>
          </a:p>
        </p:txBody>
      </p:sp>
      <p:sp>
        <p:nvSpPr>
          <p:cNvPr id="20" name="">
            <a:extLst xmlns:a="http://schemas.openxmlformats.org/drawingml/2006/main">
              <a:ext uri="{FF2B5EF4-FFF2-40B4-BE49-F238E27FC236}">
                <a16:creationId xmlns:a16="http://schemas.microsoft.com/office/drawing/2014/main" id="{8D6EAD20-4A66-4522-8004-A5D3DB518DA0}"/>
              </a:ext>
            </a:extLst>
          </p:cNvPr>
          <p:cNvSpPr>
            <a:spLocks xmlns:a="http://schemas.openxmlformats.org/drawingml/2006/main" noGrp="1"/>
          </p:cNvSpPr>
          <p:nvPr/>
        </p:nvSpPr>
        <p:spPr>
          <a:xfrm xmlns:a="http://schemas.openxmlformats.org/drawingml/2006/main">
            <a:off x="647700" y="4057650"/>
            <a:ext cx="10896600" cy="19050"/>
          </a:xfrm>
          <a:prstGeom xmlns:a="http://schemas.openxmlformats.org/drawingml/2006/main" prst="rect">
            <a:avLst/>
          </a:prstGeom>
          <a:solidFill xmlns:a="http://schemas.openxmlformats.org/drawingml/2006/main">
            <a:srgbClr val="D9CFD5"/>
          </a:solidFill>
          <a:ln xmlns:a="http://schemas.openxmlformats.org/drawingml/2006/main" w="0">
            <a:solidFill>
              <a:srgbClr val="D9CFD5"/>
            </a:solidFill>
          </a:ln>
        </p:spPr>
      </p:sp>
      <p:sp>
        <p:nvSpPr>
          <p:cNvPr id="21" name="">
            <a:extLst xmlns:a="http://schemas.openxmlformats.org/drawingml/2006/main">
              <a:ext uri="{FF2B5EF4-FFF2-40B4-BE49-F238E27FC236}">
                <a16:creationId xmlns:a16="http://schemas.microsoft.com/office/drawing/2014/main" id="{A53B98BE-36D7-4FE7-A44B-0E71C6CC7093}"/>
              </a:ext>
            </a:extLst>
          </p:cNvPr>
          <p:cNvSpPr>
            <a:spLocks xmlns:a="http://schemas.openxmlformats.org/drawingml/2006/main" noGrp="1"/>
          </p:cNvSpPr>
          <p:nvPr/>
        </p:nvSpPr>
        <p:spPr>
          <a:xfrm xmlns:a="http://schemas.openxmlformats.org/drawingml/2006/main">
            <a:off x="819150" y="4305300"/>
            <a:ext cx="2000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750" b="1" i="0">
                <a:solidFill>
                  <a:srgbClr val="756D7A"/>
                </a:solidFill>
                <a:latin typeface="Helvetica"/>
                <a:ea typeface="Helvetica"/>
                <a:cs typeface="Helvetica"/>
              </a:defRPr>
            </a:defPPr>
          </a:lstStyle>
          <a:p xmlns:a="http://schemas.openxmlformats.org/drawingml/2006/main">
            <a:pPr algn="l">
              <a:defRPr sz="750" b="1" i="0">
                <a:solidFill>
                  <a:srgbClr val="756D7A"/>
                </a:solidFill>
                <a:latin typeface="Helvetica"/>
                <a:ea typeface="Helvetica"/>
                <a:cs typeface="Helvetica"/>
              </a:defRPr>
            </a:pPr>
            <a:r>
              <a:rPr sz="750" b="1" i="0">
                <a:solidFill>
                  <a:srgbClr val="756D7A"/>
                </a:solidFill>
                <a:latin typeface="Helvetica"/>
                <a:ea typeface="Helvetica"/>
                <a:cs typeface="Helvetica"/>
              </a:rPr>
              <a:t>PAID SOCIAL</a:t>
            </a:r>
          </a:p>
        </p:txBody>
      </p:sp>
      <p:sp>
        <p:nvSpPr>
          <p:cNvPr id="22" name="">
            <a:extLst xmlns:a="http://schemas.openxmlformats.org/drawingml/2006/main">
              <a:ext uri="{FF2B5EF4-FFF2-40B4-BE49-F238E27FC236}">
                <a16:creationId xmlns:a16="http://schemas.microsoft.com/office/drawing/2014/main" id="{20A5C6EC-4997-4E62-BC6F-9CB0A3A4B501}"/>
              </a:ext>
            </a:extLst>
          </p:cNvPr>
          <p:cNvSpPr>
            <a:spLocks xmlns:a="http://schemas.openxmlformats.org/drawingml/2006/main" noGrp="1"/>
          </p:cNvSpPr>
          <p:nvPr/>
        </p:nvSpPr>
        <p:spPr>
          <a:xfrm xmlns:a="http://schemas.openxmlformats.org/drawingml/2006/main">
            <a:off x="3105150" y="4267200"/>
            <a:ext cx="485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425" b="1" i="0">
                <a:solidFill>
                  <a:srgbClr val="15121B"/>
                </a:solidFill>
                <a:latin typeface="Helvetica"/>
                <a:ea typeface="Helvetica"/>
                <a:cs typeface="Helvetica"/>
              </a:defRPr>
            </a:defPPr>
          </a:lstStyle>
          <a:p xmlns:a="http://schemas.openxmlformats.org/drawingml/2006/main">
            <a:pPr algn="l">
              <a:defRPr sz="1425" b="1" i="0">
                <a:solidFill>
                  <a:srgbClr val="15121B"/>
                </a:solidFill>
                <a:latin typeface="Helvetica"/>
                <a:ea typeface="Helvetica"/>
                <a:cs typeface="Helvetica"/>
              </a:defRPr>
            </a:pPr>
            <a:r>
              <a:rPr sz="1425" b="1" i="0">
                <a:solidFill>
                  <a:srgbClr val="15121B"/>
                </a:solidFill>
                <a:latin typeface="Helvetica"/>
                <a:ea typeface="Helvetica"/>
                <a:cs typeface="Helvetica"/>
              </a:rPr>
              <a:t>Volume</a:t>
            </a:r>
          </a:p>
        </p:txBody>
      </p:sp>
      <p:sp>
        <p:nvSpPr>
          <p:cNvPr id="23" name="">
            <a:extLst xmlns:a="http://schemas.openxmlformats.org/drawingml/2006/main">
              <a:ext uri="{FF2B5EF4-FFF2-40B4-BE49-F238E27FC236}">
                <a16:creationId xmlns:a16="http://schemas.microsoft.com/office/drawing/2014/main" id="{E21C03A9-4C0E-45F9-9C0E-2F90BE618047}"/>
              </a:ext>
            </a:extLst>
          </p:cNvPr>
          <p:cNvSpPr>
            <a:spLocks xmlns:a="http://schemas.openxmlformats.org/drawingml/2006/main" noGrp="1"/>
          </p:cNvSpPr>
          <p:nvPr/>
        </p:nvSpPr>
        <p:spPr>
          <a:xfrm xmlns:a="http://schemas.openxmlformats.org/drawingml/2006/main">
            <a:off x="8953500" y="4305300"/>
            <a:ext cx="2095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r">
              <a:defRPr sz="825" b="1" i="0">
                <a:solidFill>
                  <a:srgbClr val="5A2E78"/>
                </a:solidFill>
                <a:latin typeface="Helvetica"/>
                <a:ea typeface="Helvetica"/>
                <a:cs typeface="Helvetica"/>
              </a:defRPr>
            </a:defPPr>
          </a:lstStyle>
          <a:p xmlns:a="http://schemas.openxmlformats.org/drawingml/2006/main">
            <a:pPr algn="r">
              <a:defRPr sz="825" b="1" i="0">
                <a:solidFill>
                  <a:srgbClr val="5A2E78"/>
                </a:solidFill>
                <a:latin typeface="Helvetica"/>
                <a:ea typeface="Helvetica"/>
                <a:cs typeface="Helvetica"/>
              </a:defRPr>
            </a:pPr>
            <a:r>
              <a:rPr sz="825" b="1" i="0">
                <a:solidFill>
                  <a:srgbClr val="5A2E78"/>
                </a:solidFill>
                <a:latin typeface="Helvetica"/>
                <a:ea typeface="Helvetica"/>
                <a:cs typeface="Helvetica"/>
              </a:rPr>
              <a:t>Rebalanced</a:t>
            </a:r>
          </a:p>
        </p:txBody>
      </p:sp>
      <p:sp>
        <p:nvSpPr>
          <p:cNvPr id="24" name="">
            <a:extLst xmlns:a="http://schemas.openxmlformats.org/drawingml/2006/main">
              <a:ext uri="{FF2B5EF4-FFF2-40B4-BE49-F238E27FC236}">
                <a16:creationId xmlns:a16="http://schemas.microsoft.com/office/drawing/2014/main" id="{E8F67DC2-5EBB-4D38-B141-D716D2141EB8}"/>
              </a:ext>
            </a:extLst>
          </p:cNvPr>
          <p:cNvSpPr>
            <a:spLocks xmlns:a="http://schemas.openxmlformats.org/drawingml/2006/main" noGrp="1"/>
          </p:cNvSpPr>
          <p:nvPr/>
        </p:nvSpPr>
        <p:spPr>
          <a:xfrm xmlns:a="http://schemas.openxmlformats.org/drawingml/2006/main">
            <a:off x="647700" y="5572125"/>
            <a:ext cx="209550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675" b="1" i="0">
                <a:solidFill>
                  <a:srgbClr val="FF654F"/>
                </a:solidFill>
                <a:latin typeface="Helvetica"/>
                <a:ea typeface="Helvetica"/>
                <a:cs typeface="Helvetica"/>
              </a:defRPr>
            </a:defPPr>
          </a:lstStyle>
          <a:p xmlns:a="http://schemas.openxmlformats.org/drawingml/2006/main">
            <a:pPr algn="l">
              <a:defRPr sz="675" b="1" i="0">
                <a:solidFill>
                  <a:srgbClr val="FF654F"/>
                </a:solidFill>
                <a:latin typeface="Helvetica"/>
                <a:ea typeface="Helvetica"/>
                <a:cs typeface="Helvetica"/>
              </a:defRPr>
            </a:pPr>
            <a:r>
              <a:rPr sz="675" b="1" i="0">
                <a:solidFill>
                  <a:srgbClr val="FF654F"/>
                </a:solidFill>
                <a:latin typeface="Helvetica"/>
                <a:ea typeface="Helvetica"/>
                <a:cs typeface="Helvetica"/>
              </a:rPr>
              <a:t>COMMERCIAL CONSEQUENCE</a:t>
            </a:r>
          </a:p>
        </p:txBody>
      </p:sp>
      <p:sp>
        <p:nvSpPr>
          <p:cNvPr id="25" name="">
            <a:extLst xmlns:a="http://schemas.openxmlformats.org/drawingml/2006/main">
              <a:ext uri="{FF2B5EF4-FFF2-40B4-BE49-F238E27FC236}">
                <a16:creationId xmlns:a16="http://schemas.microsoft.com/office/drawing/2014/main" id="{8B88C389-040F-4C32-ADBA-C95183D44C47}"/>
              </a:ext>
            </a:extLst>
          </p:cNvPr>
          <p:cNvSpPr>
            <a:spLocks xmlns:a="http://schemas.openxmlformats.org/drawingml/2006/main" noGrp="1"/>
          </p:cNvSpPr>
          <p:nvPr/>
        </p:nvSpPr>
        <p:spPr>
          <a:xfrm xmlns:a="http://schemas.openxmlformats.org/drawingml/2006/main">
            <a:off x="2619375" y="5505450"/>
            <a:ext cx="8382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200" b="1" i="0">
                <a:solidFill>
                  <a:srgbClr val="15121B"/>
                </a:solidFill>
                <a:latin typeface="Helvetica"/>
                <a:ea typeface="Helvetica"/>
                <a:cs typeface="Helvetica"/>
              </a:defRPr>
            </a:defPPr>
          </a:lstStyle>
          <a:p xmlns:a="http://schemas.openxmlformats.org/drawingml/2006/main">
            <a:pPr algn="l">
              <a:defRPr sz="1200" b="1" i="0">
                <a:solidFill>
                  <a:srgbClr val="15121B"/>
                </a:solidFill>
                <a:latin typeface="Helvetica"/>
                <a:ea typeface="Helvetica"/>
                <a:cs typeface="Helvetica"/>
              </a:defRPr>
            </a:pPr>
            <a:r>
              <a:rPr sz="1200" b="1" i="0">
                <a:solidFill>
                  <a:srgbClr val="15121B"/>
                </a:solidFill>
                <a:latin typeface="Helvetica"/>
                <a:ea typeface="Helvetica"/>
                <a:cs typeface="Helvetica"/>
              </a:rPr>
              <a:t>Channels remain hypotheses until channel economics and conversion evidence are available.</a:t>
            </a:r>
          </a:p>
        </p:txBody>
      </p:sp>
      <p:sp>
        <p:nvSpPr>
          <p:cNvPr id="26" name="">
            <a:extLst xmlns:a="http://schemas.openxmlformats.org/drawingml/2006/main">
              <a:ext uri="{FF2B5EF4-FFF2-40B4-BE49-F238E27FC236}">
                <a16:creationId xmlns:a16="http://schemas.microsoft.com/office/drawing/2014/main" id="{DAE50CD3-2E1D-4BF8-A775-5AAF96BE9570}"/>
              </a:ext>
            </a:extLst>
          </p:cNvPr>
          <p:cNvSpPr>
            <a:spLocks xmlns:a="http://schemas.openxmlformats.org/drawingml/2006/main" noGrp="1"/>
          </p:cNvSpPr>
          <p:nvPr/>
        </p:nvSpPr>
        <p:spPr>
          <a:xfrm xmlns:a="http://schemas.openxmlformats.org/drawingml/2006/main">
            <a:off x="647700" y="6134100"/>
            <a:ext cx="4953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825" b="1" i="0">
                <a:solidFill>
                  <a:srgbClr val="756D7A"/>
                </a:solidFill>
                <a:latin typeface="Helvetica"/>
                <a:ea typeface="Helvetica"/>
                <a:cs typeface="Helvetica"/>
              </a:defRPr>
            </a:defPPr>
          </a:lstStyle>
          <a:p xmlns:a="http://schemas.openxmlformats.org/drawingml/2006/main">
            <a:pPr algn="l">
              <a:defRPr sz="825" b="1" i="0">
                <a:solidFill>
                  <a:srgbClr val="756D7A"/>
                </a:solidFill>
                <a:latin typeface="Helvetica"/>
                <a:ea typeface="Helvetica"/>
                <a:cs typeface="Helvetica"/>
              </a:defRPr>
            </a:pPr>
            <a:r>
              <a:rPr sz="825" b="1" i="0">
                <a:solidFill>
                  <a:srgbClr val="756D7A"/>
                </a:solidFill>
                <a:latin typeface="Helvetica"/>
                <a:ea typeface="Helvetica"/>
                <a:cs typeface="Helvetica"/>
              </a:rPr>
              <a:t>SOURCES: T1</a:t>
            </a:r>
          </a:p>
        </p:txBody>
      </p:sp>
      <p:sp>
        <p:nvSpPr>
          <p:cNvPr id="27" name="">
            <a:extLst xmlns:a="http://schemas.openxmlformats.org/drawingml/2006/main">
              <a:ext uri="{FF2B5EF4-FFF2-40B4-BE49-F238E27FC236}">
                <a16:creationId xmlns:a16="http://schemas.microsoft.com/office/drawing/2014/main" id="{8D7EF4C5-2152-4D7D-94F7-82D6C100D111}"/>
              </a:ext>
            </a:extLst>
          </p:cNvPr>
          <p:cNvSpPr>
            <a:spLocks xmlns:a="http://schemas.openxmlformats.org/drawingml/2006/main" noGrp="1"/>
          </p:cNvSpPr>
          <p:nvPr/>
        </p:nvSpPr>
        <p:spPr>
          <a:xfrm xmlns:a="http://schemas.openxmlformats.org/drawingml/2006/main">
            <a:off x="5715000" y="6134100"/>
            <a:ext cx="48768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r">
              <a:defRPr sz="825" b="1" i="0">
                <a:solidFill>
                  <a:srgbClr val="5A2E78"/>
                </a:solidFill>
                <a:latin typeface="Helvetica"/>
                <a:ea typeface="Helvetica"/>
                <a:cs typeface="Helvetica"/>
              </a:defRPr>
            </a:defPPr>
          </a:lstStyle>
          <a:p xmlns:a="http://schemas.openxmlformats.org/drawingml/2006/main">
            <a:pPr algn="r">
              <a:defRPr sz="825" b="1" i="0">
                <a:solidFill>
                  <a:srgbClr val="5A2E78"/>
                </a:solidFill>
                <a:latin typeface="Helvetica"/>
                <a:ea typeface="Helvetica"/>
                <a:cs typeface="Helvetica"/>
              </a:defRPr>
            </a:pPr>
            <a:r>
              <a:rPr sz="825" b="1" i="0">
                <a:solidFill>
                  <a:srgbClr val="5A2E78"/>
                </a:solidFill>
                <a:latin typeface="Helvetica"/>
                <a:ea typeface="Helvetica"/>
                <a:cs typeface="Helvetica"/>
              </a:rPr>
              <a:t>APPROVED STRATEGY</a:t>
            </a:r>
          </a:p>
        </p:txBody>
      </p:sp>
      <p:sp>
        <p:nvSpPr>
          <p:cNvPr id="28" name="">
            <a:extLst xmlns:a="http://schemas.openxmlformats.org/drawingml/2006/main">
              <a:ext uri="{FF2B5EF4-FFF2-40B4-BE49-F238E27FC236}">
                <a16:creationId xmlns:a16="http://schemas.microsoft.com/office/drawing/2014/main" id="{93B9A857-75AA-4D8A-BD4C-840666907125}"/>
              </a:ext>
            </a:extLst>
          </p:cNvPr>
          <p:cNvSpPr>
            <a:spLocks xmlns:a="http://schemas.openxmlformats.org/drawingml/2006/main" noGrp="1"/>
          </p:cNvSpPr>
          <p:nvPr/>
        </p:nvSpPr>
        <p:spPr>
          <a:xfrm xmlns:a="http://schemas.openxmlformats.org/drawingml/2006/main">
            <a:off x="647700" y="6515100"/>
            <a:ext cx="17145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675" b="1" i="0">
                <a:solidFill>
                  <a:srgbClr val="756D7A"/>
                </a:solidFill>
                <a:latin typeface="Helvetica"/>
                <a:ea typeface="Helvetica"/>
                <a:cs typeface="Helvetica"/>
              </a:defRPr>
            </a:defPPr>
          </a:lstStyle>
          <a:p xmlns:a="http://schemas.openxmlformats.org/drawingml/2006/main">
            <a:pPr algn="l">
              <a:defRPr sz="675" b="1" i="0">
                <a:solidFill>
                  <a:srgbClr val="756D7A"/>
                </a:solidFill>
                <a:latin typeface="Helvetica"/>
                <a:ea typeface="Helvetica"/>
                <a:cs typeface="Helvetica"/>
              </a:defRPr>
            </a:pPr>
            <a:r>
              <a:rPr sz="675" b="1" i="0">
                <a:solidFill>
                  <a:srgbClr val="756D7A"/>
                </a:solidFill>
                <a:latin typeface="Helvetica"/>
                <a:ea typeface="Helvetica"/>
                <a:cs typeface="Helvetica"/>
              </a:rPr>
              <a:t>NARRATIIVE</a:t>
            </a:r>
          </a:p>
        </p:txBody>
      </p:sp>
      <p:sp>
        <p:nvSpPr>
          <p:cNvPr id="29" name="">
            <a:extLst xmlns:a="http://schemas.openxmlformats.org/drawingml/2006/main">
              <a:ext uri="{FF2B5EF4-FFF2-40B4-BE49-F238E27FC236}">
                <a16:creationId xmlns:a16="http://schemas.microsoft.com/office/drawing/2014/main" id="{7B668F84-C979-4744-8E89-9C31F7247D19}"/>
              </a:ext>
            </a:extLst>
          </p:cNvPr>
          <p:cNvSpPr>
            <a:spLocks xmlns:a="http://schemas.openxmlformats.org/drawingml/2006/main" noGrp="1"/>
          </p:cNvSpPr>
          <p:nvPr/>
        </p:nvSpPr>
        <p:spPr>
          <a:xfrm xmlns:a="http://schemas.openxmlformats.org/drawingml/2006/main">
            <a:off x="10668000" y="6515100"/>
            <a:ext cx="8763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r">
              <a:defRPr sz="675" b="0" i="0">
                <a:solidFill>
                  <a:srgbClr val="756D7A"/>
                </a:solidFill>
                <a:latin typeface="Helvetica"/>
                <a:ea typeface="Helvetica"/>
                <a:cs typeface="Helvetica"/>
              </a:defRPr>
            </a:defPPr>
          </a:lstStyle>
          <a:p xmlns:a="http://schemas.openxmlformats.org/drawingml/2006/main">
            <a:pPr algn="r">
              <a:defRPr sz="675" b="0" i="0">
                <a:solidFill>
                  <a:srgbClr val="756D7A"/>
                </a:solidFill>
                <a:latin typeface="Helvetica"/>
                <a:ea typeface="Helvetica"/>
                <a:cs typeface="Helvetica"/>
              </a:defRPr>
            </a:pPr>
            <a:r>
              <a:rPr sz="675" b="0" i="0">
                <a:solidFill>
                  <a:srgbClr val="756D7A"/>
                </a:solidFill>
                <a:latin typeface="Helvetica"/>
                <a:ea typeface="Helvetica"/>
                <a:cs typeface="Helvetica"/>
              </a:rPr>
              <a:t>25 / 30</a:t>
            </a:r>
          </a:p>
        </p:txBody>
      </p:sp>
    </p:spTree>
    <p:extLst>
      <p:ext uri="{BB962C8B-B14F-4D97-AF65-F5344CB8AC3E}">
        <p14:creationId xmlns:p14="http://schemas.microsoft.com/office/powerpoint/2010/main" val="789645837"/>
      </p:ext>
    </p:extLst>
  </p:cSld>
</p:sld>
</file>

<file path=ppt/slides/slide26.xml><?xml version="1.0" encoding="utf-8"?>
<p:sld xmlns:p="http://schemas.openxmlformats.org/presentationml/2006/main">
  <p:cSld>
    <p:bg>
      <p:bgPr>
        <a:solidFill xmlns:a="http://schemas.openxmlformats.org/drawingml/2006/main">
          <a:srgbClr val="F6F0E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76696C08-B490-48C5-8267-5A58005A8D5B}"/>
              </a:ext>
            </a:extLst>
          </p:cNvPr>
          <p:cNvSpPr>
            <a:spLocks xmlns:a="http://schemas.openxmlformats.org/drawingml/2006/main" noGrp="1"/>
          </p:cNvSpPr>
          <p:nvPr/>
        </p:nvSpPr>
        <p:spPr>
          <a:xfrm xmlns:a="http://schemas.openxmlformats.org/drawingml/2006/main">
            <a:off x="647700" y="333375"/>
            <a:ext cx="57150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675" b="1" i="0">
                <a:solidFill>
                  <a:srgbClr val="FF654F"/>
                </a:solidFill>
                <a:latin typeface="Helvetica"/>
                <a:ea typeface="Helvetica"/>
                <a:cs typeface="Helvetica"/>
              </a:defRPr>
            </a:defPPr>
          </a:lstStyle>
          <a:p xmlns:a="http://schemas.openxmlformats.org/drawingml/2006/main">
            <a:pPr algn="l">
              <a:defRPr sz="675" b="1" i="0">
                <a:solidFill>
                  <a:srgbClr val="FF654F"/>
                </a:solidFill>
                <a:latin typeface="Helvetica"/>
                <a:ea typeface="Helvetica"/>
                <a:cs typeface="Helvetica"/>
              </a:defRPr>
            </a:pPr>
            <a:r>
              <a:rPr sz="675" b="1" i="0">
                <a:solidFill>
                  <a:srgbClr val="FF654F"/>
                </a:solidFill>
                <a:latin typeface="Helvetica"/>
                <a:ea typeface="Helvetica"/>
                <a:cs typeface="Helvetica"/>
              </a:rPr>
              <a:t>ACT 5 / THE GROWTH SYSTEM</a:t>
            </a:r>
          </a:p>
        </p:txBody>
      </p:sp>
      <p:sp>
        <p:nvSpPr>
          <p:cNvPr id="2" name="">
            <a:extLst xmlns:a="http://schemas.openxmlformats.org/drawingml/2006/main">
              <a:ext uri="{FF2B5EF4-FFF2-40B4-BE49-F238E27FC236}">
                <a16:creationId xmlns:a16="http://schemas.microsoft.com/office/drawing/2014/main" id="{BC568BE4-C8C7-4943-8141-D77AED9B6A68}"/>
              </a:ext>
            </a:extLst>
          </p:cNvPr>
          <p:cNvSpPr>
            <a:spLocks xmlns:a="http://schemas.openxmlformats.org/drawingml/2006/main" noGrp="1"/>
          </p:cNvSpPr>
          <p:nvPr/>
        </p:nvSpPr>
        <p:spPr>
          <a:xfrm xmlns:a="http://schemas.openxmlformats.org/drawingml/2006/main">
            <a:off x="647700" y="685800"/>
            <a:ext cx="1047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2325" b="1" i="0">
                <a:solidFill>
                  <a:srgbClr val="15121B"/>
                </a:solidFill>
                <a:latin typeface="Helvetica"/>
                <a:ea typeface="Helvetica"/>
                <a:cs typeface="Helvetica"/>
              </a:defRPr>
            </a:defPPr>
          </a:lstStyle>
          <a:p xmlns:a="http://schemas.openxmlformats.org/drawingml/2006/main">
            <a:pPr algn="l">
              <a:defRPr sz="2325" b="1" i="0">
                <a:solidFill>
                  <a:srgbClr val="15121B"/>
                </a:solidFill>
                <a:latin typeface="Helvetica"/>
                <a:ea typeface="Helvetica"/>
                <a:cs typeface="Helvetica"/>
              </a:defRPr>
            </a:pPr>
            <a:r>
              <a:rPr sz="2325" b="1" i="0">
                <a:solidFill>
                  <a:srgbClr val="15121B"/>
                </a:solidFill>
                <a:latin typeface="Helvetica"/>
                <a:ea typeface="Helvetica"/>
                <a:cs typeface="Helvetica"/>
              </a:rPr>
              <a:t>Content / Campaign System</a:t>
            </a:r>
          </a:p>
        </p:txBody>
      </p:sp>
      <p:sp>
        <p:nvSpPr>
          <p:cNvPr id="3" name="">
            <a:extLst xmlns:a="http://schemas.openxmlformats.org/drawingml/2006/main">
              <a:ext uri="{FF2B5EF4-FFF2-40B4-BE49-F238E27FC236}">
                <a16:creationId xmlns:a16="http://schemas.microsoft.com/office/drawing/2014/main" id="{553539FD-C72A-4A67-ACAF-CBD7DD8CDD62}"/>
              </a:ext>
            </a:extLst>
          </p:cNvPr>
          <p:cNvSpPr>
            <a:spLocks xmlns:a="http://schemas.openxmlformats.org/drawingml/2006/main" noGrp="1"/>
          </p:cNvSpPr>
          <p:nvPr/>
        </p:nvSpPr>
        <p:spPr>
          <a:xfrm xmlns:a="http://schemas.openxmlformats.org/drawingml/2006/main">
            <a:off x="647700" y="1400175"/>
            <a:ext cx="10896600" cy="19050"/>
          </a:xfrm>
          <a:prstGeom xmlns:a="http://schemas.openxmlformats.org/drawingml/2006/main" prst="rect">
            <a:avLst/>
          </a:prstGeom>
          <a:solidFill xmlns:a="http://schemas.openxmlformats.org/drawingml/2006/main">
            <a:srgbClr val="D9CFD5"/>
          </a:solidFill>
          <a:ln xmlns:a="http://schemas.openxmlformats.org/drawingml/2006/main" w="0">
            <a:solidFill>
              <a:srgbClr val="D9CFD5"/>
            </a:solidFill>
          </a:ln>
        </p:spPr>
      </p:sp>
      <p:sp>
        <p:nvSpPr>
          <p:cNvPr id="4" name="">
            <a:extLst xmlns:a="http://schemas.openxmlformats.org/drawingml/2006/main">
              <a:ext uri="{FF2B5EF4-FFF2-40B4-BE49-F238E27FC236}">
                <a16:creationId xmlns:a16="http://schemas.microsoft.com/office/drawing/2014/main" id="{9A92D3AA-3B9F-40E5-A0C3-7D8678BA3158}"/>
              </a:ext>
            </a:extLst>
          </p:cNvPr>
          <p:cNvSpPr>
            <a:spLocks xmlns:a="http://schemas.openxmlformats.org/drawingml/2006/main" noGrp="1"/>
          </p:cNvSpPr>
          <p:nvPr/>
        </p:nvSpPr>
        <p:spPr>
          <a:xfrm xmlns:a="http://schemas.openxmlformats.org/drawingml/2006/main">
            <a:off x="742950" y="1809750"/>
            <a:ext cx="7810500" cy="552450"/>
          </a:xfrm>
          <a:prstGeom xmlns:a="http://schemas.openxmlformats.org/drawingml/2006/main" prst="roundRect">
            <a:avLst>
              <a:gd name="adj" fmla="val 13793"/>
            </a:avLst>
          </a:prstGeom>
          <a:solidFill xmlns:a="http://schemas.openxmlformats.org/drawingml/2006/main">
            <a:srgbClr val="261A31"/>
          </a:solidFill>
          <a:ln xmlns:a="http://schemas.openxmlformats.org/drawingml/2006/main" w="0">
            <a:solidFill>
              <a:srgbClr val="261A31"/>
            </a:solidFill>
          </a:ln>
        </p:spPr>
      </p:sp>
      <p:sp>
        <p:nvSpPr>
          <p:cNvPr id="5" name="">
            <a:extLst xmlns:a="http://schemas.openxmlformats.org/drawingml/2006/main">
              <a:ext uri="{FF2B5EF4-FFF2-40B4-BE49-F238E27FC236}">
                <a16:creationId xmlns:a16="http://schemas.microsoft.com/office/drawing/2014/main" id="{E2219E75-7BFD-4B12-9CB0-8FE4C91A37E6}"/>
              </a:ext>
            </a:extLst>
          </p:cNvPr>
          <p:cNvSpPr>
            <a:spLocks xmlns:a="http://schemas.openxmlformats.org/drawingml/2006/main" noGrp="1"/>
          </p:cNvSpPr>
          <p:nvPr/>
        </p:nvSpPr>
        <p:spPr>
          <a:xfrm xmlns:a="http://schemas.openxmlformats.org/drawingml/2006/main">
            <a:off x="1000125" y="1981200"/>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975" b="1" i="0">
                <a:solidFill>
                  <a:srgbClr val="FFFDFC"/>
                </a:solidFill>
                <a:latin typeface="Helvetica"/>
                <a:ea typeface="Helvetica"/>
                <a:cs typeface="Helvetica"/>
              </a:defRPr>
            </a:defPPr>
          </a:lstStyle>
          <a:p xmlns:a="http://schemas.openxmlformats.org/drawingml/2006/main">
            <a:pPr algn="l">
              <a:defRPr sz="975" b="1" i="0">
                <a:solidFill>
                  <a:srgbClr val="FFFDFC"/>
                </a:solidFill>
                <a:latin typeface="Helvetica"/>
                <a:ea typeface="Helvetica"/>
                <a:cs typeface="Helvetica"/>
              </a:defRPr>
            </a:pPr>
            <a:r>
              <a:rPr sz="975" b="1" i="0">
                <a:solidFill>
                  <a:srgbClr val="FFFDFC"/>
                </a:solidFill>
                <a:latin typeface="Helvetica"/>
                <a:ea typeface="Helvetica"/>
                <a:cs typeface="Helvetica"/>
              </a:rPr>
              <a:t>RETAIL</a:t>
            </a:r>
          </a:p>
        </p:txBody>
      </p:sp>
      <p:sp>
        <p:nvSpPr>
          <p:cNvPr id="6" name="">
            <a:extLst xmlns:a="http://schemas.openxmlformats.org/drawingml/2006/main">
              <a:ext uri="{FF2B5EF4-FFF2-40B4-BE49-F238E27FC236}">
                <a16:creationId xmlns:a16="http://schemas.microsoft.com/office/drawing/2014/main" id="{92B24A85-333B-4DDB-9455-E6672652D856}"/>
              </a:ext>
            </a:extLst>
          </p:cNvPr>
          <p:cNvSpPr>
            <a:spLocks xmlns:a="http://schemas.openxmlformats.org/drawingml/2006/main" noGrp="1"/>
          </p:cNvSpPr>
          <p:nvPr/>
        </p:nvSpPr>
        <p:spPr>
          <a:xfrm xmlns:a="http://schemas.openxmlformats.org/drawingml/2006/main">
            <a:off x="1838325" y="2590800"/>
            <a:ext cx="6715125" cy="552450"/>
          </a:xfrm>
          <a:prstGeom xmlns:a="http://schemas.openxmlformats.org/drawingml/2006/main" prst="roundRect">
            <a:avLst>
              <a:gd name="adj" fmla="val 13793"/>
            </a:avLst>
          </a:prstGeom>
          <a:solidFill xmlns:a="http://schemas.openxmlformats.org/drawingml/2006/main">
            <a:srgbClr val="5A2E78"/>
          </a:solidFill>
          <a:ln xmlns:a="http://schemas.openxmlformats.org/drawingml/2006/main" w="0">
            <a:solidFill>
              <a:srgbClr val="5A2E78"/>
            </a:solidFill>
          </a:ln>
        </p:spPr>
      </p:sp>
      <p:sp>
        <p:nvSpPr>
          <p:cNvPr id="7" name="">
            <a:extLst xmlns:a="http://schemas.openxmlformats.org/drawingml/2006/main">
              <a:ext uri="{FF2B5EF4-FFF2-40B4-BE49-F238E27FC236}">
                <a16:creationId xmlns:a16="http://schemas.microsoft.com/office/drawing/2014/main" id="{1CEBD40B-5F9C-4222-847E-6C24E0B5E80D}"/>
              </a:ext>
            </a:extLst>
          </p:cNvPr>
          <p:cNvSpPr>
            <a:spLocks xmlns:a="http://schemas.openxmlformats.org/drawingml/2006/main" noGrp="1"/>
          </p:cNvSpPr>
          <p:nvPr/>
        </p:nvSpPr>
        <p:spPr>
          <a:xfrm xmlns:a="http://schemas.openxmlformats.org/drawingml/2006/main">
            <a:off x="2095500" y="2762250"/>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975" b="1" i="0">
                <a:solidFill>
                  <a:srgbClr val="FFFDFC"/>
                </a:solidFill>
                <a:latin typeface="Helvetica"/>
                <a:ea typeface="Helvetica"/>
                <a:cs typeface="Helvetica"/>
              </a:defRPr>
            </a:defPPr>
          </a:lstStyle>
          <a:p xmlns:a="http://schemas.openxmlformats.org/drawingml/2006/main">
            <a:pPr algn="l">
              <a:defRPr sz="975" b="1" i="0">
                <a:solidFill>
                  <a:srgbClr val="FFFDFC"/>
                </a:solidFill>
                <a:latin typeface="Helvetica"/>
                <a:ea typeface="Helvetica"/>
                <a:cs typeface="Helvetica"/>
              </a:defRPr>
            </a:pPr>
            <a:r>
              <a:rPr sz="975" b="1" i="0">
                <a:solidFill>
                  <a:srgbClr val="FFFDFC"/>
                </a:solidFill>
                <a:latin typeface="Helvetica"/>
                <a:ea typeface="Helvetica"/>
                <a:cs typeface="Helvetica"/>
              </a:rPr>
              <a:t>CRM</a:t>
            </a:r>
          </a:p>
        </p:txBody>
      </p:sp>
      <p:sp>
        <p:nvSpPr>
          <p:cNvPr id="8" name="">
            <a:extLst xmlns:a="http://schemas.openxmlformats.org/drawingml/2006/main">
              <a:ext uri="{FF2B5EF4-FFF2-40B4-BE49-F238E27FC236}">
                <a16:creationId xmlns:a16="http://schemas.microsoft.com/office/drawing/2014/main" id="{ABDC66BB-E49A-4012-AC4F-43C03F0D351D}"/>
              </a:ext>
            </a:extLst>
          </p:cNvPr>
          <p:cNvSpPr>
            <a:spLocks xmlns:a="http://schemas.openxmlformats.org/drawingml/2006/main" noGrp="1"/>
          </p:cNvSpPr>
          <p:nvPr/>
        </p:nvSpPr>
        <p:spPr>
          <a:xfrm xmlns:a="http://schemas.openxmlformats.org/drawingml/2006/main">
            <a:off x="2933700" y="3371850"/>
            <a:ext cx="5619750" cy="552450"/>
          </a:xfrm>
          <a:prstGeom xmlns:a="http://schemas.openxmlformats.org/drawingml/2006/main" prst="roundRect">
            <a:avLst>
              <a:gd name="adj" fmla="val 13793"/>
            </a:avLst>
          </a:prstGeom>
          <a:solidFill xmlns:a="http://schemas.openxmlformats.org/drawingml/2006/main">
            <a:srgbClr val="FF654F"/>
          </a:solidFill>
          <a:ln xmlns:a="http://schemas.openxmlformats.org/drawingml/2006/main" w="0">
            <a:solidFill>
              <a:srgbClr val="FF654F"/>
            </a:solidFill>
          </a:ln>
        </p:spPr>
      </p:sp>
      <p:sp>
        <p:nvSpPr>
          <p:cNvPr id="9" name="">
            <a:extLst xmlns:a="http://schemas.openxmlformats.org/drawingml/2006/main">
              <a:ext uri="{FF2B5EF4-FFF2-40B4-BE49-F238E27FC236}">
                <a16:creationId xmlns:a16="http://schemas.microsoft.com/office/drawing/2014/main" id="{602083D6-E9B5-468F-9539-1A62FBD1D2D7}"/>
              </a:ext>
            </a:extLst>
          </p:cNvPr>
          <p:cNvSpPr>
            <a:spLocks xmlns:a="http://schemas.openxmlformats.org/drawingml/2006/main" noGrp="1"/>
          </p:cNvSpPr>
          <p:nvPr/>
        </p:nvSpPr>
        <p:spPr>
          <a:xfrm xmlns:a="http://schemas.openxmlformats.org/drawingml/2006/main">
            <a:off x="3190875" y="3543300"/>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975" b="1" i="0">
                <a:solidFill>
                  <a:srgbClr val="FFFDFC"/>
                </a:solidFill>
                <a:latin typeface="Helvetica"/>
                <a:ea typeface="Helvetica"/>
                <a:cs typeface="Helvetica"/>
              </a:defRPr>
            </a:defPPr>
          </a:lstStyle>
          <a:p xmlns:a="http://schemas.openxmlformats.org/drawingml/2006/main">
            <a:pPr algn="l">
              <a:defRPr sz="975" b="1" i="0">
                <a:solidFill>
                  <a:srgbClr val="FFFDFC"/>
                </a:solidFill>
                <a:latin typeface="Helvetica"/>
                <a:ea typeface="Helvetica"/>
                <a:cs typeface="Helvetica"/>
              </a:defRPr>
            </a:pPr>
            <a:r>
              <a:rPr sz="975" b="1" i="0">
                <a:solidFill>
                  <a:srgbClr val="FFFDFC"/>
                </a:solidFill>
                <a:latin typeface="Helvetica"/>
                <a:ea typeface="Helvetica"/>
                <a:cs typeface="Helvetica"/>
              </a:rPr>
              <a:t>EARNED</a:t>
            </a:r>
          </a:p>
        </p:txBody>
      </p:sp>
      <p:sp>
        <p:nvSpPr>
          <p:cNvPr id="10" name="">
            <a:extLst xmlns:a="http://schemas.openxmlformats.org/drawingml/2006/main">
              <a:ext uri="{FF2B5EF4-FFF2-40B4-BE49-F238E27FC236}">
                <a16:creationId xmlns:a16="http://schemas.microsoft.com/office/drawing/2014/main" id="{B9EEEE6B-8BD4-4188-99E6-1DCE78754F29}"/>
              </a:ext>
            </a:extLst>
          </p:cNvPr>
          <p:cNvSpPr>
            <a:spLocks xmlns:a="http://schemas.openxmlformats.org/drawingml/2006/main" noGrp="1"/>
          </p:cNvSpPr>
          <p:nvPr/>
        </p:nvSpPr>
        <p:spPr>
          <a:xfrm xmlns:a="http://schemas.openxmlformats.org/drawingml/2006/main">
            <a:off x="4029075" y="4152900"/>
            <a:ext cx="4524375" cy="552450"/>
          </a:xfrm>
          <a:prstGeom xmlns:a="http://schemas.openxmlformats.org/drawingml/2006/main" prst="roundRect">
            <a:avLst>
              <a:gd name="adj" fmla="val 13793"/>
            </a:avLst>
          </a:prstGeom>
          <a:solidFill xmlns:a="http://schemas.openxmlformats.org/drawingml/2006/main">
            <a:srgbClr val="15121B"/>
          </a:solidFill>
          <a:ln xmlns:a="http://schemas.openxmlformats.org/drawingml/2006/main" w="0">
            <a:solidFill>
              <a:srgbClr val="15121B"/>
            </a:solidFill>
          </a:ln>
        </p:spPr>
      </p:sp>
      <p:sp>
        <p:nvSpPr>
          <p:cNvPr id="11" name="">
            <a:extLst xmlns:a="http://schemas.openxmlformats.org/drawingml/2006/main">
              <a:ext uri="{FF2B5EF4-FFF2-40B4-BE49-F238E27FC236}">
                <a16:creationId xmlns:a16="http://schemas.microsoft.com/office/drawing/2014/main" id="{6421DEA9-1F86-4493-9CCB-274ECC0C82BA}"/>
              </a:ext>
            </a:extLst>
          </p:cNvPr>
          <p:cNvSpPr>
            <a:spLocks xmlns:a="http://schemas.openxmlformats.org/drawingml/2006/main" noGrp="1"/>
          </p:cNvSpPr>
          <p:nvPr/>
        </p:nvSpPr>
        <p:spPr>
          <a:xfrm xmlns:a="http://schemas.openxmlformats.org/drawingml/2006/main">
            <a:off x="4286250" y="4324350"/>
            <a:ext cx="18097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975" b="1" i="0">
                <a:solidFill>
                  <a:srgbClr val="FFFDFC"/>
                </a:solidFill>
                <a:latin typeface="Helvetica"/>
                <a:ea typeface="Helvetica"/>
                <a:cs typeface="Helvetica"/>
              </a:defRPr>
            </a:defPPr>
          </a:lstStyle>
          <a:p xmlns:a="http://schemas.openxmlformats.org/drawingml/2006/main">
            <a:pPr algn="l">
              <a:defRPr sz="975" b="1" i="0">
                <a:solidFill>
                  <a:srgbClr val="FFFDFC"/>
                </a:solidFill>
                <a:latin typeface="Helvetica"/>
                <a:ea typeface="Helvetica"/>
                <a:cs typeface="Helvetica"/>
              </a:defRPr>
            </a:pPr>
            <a:r>
              <a:rPr sz="975" b="1" i="0">
                <a:solidFill>
                  <a:srgbClr val="FFFDFC"/>
                </a:solidFill>
                <a:latin typeface="Helvetica"/>
                <a:ea typeface="Helvetica"/>
                <a:cs typeface="Helvetica"/>
              </a:rPr>
              <a:t>PAID</a:t>
            </a:r>
          </a:p>
        </p:txBody>
      </p:sp>
      <p:sp>
        <p:nvSpPr>
          <p:cNvPr id="12" name="">
            <a:extLst xmlns:a="http://schemas.openxmlformats.org/drawingml/2006/main">
              <a:ext uri="{FF2B5EF4-FFF2-40B4-BE49-F238E27FC236}">
                <a16:creationId xmlns:a16="http://schemas.microsoft.com/office/drawing/2014/main" id="{CA8792C0-6B06-4DA3-B866-F901F1E52A74}"/>
              </a:ext>
            </a:extLst>
          </p:cNvPr>
          <p:cNvSpPr>
            <a:spLocks xmlns:a="http://schemas.openxmlformats.org/drawingml/2006/main" noGrp="1"/>
          </p:cNvSpPr>
          <p:nvPr/>
        </p:nvSpPr>
        <p:spPr>
          <a:xfrm xmlns:a="http://schemas.openxmlformats.org/drawingml/2006/main">
            <a:off x="8858250" y="2095500"/>
            <a:ext cx="228600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575" b="1" i="0">
                <a:solidFill>
                  <a:srgbClr val="5A2E78"/>
                </a:solidFill>
                <a:latin typeface="Helvetica"/>
                <a:ea typeface="Helvetica"/>
                <a:cs typeface="Helvetica"/>
              </a:defRPr>
            </a:defPPr>
          </a:lstStyle>
          <a:p xmlns:a="http://schemas.openxmlformats.org/drawingml/2006/main">
            <a:pPr algn="l">
              <a:defRPr sz="1575" b="1" i="0">
                <a:solidFill>
                  <a:srgbClr val="5A2E78"/>
                </a:solidFill>
                <a:latin typeface="Helvetica"/>
                <a:ea typeface="Helvetica"/>
                <a:cs typeface="Helvetica"/>
              </a:defRPr>
            </a:pPr>
            <a:r>
              <a:rPr sz="1575" b="1" i="0">
                <a:solidFill>
                  <a:srgbClr val="5A2E78"/>
                </a:solidFill>
                <a:latin typeface="Helvetica"/>
                <a:ea typeface="Helvetica"/>
                <a:cs typeface="Helvetica"/>
              </a:rPr>
              <a:t>Execution should test the proposition architecture, not multiply generic content.</a:t>
            </a:r>
          </a:p>
        </p:txBody>
      </p:sp>
      <p:sp>
        <p:nvSpPr>
          <p:cNvPr id="13" name="">
            <a:extLst xmlns:a="http://schemas.openxmlformats.org/drawingml/2006/main">
              <a:ext uri="{FF2B5EF4-FFF2-40B4-BE49-F238E27FC236}">
                <a16:creationId xmlns:a16="http://schemas.microsoft.com/office/drawing/2014/main" id="{0C36F6E5-C3C0-483D-9C55-C2008D45E411}"/>
              </a:ext>
            </a:extLst>
          </p:cNvPr>
          <p:cNvSpPr>
            <a:spLocks xmlns:a="http://schemas.openxmlformats.org/drawingml/2006/main" noGrp="1"/>
          </p:cNvSpPr>
          <p:nvPr/>
        </p:nvSpPr>
        <p:spPr>
          <a:xfrm xmlns:a="http://schemas.openxmlformats.org/drawingml/2006/main">
            <a:off x="647700" y="5572125"/>
            <a:ext cx="209550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675" b="1" i="0">
                <a:solidFill>
                  <a:srgbClr val="FF654F"/>
                </a:solidFill>
                <a:latin typeface="Helvetica"/>
                <a:ea typeface="Helvetica"/>
                <a:cs typeface="Helvetica"/>
              </a:defRPr>
            </a:defPPr>
          </a:lstStyle>
          <a:p xmlns:a="http://schemas.openxmlformats.org/drawingml/2006/main">
            <a:pPr algn="l">
              <a:defRPr sz="675" b="1" i="0">
                <a:solidFill>
                  <a:srgbClr val="FF654F"/>
                </a:solidFill>
                <a:latin typeface="Helvetica"/>
                <a:ea typeface="Helvetica"/>
                <a:cs typeface="Helvetica"/>
              </a:defRPr>
            </a:pPr>
            <a:r>
              <a:rPr sz="675" b="1" i="0">
                <a:solidFill>
                  <a:srgbClr val="FF654F"/>
                </a:solidFill>
                <a:latin typeface="Helvetica"/>
                <a:ea typeface="Helvetica"/>
                <a:cs typeface="Helvetica"/>
              </a:rPr>
              <a:t>COMMERCIAL CONSEQUENCE</a:t>
            </a:r>
          </a:p>
        </p:txBody>
      </p:sp>
      <p:sp>
        <p:nvSpPr>
          <p:cNvPr id="14" name="">
            <a:extLst xmlns:a="http://schemas.openxmlformats.org/drawingml/2006/main">
              <a:ext uri="{FF2B5EF4-FFF2-40B4-BE49-F238E27FC236}">
                <a16:creationId xmlns:a16="http://schemas.microsoft.com/office/drawing/2014/main" id="{0E9E9993-3171-453D-8B1D-6639571B67D6}"/>
              </a:ext>
            </a:extLst>
          </p:cNvPr>
          <p:cNvSpPr>
            <a:spLocks xmlns:a="http://schemas.openxmlformats.org/drawingml/2006/main" noGrp="1"/>
          </p:cNvSpPr>
          <p:nvPr/>
        </p:nvSpPr>
        <p:spPr>
          <a:xfrm xmlns:a="http://schemas.openxmlformats.org/drawingml/2006/main">
            <a:off x="2619375" y="5505450"/>
            <a:ext cx="8382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200" b="1" i="0">
                <a:solidFill>
                  <a:srgbClr val="15121B"/>
                </a:solidFill>
                <a:latin typeface="Helvetica"/>
                <a:ea typeface="Helvetica"/>
                <a:cs typeface="Helvetica"/>
              </a:defRPr>
            </a:defPPr>
          </a:lstStyle>
          <a:p xmlns:a="http://schemas.openxmlformats.org/drawingml/2006/main">
            <a:pPr algn="l">
              <a:defRPr sz="1200" b="1" i="0">
                <a:solidFill>
                  <a:srgbClr val="15121B"/>
                </a:solidFill>
                <a:latin typeface="Helvetica"/>
                <a:ea typeface="Helvetica"/>
                <a:cs typeface="Helvetica"/>
              </a:defRPr>
            </a:pPr>
            <a:r>
              <a:rPr sz="1200" b="1" i="0">
                <a:solidFill>
                  <a:srgbClr val="15121B"/>
                </a:solidFill>
                <a:latin typeface="Helvetica"/>
                <a:ea typeface="Helvetica"/>
                <a:cs typeface="Helvetica"/>
              </a:rPr>
              <a:t>Execution should test the proposition architecture, not multiply generic content.</a:t>
            </a:r>
          </a:p>
        </p:txBody>
      </p:sp>
      <p:sp>
        <p:nvSpPr>
          <p:cNvPr id="15" name="">
            <a:extLst xmlns:a="http://schemas.openxmlformats.org/drawingml/2006/main">
              <a:ext uri="{FF2B5EF4-FFF2-40B4-BE49-F238E27FC236}">
                <a16:creationId xmlns:a16="http://schemas.microsoft.com/office/drawing/2014/main" id="{98729032-86DE-45BA-B3C8-F9F9DED5F9B9}"/>
              </a:ext>
            </a:extLst>
          </p:cNvPr>
          <p:cNvSpPr>
            <a:spLocks xmlns:a="http://schemas.openxmlformats.org/drawingml/2006/main" noGrp="1"/>
          </p:cNvSpPr>
          <p:nvPr/>
        </p:nvSpPr>
        <p:spPr>
          <a:xfrm xmlns:a="http://schemas.openxmlformats.org/drawingml/2006/main">
            <a:off x="647700" y="6134100"/>
            <a:ext cx="4953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825" b="1" i="0">
                <a:solidFill>
                  <a:srgbClr val="756D7A"/>
                </a:solidFill>
                <a:latin typeface="Helvetica"/>
                <a:ea typeface="Helvetica"/>
                <a:cs typeface="Helvetica"/>
              </a:defRPr>
            </a:defPPr>
          </a:lstStyle>
          <a:p xmlns:a="http://schemas.openxmlformats.org/drawingml/2006/main">
            <a:pPr algn="l">
              <a:defRPr sz="825" b="1" i="0">
                <a:solidFill>
                  <a:srgbClr val="756D7A"/>
                </a:solidFill>
                <a:latin typeface="Helvetica"/>
                <a:ea typeface="Helvetica"/>
                <a:cs typeface="Helvetica"/>
              </a:defRPr>
            </a:pPr>
            <a:r>
              <a:rPr sz="825" b="1" i="0">
                <a:solidFill>
                  <a:srgbClr val="756D7A"/>
                </a:solidFill>
                <a:latin typeface="Helvetica"/>
                <a:ea typeface="Helvetica"/>
                <a:cs typeface="Helvetica"/>
              </a:rPr>
              <a:t>SOURCES: T1</a:t>
            </a:r>
          </a:p>
        </p:txBody>
      </p:sp>
      <p:sp>
        <p:nvSpPr>
          <p:cNvPr id="16" name="">
            <a:extLst xmlns:a="http://schemas.openxmlformats.org/drawingml/2006/main">
              <a:ext uri="{FF2B5EF4-FFF2-40B4-BE49-F238E27FC236}">
                <a16:creationId xmlns:a16="http://schemas.microsoft.com/office/drawing/2014/main" id="{BD4C4732-D5ED-4FDA-A3AA-91F869426F01}"/>
              </a:ext>
            </a:extLst>
          </p:cNvPr>
          <p:cNvSpPr>
            <a:spLocks xmlns:a="http://schemas.openxmlformats.org/drawingml/2006/main" noGrp="1"/>
          </p:cNvSpPr>
          <p:nvPr/>
        </p:nvSpPr>
        <p:spPr>
          <a:xfrm xmlns:a="http://schemas.openxmlformats.org/drawingml/2006/main">
            <a:off x="5715000" y="6134100"/>
            <a:ext cx="48768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r">
              <a:defRPr sz="825" b="1" i="0">
                <a:solidFill>
                  <a:srgbClr val="5A2E78"/>
                </a:solidFill>
                <a:latin typeface="Helvetica"/>
                <a:ea typeface="Helvetica"/>
                <a:cs typeface="Helvetica"/>
              </a:defRPr>
            </a:defPPr>
          </a:lstStyle>
          <a:p xmlns:a="http://schemas.openxmlformats.org/drawingml/2006/main">
            <a:pPr algn="r">
              <a:defRPr sz="825" b="1" i="0">
                <a:solidFill>
                  <a:srgbClr val="5A2E78"/>
                </a:solidFill>
                <a:latin typeface="Helvetica"/>
                <a:ea typeface="Helvetica"/>
                <a:cs typeface="Helvetica"/>
              </a:defRPr>
            </a:pPr>
            <a:r>
              <a:rPr sz="825" b="1" i="0">
                <a:solidFill>
                  <a:srgbClr val="5A2E78"/>
                </a:solidFill>
                <a:latin typeface="Helvetica"/>
                <a:ea typeface="Helvetica"/>
                <a:cs typeface="Helvetica"/>
              </a:rPr>
              <a:t>APPROVED STRATEGY</a:t>
            </a:r>
          </a:p>
        </p:txBody>
      </p:sp>
      <p:sp>
        <p:nvSpPr>
          <p:cNvPr id="17" name="">
            <a:extLst xmlns:a="http://schemas.openxmlformats.org/drawingml/2006/main">
              <a:ext uri="{FF2B5EF4-FFF2-40B4-BE49-F238E27FC236}">
                <a16:creationId xmlns:a16="http://schemas.microsoft.com/office/drawing/2014/main" id="{E7784838-1316-419F-BAA4-5C20776B233C}"/>
              </a:ext>
            </a:extLst>
          </p:cNvPr>
          <p:cNvSpPr>
            <a:spLocks xmlns:a="http://schemas.openxmlformats.org/drawingml/2006/main" noGrp="1"/>
          </p:cNvSpPr>
          <p:nvPr/>
        </p:nvSpPr>
        <p:spPr>
          <a:xfrm xmlns:a="http://schemas.openxmlformats.org/drawingml/2006/main">
            <a:off x="647700" y="6515100"/>
            <a:ext cx="17145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675" b="1" i="0">
                <a:solidFill>
                  <a:srgbClr val="756D7A"/>
                </a:solidFill>
                <a:latin typeface="Helvetica"/>
                <a:ea typeface="Helvetica"/>
                <a:cs typeface="Helvetica"/>
              </a:defRPr>
            </a:defPPr>
          </a:lstStyle>
          <a:p xmlns:a="http://schemas.openxmlformats.org/drawingml/2006/main">
            <a:pPr algn="l">
              <a:defRPr sz="675" b="1" i="0">
                <a:solidFill>
                  <a:srgbClr val="756D7A"/>
                </a:solidFill>
                <a:latin typeface="Helvetica"/>
                <a:ea typeface="Helvetica"/>
                <a:cs typeface="Helvetica"/>
              </a:defRPr>
            </a:pPr>
            <a:r>
              <a:rPr sz="675" b="1" i="0">
                <a:solidFill>
                  <a:srgbClr val="756D7A"/>
                </a:solidFill>
                <a:latin typeface="Helvetica"/>
                <a:ea typeface="Helvetica"/>
                <a:cs typeface="Helvetica"/>
              </a:rPr>
              <a:t>NARRATIIVE</a:t>
            </a:r>
          </a:p>
        </p:txBody>
      </p:sp>
      <p:sp>
        <p:nvSpPr>
          <p:cNvPr id="18" name="">
            <a:extLst xmlns:a="http://schemas.openxmlformats.org/drawingml/2006/main">
              <a:ext uri="{FF2B5EF4-FFF2-40B4-BE49-F238E27FC236}">
                <a16:creationId xmlns:a16="http://schemas.microsoft.com/office/drawing/2014/main" id="{A222A99E-13BF-4D70-8BBE-7927F58A1F95}"/>
              </a:ext>
            </a:extLst>
          </p:cNvPr>
          <p:cNvSpPr>
            <a:spLocks xmlns:a="http://schemas.openxmlformats.org/drawingml/2006/main" noGrp="1"/>
          </p:cNvSpPr>
          <p:nvPr/>
        </p:nvSpPr>
        <p:spPr>
          <a:xfrm xmlns:a="http://schemas.openxmlformats.org/drawingml/2006/main">
            <a:off x="10668000" y="6515100"/>
            <a:ext cx="8763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r">
              <a:defRPr sz="675" b="0" i="0">
                <a:solidFill>
                  <a:srgbClr val="756D7A"/>
                </a:solidFill>
                <a:latin typeface="Helvetica"/>
                <a:ea typeface="Helvetica"/>
                <a:cs typeface="Helvetica"/>
              </a:defRPr>
            </a:defPPr>
          </a:lstStyle>
          <a:p xmlns:a="http://schemas.openxmlformats.org/drawingml/2006/main">
            <a:pPr algn="r">
              <a:defRPr sz="675" b="0" i="0">
                <a:solidFill>
                  <a:srgbClr val="756D7A"/>
                </a:solidFill>
                <a:latin typeface="Helvetica"/>
                <a:ea typeface="Helvetica"/>
                <a:cs typeface="Helvetica"/>
              </a:defRPr>
            </a:pPr>
            <a:r>
              <a:rPr sz="675" b="0" i="0">
                <a:solidFill>
                  <a:srgbClr val="756D7A"/>
                </a:solidFill>
                <a:latin typeface="Helvetica"/>
                <a:ea typeface="Helvetica"/>
                <a:cs typeface="Helvetica"/>
              </a:rPr>
              <a:t>26 / 30</a:t>
            </a:r>
          </a:p>
        </p:txBody>
      </p:sp>
    </p:spTree>
    <p:extLst>
      <p:ext uri="{BB962C8B-B14F-4D97-AF65-F5344CB8AC3E}">
        <p14:creationId xmlns:p14="http://schemas.microsoft.com/office/powerpoint/2010/main" val="889421256"/>
      </p:ext>
    </p:extLst>
  </p:cSld>
</p:sld>
</file>

<file path=ppt/slides/slide27.xml><?xml version="1.0" encoding="utf-8"?>
<p:sld xmlns:p="http://schemas.openxmlformats.org/presentationml/2006/main">
  <p:cSld>
    <p:bg>
      <p:bgPr>
        <a:solidFill xmlns:a="http://schemas.openxmlformats.org/drawingml/2006/main">
          <a:srgbClr val="15121B"/>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BA6A50C3-04B5-4BB1-BC08-39793F01F551}"/>
              </a:ext>
            </a:extLst>
          </p:cNvPr>
          <p:cNvSpPr>
            <a:spLocks xmlns:a="http://schemas.openxmlformats.org/drawingml/2006/main" noGrp="1"/>
          </p:cNvSpPr>
          <p:nvPr/>
        </p:nvSpPr>
        <p:spPr>
          <a:xfrm xmlns:a="http://schemas.openxmlformats.org/drawingml/2006/main">
            <a:off x="647700" y="333375"/>
            <a:ext cx="57150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675" b="1" i="0">
                <a:solidFill>
                  <a:srgbClr val="FF654F"/>
                </a:solidFill>
                <a:latin typeface="Helvetica"/>
                <a:ea typeface="Helvetica"/>
                <a:cs typeface="Helvetica"/>
              </a:defRPr>
            </a:defPPr>
          </a:lstStyle>
          <a:p xmlns:a="http://schemas.openxmlformats.org/drawingml/2006/main">
            <a:pPr algn="l">
              <a:defRPr sz="675" b="1" i="0">
                <a:solidFill>
                  <a:srgbClr val="FF654F"/>
                </a:solidFill>
                <a:latin typeface="Helvetica"/>
                <a:ea typeface="Helvetica"/>
                <a:cs typeface="Helvetica"/>
              </a:defRPr>
            </a:pPr>
            <a:r>
              <a:rPr sz="675" b="1" i="0">
                <a:solidFill>
                  <a:srgbClr val="FF654F"/>
                </a:solidFill>
                <a:latin typeface="Helvetica"/>
                <a:ea typeface="Helvetica"/>
                <a:cs typeface="Helvetica"/>
              </a:rPr>
              <a:t>ACT 5 / THE GROWTH SYSTEM</a:t>
            </a:r>
          </a:p>
        </p:txBody>
      </p:sp>
      <p:sp>
        <p:nvSpPr>
          <p:cNvPr id="2" name="">
            <a:extLst xmlns:a="http://schemas.openxmlformats.org/drawingml/2006/main">
              <a:ext uri="{FF2B5EF4-FFF2-40B4-BE49-F238E27FC236}">
                <a16:creationId xmlns:a16="http://schemas.microsoft.com/office/drawing/2014/main" id="{BD022CF2-5F54-4D98-BF19-271E0FCBDCA3}"/>
              </a:ext>
            </a:extLst>
          </p:cNvPr>
          <p:cNvSpPr>
            <a:spLocks xmlns:a="http://schemas.openxmlformats.org/drawingml/2006/main" noGrp="1"/>
          </p:cNvSpPr>
          <p:nvPr/>
        </p:nvSpPr>
        <p:spPr>
          <a:xfrm xmlns:a="http://schemas.openxmlformats.org/drawingml/2006/main">
            <a:off x="647700" y="685800"/>
            <a:ext cx="1047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2325" b="1" i="0">
                <a:solidFill>
                  <a:srgbClr val="FFFDFC"/>
                </a:solidFill>
                <a:latin typeface="Helvetica"/>
                <a:ea typeface="Helvetica"/>
                <a:cs typeface="Helvetica"/>
              </a:defRPr>
            </a:defPPr>
          </a:lstStyle>
          <a:p xmlns:a="http://schemas.openxmlformats.org/drawingml/2006/main">
            <a:pPr algn="l">
              <a:defRPr sz="2325" b="1" i="0">
                <a:solidFill>
                  <a:srgbClr val="FFFDFC"/>
                </a:solidFill>
                <a:latin typeface="Helvetica"/>
                <a:ea typeface="Helvetica"/>
                <a:cs typeface="Helvetica"/>
              </a:defRPr>
            </a:pPr>
            <a:r>
              <a:rPr sz="2325" b="1" i="0">
                <a:solidFill>
                  <a:srgbClr val="FFFDFC"/>
                </a:solidFill>
                <a:latin typeface="Helvetica"/>
                <a:ea typeface="Helvetica"/>
                <a:cs typeface="Helvetica"/>
              </a:rPr>
              <a:t>Creative Direction / Next-Phase Hook</a:t>
            </a:r>
          </a:p>
        </p:txBody>
      </p:sp>
      <p:sp>
        <p:nvSpPr>
          <p:cNvPr id="3" name="">
            <a:extLst xmlns:a="http://schemas.openxmlformats.org/drawingml/2006/main">
              <a:ext uri="{FF2B5EF4-FFF2-40B4-BE49-F238E27FC236}">
                <a16:creationId xmlns:a16="http://schemas.microsoft.com/office/drawing/2014/main" id="{E9459A6A-5D65-4234-94A3-EDAE50A87EA7}"/>
              </a:ext>
            </a:extLst>
          </p:cNvPr>
          <p:cNvSpPr>
            <a:spLocks xmlns:a="http://schemas.openxmlformats.org/drawingml/2006/main" noGrp="1"/>
          </p:cNvSpPr>
          <p:nvPr/>
        </p:nvSpPr>
        <p:spPr>
          <a:xfrm xmlns:a="http://schemas.openxmlformats.org/drawingml/2006/main">
            <a:off x="647700" y="1400175"/>
            <a:ext cx="10896600" cy="19050"/>
          </a:xfrm>
          <a:prstGeom xmlns:a="http://schemas.openxmlformats.org/drawingml/2006/main" prst="rect">
            <a:avLst/>
          </a:prstGeom>
          <a:solidFill xmlns:a="http://schemas.openxmlformats.org/drawingml/2006/main">
            <a:srgbClr val="5A2E78"/>
          </a:solidFill>
          <a:ln xmlns:a="http://schemas.openxmlformats.org/drawingml/2006/main" w="0">
            <a:solidFill>
              <a:srgbClr val="5A2E78"/>
            </a:solidFill>
          </a:ln>
        </p:spPr>
      </p:sp>
      <p:sp>
        <p:nvSpPr>
          <p:cNvPr id="4" name="">
            <a:extLst xmlns:a="http://schemas.openxmlformats.org/drawingml/2006/main">
              <a:ext uri="{FF2B5EF4-FFF2-40B4-BE49-F238E27FC236}">
                <a16:creationId xmlns:a16="http://schemas.microsoft.com/office/drawing/2014/main" id="{EF488A8E-E567-4596-879B-119305B18962}"/>
              </a:ext>
            </a:extLst>
          </p:cNvPr>
          <p:cNvSpPr>
            <a:spLocks xmlns:a="http://schemas.openxmlformats.org/drawingml/2006/main" noGrp="1"/>
          </p:cNvSpPr>
          <p:nvPr/>
        </p:nvSpPr>
        <p:spPr>
          <a:xfrm xmlns:a="http://schemas.openxmlformats.org/drawingml/2006/main">
            <a:off x="704850" y="1952625"/>
            <a:ext cx="4762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2550" b="1" i="0">
                <a:solidFill>
                  <a:srgbClr val="FFFDFC"/>
                </a:solidFill>
                <a:latin typeface="Helvetica"/>
                <a:ea typeface="Helvetica"/>
                <a:cs typeface="Helvetica"/>
              </a:defRPr>
            </a:defPPr>
          </a:lstStyle>
          <a:p xmlns:a="http://schemas.openxmlformats.org/drawingml/2006/main">
            <a:pPr algn="l">
              <a:defRPr sz="2550" b="1" i="0">
                <a:solidFill>
                  <a:srgbClr val="FFFDFC"/>
                </a:solidFill>
                <a:latin typeface="Helvetica"/>
                <a:ea typeface="Helvetica"/>
                <a:cs typeface="Helvetica"/>
              </a:defRPr>
            </a:pPr>
            <a:r>
              <a:rPr sz="2550" b="1" i="0">
                <a:solidFill>
                  <a:srgbClr val="FFFDFC"/>
                </a:solidFill>
                <a:latin typeface="Helvetica"/>
                <a:ea typeface="Helvetica"/>
                <a:cs typeface="Helvetica"/>
              </a:rPr>
              <a:t>CLINICAL PRECISION</a:t>
            </a:r>
          </a:p>
        </p:txBody>
      </p:sp>
      <p:sp>
        <p:nvSpPr>
          <p:cNvPr id="5" name="">
            <a:extLst xmlns:a="http://schemas.openxmlformats.org/drawingml/2006/main">
              <a:ext uri="{FF2B5EF4-FFF2-40B4-BE49-F238E27FC236}">
                <a16:creationId xmlns:a16="http://schemas.microsoft.com/office/drawing/2014/main" id="{E9703B78-2AC6-4EA3-A36C-F3672D400B81}"/>
              </a:ext>
            </a:extLst>
          </p:cNvPr>
          <p:cNvSpPr>
            <a:spLocks xmlns:a="http://schemas.openxmlformats.org/drawingml/2006/main" noGrp="1"/>
          </p:cNvSpPr>
          <p:nvPr/>
        </p:nvSpPr>
        <p:spPr>
          <a:xfrm xmlns:a="http://schemas.openxmlformats.org/drawingml/2006/main">
            <a:off x="704850" y="2619375"/>
            <a:ext cx="1714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500" b="0" i="1">
                <a:solidFill>
                  <a:srgbClr val="C8B7E8"/>
                </a:solidFill>
                <a:latin typeface="Helvetica"/>
                <a:ea typeface="Helvetica"/>
                <a:cs typeface="Helvetica"/>
              </a:defRPr>
            </a:defPPr>
          </a:lstStyle>
          <a:p xmlns:a="http://schemas.openxmlformats.org/drawingml/2006/main">
            <a:pPr algn="l">
              <a:defRPr sz="1500" b="0" i="1">
                <a:solidFill>
                  <a:srgbClr val="C8B7E8"/>
                </a:solidFill>
                <a:latin typeface="Helvetica"/>
                <a:ea typeface="Helvetica"/>
                <a:cs typeface="Helvetica"/>
              </a:defRPr>
            </a:pPr>
            <a:r>
              <a:rPr sz="1500" b="0" i="1">
                <a:solidFill>
                  <a:srgbClr val="C8B7E8"/>
                </a:solidFill>
                <a:latin typeface="Helvetica"/>
                <a:ea typeface="Helvetica"/>
                <a:cs typeface="Helvetica"/>
              </a:rPr>
              <a:t>meets</a:t>
            </a:r>
          </a:p>
        </p:txBody>
      </p:sp>
      <p:sp>
        <p:nvSpPr>
          <p:cNvPr id="6" name="">
            <a:extLst xmlns:a="http://schemas.openxmlformats.org/drawingml/2006/main">
              <a:ext uri="{FF2B5EF4-FFF2-40B4-BE49-F238E27FC236}">
                <a16:creationId xmlns:a16="http://schemas.microsoft.com/office/drawing/2014/main" id="{F94305A1-41CB-43E8-8FF2-F6521A669710}"/>
              </a:ext>
            </a:extLst>
          </p:cNvPr>
          <p:cNvSpPr>
            <a:spLocks xmlns:a="http://schemas.openxmlformats.org/drawingml/2006/main" noGrp="1"/>
          </p:cNvSpPr>
          <p:nvPr/>
        </p:nvSpPr>
        <p:spPr>
          <a:xfrm xmlns:a="http://schemas.openxmlformats.org/drawingml/2006/main">
            <a:off x="704850" y="3095625"/>
            <a:ext cx="4953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2550" b="1" i="0">
                <a:solidFill>
                  <a:srgbClr val="FF654F"/>
                </a:solidFill>
                <a:latin typeface="Helvetica"/>
                <a:ea typeface="Helvetica"/>
                <a:cs typeface="Helvetica"/>
              </a:defRPr>
            </a:defPPr>
          </a:lstStyle>
          <a:p xmlns:a="http://schemas.openxmlformats.org/drawingml/2006/main">
            <a:pPr algn="l">
              <a:defRPr sz="2550" b="1" i="0">
                <a:solidFill>
                  <a:srgbClr val="FF654F"/>
                </a:solidFill>
                <a:latin typeface="Helvetica"/>
                <a:ea typeface="Helvetica"/>
                <a:cs typeface="Helvetica"/>
              </a:defRPr>
            </a:pPr>
            <a:r>
              <a:rPr sz="2550" b="1" i="0">
                <a:solidFill>
                  <a:srgbClr val="FF654F"/>
                </a:solidFill>
                <a:latin typeface="Helvetica"/>
                <a:ea typeface="Helvetica"/>
                <a:cs typeface="Helvetica"/>
              </a:rPr>
              <a:t>INTIMATE CAT BEHAVIOUR</a:t>
            </a:r>
          </a:p>
        </p:txBody>
      </p:sp>
      <p:sp>
        <p:nvSpPr>
          <p:cNvPr id="7" name="">
            <a:extLst xmlns:a="http://schemas.openxmlformats.org/drawingml/2006/main">
              <a:ext uri="{FF2B5EF4-FFF2-40B4-BE49-F238E27FC236}">
                <a16:creationId xmlns:a16="http://schemas.microsoft.com/office/drawing/2014/main" id="{0492A08F-934B-4E99-88C0-EB03FEC5ECFE}"/>
              </a:ext>
            </a:extLst>
          </p:cNvPr>
          <p:cNvSpPr>
            <a:spLocks xmlns:a="http://schemas.openxmlformats.org/drawingml/2006/main" noGrp="1"/>
          </p:cNvSpPr>
          <p:nvPr/>
        </p:nvSpPr>
        <p:spPr>
          <a:xfrm xmlns:a="http://schemas.openxmlformats.org/drawingml/2006/main">
            <a:off x="6572250" y="1847850"/>
            <a:ext cx="4286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825" b="1" i="0">
                <a:solidFill>
                  <a:srgbClr val="FF654F"/>
                </a:solidFill>
                <a:latin typeface="Helvetica"/>
                <a:ea typeface="Helvetica"/>
                <a:cs typeface="Helvetica"/>
              </a:defRPr>
            </a:defPPr>
          </a:lstStyle>
          <a:p xmlns:a="http://schemas.openxmlformats.org/drawingml/2006/main">
            <a:pPr algn="l">
              <a:defRPr sz="825" b="1" i="0">
                <a:solidFill>
                  <a:srgbClr val="FF654F"/>
                </a:solidFill>
                <a:latin typeface="Helvetica"/>
                <a:ea typeface="Helvetica"/>
                <a:cs typeface="Helvetica"/>
              </a:defRPr>
            </a:pPr>
            <a:r>
              <a:rPr sz="825" b="1" i="0">
                <a:solidFill>
                  <a:srgbClr val="FF654F"/>
                </a:solidFill>
                <a:latin typeface="Helvetica"/>
                <a:ea typeface="Helvetica"/>
                <a:cs typeface="Helvetica"/>
              </a:rPr>
              <a:t>01</a:t>
            </a:r>
          </a:p>
        </p:txBody>
      </p:sp>
      <p:sp>
        <p:nvSpPr>
          <p:cNvPr id="8" name="">
            <a:extLst xmlns:a="http://schemas.openxmlformats.org/drawingml/2006/main">
              <a:ext uri="{FF2B5EF4-FFF2-40B4-BE49-F238E27FC236}">
                <a16:creationId xmlns:a16="http://schemas.microsoft.com/office/drawing/2014/main" id="{F53ADB25-97EC-471D-945A-D039D5739209}"/>
              </a:ext>
            </a:extLst>
          </p:cNvPr>
          <p:cNvSpPr>
            <a:spLocks xmlns:a="http://schemas.openxmlformats.org/drawingml/2006/main" noGrp="1"/>
          </p:cNvSpPr>
          <p:nvPr/>
        </p:nvSpPr>
        <p:spPr>
          <a:xfrm xmlns:a="http://schemas.openxmlformats.org/drawingml/2006/main">
            <a:off x="7191375" y="1847850"/>
            <a:ext cx="1619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750" b="1" i="0">
                <a:solidFill>
                  <a:srgbClr val="C8B7E8"/>
                </a:solidFill>
                <a:latin typeface="Helvetica"/>
                <a:ea typeface="Helvetica"/>
                <a:cs typeface="Helvetica"/>
              </a:defRPr>
            </a:defPPr>
          </a:lstStyle>
          <a:p xmlns:a="http://schemas.openxmlformats.org/drawingml/2006/main">
            <a:pPr algn="l">
              <a:defRPr sz="750" b="1" i="0">
                <a:solidFill>
                  <a:srgbClr val="C8B7E8"/>
                </a:solidFill>
                <a:latin typeface="Helvetica"/>
                <a:ea typeface="Helvetica"/>
                <a:cs typeface="Helvetica"/>
              </a:defRPr>
            </a:pPr>
            <a:r>
              <a:rPr sz="750" b="1" i="0">
                <a:solidFill>
                  <a:srgbClr val="C8B7E8"/>
                </a:solidFill>
                <a:latin typeface="Helvetica"/>
                <a:ea typeface="Helvetica"/>
                <a:cs typeface="Helvetica"/>
              </a:rPr>
              <a:t>OBSERVATION</a:t>
            </a:r>
          </a:p>
        </p:txBody>
      </p:sp>
      <p:sp>
        <p:nvSpPr>
          <p:cNvPr id="9" name="">
            <a:extLst xmlns:a="http://schemas.openxmlformats.org/drawingml/2006/main">
              <a:ext uri="{FF2B5EF4-FFF2-40B4-BE49-F238E27FC236}">
                <a16:creationId xmlns:a16="http://schemas.microsoft.com/office/drawing/2014/main" id="{9BB9C25D-35B1-491E-81C4-E51E1D45A0CC}"/>
              </a:ext>
            </a:extLst>
          </p:cNvPr>
          <p:cNvSpPr>
            <a:spLocks xmlns:a="http://schemas.openxmlformats.org/drawingml/2006/main" noGrp="1"/>
          </p:cNvSpPr>
          <p:nvPr/>
        </p:nvSpPr>
        <p:spPr>
          <a:xfrm xmlns:a="http://schemas.openxmlformats.org/drawingml/2006/main">
            <a:off x="7191375" y="2114550"/>
            <a:ext cx="3810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425" b="1" i="0">
                <a:solidFill>
                  <a:srgbClr val="FFFDFC"/>
                </a:solidFill>
                <a:latin typeface="Helvetica"/>
                <a:ea typeface="Helvetica"/>
                <a:cs typeface="Helvetica"/>
              </a:defRPr>
            </a:defPPr>
          </a:lstStyle>
          <a:p xmlns:a="http://schemas.openxmlformats.org/drawingml/2006/main">
            <a:pPr algn="l">
              <a:defRPr sz="1425" b="1" i="0">
                <a:solidFill>
                  <a:srgbClr val="FFFDFC"/>
                </a:solidFill>
                <a:latin typeface="Helvetica"/>
                <a:ea typeface="Helvetica"/>
                <a:cs typeface="Helvetica"/>
              </a:defRPr>
            </a:pPr>
            <a:r>
              <a:rPr sz="1425" b="1" i="0">
                <a:solidFill>
                  <a:srgbClr val="FFFDFC"/>
                </a:solidFill>
                <a:latin typeface="Helvetica"/>
                <a:ea typeface="Helvetica"/>
                <a:cs typeface="Helvetica"/>
              </a:rPr>
              <a:t>Tight crops and watchful eyes</a:t>
            </a:r>
          </a:p>
        </p:txBody>
      </p:sp>
      <p:sp>
        <p:nvSpPr>
          <p:cNvPr id="10" name="">
            <a:extLst xmlns:a="http://schemas.openxmlformats.org/drawingml/2006/main">
              <a:ext uri="{FF2B5EF4-FFF2-40B4-BE49-F238E27FC236}">
                <a16:creationId xmlns:a16="http://schemas.microsoft.com/office/drawing/2014/main" id="{91AAB1F8-6E98-4194-9938-77231975C624}"/>
              </a:ext>
            </a:extLst>
          </p:cNvPr>
          <p:cNvSpPr>
            <a:spLocks xmlns:a="http://schemas.openxmlformats.org/drawingml/2006/main" noGrp="1"/>
          </p:cNvSpPr>
          <p:nvPr/>
        </p:nvSpPr>
        <p:spPr>
          <a:xfrm xmlns:a="http://schemas.openxmlformats.org/drawingml/2006/main">
            <a:off x="6572250" y="2847975"/>
            <a:ext cx="4286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825" b="1" i="0">
                <a:solidFill>
                  <a:srgbClr val="FF654F"/>
                </a:solidFill>
                <a:latin typeface="Helvetica"/>
                <a:ea typeface="Helvetica"/>
                <a:cs typeface="Helvetica"/>
              </a:defRPr>
            </a:defPPr>
          </a:lstStyle>
          <a:p xmlns:a="http://schemas.openxmlformats.org/drawingml/2006/main">
            <a:pPr algn="l">
              <a:defRPr sz="825" b="1" i="0">
                <a:solidFill>
                  <a:srgbClr val="FF654F"/>
                </a:solidFill>
                <a:latin typeface="Helvetica"/>
                <a:ea typeface="Helvetica"/>
                <a:cs typeface="Helvetica"/>
              </a:defRPr>
            </a:pPr>
            <a:r>
              <a:rPr sz="825" b="1" i="0">
                <a:solidFill>
                  <a:srgbClr val="FF654F"/>
                </a:solidFill>
                <a:latin typeface="Helvetica"/>
                <a:ea typeface="Helvetica"/>
                <a:cs typeface="Helvetica"/>
              </a:rPr>
              <a:t>02</a:t>
            </a:r>
          </a:p>
        </p:txBody>
      </p:sp>
      <p:sp>
        <p:nvSpPr>
          <p:cNvPr id="11" name="">
            <a:extLst xmlns:a="http://schemas.openxmlformats.org/drawingml/2006/main">
              <a:ext uri="{FF2B5EF4-FFF2-40B4-BE49-F238E27FC236}">
                <a16:creationId xmlns:a16="http://schemas.microsoft.com/office/drawing/2014/main" id="{AC91AB77-60BE-4737-861D-9334A9833683}"/>
              </a:ext>
            </a:extLst>
          </p:cNvPr>
          <p:cNvSpPr>
            <a:spLocks xmlns:a="http://schemas.openxmlformats.org/drawingml/2006/main" noGrp="1"/>
          </p:cNvSpPr>
          <p:nvPr/>
        </p:nvSpPr>
        <p:spPr>
          <a:xfrm xmlns:a="http://schemas.openxmlformats.org/drawingml/2006/main">
            <a:off x="7191375" y="2847975"/>
            <a:ext cx="1619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750" b="1" i="0">
                <a:solidFill>
                  <a:srgbClr val="C8B7E8"/>
                </a:solidFill>
                <a:latin typeface="Helvetica"/>
                <a:ea typeface="Helvetica"/>
                <a:cs typeface="Helvetica"/>
              </a:defRPr>
            </a:defPPr>
          </a:lstStyle>
          <a:p xmlns:a="http://schemas.openxmlformats.org/drawingml/2006/main">
            <a:pPr algn="l">
              <a:defRPr sz="750" b="1" i="0">
                <a:solidFill>
                  <a:srgbClr val="C8B7E8"/>
                </a:solidFill>
                <a:latin typeface="Helvetica"/>
                <a:ea typeface="Helvetica"/>
                <a:cs typeface="Helvetica"/>
              </a:defRPr>
            </a:pPr>
            <a:r>
              <a:rPr sz="750" b="1" i="0">
                <a:solidFill>
                  <a:srgbClr val="C8B7E8"/>
                </a:solidFill>
                <a:latin typeface="Helvetica"/>
                <a:ea typeface="Helvetica"/>
                <a:cs typeface="Helvetica"/>
              </a:rPr>
              <a:t>EVIDENCE</a:t>
            </a:r>
          </a:p>
        </p:txBody>
      </p:sp>
      <p:sp>
        <p:nvSpPr>
          <p:cNvPr id="12" name="">
            <a:extLst xmlns:a="http://schemas.openxmlformats.org/drawingml/2006/main">
              <a:ext uri="{FF2B5EF4-FFF2-40B4-BE49-F238E27FC236}">
                <a16:creationId xmlns:a16="http://schemas.microsoft.com/office/drawing/2014/main" id="{89A57B5A-485C-42EC-873E-BCCBC352FC8E}"/>
              </a:ext>
            </a:extLst>
          </p:cNvPr>
          <p:cNvSpPr>
            <a:spLocks xmlns:a="http://schemas.openxmlformats.org/drawingml/2006/main" noGrp="1"/>
          </p:cNvSpPr>
          <p:nvPr/>
        </p:nvSpPr>
        <p:spPr>
          <a:xfrm xmlns:a="http://schemas.openxmlformats.org/drawingml/2006/main">
            <a:off x="7191375" y="3114675"/>
            <a:ext cx="3810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425" b="1" i="0">
                <a:solidFill>
                  <a:srgbClr val="FFFDFC"/>
                </a:solidFill>
                <a:latin typeface="Helvetica"/>
                <a:ea typeface="Helvetica"/>
                <a:cs typeface="Helvetica"/>
              </a:defRPr>
            </a:defPPr>
          </a:lstStyle>
          <a:p xmlns:a="http://schemas.openxmlformats.org/drawingml/2006/main">
            <a:pPr algn="l">
              <a:defRPr sz="1425" b="1" i="0">
                <a:solidFill>
                  <a:srgbClr val="FFFDFC"/>
                </a:solidFill>
                <a:latin typeface="Helvetica"/>
                <a:ea typeface="Helvetica"/>
                <a:cs typeface="Helvetica"/>
              </a:defRPr>
            </a:pPr>
            <a:r>
              <a:rPr sz="1425" b="1" i="0">
                <a:solidFill>
                  <a:srgbClr val="FFFDFC"/>
                </a:solidFill>
                <a:latin typeface="Helvetica"/>
                <a:ea typeface="Helvetica"/>
                <a:cs typeface="Helvetica"/>
              </a:rPr>
              <a:t>Visible marks that show what was checked</a:t>
            </a:r>
          </a:p>
        </p:txBody>
      </p:sp>
      <p:sp>
        <p:nvSpPr>
          <p:cNvPr id="13" name="">
            <a:extLst xmlns:a="http://schemas.openxmlformats.org/drawingml/2006/main">
              <a:ext uri="{FF2B5EF4-FFF2-40B4-BE49-F238E27FC236}">
                <a16:creationId xmlns:a16="http://schemas.microsoft.com/office/drawing/2014/main" id="{64E62B33-746F-46A3-A4B1-62BF570C0319}"/>
              </a:ext>
            </a:extLst>
          </p:cNvPr>
          <p:cNvSpPr>
            <a:spLocks xmlns:a="http://schemas.openxmlformats.org/drawingml/2006/main" noGrp="1"/>
          </p:cNvSpPr>
          <p:nvPr/>
        </p:nvSpPr>
        <p:spPr>
          <a:xfrm xmlns:a="http://schemas.openxmlformats.org/drawingml/2006/main">
            <a:off x="6572250" y="3848100"/>
            <a:ext cx="4286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825" b="1" i="0">
                <a:solidFill>
                  <a:srgbClr val="FF654F"/>
                </a:solidFill>
                <a:latin typeface="Helvetica"/>
                <a:ea typeface="Helvetica"/>
                <a:cs typeface="Helvetica"/>
              </a:defRPr>
            </a:defPPr>
          </a:lstStyle>
          <a:p xmlns:a="http://schemas.openxmlformats.org/drawingml/2006/main">
            <a:pPr algn="l">
              <a:defRPr sz="825" b="1" i="0">
                <a:solidFill>
                  <a:srgbClr val="FF654F"/>
                </a:solidFill>
                <a:latin typeface="Helvetica"/>
                <a:ea typeface="Helvetica"/>
                <a:cs typeface="Helvetica"/>
              </a:defRPr>
            </a:pPr>
            <a:r>
              <a:rPr sz="825" b="1" i="0">
                <a:solidFill>
                  <a:srgbClr val="FF654F"/>
                </a:solidFill>
                <a:latin typeface="Helvetica"/>
                <a:ea typeface="Helvetica"/>
                <a:cs typeface="Helvetica"/>
              </a:rPr>
              <a:t>03</a:t>
            </a:r>
          </a:p>
        </p:txBody>
      </p:sp>
      <p:sp>
        <p:nvSpPr>
          <p:cNvPr id="14" name="">
            <a:extLst xmlns:a="http://schemas.openxmlformats.org/drawingml/2006/main">
              <a:ext uri="{FF2B5EF4-FFF2-40B4-BE49-F238E27FC236}">
                <a16:creationId xmlns:a16="http://schemas.microsoft.com/office/drawing/2014/main" id="{01425704-AEDE-4EE7-B0E7-5635B793A310}"/>
              </a:ext>
            </a:extLst>
          </p:cNvPr>
          <p:cNvSpPr>
            <a:spLocks xmlns:a="http://schemas.openxmlformats.org/drawingml/2006/main" noGrp="1"/>
          </p:cNvSpPr>
          <p:nvPr/>
        </p:nvSpPr>
        <p:spPr>
          <a:xfrm xmlns:a="http://schemas.openxmlformats.org/drawingml/2006/main">
            <a:off x="7191375" y="3848100"/>
            <a:ext cx="1619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750" b="1" i="0">
                <a:solidFill>
                  <a:srgbClr val="C8B7E8"/>
                </a:solidFill>
                <a:latin typeface="Helvetica"/>
                <a:ea typeface="Helvetica"/>
                <a:cs typeface="Helvetica"/>
              </a:defRPr>
            </a:defPPr>
          </a:lstStyle>
          <a:p xmlns:a="http://schemas.openxmlformats.org/drawingml/2006/main">
            <a:pPr algn="l">
              <a:defRPr sz="750" b="1" i="0">
                <a:solidFill>
                  <a:srgbClr val="C8B7E8"/>
                </a:solidFill>
                <a:latin typeface="Helvetica"/>
                <a:ea typeface="Helvetica"/>
                <a:cs typeface="Helvetica"/>
              </a:defRPr>
            </a:pPr>
            <a:r>
              <a:rPr sz="750" b="1" i="0">
                <a:solidFill>
                  <a:srgbClr val="C8B7E8"/>
                </a:solidFill>
                <a:latin typeface="Helvetica"/>
                <a:ea typeface="Helvetica"/>
                <a:cs typeface="Helvetica"/>
              </a:rPr>
              <a:t>SIGNAL</a:t>
            </a:r>
          </a:p>
        </p:txBody>
      </p:sp>
      <p:sp>
        <p:nvSpPr>
          <p:cNvPr id="15" name="">
            <a:extLst xmlns:a="http://schemas.openxmlformats.org/drawingml/2006/main">
              <a:ext uri="{FF2B5EF4-FFF2-40B4-BE49-F238E27FC236}">
                <a16:creationId xmlns:a16="http://schemas.microsoft.com/office/drawing/2014/main" id="{5FBAC308-2248-4849-9C12-FA6B8D2D2D90}"/>
              </a:ext>
            </a:extLst>
          </p:cNvPr>
          <p:cNvSpPr>
            <a:spLocks xmlns:a="http://schemas.openxmlformats.org/drawingml/2006/main" noGrp="1"/>
          </p:cNvSpPr>
          <p:nvPr/>
        </p:nvSpPr>
        <p:spPr>
          <a:xfrm xmlns:a="http://schemas.openxmlformats.org/drawingml/2006/main">
            <a:off x="7191375" y="4114800"/>
            <a:ext cx="3810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425" b="1" i="0">
                <a:solidFill>
                  <a:srgbClr val="FFFDFC"/>
                </a:solidFill>
                <a:latin typeface="Helvetica"/>
                <a:ea typeface="Helvetica"/>
                <a:cs typeface="Helvetica"/>
              </a:defRPr>
            </a:defPPr>
          </a:lstStyle>
          <a:p xmlns:a="http://schemas.openxmlformats.org/drawingml/2006/main">
            <a:pPr algn="l">
              <a:defRPr sz="1425" b="1" i="0">
                <a:solidFill>
                  <a:srgbClr val="FFFDFC"/>
                </a:solidFill>
                <a:latin typeface="Helvetica"/>
                <a:ea typeface="Helvetica"/>
                <a:cs typeface="Helvetica"/>
              </a:defRPr>
            </a:pPr>
            <a:r>
              <a:rPr sz="1425" b="1" i="0">
                <a:solidFill>
                  <a:srgbClr val="FFFDFC"/>
                </a:solidFill>
                <a:latin typeface="Helvetica"/>
                <a:ea typeface="Helvetica"/>
                <a:cs typeface="Helvetica"/>
              </a:rPr>
              <a:t>One coral cue points to the proof</a:t>
            </a:r>
          </a:p>
        </p:txBody>
      </p:sp>
      <p:sp>
        <p:nvSpPr>
          <p:cNvPr id="16" name="">
            <a:extLst xmlns:a="http://schemas.openxmlformats.org/drawingml/2006/main">
              <a:ext uri="{FF2B5EF4-FFF2-40B4-BE49-F238E27FC236}">
                <a16:creationId xmlns:a16="http://schemas.microsoft.com/office/drawing/2014/main" id="{5F1A728B-AE11-4981-A74C-CFEF715E5457}"/>
              </a:ext>
            </a:extLst>
          </p:cNvPr>
          <p:cNvSpPr>
            <a:spLocks xmlns:a="http://schemas.openxmlformats.org/drawingml/2006/main" noGrp="1"/>
          </p:cNvSpPr>
          <p:nvPr/>
        </p:nvSpPr>
        <p:spPr>
          <a:xfrm xmlns:a="http://schemas.openxmlformats.org/drawingml/2006/main">
            <a:off x="647700" y="5572125"/>
            <a:ext cx="209550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675" b="1" i="0">
                <a:solidFill>
                  <a:srgbClr val="FF654F"/>
                </a:solidFill>
                <a:latin typeface="Helvetica"/>
                <a:ea typeface="Helvetica"/>
                <a:cs typeface="Helvetica"/>
              </a:defRPr>
            </a:defPPr>
          </a:lstStyle>
          <a:p xmlns:a="http://schemas.openxmlformats.org/drawingml/2006/main">
            <a:pPr algn="l">
              <a:defRPr sz="675" b="1" i="0">
                <a:solidFill>
                  <a:srgbClr val="FF654F"/>
                </a:solidFill>
                <a:latin typeface="Helvetica"/>
                <a:ea typeface="Helvetica"/>
                <a:cs typeface="Helvetica"/>
              </a:defRPr>
            </a:pPr>
            <a:r>
              <a:rPr sz="675" b="1" i="0">
                <a:solidFill>
                  <a:srgbClr val="FF654F"/>
                </a:solidFill>
                <a:latin typeface="Helvetica"/>
                <a:ea typeface="Helvetica"/>
                <a:cs typeface="Helvetica"/>
              </a:rPr>
              <a:t>COMMERCIAL CONSEQUENCE</a:t>
            </a:r>
          </a:p>
        </p:txBody>
      </p:sp>
      <p:sp>
        <p:nvSpPr>
          <p:cNvPr id="17" name="">
            <a:extLst xmlns:a="http://schemas.openxmlformats.org/drawingml/2006/main">
              <a:ext uri="{FF2B5EF4-FFF2-40B4-BE49-F238E27FC236}">
                <a16:creationId xmlns:a16="http://schemas.microsoft.com/office/drawing/2014/main" id="{1E361511-B2EF-4B91-B5D9-BAA690E5970E}"/>
              </a:ext>
            </a:extLst>
          </p:cNvPr>
          <p:cNvSpPr>
            <a:spLocks xmlns:a="http://schemas.openxmlformats.org/drawingml/2006/main" noGrp="1"/>
          </p:cNvSpPr>
          <p:nvPr/>
        </p:nvSpPr>
        <p:spPr>
          <a:xfrm xmlns:a="http://schemas.openxmlformats.org/drawingml/2006/main">
            <a:off x="2619375" y="5505450"/>
            <a:ext cx="8382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200" b="1" i="0">
                <a:solidFill>
                  <a:srgbClr val="FFFDFC"/>
                </a:solidFill>
                <a:latin typeface="Helvetica"/>
                <a:ea typeface="Helvetica"/>
                <a:cs typeface="Helvetica"/>
              </a:defRPr>
            </a:defPPr>
          </a:lstStyle>
          <a:p xmlns:a="http://schemas.openxmlformats.org/drawingml/2006/main">
            <a:pPr algn="l">
              <a:defRPr sz="1200" b="1" i="0">
                <a:solidFill>
                  <a:srgbClr val="FFFDFC"/>
                </a:solidFill>
                <a:latin typeface="Helvetica"/>
                <a:ea typeface="Helvetica"/>
                <a:cs typeface="Helvetica"/>
              </a:defRPr>
            </a:pPr>
            <a:r>
              <a:rPr sz="1200" b="1" i="0">
                <a:solidFill>
                  <a:srgbClr val="FFFDFC"/>
                </a:solidFill>
                <a:latin typeface="Helvetica"/>
                <a:ea typeface="Helvetica"/>
                <a:cs typeface="Helvetica"/>
              </a:rPr>
              <a:t>A distinctive world turns the published science into a recognisable visual behaviour, not another nutrition claim.</a:t>
            </a:r>
          </a:p>
        </p:txBody>
      </p:sp>
      <p:sp>
        <p:nvSpPr>
          <p:cNvPr id="18" name="">
            <a:extLst xmlns:a="http://schemas.openxmlformats.org/drawingml/2006/main">
              <a:ext uri="{FF2B5EF4-FFF2-40B4-BE49-F238E27FC236}">
                <a16:creationId xmlns:a16="http://schemas.microsoft.com/office/drawing/2014/main" id="{10375000-A91E-4889-BE78-F640234601C8}"/>
              </a:ext>
            </a:extLst>
          </p:cNvPr>
          <p:cNvSpPr>
            <a:spLocks xmlns:a="http://schemas.openxmlformats.org/drawingml/2006/main" noGrp="1"/>
          </p:cNvSpPr>
          <p:nvPr/>
        </p:nvSpPr>
        <p:spPr>
          <a:xfrm xmlns:a="http://schemas.openxmlformats.org/drawingml/2006/main">
            <a:off x="647700" y="6134100"/>
            <a:ext cx="4953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825" b="1" i="0">
                <a:solidFill>
                  <a:srgbClr val="C8B7E8"/>
                </a:solidFill>
                <a:latin typeface="Helvetica"/>
                <a:ea typeface="Helvetica"/>
                <a:cs typeface="Helvetica"/>
              </a:defRPr>
            </a:defPPr>
          </a:lstStyle>
          <a:p xmlns:a="http://schemas.openxmlformats.org/drawingml/2006/main">
            <a:pPr algn="l">
              <a:defRPr sz="825" b="1" i="0">
                <a:solidFill>
                  <a:srgbClr val="C8B7E8"/>
                </a:solidFill>
                <a:latin typeface="Helvetica"/>
                <a:ea typeface="Helvetica"/>
                <a:cs typeface="Helvetica"/>
              </a:defRPr>
            </a:pPr>
            <a:r>
              <a:rPr sz="825" b="1" i="0">
                <a:solidFill>
                  <a:srgbClr val="C8B7E8"/>
                </a:solidFill>
                <a:latin typeface="Helvetica"/>
                <a:ea typeface="Helvetica"/>
                <a:cs typeface="Helvetica"/>
              </a:rPr>
              <a:t>SOURCES: T1, S2</a:t>
            </a:r>
          </a:p>
        </p:txBody>
      </p:sp>
      <p:sp>
        <p:nvSpPr>
          <p:cNvPr id="19" name="">
            <a:extLst xmlns:a="http://schemas.openxmlformats.org/drawingml/2006/main">
              <a:ext uri="{FF2B5EF4-FFF2-40B4-BE49-F238E27FC236}">
                <a16:creationId xmlns:a16="http://schemas.microsoft.com/office/drawing/2014/main" id="{F50281DA-E977-4B66-B073-4A86D2464D15}"/>
              </a:ext>
            </a:extLst>
          </p:cNvPr>
          <p:cNvSpPr>
            <a:spLocks xmlns:a="http://schemas.openxmlformats.org/drawingml/2006/main" noGrp="1"/>
          </p:cNvSpPr>
          <p:nvPr/>
        </p:nvSpPr>
        <p:spPr>
          <a:xfrm xmlns:a="http://schemas.openxmlformats.org/drawingml/2006/main">
            <a:off x="5715000" y="6134100"/>
            <a:ext cx="48768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r">
              <a:defRPr sz="825" b="1" i="0">
                <a:solidFill>
                  <a:srgbClr val="C8B7E8"/>
                </a:solidFill>
                <a:latin typeface="Helvetica"/>
                <a:ea typeface="Helvetica"/>
                <a:cs typeface="Helvetica"/>
              </a:defRPr>
            </a:defPPr>
          </a:lstStyle>
          <a:p xmlns:a="http://schemas.openxmlformats.org/drawingml/2006/main">
            <a:pPr algn="r">
              <a:defRPr sz="825" b="1" i="0">
                <a:solidFill>
                  <a:srgbClr val="C8B7E8"/>
                </a:solidFill>
                <a:latin typeface="Helvetica"/>
                <a:ea typeface="Helvetica"/>
                <a:cs typeface="Helvetica"/>
              </a:defRPr>
            </a:pPr>
            <a:r>
              <a:rPr sz="825" b="1" i="0">
                <a:solidFill>
                  <a:srgbClr val="C8B7E8"/>
                </a:solidFill>
                <a:latin typeface="Helvetica"/>
                <a:ea typeface="Helvetica"/>
                <a:cs typeface="Helvetica"/>
              </a:rPr>
              <a:t>PROPOSED CREATIVE TERRITORY</a:t>
            </a:r>
          </a:p>
        </p:txBody>
      </p:sp>
      <p:sp>
        <p:nvSpPr>
          <p:cNvPr id="20" name="">
            <a:extLst xmlns:a="http://schemas.openxmlformats.org/drawingml/2006/main">
              <a:ext uri="{FF2B5EF4-FFF2-40B4-BE49-F238E27FC236}">
                <a16:creationId xmlns:a16="http://schemas.microsoft.com/office/drawing/2014/main" id="{C0DDAF64-BB0A-448A-837C-EAF375D802D5}"/>
              </a:ext>
            </a:extLst>
          </p:cNvPr>
          <p:cNvSpPr>
            <a:spLocks xmlns:a="http://schemas.openxmlformats.org/drawingml/2006/main" noGrp="1"/>
          </p:cNvSpPr>
          <p:nvPr/>
        </p:nvSpPr>
        <p:spPr>
          <a:xfrm xmlns:a="http://schemas.openxmlformats.org/drawingml/2006/main">
            <a:off x="647700" y="6515100"/>
            <a:ext cx="17145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675" b="1" i="0">
                <a:solidFill>
                  <a:srgbClr val="C8B7E8"/>
                </a:solidFill>
                <a:latin typeface="Helvetica"/>
                <a:ea typeface="Helvetica"/>
                <a:cs typeface="Helvetica"/>
              </a:defRPr>
            </a:defPPr>
          </a:lstStyle>
          <a:p xmlns:a="http://schemas.openxmlformats.org/drawingml/2006/main">
            <a:pPr algn="l">
              <a:defRPr sz="675" b="1" i="0">
                <a:solidFill>
                  <a:srgbClr val="C8B7E8"/>
                </a:solidFill>
                <a:latin typeface="Helvetica"/>
                <a:ea typeface="Helvetica"/>
                <a:cs typeface="Helvetica"/>
              </a:defRPr>
            </a:pPr>
            <a:r>
              <a:rPr sz="675" b="1" i="0">
                <a:solidFill>
                  <a:srgbClr val="C8B7E8"/>
                </a:solidFill>
                <a:latin typeface="Helvetica"/>
                <a:ea typeface="Helvetica"/>
                <a:cs typeface="Helvetica"/>
              </a:rPr>
              <a:t>NARRATIIVE</a:t>
            </a:r>
          </a:p>
        </p:txBody>
      </p:sp>
      <p:sp>
        <p:nvSpPr>
          <p:cNvPr id="21" name="">
            <a:extLst xmlns:a="http://schemas.openxmlformats.org/drawingml/2006/main">
              <a:ext uri="{FF2B5EF4-FFF2-40B4-BE49-F238E27FC236}">
                <a16:creationId xmlns:a16="http://schemas.microsoft.com/office/drawing/2014/main" id="{0D1D9C94-4ED2-45B9-A226-B788A466BEC0}"/>
              </a:ext>
            </a:extLst>
          </p:cNvPr>
          <p:cNvSpPr>
            <a:spLocks xmlns:a="http://schemas.openxmlformats.org/drawingml/2006/main" noGrp="1"/>
          </p:cNvSpPr>
          <p:nvPr/>
        </p:nvSpPr>
        <p:spPr>
          <a:xfrm xmlns:a="http://schemas.openxmlformats.org/drawingml/2006/main">
            <a:off x="10668000" y="6515100"/>
            <a:ext cx="8763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r">
              <a:defRPr sz="675" b="0" i="0">
                <a:solidFill>
                  <a:srgbClr val="C8B7E8"/>
                </a:solidFill>
                <a:latin typeface="Helvetica"/>
                <a:ea typeface="Helvetica"/>
                <a:cs typeface="Helvetica"/>
              </a:defRPr>
            </a:defPPr>
          </a:lstStyle>
          <a:p xmlns:a="http://schemas.openxmlformats.org/drawingml/2006/main">
            <a:pPr algn="r">
              <a:defRPr sz="675" b="0" i="0">
                <a:solidFill>
                  <a:srgbClr val="C8B7E8"/>
                </a:solidFill>
                <a:latin typeface="Helvetica"/>
                <a:ea typeface="Helvetica"/>
                <a:cs typeface="Helvetica"/>
              </a:defRPr>
            </a:pPr>
            <a:r>
              <a:rPr sz="675" b="0" i="0">
                <a:solidFill>
                  <a:srgbClr val="C8B7E8"/>
                </a:solidFill>
                <a:latin typeface="Helvetica"/>
                <a:ea typeface="Helvetica"/>
                <a:cs typeface="Helvetica"/>
              </a:rPr>
              <a:t>27 / 30</a:t>
            </a:r>
          </a:p>
        </p:txBody>
      </p:sp>
    </p:spTree>
    <p:extLst>
      <p:ext uri="{BB962C8B-B14F-4D97-AF65-F5344CB8AC3E}">
        <p14:creationId xmlns:p14="http://schemas.microsoft.com/office/powerpoint/2010/main" val="1642081527"/>
      </p:ext>
    </p:extLst>
  </p:cSld>
</p:sld>
</file>

<file path=ppt/slides/slide28.xml><?xml version="1.0" encoding="utf-8"?>
<p:sld xmlns:p="http://schemas.openxmlformats.org/presentationml/2006/main">
  <p:cSld>
    <p:bg>
      <p:bgPr>
        <a:solidFill xmlns:a="http://schemas.openxmlformats.org/drawingml/2006/main">
          <a:srgbClr val="F6F0E8"/>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D6D169B5-8A30-4AD6-9B54-027F6CB6A853}"/>
              </a:ext>
            </a:extLst>
          </p:cNvPr>
          <p:cNvSpPr>
            <a:spLocks xmlns:a="http://schemas.openxmlformats.org/drawingml/2006/main" noGrp="1"/>
          </p:cNvSpPr>
          <p:nvPr/>
        </p:nvSpPr>
        <p:spPr>
          <a:xfrm xmlns:a="http://schemas.openxmlformats.org/drawingml/2006/main">
            <a:off x="647700" y="333375"/>
            <a:ext cx="57150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675" b="1" i="0">
                <a:solidFill>
                  <a:srgbClr val="FF654F"/>
                </a:solidFill>
                <a:latin typeface="Helvetica"/>
                <a:ea typeface="Helvetica"/>
                <a:cs typeface="Helvetica"/>
              </a:defRPr>
            </a:defPPr>
          </a:lstStyle>
          <a:p xmlns:a="http://schemas.openxmlformats.org/drawingml/2006/main">
            <a:pPr algn="l">
              <a:defRPr sz="675" b="1" i="0">
                <a:solidFill>
                  <a:srgbClr val="FF654F"/>
                </a:solidFill>
                <a:latin typeface="Helvetica"/>
                <a:ea typeface="Helvetica"/>
                <a:cs typeface="Helvetica"/>
              </a:defRPr>
            </a:pPr>
            <a:r>
              <a:rPr sz="675" b="1" i="0">
                <a:solidFill>
                  <a:srgbClr val="FF654F"/>
                </a:solidFill>
                <a:latin typeface="Helvetica"/>
                <a:ea typeface="Helvetica"/>
                <a:cs typeface="Helvetica"/>
              </a:rPr>
              <a:t>ACT 6 / IMPLEMENTATION + MEASUREMENT</a:t>
            </a:r>
          </a:p>
        </p:txBody>
      </p:sp>
      <p:sp>
        <p:nvSpPr>
          <p:cNvPr id="2" name="">
            <a:extLst xmlns:a="http://schemas.openxmlformats.org/drawingml/2006/main">
              <a:ext uri="{FF2B5EF4-FFF2-40B4-BE49-F238E27FC236}">
                <a16:creationId xmlns:a16="http://schemas.microsoft.com/office/drawing/2014/main" id="{2DBA07DC-2A2D-4A20-A78E-F3DA62DA391D}"/>
              </a:ext>
            </a:extLst>
          </p:cNvPr>
          <p:cNvSpPr>
            <a:spLocks xmlns:a="http://schemas.openxmlformats.org/drawingml/2006/main" noGrp="1"/>
          </p:cNvSpPr>
          <p:nvPr/>
        </p:nvSpPr>
        <p:spPr>
          <a:xfrm xmlns:a="http://schemas.openxmlformats.org/drawingml/2006/main">
            <a:off x="647700" y="685800"/>
            <a:ext cx="1047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2325" b="1" i="0">
                <a:solidFill>
                  <a:srgbClr val="15121B"/>
                </a:solidFill>
                <a:latin typeface="Helvetica"/>
                <a:ea typeface="Helvetica"/>
                <a:cs typeface="Helvetica"/>
              </a:defRPr>
            </a:defPPr>
          </a:lstStyle>
          <a:p xmlns:a="http://schemas.openxmlformats.org/drawingml/2006/main">
            <a:pPr algn="l">
              <a:defRPr sz="2325" b="1" i="0">
                <a:solidFill>
                  <a:srgbClr val="15121B"/>
                </a:solidFill>
                <a:latin typeface="Helvetica"/>
                <a:ea typeface="Helvetica"/>
                <a:cs typeface="Helvetica"/>
              </a:defRPr>
            </a:pPr>
            <a:r>
              <a:rPr sz="2325" b="1" i="0">
                <a:solidFill>
                  <a:srgbClr val="15121B"/>
                </a:solidFill>
                <a:latin typeface="Helvetica"/>
                <a:ea typeface="Helvetica"/>
                <a:cs typeface="Helvetica"/>
              </a:rPr>
              <a:t>Growth Priorities / 90-Day Activation Plan</a:t>
            </a:r>
          </a:p>
        </p:txBody>
      </p:sp>
      <p:sp>
        <p:nvSpPr>
          <p:cNvPr id="3" name="">
            <a:extLst xmlns:a="http://schemas.openxmlformats.org/drawingml/2006/main">
              <a:ext uri="{FF2B5EF4-FFF2-40B4-BE49-F238E27FC236}">
                <a16:creationId xmlns:a16="http://schemas.microsoft.com/office/drawing/2014/main" id="{C77CEF33-E354-4917-A8C4-56C2D40C5910}"/>
              </a:ext>
            </a:extLst>
          </p:cNvPr>
          <p:cNvSpPr>
            <a:spLocks xmlns:a="http://schemas.openxmlformats.org/drawingml/2006/main" noGrp="1"/>
          </p:cNvSpPr>
          <p:nvPr/>
        </p:nvSpPr>
        <p:spPr>
          <a:xfrm xmlns:a="http://schemas.openxmlformats.org/drawingml/2006/main">
            <a:off x="647700" y="1400175"/>
            <a:ext cx="10896600" cy="19050"/>
          </a:xfrm>
          <a:prstGeom xmlns:a="http://schemas.openxmlformats.org/drawingml/2006/main" prst="rect">
            <a:avLst/>
          </a:prstGeom>
          <a:solidFill xmlns:a="http://schemas.openxmlformats.org/drawingml/2006/main">
            <a:srgbClr val="D9CFD5"/>
          </a:solidFill>
          <a:ln xmlns:a="http://schemas.openxmlformats.org/drawingml/2006/main" w="0">
            <a:solidFill>
              <a:srgbClr val="D9CFD5"/>
            </a:solidFill>
          </a:ln>
        </p:spPr>
      </p:sp>
      <p:sp>
        <p:nvSpPr>
          <p:cNvPr id="4" name="">
            <a:extLst xmlns:a="http://schemas.openxmlformats.org/drawingml/2006/main">
              <a:ext uri="{FF2B5EF4-FFF2-40B4-BE49-F238E27FC236}">
                <a16:creationId xmlns:a16="http://schemas.microsoft.com/office/drawing/2014/main" id="{92154DD8-0F5D-4CA0-AD53-60622B81C83E}"/>
              </a:ext>
            </a:extLst>
          </p:cNvPr>
          <p:cNvSpPr>
            <a:spLocks xmlns:a="http://schemas.openxmlformats.org/drawingml/2006/main" noGrp="1"/>
          </p:cNvSpPr>
          <p:nvPr/>
        </p:nvSpPr>
        <p:spPr>
          <a:xfrm xmlns:a="http://schemas.openxmlformats.org/drawingml/2006/main">
            <a:off x="685800" y="1857375"/>
            <a:ext cx="3238500" cy="3000375"/>
          </a:xfrm>
          <a:prstGeom xmlns:a="http://schemas.openxmlformats.org/drawingml/2006/main" prst="roundRect">
            <a:avLst>
              <a:gd name="adj" fmla="val 2540"/>
            </a:avLst>
          </a:prstGeom>
          <a:solidFill xmlns:a="http://schemas.openxmlformats.org/drawingml/2006/main">
            <a:srgbClr val="261A31"/>
          </a:solidFill>
          <a:ln xmlns:a="http://schemas.openxmlformats.org/drawingml/2006/main" w="0">
            <a:solidFill>
              <a:srgbClr val="261A31"/>
            </a:solidFill>
          </a:ln>
        </p:spPr>
      </p:sp>
      <p:sp>
        <p:nvSpPr>
          <p:cNvPr id="5" name="">
            <a:extLst xmlns:a="http://schemas.openxmlformats.org/drawingml/2006/main">
              <a:ext uri="{FF2B5EF4-FFF2-40B4-BE49-F238E27FC236}">
                <a16:creationId xmlns:a16="http://schemas.microsoft.com/office/drawing/2014/main" id="{B02A67D2-8CEF-43F7-988C-5C725424BD1D}"/>
              </a:ext>
            </a:extLst>
          </p:cNvPr>
          <p:cNvSpPr>
            <a:spLocks xmlns:a="http://schemas.openxmlformats.org/drawingml/2006/main" noGrp="1"/>
          </p:cNvSpPr>
          <p:nvPr/>
        </p:nvSpPr>
        <p:spPr>
          <a:xfrm xmlns:a="http://schemas.openxmlformats.org/drawingml/2006/main">
            <a:off x="914400" y="2133600"/>
            <a:ext cx="27813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750" b="1" i="0">
                <a:solidFill>
                  <a:srgbClr val="FFFDFC"/>
                </a:solidFill>
                <a:latin typeface="Helvetica"/>
                <a:ea typeface="Helvetica"/>
                <a:cs typeface="Helvetica"/>
              </a:defRPr>
            </a:defPPr>
          </a:lstStyle>
          <a:p xmlns:a="http://schemas.openxmlformats.org/drawingml/2006/main">
            <a:pPr algn="l">
              <a:defRPr sz="750" b="1" i="0">
                <a:solidFill>
                  <a:srgbClr val="FFFDFC"/>
                </a:solidFill>
                <a:latin typeface="Helvetica"/>
                <a:ea typeface="Helvetica"/>
                <a:cs typeface="Helvetica"/>
              </a:defRPr>
            </a:pPr>
            <a:r>
              <a:rPr sz="750" b="1" i="0">
                <a:solidFill>
                  <a:srgbClr val="FFFDFC"/>
                </a:solidFill>
                <a:latin typeface="Helvetica"/>
                <a:ea typeface="Helvetica"/>
                <a:cs typeface="Helvetica"/>
              </a:rPr>
              <a:t>DAYS 1-30</a:t>
            </a:r>
          </a:p>
        </p:txBody>
      </p:sp>
      <p:sp>
        <p:nvSpPr>
          <p:cNvPr id="6" name="">
            <a:extLst xmlns:a="http://schemas.openxmlformats.org/drawingml/2006/main">
              <a:ext uri="{FF2B5EF4-FFF2-40B4-BE49-F238E27FC236}">
                <a16:creationId xmlns:a16="http://schemas.microsoft.com/office/drawing/2014/main" id="{8ADEFC43-57A9-4E9F-8413-CA465F7591A6}"/>
              </a:ext>
            </a:extLst>
          </p:cNvPr>
          <p:cNvSpPr>
            <a:spLocks xmlns:a="http://schemas.openxmlformats.org/drawingml/2006/main" noGrp="1"/>
          </p:cNvSpPr>
          <p:nvPr/>
        </p:nvSpPr>
        <p:spPr>
          <a:xfrm xmlns:a="http://schemas.openxmlformats.org/drawingml/2006/main">
            <a:off x="914400" y="2647950"/>
            <a:ext cx="27813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2025" b="1" i="0">
                <a:solidFill>
                  <a:srgbClr val="FFFDFC"/>
                </a:solidFill>
                <a:latin typeface="Helvetica"/>
                <a:ea typeface="Helvetica"/>
                <a:cs typeface="Helvetica"/>
              </a:defRPr>
            </a:defPPr>
          </a:lstStyle>
          <a:p xmlns:a="http://schemas.openxmlformats.org/drawingml/2006/main">
            <a:pPr algn="l">
              <a:defRPr sz="2025" b="1" i="0">
                <a:solidFill>
                  <a:srgbClr val="FFFDFC"/>
                </a:solidFill>
                <a:latin typeface="Helvetica"/>
                <a:ea typeface="Helvetica"/>
                <a:cs typeface="Helvetica"/>
              </a:defRPr>
            </a:pPr>
            <a:r>
              <a:rPr sz="2025" b="1" i="0">
                <a:solidFill>
                  <a:srgbClr val="FFFDFC"/>
                </a:solidFill>
                <a:latin typeface="Helvetica"/>
                <a:ea typeface="Helvetica"/>
                <a:cs typeface="Helvetica"/>
              </a:rPr>
              <a:t>Foundation</a:t>
            </a:r>
          </a:p>
        </p:txBody>
      </p:sp>
      <p:sp>
        <p:nvSpPr>
          <p:cNvPr id="7" name="">
            <a:extLst xmlns:a="http://schemas.openxmlformats.org/drawingml/2006/main">
              <a:ext uri="{FF2B5EF4-FFF2-40B4-BE49-F238E27FC236}">
                <a16:creationId xmlns:a16="http://schemas.microsoft.com/office/drawing/2014/main" id="{6A425637-5825-4562-ACCC-6142A45CB5E8}"/>
              </a:ext>
            </a:extLst>
          </p:cNvPr>
          <p:cNvSpPr>
            <a:spLocks xmlns:a="http://schemas.openxmlformats.org/drawingml/2006/main" noGrp="1"/>
          </p:cNvSpPr>
          <p:nvPr/>
        </p:nvSpPr>
        <p:spPr>
          <a:xfrm xmlns:a="http://schemas.openxmlformats.org/drawingml/2006/main">
            <a:off x="914400" y="3352800"/>
            <a:ext cx="27813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350" b="0" i="0">
                <a:solidFill>
                  <a:srgbClr val="FFFDFC"/>
                </a:solidFill>
                <a:latin typeface="Helvetica"/>
                <a:ea typeface="Helvetica"/>
                <a:cs typeface="Helvetica"/>
              </a:defRPr>
            </a:defPPr>
          </a:lstStyle>
          <a:p xmlns:a="http://schemas.openxmlformats.org/drawingml/2006/main">
            <a:pPr algn="l">
              <a:defRPr sz="1350" b="0" i="0">
                <a:solidFill>
                  <a:srgbClr val="FFFDFC"/>
                </a:solidFill>
                <a:latin typeface="Helvetica"/>
                <a:ea typeface="Helvetica"/>
                <a:cs typeface="Helvetica"/>
              </a:defRPr>
            </a:pPr>
            <a:r>
              <a:rPr sz="1350" b="0" i="0">
                <a:solidFill>
                  <a:srgbClr val="FFFDFC"/>
                </a:solidFill>
                <a:latin typeface="Helvetica"/>
                <a:ea typeface="Helvetica"/>
                <a:cs typeface="Helvetica"/>
              </a:rPr>
              <a:t>Founder pressure-test and evidence audit</a:t>
            </a:r>
          </a:p>
        </p:txBody>
      </p:sp>
      <p:sp>
        <p:nvSpPr>
          <p:cNvPr id="8" name="">
            <a:extLst xmlns:a="http://schemas.openxmlformats.org/drawingml/2006/main">
              <a:ext uri="{FF2B5EF4-FFF2-40B4-BE49-F238E27FC236}">
                <a16:creationId xmlns:a16="http://schemas.microsoft.com/office/drawing/2014/main" id="{5B8BD10E-A68B-45F9-88B0-A72B9E1D6ECE}"/>
              </a:ext>
            </a:extLst>
          </p:cNvPr>
          <p:cNvSpPr>
            <a:spLocks xmlns:a="http://schemas.openxmlformats.org/drawingml/2006/main" noGrp="1"/>
          </p:cNvSpPr>
          <p:nvPr/>
        </p:nvSpPr>
        <p:spPr>
          <a:xfrm xmlns:a="http://schemas.openxmlformats.org/drawingml/2006/main">
            <a:off x="4362450" y="1857375"/>
            <a:ext cx="3238500" cy="3000375"/>
          </a:xfrm>
          <a:prstGeom xmlns:a="http://schemas.openxmlformats.org/drawingml/2006/main" prst="roundRect">
            <a:avLst>
              <a:gd name="adj" fmla="val 2540"/>
            </a:avLst>
          </a:prstGeom>
          <a:solidFill xmlns:a="http://schemas.openxmlformats.org/drawingml/2006/main">
            <a:srgbClr val="5A2E78"/>
          </a:solidFill>
          <a:ln xmlns:a="http://schemas.openxmlformats.org/drawingml/2006/main" w="0">
            <a:solidFill>
              <a:srgbClr val="5A2E78"/>
            </a:solidFill>
          </a:ln>
        </p:spPr>
      </p:sp>
      <p:sp>
        <p:nvSpPr>
          <p:cNvPr id="9" name="">
            <a:extLst xmlns:a="http://schemas.openxmlformats.org/drawingml/2006/main">
              <a:ext uri="{FF2B5EF4-FFF2-40B4-BE49-F238E27FC236}">
                <a16:creationId xmlns:a16="http://schemas.microsoft.com/office/drawing/2014/main" id="{289C7A62-3F19-44EE-A5E9-E48BCC86AC2F}"/>
              </a:ext>
            </a:extLst>
          </p:cNvPr>
          <p:cNvSpPr>
            <a:spLocks xmlns:a="http://schemas.openxmlformats.org/drawingml/2006/main" noGrp="1"/>
          </p:cNvSpPr>
          <p:nvPr/>
        </p:nvSpPr>
        <p:spPr>
          <a:xfrm xmlns:a="http://schemas.openxmlformats.org/drawingml/2006/main">
            <a:off x="4591050" y="2133600"/>
            <a:ext cx="27813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750" b="1" i="0">
                <a:solidFill>
                  <a:srgbClr val="FFFDFC"/>
                </a:solidFill>
                <a:latin typeface="Helvetica"/>
                <a:ea typeface="Helvetica"/>
                <a:cs typeface="Helvetica"/>
              </a:defRPr>
            </a:defPPr>
          </a:lstStyle>
          <a:p xmlns:a="http://schemas.openxmlformats.org/drawingml/2006/main">
            <a:pPr algn="l">
              <a:defRPr sz="750" b="1" i="0">
                <a:solidFill>
                  <a:srgbClr val="FFFDFC"/>
                </a:solidFill>
                <a:latin typeface="Helvetica"/>
                <a:ea typeface="Helvetica"/>
                <a:cs typeface="Helvetica"/>
              </a:defRPr>
            </a:pPr>
            <a:r>
              <a:rPr sz="750" b="1" i="0">
                <a:solidFill>
                  <a:srgbClr val="FFFDFC"/>
                </a:solidFill>
                <a:latin typeface="Helvetica"/>
                <a:ea typeface="Helvetica"/>
                <a:cs typeface="Helvetica"/>
              </a:rPr>
              <a:t>DAYS 31-60</a:t>
            </a:r>
          </a:p>
        </p:txBody>
      </p:sp>
      <p:sp>
        <p:nvSpPr>
          <p:cNvPr id="10" name="">
            <a:extLst xmlns:a="http://schemas.openxmlformats.org/drawingml/2006/main">
              <a:ext uri="{FF2B5EF4-FFF2-40B4-BE49-F238E27FC236}">
                <a16:creationId xmlns:a16="http://schemas.microsoft.com/office/drawing/2014/main" id="{C4651BB7-B071-46BC-B02D-435BA7577DA9}"/>
              </a:ext>
            </a:extLst>
          </p:cNvPr>
          <p:cNvSpPr>
            <a:spLocks xmlns:a="http://schemas.openxmlformats.org/drawingml/2006/main" noGrp="1"/>
          </p:cNvSpPr>
          <p:nvPr/>
        </p:nvSpPr>
        <p:spPr>
          <a:xfrm xmlns:a="http://schemas.openxmlformats.org/drawingml/2006/main">
            <a:off x="4591050" y="2647950"/>
            <a:ext cx="27813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2025" b="1" i="0">
                <a:solidFill>
                  <a:srgbClr val="FFFDFC"/>
                </a:solidFill>
                <a:latin typeface="Helvetica"/>
                <a:ea typeface="Helvetica"/>
                <a:cs typeface="Helvetica"/>
              </a:defRPr>
            </a:defPPr>
          </a:lstStyle>
          <a:p xmlns:a="http://schemas.openxmlformats.org/drawingml/2006/main">
            <a:pPr algn="l">
              <a:defRPr sz="2025" b="1" i="0">
                <a:solidFill>
                  <a:srgbClr val="FFFDFC"/>
                </a:solidFill>
                <a:latin typeface="Helvetica"/>
                <a:ea typeface="Helvetica"/>
                <a:cs typeface="Helvetica"/>
              </a:defRPr>
            </a:pPr>
            <a:r>
              <a:rPr sz="2025" b="1" i="0">
                <a:solidFill>
                  <a:srgbClr val="FFFDFC"/>
                </a:solidFill>
                <a:latin typeface="Helvetica"/>
                <a:ea typeface="Helvetica"/>
                <a:cs typeface="Helvetica"/>
              </a:rPr>
              <a:t>Prove</a:t>
            </a:r>
          </a:p>
        </p:txBody>
      </p:sp>
      <p:sp>
        <p:nvSpPr>
          <p:cNvPr id="11" name="">
            <a:extLst xmlns:a="http://schemas.openxmlformats.org/drawingml/2006/main">
              <a:ext uri="{FF2B5EF4-FFF2-40B4-BE49-F238E27FC236}">
                <a16:creationId xmlns:a16="http://schemas.microsoft.com/office/drawing/2014/main" id="{AB280A2F-DD5A-4D53-B75B-DE5647DBB0B1}"/>
              </a:ext>
            </a:extLst>
          </p:cNvPr>
          <p:cNvSpPr>
            <a:spLocks xmlns:a="http://schemas.openxmlformats.org/drawingml/2006/main" noGrp="1"/>
          </p:cNvSpPr>
          <p:nvPr/>
        </p:nvSpPr>
        <p:spPr>
          <a:xfrm xmlns:a="http://schemas.openxmlformats.org/drawingml/2006/main">
            <a:off x="4591050" y="3352800"/>
            <a:ext cx="27813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350" b="0" i="0">
                <a:solidFill>
                  <a:srgbClr val="FFFDFC"/>
                </a:solidFill>
                <a:latin typeface="Helvetica"/>
                <a:ea typeface="Helvetica"/>
                <a:cs typeface="Helvetica"/>
              </a:defRPr>
            </a:defPPr>
          </a:lstStyle>
          <a:p xmlns:a="http://schemas.openxmlformats.org/drawingml/2006/main">
            <a:pPr algn="l">
              <a:defRPr sz="1350" b="0" i="0">
                <a:solidFill>
                  <a:srgbClr val="FFFDFC"/>
                </a:solidFill>
                <a:latin typeface="Helvetica"/>
                <a:ea typeface="Helvetica"/>
                <a:cs typeface="Helvetica"/>
              </a:defRPr>
            </a:pPr>
            <a:r>
              <a:rPr sz="1350" b="0" i="0">
                <a:solidFill>
                  <a:srgbClr val="FFFDFC"/>
                </a:solidFill>
                <a:latin typeface="Helvetica"/>
                <a:ea typeface="Helvetica"/>
                <a:cs typeface="Helvetica"/>
              </a:rPr>
              <a:t>Retail translation and CRM pilot</a:t>
            </a:r>
          </a:p>
        </p:txBody>
      </p:sp>
      <p:sp>
        <p:nvSpPr>
          <p:cNvPr id="12" name="">
            <a:extLst xmlns:a="http://schemas.openxmlformats.org/drawingml/2006/main">
              <a:ext uri="{FF2B5EF4-FFF2-40B4-BE49-F238E27FC236}">
                <a16:creationId xmlns:a16="http://schemas.microsoft.com/office/drawing/2014/main" id="{7C236CA1-BE86-4B5A-BEBC-9DD941C82FEE}"/>
              </a:ext>
            </a:extLst>
          </p:cNvPr>
          <p:cNvSpPr>
            <a:spLocks xmlns:a="http://schemas.openxmlformats.org/drawingml/2006/main" noGrp="1"/>
          </p:cNvSpPr>
          <p:nvPr/>
        </p:nvSpPr>
        <p:spPr>
          <a:xfrm xmlns:a="http://schemas.openxmlformats.org/drawingml/2006/main">
            <a:off x="8039100" y="1857375"/>
            <a:ext cx="3238500" cy="3000375"/>
          </a:xfrm>
          <a:prstGeom xmlns:a="http://schemas.openxmlformats.org/drawingml/2006/main" prst="roundRect">
            <a:avLst>
              <a:gd name="adj" fmla="val 2540"/>
            </a:avLst>
          </a:prstGeom>
          <a:solidFill xmlns:a="http://schemas.openxmlformats.org/drawingml/2006/main">
            <a:srgbClr val="FF654F"/>
          </a:solidFill>
          <a:ln xmlns:a="http://schemas.openxmlformats.org/drawingml/2006/main" w="0">
            <a:solidFill>
              <a:srgbClr val="FF654F"/>
            </a:solidFill>
          </a:ln>
        </p:spPr>
      </p:sp>
      <p:sp>
        <p:nvSpPr>
          <p:cNvPr id="13" name="">
            <a:extLst xmlns:a="http://schemas.openxmlformats.org/drawingml/2006/main">
              <a:ext uri="{FF2B5EF4-FFF2-40B4-BE49-F238E27FC236}">
                <a16:creationId xmlns:a16="http://schemas.microsoft.com/office/drawing/2014/main" id="{728D6D2E-0E4A-41C1-A496-70DEC4E0A34F}"/>
              </a:ext>
            </a:extLst>
          </p:cNvPr>
          <p:cNvSpPr>
            <a:spLocks xmlns:a="http://schemas.openxmlformats.org/drawingml/2006/main" noGrp="1"/>
          </p:cNvSpPr>
          <p:nvPr/>
        </p:nvSpPr>
        <p:spPr>
          <a:xfrm xmlns:a="http://schemas.openxmlformats.org/drawingml/2006/main">
            <a:off x="8267700" y="2133600"/>
            <a:ext cx="27813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750" b="1" i="0">
                <a:solidFill>
                  <a:srgbClr val="FFFDFC"/>
                </a:solidFill>
                <a:latin typeface="Helvetica"/>
                <a:ea typeface="Helvetica"/>
                <a:cs typeface="Helvetica"/>
              </a:defRPr>
            </a:defPPr>
          </a:lstStyle>
          <a:p xmlns:a="http://schemas.openxmlformats.org/drawingml/2006/main">
            <a:pPr algn="l">
              <a:defRPr sz="750" b="1" i="0">
                <a:solidFill>
                  <a:srgbClr val="FFFDFC"/>
                </a:solidFill>
                <a:latin typeface="Helvetica"/>
                <a:ea typeface="Helvetica"/>
                <a:cs typeface="Helvetica"/>
              </a:defRPr>
            </a:pPr>
            <a:r>
              <a:rPr sz="750" b="1" i="0">
                <a:solidFill>
                  <a:srgbClr val="FFFDFC"/>
                </a:solidFill>
                <a:latin typeface="Helvetica"/>
                <a:ea typeface="Helvetica"/>
                <a:cs typeface="Helvetica"/>
              </a:rPr>
              <a:t>DAYS 61-90</a:t>
            </a:r>
          </a:p>
        </p:txBody>
      </p:sp>
      <p:sp>
        <p:nvSpPr>
          <p:cNvPr id="14" name="">
            <a:extLst xmlns:a="http://schemas.openxmlformats.org/drawingml/2006/main">
              <a:ext uri="{FF2B5EF4-FFF2-40B4-BE49-F238E27FC236}">
                <a16:creationId xmlns:a16="http://schemas.microsoft.com/office/drawing/2014/main" id="{438076B4-E036-4E02-B5E8-9BDB309CFD22}"/>
              </a:ext>
            </a:extLst>
          </p:cNvPr>
          <p:cNvSpPr>
            <a:spLocks xmlns:a="http://schemas.openxmlformats.org/drawingml/2006/main" noGrp="1"/>
          </p:cNvSpPr>
          <p:nvPr/>
        </p:nvSpPr>
        <p:spPr>
          <a:xfrm xmlns:a="http://schemas.openxmlformats.org/drawingml/2006/main">
            <a:off x="8267700" y="2647950"/>
            <a:ext cx="27813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2025" b="1" i="0">
                <a:solidFill>
                  <a:srgbClr val="FFFDFC"/>
                </a:solidFill>
                <a:latin typeface="Helvetica"/>
                <a:ea typeface="Helvetica"/>
                <a:cs typeface="Helvetica"/>
              </a:defRPr>
            </a:defPPr>
          </a:lstStyle>
          <a:p xmlns:a="http://schemas.openxmlformats.org/drawingml/2006/main">
            <a:pPr algn="l">
              <a:defRPr sz="2025" b="1" i="0">
                <a:solidFill>
                  <a:srgbClr val="FFFDFC"/>
                </a:solidFill>
                <a:latin typeface="Helvetica"/>
                <a:ea typeface="Helvetica"/>
                <a:cs typeface="Helvetica"/>
              </a:defRPr>
            </a:pPr>
            <a:r>
              <a:rPr sz="2025" b="1" i="0">
                <a:solidFill>
                  <a:srgbClr val="FFFDFC"/>
                </a:solidFill>
                <a:latin typeface="Helvetica"/>
                <a:ea typeface="Helvetica"/>
                <a:cs typeface="Helvetica"/>
              </a:rPr>
              <a:t>Scale</a:t>
            </a:r>
          </a:p>
        </p:txBody>
      </p:sp>
      <p:sp>
        <p:nvSpPr>
          <p:cNvPr id="15" name="">
            <a:extLst xmlns:a="http://schemas.openxmlformats.org/drawingml/2006/main">
              <a:ext uri="{FF2B5EF4-FFF2-40B4-BE49-F238E27FC236}">
                <a16:creationId xmlns:a16="http://schemas.microsoft.com/office/drawing/2014/main" id="{16A27D3B-FA81-41AF-A102-21A0767600A6}"/>
              </a:ext>
            </a:extLst>
          </p:cNvPr>
          <p:cNvSpPr>
            <a:spLocks xmlns:a="http://schemas.openxmlformats.org/drawingml/2006/main" noGrp="1"/>
          </p:cNvSpPr>
          <p:nvPr/>
        </p:nvSpPr>
        <p:spPr>
          <a:xfrm xmlns:a="http://schemas.openxmlformats.org/drawingml/2006/main">
            <a:off x="8267700" y="3352800"/>
            <a:ext cx="27813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350" b="0" i="0">
                <a:solidFill>
                  <a:srgbClr val="FFFDFC"/>
                </a:solidFill>
                <a:latin typeface="Helvetica"/>
                <a:ea typeface="Helvetica"/>
                <a:cs typeface="Helvetica"/>
              </a:defRPr>
            </a:defPPr>
          </a:lstStyle>
          <a:p xmlns:a="http://schemas.openxmlformats.org/drawingml/2006/main">
            <a:pPr algn="l">
              <a:defRPr sz="1350" b="0" i="0">
                <a:solidFill>
                  <a:srgbClr val="FFFDFC"/>
                </a:solidFill>
                <a:latin typeface="Helvetica"/>
                <a:ea typeface="Helvetica"/>
                <a:cs typeface="Helvetica"/>
              </a:defRPr>
            </a:pPr>
            <a:r>
              <a:rPr sz="1350" b="0" i="0">
                <a:solidFill>
                  <a:srgbClr val="FFFDFC"/>
                </a:solidFill>
                <a:latin typeface="Helvetica"/>
                <a:ea typeface="Helvetica"/>
                <a:cs typeface="Helvetica"/>
              </a:rPr>
              <a:t>Shift spend only when leading signals move</a:t>
            </a:r>
          </a:p>
        </p:txBody>
      </p:sp>
      <p:sp>
        <p:nvSpPr>
          <p:cNvPr id="16" name="">
            <a:extLst xmlns:a="http://schemas.openxmlformats.org/drawingml/2006/main">
              <a:ext uri="{FF2B5EF4-FFF2-40B4-BE49-F238E27FC236}">
                <a16:creationId xmlns:a16="http://schemas.microsoft.com/office/drawing/2014/main" id="{21B5D2B5-7961-4508-9FC5-B1A72568FEB9}"/>
              </a:ext>
            </a:extLst>
          </p:cNvPr>
          <p:cNvSpPr>
            <a:spLocks xmlns:a="http://schemas.openxmlformats.org/drawingml/2006/main" noGrp="1"/>
          </p:cNvSpPr>
          <p:nvPr/>
        </p:nvSpPr>
        <p:spPr>
          <a:xfrm xmlns:a="http://schemas.openxmlformats.org/drawingml/2006/main">
            <a:off x="647700" y="5572125"/>
            <a:ext cx="209550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675" b="1" i="0">
                <a:solidFill>
                  <a:srgbClr val="FF654F"/>
                </a:solidFill>
                <a:latin typeface="Helvetica"/>
                <a:ea typeface="Helvetica"/>
                <a:cs typeface="Helvetica"/>
              </a:defRPr>
            </a:defPPr>
          </a:lstStyle>
          <a:p xmlns:a="http://schemas.openxmlformats.org/drawingml/2006/main">
            <a:pPr algn="l">
              <a:defRPr sz="675" b="1" i="0">
                <a:solidFill>
                  <a:srgbClr val="FF654F"/>
                </a:solidFill>
                <a:latin typeface="Helvetica"/>
                <a:ea typeface="Helvetica"/>
                <a:cs typeface="Helvetica"/>
              </a:defRPr>
            </a:pPr>
            <a:r>
              <a:rPr sz="675" b="1" i="0">
                <a:solidFill>
                  <a:srgbClr val="FF654F"/>
                </a:solidFill>
                <a:latin typeface="Helvetica"/>
                <a:ea typeface="Helvetica"/>
                <a:cs typeface="Helvetica"/>
              </a:rPr>
              <a:t>COMMERCIAL CONSEQUENCE</a:t>
            </a:r>
          </a:p>
        </p:txBody>
      </p:sp>
      <p:sp>
        <p:nvSpPr>
          <p:cNvPr id="17" name="">
            <a:extLst xmlns:a="http://schemas.openxmlformats.org/drawingml/2006/main">
              <a:ext uri="{FF2B5EF4-FFF2-40B4-BE49-F238E27FC236}">
                <a16:creationId xmlns:a16="http://schemas.microsoft.com/office/drawing/2014/main" id="{19CECCA1-94EE-4444-B506-80441F94B49A}"/>
              </a:ext>
            </a:extLst>
          </p:cNvPr>
          <p:cNvSpPr>
            <a:spLocks xmlns:a="http://schemas.openxmlformats.org/drawingml/2006/main" noGrp="1"/>
          </p:cNvSpPr>
          <p:nvPr/>
        </p:nvSpPr>
        <p:spPr>
          <a:xfrm xmlns:a="http://schemas.openxmlformats.org/drawingml/2006/main">
            <a:off x="2619375" y="5505450"/>
            <a:ext cx="8382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200" b="1" i="0">
                <a:solidFill>
                  <a:srgbClr val="15121B"/>
                </a:solidFill>
                <a:latin typeface="Helvetica"/>
                <a:ea typeface="Helvetica"/>
                <a:cs typeface="Helvetica"/>
              </a:defRPr>
            </a:defPPr>
          </a:lstStyle>
          <a:p xmlns:a="http://schemas.openxmlformats.org/drawingml/2006/main">
            <a:pPr algn="l">
              <a:defRPr sz="1200" b="1" i="0">
                <a:solidFill>
                  <a:srgbClr val="15121B"/>
                </a:solidFill>
                <a:latin typeface="Helvetica"/>
                <a:ea typeface="Helvetica"/>
                <a:cs typeface="Helvetica"/>
              </a:defRPr>
            </a:pPr>
            <a:r>
              <a:rPr sz="1200" b="1" i="0">
                <a:solidFill>
                  <a:srgbClr val="15121B"/>
                </a:solidFill>
                <a:latin typeface="Helvetica"/>
                <a:ea typeface="Helvetica"/>
                <a:cs typeface="Helvetica"/>
              </a:rPr>
              <a:t>Start with a capped, reversible test and a separate claims audit.</a:t>
            </a:r>
          </a:p>
        </p:txBody>
      </p:sp>
      <p:sp>
        <p:nvSpPr>
          <p:cNvPr id="18" name="">
            <a:extLst xmlns:a="http://schemas.openxmlformats.org/drawingml/2006/main">
              <a:ext uri="{FF2B5EF4-FFF2-40B4-BE49-F238E27FC236}">
                <a16:creationId xmlns:a16="http://schemas.microsoft.com/office/drawing/2014/main" id="{647014CC-9D41-472D-ABDF-A727675E75E1}"/>
              </a:ext>
            </a:extLst>
          </p:cNvPr>
          <p:cNvSpPr>
            <a:spLocks xmlns:a="http://schemas.openxmlformats.org/drawingml/2006/main" noGrp="1"/>
          </p:cNvSpPr>
          <p:nvPr/>
        </p:nvSpPr>
        <p:spPr>
          <a:xfrm xmlns:a="http://schemas.openxmlformats.org/drawingml/2006/main">
            <a:off x="647700" y="6134100"/>
            <a:ext cx="4953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825" b="1" i="0">
                <a:solidFill>
                  <a:srgbClr val="756D7A"/>
                </a:solidFill>
                <a:latin typeface="Helvetica"/>
                <a:ea typeface="Helvetica"/>
                <a:cs typeface="Helvetica"/>
              </a:defRPr>
            </a:defPPr>
          </a:lstStyle>
          <a:p xmlns:a="http://schemas.openxmlformats.org/drawingml/2006/main">
            <a:pPr algn="l">
              <a:defRPr sz="825" b="1" i="0">
                <a:solidFill>
                  <a:srgbClr val="756D7A"/>
                </a:solidFill>
                <a:latin typeface="Helvetica"/>
                <a:ea typeface="Helvetica"/>
                <a:cs typeface="Helvetica"/>
              </a:defRPr>
            </a:pPr>
            <a:r>
              <a:rPr sz="825" b="1" i="0">
                <a:solidFill>
                  <a:srgbClr val="756D7A"/>
                </a:solidFill>
                <a:latin typeface="Helvetica"/>
                <a:ea typeface="Helvetica"/>
                <a:cs typeface="Helvetica"/>
              </a:rPr>
              <a:t>SOURCES: T1</a:t>
            </a:r>
          </a:p>
        </p:txBody>
      </p:sp>
      <p:sp>
        <p:nvSpPr>
          <p:cNvPr id="19" name="">
            <a:extLst xmlns:a="http://schemas.openxmlformats.org/drawingml/2006/main">
              <a:ext uri="{FF2B5EF4-FFF2-40B4-BE49-F238E27FC236}">
                <a16:creationId xmlns:a16="http://schemas.microsoft.com/office/drawing/2014/main" id="{0CC31CBF-2861-48F1-B9BB-2A920A74F63A}"/>
              </a:ext>
            </a:extLst>
          </p:cNvPr>
          <p:cNvSpPr>
            <a:spLocks xmlns:a="http://schemas.openxmlformats.org/drawingml/2006/main" noGrp="1"/>
          </p:cNvSpPr>
          <p:nvPr/>
        </p:nvSpPr>
        <p:spPr>
          <a:xfrm xmlns:a="http://schemas.openxmlformats.org/drawingml/2006/main">
            <a:off x="5715000" y="6134100"/>
            <a:ext cx="48768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r">
              <a:defRPr sz="825" b="1" i="0">
                <a:solidFill>
                  <a:srgbClr val="5A2E78"/>
                </a:solidFill>
                <a:latin typeface="Helvetica"/>
                <a:ea typeface="Helvetica"/>
                <a:cs typeface="Helvetica"/>
              </a:defRPr>
            </a:defPPr>
          </a:lstStyle>
          <a:p xmlns:a="http://schemas.openxmlformats.org/drawingml/2006/main">
            <a:pPr algn="r">
              <a:defRPr sz="825" b="1" i="0">
                <a:solidFill>
                  <a:srgbClr val="5A2E78"/>
                </a:solidFill>
                <a:latin typeface="Helvetica"/>
                <a:ea typeface="Helvetica"/>
                <a:cs typeface="Helvetica"/>
              </a:defRPr>
            </a:pPr>
            <a:r>
              <a:rPr sz="825" b="1" i="0">
                <a:solidFill>
                  <a:srgbClr val="5A2E78"/>
                </a:solidFill>
                <a:latin typeface="Helvetica"/>
                <a:ea typeface="Helvetica"/>
                <a:cs typeface="Helvetica"/>
              </a:rPr>
              <a:t>APPROVED STRATEGY</a:t>
            </a:r>
          </a:p>
        </p:txBody>
      </p:sp>
      <p:sp>
        <p:nvSpPr>
          <p:cNvPr id="20" name="">
            <a:extLst xmlns:a="http://schemas.openxmlformats.org/drawingml/2006/main">
              <a:ext uri="{FF2B5EF4-FFF2-40B4-BE49-F238E27FC236}">
                <a16:creationId xmlns:a16="http://schemas.microsoft.com/office/drawing/2014/main" id="{63361EFD-615D-4355-8D45-7C4F7980186E}"/>
              </a:ext>
            </a:extLst>
          </p:cNvPr>
          <p:cNvSpPr>
            <a:spLocks xmlns:a="http://schemas.openxmlformats.org/drawingml/2006/main" noGrp="1"/>
          </p:cNvSpPr>
          <p:nvPr/>
        </p:nvSpPr>
        <p:spPr>
          <a:xfrm xmlns:a="http://schemas.openxmlformats.org/drawingml/2006/main">
            <a:off x="647700" y="6515100"/>
            <a:ext cx="17145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675" b="1" i="0">
                <a:solidFill>
                  <a:srgbClr val="756D7A"/>
                </a:solidFill>
                <a:latin typeface="Helvetica"/>
                <a:ea typeface="Helvetica"/>
                <a:cs typeface="Helvetica"/>
              </a:defRPr>
            </a:defPPr>
          </a:lstStyle>
          <a:p xmlns:a="http://schemas.openxmlformats.org/drawingml/2006/main">
            <a:pPr algn="l">
              <a:defRPr sz="675" b="1" i="0">
                <a:solidFill>
                  <a:srgbClr val="756D7A"/>
                </a:solidFill>
                <a:latin typeface="Helvetica"/>
                <a:ea typeface="Helvetica"/>
                <a:cs typeface="Helvetica"/>
              </a:defRPr>
            </a:pPr>
            <a:r>
              <a:rPr sz="675" b="1" i="0">
                <a:solidFill>
                  <a:srgbClr val="756D7A"/>
                </a:solidFill>
                <a:latin typeface="Helvetica"/>
                <a:ea typeface="Helvetica"/>
                <a:cs typeface="Helvetica"/>
              </a:rPr>
              <a:t>NARRATIIVE</a:t>
            </a:r>
          </a:p>
        </p:txBody>
      </p:sp>
      <p:sp>
        <p:nvSpPr>
          <p:cNvPr id="21" name="">
            <a:extLst xmlns:a="http://schemas.openxmlformats.org/drawingml/2006/main">
              <a:ext uri="{FF2B5EF4-FFF2-40B4-BE49-F238E27FC236}">
                <a16:creationId xmlns:a16="http://schemas.microsoft.com/office/drawing/2014/main" id="{CD94E2EB-B83F-450D-819B-E6D9F6219ED5}"/>
              </a:ext>
            </a:extLst>
          </p:cNvPr>
          <p:cNvSpPr>
            <a:spLocks xmlns:a="http://schemas.openxmlformats.org/drawingml/2006/main" noGrp="1"/>
          </p:cNvSpPr>
          <p:nvPr/>
        </p:nvSpPr>
        <p:spPr>
          <a:xfrm xmlns:a="http://schemas.openxmlformats.org/drawingml/2006/main">
            <a:off x="10668000" y="6515100"/>
            <a:ext cx="8763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r">
              <a:defRPr sz="675" b="0" i="0">
                <a:solidFill>
                  <a:srgbClr val="756D7A"/>
                </a:solidFill>
                <a:latin typeface="Helvetica"/>
                <a:ea typeface="Helvetica"/>
                <a:cs typeface="Helvetica"/>
              </a:defRPr>
            </a:defPPr>
          </a:lstStyle>
          <a:p xmlns:a="http://schemas.openxmlformats.org/drawingml/2006/main">
            <a:pPr algn="r">
              <a:defRPr sz="675" b="0" i="0">
                <a:solidFill>
                  <a:srgbClr val="756D7A"/>
                </a:solidFill>
                <a:latin typeface="Helvetica"/>
                <a:ea typeface="Helvetica"/>
                <a:cs typeface="Helvetica"/>
              </a:defRPr>
            </a:pPr>
            <a:r>
              <a:rPr sz="675" b="0" i="0">
                <a:solidFill>
                  <a:srgbClr val="756D7A"/>
                </a:solidFill>
                <a:latin typeface="Helvetica"/>
                <a:ea typeface="Helvetica"/>
                <a:cs typeface="Helvetica"/>
              </a:rPr>
              <a:t>28 / 30</a:t>
            </a:r>
          </a:p>
        </p:txBody>
      </p:sp>
    </p:spTree>
    <p:extLst>
      <p:ext uri="{BB962C8B-B14F-4D97-AF65-F5344CB8AC3E}">
        <p14:creationId xmlns:p14="http://schemas.microsoft.com/office/powerpoint/2010/main" val="1842889841"/>
      </p:ext>
    </p:extLst>
  </p:cSld>
</p:sld>
</file>

<file path=ppt/slides/slide29.xml><?xml version="1.0" encoding="utf-8"?>
<p:sld xmlns:p="http://schemas.openxmlformats.org/presentationml/2006/main">
  <p:cSld>
    <p:bg>
      <p:bgPr>
        <a:solidFill xmlns:a="http://schemas.openxmlformats.org/drawingml/2006/main">
          <a:srgbClr val="F6F0E8"/>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2CD5CF3B-C0A9-4708-86FD-1D213798F490}"/>
              </a:ext>
            </a:extLst>
          </p:cNvPr>
          <p:cNvSpPr>
            <a:spLocks xmlns:a="http://schemas.openxmlformats.org/drawingml/2006/main" noGrp="1"/>
          </p:cNvSpPr>
          <p:nvPr/>
        </p:nvSpPr>
        <p:spPr>
          <a:xfrm xmlns:a="http://schemas.openxmlformats.org/drawingml/2006/main">
            <a:off x="647700" y="333375"/>
            <a:ext cx="57150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675" b="1" i="0">
                <a:solidFill>
                  <a:srgbClr val="FF654F"/>
                </a:solidFill>
                <a:latin typeface="Helvetica"/>
                <a:ea typeface="Helvetica"/>
                <a:cs typeface="Helvetica"/>
              </a:defRPr>
            </a:defPPr>
          </a:lstStyle>
          <a:p xmlns:a="http://schemas.openxmlformats.org/drawingml/2006/main">
            <a:pPr algn="l">
              <a:defRPr sz="675" b="1" i="0">
                <a:solidFill>
                  <a:srgbClr val="FF654F"/>
                </a:solidFill>
                <a:latin typeface="Helvetica"/>
                <a:ea typeface="Helvetica"/>
                <a:cs typeface="Helvetica"/>
              </a:defRPr>
            </a:pPr>
            <a:r>
              <a:rPr sz="675" b="1" i="0">
                <a:solidFill>
                  <a:srgbClr val="FF654F"/>
                </a:solidFill>
                <a:latin typeface="Helvetica"/>
                <a:ea typeface="Helvetica"/>
                <a:cs typeface="Helvetica"/>
              </a:rPr>
              <a:t>ACT 6 / IMPLEMENTATION + MEASUREMENT</a:t>
            </a:r>
          </a:p>
        </p:txBody>
      </p:sp>
      <p:sp>
        <p:nvSpPr>
          <p:cNvPr id="2" name="">
            <a:extLst xmlns:a="http://schemas.openxmlformats.org/drawingml/2006/main">
              <a:ext uri="{FF2B5EF4-FFF2-40B4-BE49-F238E27FC236}">
                <a16:creationId xmlns:a16="http://schemas.microsoft.com/office/drawing/2014/main" id="{7E92DDEE-4568-44DE-8539-3777DFEC1925}"/>
              </a:ext>
            </a:extLst>
          </p:cNvPr>
          <p:cNvSpPr>
            <a:spLocks xmlns:a="http://schemas.openxmlformats.org/drawingml/2006/main" noGrp="1"/>
          </p:cNvSpPr>
          <p:nvPr/>
        </p:nvSpPr>
        <p:spPr>
          <a:xfrm xmlns:a="http://schemas.openxmlformats.org/drawingml/2006/main">
            <a:off x="647700" y="685800"/>
            <a:ext cx="1047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2325" b="1" i="0">
                <a:solidFill>
                  <a:srgbClr val="15121B"/>
                </a:solidFill>
                <a:latin typeface="Helvetica"/>
                <a:ea typeface="Helvetica"/>
                <a:cs typeface="Helvetica"/>
              </a:defRPr>
            </a:defPPr>
          </a:lstStyle>
          <a:p xmlns:a="http://schemas.openxmlformats.org/drawingml/2006/main">
            <a:pPr algn="l">
              <a:defRPr sz="2325" b="1" i="0">
                <a:solidFill>
                  <a:srgbClr val="15121B"/>
                </a:solidFill>
                <a:latin typeface="Helvetica"/>
                <a:ea typeface="Helvetica"/>
                <a:cs typeface="Helvetica"/>
              </a:defRPr>
            </a:pPr>
            <a:r>
              <a:rPr sz="2325" b="1" i="0">
                <a:solidFill>
                  <a:srgbClr val="15121B"/>
                </a:solidFill>
                <a:latin typeface="Helvetica"/>
                <a:ea typeface="Helvetica"/>
                <a:cs typeface="Helvetica"/>
              </a:rPr>
              <a:t>Measurement Framework</a:t>
            </a:r>
          </a:p>
        </p:txBody>
      </p:sp>
      <p:sp>
        <p:nvSpPr>
          <p:cNvPr id="3" name="">
            <a:extLst xmlns:a="http://schemas.openxmlformats.org/drawingml/2006/main">
              <a:ext uri="{FF2B5EF4-FFF2-40B4-BE49-F238E27FC236}">
                <a16:creationId xmlns:a16="http://schemas.microsoft.com/office/drawing/2014/main" id="{3670F9F5-87FD-4C08-AF95-5848A6F80037}"/>
              </a:ext>
            </a:extLst>
          </p:cNvPr>
          <p:cNvSpPr>
            <a:spLocks xmlns:a="http://schemas.openxmlformats.org/drawingml/2006/main" noGrp="1"/>
          </p:cNvSpPr>
          <p:nvPr/>
        </p:nvSpPr>
        <p:spPr>
          <a:xfrm xmlns:a="http://schemas.openxmlformats.org/drawingml/2006/main">
            <a:off x="647700" y="1400175"/>
            <a:ext cx="10896600" cy="19050"/>
          </a:xfrm>
          <a:prstGeom xmlns:a="http://schemas.openxmlformats.org/drawingml/2006/main" prst="rect">
            <a:avLst/>
          </a:prstGeom>
          <a:solidFill xmlns:a="http://schemas.openxmlformats.org/drawingml/2006/main">
            <a:srgbClr val="D9CFD5"/>
          </a:solidFill>
          <a:ln xmlns:a="http://schemas.openxmlformats.org/drawingml/2006/main" w="0">
            <a:solidFill>
              <a:srgbClr val="D9CFD5"/>
            </a:solidFill>
          </a:ln>
        </p:spPr>
      </p:sp>
      <p:sp>
        <p:nvSpPr>
          <p:cNvPr id="4" name="">
            <a:extLst xmlns:a="http://schemas.openxmlformats.org/drawingml/2006/main">
              <a:ext uri="{FF2B5EF4-FFF2-40B4-BE49-F238E27FC236}">
                <a16:creationId xmlns:a16="http://schemas.microsoft.com/office/drawing/2014/main" id="{2C9C9041-61F5-44DF-A51E-4624F00084CF}"/>
              </a:ext>
            </a:extLst>
          </p:cNvPr>
          <p:cNvSpPr>
            <a:spLocks xmlns:a="http://schemas.openxmlformats.org/drawingml/2006/main" noGrp="1"/>
          </p:cNvSpPr>
          <p:nvPr/>
        </p:nvSpPr>
        <p:spPr>
          <a:xfrm xmlns:a="http://schemas.openxmlformats.org/drawingml/2006/main">
            <a:off x="723900" y="1809750"/>
            <a:ext cx="3238500" cy="781050"/>
          </a:xfrm>
          <a:prstGeom xmlns:a="http://schemas.openxmlformats.org/drawingml/2006/main" prst="roundRect">
            <a:avLst>
              <a:gd name="adj" fmla="val 9756"/>
            </a:avLst>
          </a:prstGeom>
          <a:solidFill xmlns:a="http://schemas.openxmlformats.org/drawingml/2006/main">
            <a:srgbClr val="FF654F"/>
          </a:solidFill>
          <a:ln xmlns:a="http://schemas.openxmlformats.org/drawingml/2006/main" w="0">
            <a:solidFill>
              <a:srgbClr val="FF654F"/>
            </a:solidFill>
          </a:ln>
        </p:spPr>
      </p:sp>
      <p:sp>
        <p:nvSpPr>
          <p:cNvPr id="5" name="">
            <a:extLst xmlns:a="http://schemas.openxmlformats.org/drawingml/2006/main">
              <a:ext uri="{FF2B5EF4-FFF2-40B4-BE49-F238E27FC236}">
                <a16:creationId xmlns:a16="http://schemas.microsoft.com/office/drawing/2014/main" id="{95072A02-9E84-4FA8-A1A7-607021A275AB}"/>
              </a:ext>
            </a:extLst>
          </p:cNvPr>
          <p:cNvSpPr>
            <a:spLocks xmlns:a="http://schemas.openxmlformats.org/drawingml/2006/main" noGrp="1"/>
          </p:cNvSpPr>
          <p:nvPr/>
        </p:nvSpPr>
        <p:spPr>
          <a:xfrm xmlns:a="http://schemas.openxmlformats.org/drawingml/2006/main">
            <a:off x="952500" y="2076450"/>
            <a:ext cx="27813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825" b="1" i="0">
                <a:solidFill>
                  <a:srgbClr val="FFFDFC"/>
                </a:solidFill>
                <a:latin typeface="Helvetica"/>
                <a:ea typeface="Helvetica"/>
                <a:cs typeface="Helvetica"/>
              </a:defRPr>
            </a:defPPr>
          </a:lstStyle>
          <a:p xmlns:a="http://schemas.openxmlformats.org/drawingml/2006/main">
            <a:pPr algn="l">
              <a:defRPr sz="825" b="1" i="0">
                <a:solidFill>
                  <a:srgbClr val="FFFDFC"/>
                </a:solidFill>
                <a:latin typeface="Helvetica"/>
                <a:ea typeface="Helvetica"/>
                <a:cs typeface="Helvetica"/>
              </a:defRPr>
            </a:pPr>
            <a:r>
              <a:rPr sz="825" b="1" i="0">
                <a:solidFill>
                  <a:srgbClr val="FFFDFC"/>
                </a:solidFill>
                <a:latin typeface="Helvetica"/>
                <a:ea typeface="Helvetica"/>
                <a:cs typeface="Helvetica"/>
              </a:rPr>
              <a:t>LEADING / 3-6 MONTHS</a:t>
            </a:r>
          </a:p>
        </p:txBody>
      </p:sp>
      <p:sp>
        <p:nvSpPr>
          <p:cNvPr id="6" name="">
            <a:extLst xmlns:a="http://schemas.openxmlformats.org/drawingml/2006/main">
              <a:ext uri="{FF2B5EF4-FFF2-40B4-BE49-F238E27FC236}">
                <a16:creationId xmlns:a16="http://schemas.microsoft.com/office/drawing/2014/main" id="{0FAFBA6E-217E-4CD5-ABFC-9120F37A09B7}"/>
              </a:ext>
            </a:extLst>
          </p:cNvPr>
          <p:cNvSpPr>
            <a:spLocks xmlns:a="http://schemas.openxmlformats.org/drawingml/2006/main" noGrp="1"/>
          </p:cNvSpPr>
          <p:nvPr/>
        </p:nvSpPr>
        <p:spPr>
          <a:xfrm xmlns:a="http://schemas.openxmlformats.org/drawingml/2006/main">
            <a:off x="4476750" y="1943100"/>
            <a:ext cx="6286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500" b="1" i="0">
                <a:solidFill>
                  <a:srgbClr val="15121B"/>
                </a:solidFill>
                <a:latin typeface="Helvetica"/>
                <a:ea typeface="Helvetica"/>
                <a:cs typeface="Helvetica"/>
              </a:defRPr>
            </a:defPPr>
          </a:lstStyle>
          <a:p xmlns:a="http://schemas.openxmlformats.org/drawingml/2006/main">
            <a:pPr algn="l">
              <a:defRPr sz="1500" b="1" i="0">
                <a:solidFill>
                  <a:srgbClr val="15121B"/>
                </a:solidFill>
                <a:latin typeface="Helvetica"/>
                <a:ea typeface="Helvetica"/>
                <a:cs typeface="Helvetica"/>
              </a:defRPr>
            </a:pPr>
            <a:r>
              <a:rPr sz="1500" b="1" i="0">
                <a:solidFill>
                  <a:srgbClr val="15121B"/>
                </a:solidFill>
                <a:latin typeface="Helvetica"/>
                <a:ea typeface="Helvetica"/>
                <a:cs typeface="Helvetica"/>
              </a:rPr>
              <a:t>Claim recognition, shelf comprehension, earned search share</a:t>
            </a:r>
          </a:p>
        </p:txBody>
      </p:sp>
      <p:sp>
        <p:nvSpPr>
          <p:cNvPr id="7" name="">
            <a:extLst xmlns:a="http://schemas.openxmlformats.org/drawingml/2006/main">
              <a:ext uri="{FF2B5EF4-FFF2-40B4-BE49-F238E27FC236}">
                <a16:creationId xmlns:a16="http://schemas.microsoft.com/office/drawing/2014/main" id="{F76AC753-933F-4538-977A-44BDD6893F39}"/>
              </a:ext>
            </a:extLst>
          </p:cNvPr>
          <p:cNvSpPr>
            <a:spLocks xmlns:a="http://schemas.openxmlformats.org/drawingml/2006/main" noGrp="1"/>
          </p:cNvSpPr>
          <p:nvPr/>
        </p:nvSpPr>
        <p:spPr>
          <a:xfrm xmlns:a="http://schemas.openxmlformats.org/drawingml/2006/main">
            <a:off x="4476750" y="2686050"/>
            <a:ext cx="6286500" cy="19050"/>
          </a:xfrm>
          <a:prstGeom xmlns:a="http://schemas.openxmlformats.org/drawingml/2006/main" prst="rect">
            <a:avLst/>
          </a:prstGeom>
          <a:solidFill xmlns:a="http://schemas.openxmlformats.org/drawingml/2006/main">
            <a:srgbClr val="D9CFD5"/>
          </a:solidFill>
          <a:ln xmlns:a="http://schemas.openxmlformats.org/drawingml/2006/main" w="0">
            <a:solidFill>
              <a:srgbClr val="D9CFD5"/>
            </a:solidFill>
          </a:ln>
        </p:spPr>
      </p:sp>
      <p:sp>
        <p:nvSpPr>
          <p:cNvPr id="8" name="">
            <a:extLst xmlns:a="http://schemas.openxmlformats.org/drawingml/2006/main">
              <a:ext uri="{FF2B5EF4-FFF2-40B4-BE49-F238E27FC236}">
                <a16:creationId xmlns:a16="http://schemas.microsoft.com/office/drawing/2014/main" id="{E120A707-9E39-4A04-AEF2-138108E48478}"/>
              </a:ext>
            </a:extLst>
          </p:cNvPr>
          <p:cNvSpPr>
            <a:spLocks xmlns:a="http://schemas.openxmlformats.org/drawingml/2006/main" noGrp="1"/>
          </p:cNvSpPr>
          <p:nvPr/>
        </p:nvSpPr>
        <p:spPr>
          <a:xfrm xmlns:a="http://schemas.openxmlformats.org/drawingml/2006/main">
            <a:off x="723900" y="2876550"/>
            <a:ext cx="3238500" cy="781050"/>
          </a:xfrm>
          <a:prstGeom xmlns:a="http://schemas.openxmlformats.org/drawingml/2006/main" prst="roundRect">
            <a:avLst>
              <a:gd name="adj" fmla="val 9756"/>
            </a:avLst>
          </a:prstGeom>
          <a:solidFill xmlns:a="http://schemas.openxmlformats.org/drawingml/2006/main">
            <a:srgbClr val="261A31"/>
          </a:solidFill>
          <a:ln xmlns:a="http://schemas.openxmlformats.org/drawingml/2006/main" w="0">
            <a:solidFill>
              <a:srgbClr val="261A31"/>
            </a:solidFill>
          </a:ln>
        </p:spPr>
      </p:sp>
      <p:sp>
        <p:nvSpPr>
          <p:cNvPr id="9" name="">
            <a:extLst xmlns:a="http://schemas.openxmlformats.org/drawingml/2006/main">
              <a:ext uri="{FF2B5EF4-FFF2-40B4-BE49-F238E27FC236}">
                <a16:creationId xmlns:a16="http://schemas.microsoft.com/office/drawing/2014/main" id="{EC278962-CA9E-47CB-8560-D21280D3DB8B}"/>
              </a:ext>
            </a:extLst>
          </p:cNvPr>
          <p:cNvSpPr>
            <a:spLocks xmlns:a="http://schemas.openxmlformats.org/drawingml/2006/main" noGrp="1"/>
          </p:cNvSpPr>
          <p:nvPr/>
        </p:nvSpPr>
        <p:spPr>
          <a:xfrm xmlns:a="http://schemas.openxmlformats.org/drawingml/2006/main">
            <a:off x="952500" y="3143250"/>
            <a:ext cx="27813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825" b="1" i="0">
                <a:solidFill>
                  <a:srgbClr val="FFFDFC"/>
                </a:solidFill>
                <a:latin typeface="Helvetica"/>
                <a:ea typeface="Helvetica"/>
                <a:cs typeface="Helvetica"/>
              </a:defRPr>
            </a:defPPr>
          </a:lstStyle>
          <a:p xmlns:a="http://schemas.openxmlformats.org/drawingml/2006/main">
            <a:pPr algn="l">
              <a:defRPr sz="825" b="1" i="0">
                <a:solidFill>
                  <a:srgbClr val="FFFDFC"/>
                </a:solidFill>
                <a:latin typeface="Helvetica"/>
                <a:ea typeface="Helvetica"/>
                <a:cs typeface="Helvetica"/>
              </a:defRPr>
            </a:pPr>
            <a:r>
              <a:rPr sz="825" b="1" i="0">
                <a:solidFill>
                  <a:srgbClr val="FFFDFC"/>
                </a:solidFill>
                <a:latin typeface="Helvetica"/>
                <a:ea typeface="Helvetica"/>
                <a:cs typeface="Helvetica"/>
              </a:rPr>
              <a:t>LAGGING</a:t>
            </a:r>
          </a:p>
        </p:txBody>
      </p:sp>
      <p:sp>
        <p:nvSpPr>
          <p:cNvPr id="10" name="">
            <a:extLst xmlns:a="http://schemas.openxmlformats.org/drawingml/2006/main">
              <a:ext uri="{FF2B5EF4-FFF2-40B4-BE49-F238E27FC236}">
                <a16:creationId xmlns:a16="http://schemas.microsoft.com/office/drawing/2014/main" id="{3EA7A3FB-F2D1-45B2-BBBD-389103B49430}"/>
              </a:ext>
            </a:extLst>
          </p:cNvPr>
          <p:cNvSpPr>
            <a:spLocks xmlns:a="http://schemas.openxmlformats.org/drawingml/2006/main" noGrp="1"/>
          </p:cNvSpPr>
          <p:nvPr/>
        </p:nvSpPr>
        <p:spPr>
          <a:xfrm xmlns:a="http://schemas.openxmlformats.org/drawingml/2006/main">
            <a:off x="4476750" y="3009900"/>
            <a:ext cx="6286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500" b="1" i="0">
                <a:solidFill>
                  <a:srgbClr val="15121B"/>
                </a:solidFill>
                <a:latin typeface="Helvetica"/>
                <a:ea typeface="Helvetica"/>
                <a:cs typeface="Helvetica"/>
              </a:defRPr>
            </a:defPPr>
          </a:lstStyle>
          <a:p xmlns:a="http://schemas.openxmlformats.org/drawingml/2006/main">
            <a:pPr algn="l">
              <a:defRPr sz="1500" b="1" i="0">
                <a:solidFill>
                  <a:srgbClr val="15121B"/>
                </a:solidFill>
                <a:latin typeface="Helvetica"/>
                <a:ea typeface="Helvetica"/>
                <a:cs typeface="Helvetica"/>
              </a:defRPr>
            </a:pPr>
            <a:r>
              <a:rPr sz="1500" b="1" i="0">
                <a:solidFill>
                  <a:srgbClr val="15121B"/>
                </a:solidFill>
                <a:latin typeface="Helvetica"/>
                <a:ea typeface="Helvetica"/>
                <a:cs typeface="Helvetica"/>
              </a:rPr>
              <a:t>Retail sell-through, blended CAC trend, subscriber retention</a:t>
            </a:r>
          </a:p>
        </p:txBody>
      </p:sp>
      <p:sp>
        <p:nvSpPr>
          <p:cNvPr id="11" name="">
            <a:extLst xmlns:a="http://schemas.openxmlformats.org/drawingml/2006/main">
              <a:ext uri="{FF2B5EF4-FFF2-40B4-BE49-F238E27FC236}">
                <a16:creationId xmlns:a16="http://schemas.microsoft.com/office/drawing/2014/main" id="{E9A9A15E-77B8-43A2-8845-6B1AA8916064}"/>
              </a:ext>
            </a:extLst>
          </p:cNvPr>
          <p:cNvSpPr>
            <a:spLocks xmlns:a="http://schemas.openxmlformats.org/drawingml/2006/main" noGrp="1"/>
          </p:cNvSpPr>
          <p:nvPr/>
        </p:nvSpPr>
        <p:spPr>
          <a:xfrm xmlns:a="http://schemas.openxmlformats.org/drawingml/2006/main">
            <a:off x="4476750" y="3752850"/>
            <a:ext cx="6286500" cy="19050"/>
          </a:xfrm>
          <a:prstGeom xmlns:a="http://schemas.openxmlformats.org/drawingml/2006/main" prst="rect">
            <a:avLst/>
          </a:prstGeom>
          <a:solidFill xmlns:a="http://schemas.openxmlformats.org/drawingml/2006/main">
            <a:srgbClr val="D9CFD5"/>
          </a:solidFill>
          <a:ln xmlns:a="http://schemas.openxmlformats.org/drawingml/2006/main" w="0">
            <a:solidFill>
              <a:srgbClr val="D9CFD5"/>
            </a:solidFill>
          </a:ln>
        </p:spPr>
      </p:sp>
      <p:sp>
        <p:nvSpPr>
          <p:cNvPr id="12" name="">
            <a:extLst xmlns:a="http://schemas.openxmlformats.org/drawingml/2006/main">
              <a:ext uri="{FF2B5EF4-FFF2-40B4-BE49-F238E27FC236}">
                <a16:creationId xmlns:a16="http://schemas.microsoft.com/office/drawing/2014/main" id="{FE183624-CE18-42C6-81FC-37E3085FC2FC}"/>
              </a:ext>
            </a:extLst>
          </p:cNvPr>
          <p:cNvSpPr>
            <a:spLocks xmlns:a="http://schemas.openxmlformats.org/drawingml/2006/main" noGrp="1"/>
          </p:cNvSpPr>
          <p:nvPr/>
        </p:nvSpPr>
        <p:spPr>
          <a:xfrm xmlns:a="http://schemas.openxmlformats.org/drawingml/2006/main">
            <a:off x="723900" y="3943350"/>
            <a:ext cx="3238500" cy="781050"/>
          </a:xfrm>
          <a:prstGeom xmlns:a="http://schemas.openxmlformats.org/drawingml/2006/main" prst="roundRect">
            <a:avLst>
              <a:gd name="adj" fmla="val 9756"/>
            </a:avLst>
          </a:prstGeom>
          <a:solidFill xmlns:a="http://schemas.openxmlformats.org/drawingml/2006/main">
            <a:srgbClr val="261A31"/>
          </a:solidFill>
          <a:ln xmlns:a="http://schemas.openxmlformats.org/drawingml/2006/main" w="0">
            <a:solidFill>
              <a:srgbClr val="261A31"/>
            </a:solidFill>
          </a:ln>
        </p:spPr>
      </p:sp>
      <p:sp>
        <p:nvSpPr>
          <p:cNvPr id="13" name="">
            <a:extLst xmlns:a="http://schemas.openxmlformats.org/drawingml/2006/main">
              <a:ext uri="{FF2B5EF4-FFF2-40B4-BE49-F238E27FC236}">
                <a16:creationId xmlns:a16="http://schemas.microsoft.com/office/drawing/2014/main" id="{D43837F0-459D-438E-8437-08E8F979363F}"/>
              </a:ext>
            </a:extLst>
          </p:cNvPr>
          <p:cNvSpPr>
            <a:spLocks xmlns:a="http://schemas.openxmlformats.org/drawingml/2006/main" noGrp="1"/>
          </p:cNvSpPr>
          <p:nvPr/>
        </p:nvSpPr>
        <p:spPr>
          <a:xfrm xmlns:a="http://schemas.openxmlformats.org/drawingml/2006/main">
            <a:off x="952500" y="4210050"/>
            <a:ext cx="27813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825" b="1" i="0">
                <a:solidFill>
                  <a:srgbClr val="FFFDFC"/>
                </a:solidFill>
                <a:latin typeface="Helvetica"/>
                <a:ea typeface="Helvetica"/>
                <a:cs typeface="Helvetica"/>
              </a:defRPr>
            </a:defPPr>
          </a:lstStyle>
          <a:p xmlns:a="http://schemas.openxmlformats.org/drawingml/2006/main">
            <a:pPr algn="l">
              <a:defRPr sz="825" b="1" i="0">
                <a:solidFill>
                  <a:srgbClr val="FFFDFC"/>
                </a:solidFill>
                <a:latin typeface="Helvetica"/>
                <a:ea typeface="Helvetica"/>
                <a:cs typeface="Helvetica"/>
              </a:defRPr>
            </a:pPr>
            <a:r>
              <a:rPr sz="825" b="1" i="0">
                <a:solidFill>
                  <a:srgbClr val="FFFDFC"/>
                </a:solidFill>
                <a:latin typeface="Helvetica"/>
                <a:ea typeface="Helvetica"/>
                <a:cs typeface="Helvetica"/>
              </a:rPr>
              <a:t>COMMERCIAL</a:t>
            </a:r>
          </a:p>
        </p:txBody>
      </p:sp>
      <p:sp>
        <p:nvSpPr>
          <p:cNvPr id="14" name="">
            <a:extLst xmlns:a="http://schemas.openxmlformats.org/drawingml/2006/main">
              <a:ext uri="{FF2B5EF4-FFF2-40B4-BE49-F238E27FC236}">
                <a16:creationId xmlns:a16="http://schemas.microsoft.com/office/drawing/2014/main" id="{A405F543-8C9A-4348-B25E-DBB52E6EFD70}"/>
              </a:ext>
            </a:extLst>
          </p:cNvPr>
          <p:cNvSpPr>
            <a:spLocks xmlns:a="http://schemas.openxmlformats.org/drawingml/2006/main" noGrp="1"/>
          </p:cNvSpPr>
          <p:nvPr/>
        </p:nvSpPr>
        <p:spPr>
          <a:xfrm xmlns:a="http://schemas.openxmlformats.org/drawingml/2006/main">
            <a:off x="4476750" y="4076700"/>
            <a:ext cx="6286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500" b="1" i="0">
                <a:solidFill>
                  <a:srgbClr val="15121B"/>
                </a:solidFill>
                <a:latin typeface="Helvetica"/>
                <a:ea typeface="Helvetica"/>
                <a:cs typeface="Helvetica"/>
              </a:defRPr>
            </a:defPPr>
          </a:lstStyle>
          <a:p xmlns:a="http://schemas.openxmlformats.org/drawingml/2006/main">
            <a:pPr algn="l">
              <a:defRPr sz="1500" b="1" i="0">
                <a:solidFill>
                  <a:srgbClr val="15121B"/>
                </a:solidFill>
                <a:latin typeface="Helvetica"/>
                <a:ea typeface="Helvetica"/>
                <a:cs typeface="Helvetica"/>
              </a:defRPr>
            </a:pPr>
            <a:r>
              <a:rPr sz="1500" b="1" i="0">
                <a:solidFill>
                  <a:srgbClr val="15121B"/>
                </a:solidFill>
                <a:latin typeface="Helvetica"/>
                <a:ea typeface="Helvetica"/>
                <a:cs typeface="Helvetica"/>
              </a:rPr>
              <a:t>Price realisation versus discount dependency</a:t>
            </a:r>
          </a:p>
        </p:txBody>
      </p:sp>
      <p:sp>
        <p:nvSpPr>
          <p:cNvPr id="15" name="">
            <a:extLst xmlns:a="http://schemas.openxmlformats.org/drawingml/2006/main">
              <a:ext uri="{FF2B5EF4-FFF2-40B4-BE49-F238E27FC236}">
                <a16:creationId xmlns:a16="http://schemas.microsoft.com/office/drawing/2014/main" id="{A00A493B-F1F8-4B15-992E-0B579BBCC09E}"/>
              </a:ext>
            </a:extLst>
          </p:cNvPr>
          <p:cNvSpPr>
            <a:spLocks xmlns:a="http://schemas.openxmlformats.org/drawingml/2006/main" noGrp="1"/>
          </p:cNvSpPr>
          <p:nvPr/>
        </p:nvSpPr>
        <p:spPr>
          <a:xfrm xmlns:a="http://schemas.openxmlformats.org/drawingml/2006/main">
            <a:off x="647700" y="5572125"/>
            <a:ext cx="209550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675" b="1" i="0">
                <a:solidFill>
                  <a:srgbClr val="FF654F"/>
                </a:solidFill>
                <a:latin typeface="Helvetica"/>
                <a:ea typeface="Helvetica"/>
                <a:cs typeface="Helvetica"/>
              </a:defRPr>
            </a:defPPr>
          </a:lstStyle>
          <a:p xmlns:a="http://schemas.openxmlformats.org/drawingml/2006/main">
            <a:pPr algn="l">
              <a:defRPr sz="675" b="1" i="0">
                <a:solidFill>
                  <a:srgbClr val="FF654F"/>
                </a:solidFill>
                <a:latin typeface="Helvetica"/>
                <a:ea typeface="Helvetica"/>
                <a:cs typeface="Helvetica"/>
              </a:defRPr>
            </a:pPr>
            <a:r>
              <a:rPr sz="675" b="1" i="0">
                <a:solidFill>
                  <a:srgbClr val="FF654F"/>
                </a:solidFill>
                <a:latin typeface="Helvetica"/>
                <a:ea typeface="Helvetica"/>
                <a:cs typeface="Helvetica"/>
              </a:rPr>
              <a:t>COMMERCIAL CONSEQUENCE</a:t>
            </a:r>
          </a:p>
        </p:txBody>
      </p:sp>
      <p:sp>
        <p:nvSpPr>
          <p:cNvPr id="16" name="">
            <a:extLst xmlns:a="http://schemas.openxmlformats.org/drawingml/2006/main">
              <a:ext uri="{FF2B5EF4-FFF2-40B4-BE49-F238E27FC236}">
                <a16:creationId xmlns:a16="http://schemas.microsoft.com/office/drawing/2014/main" id="{FCE963F1-D909-4E9C-A2A9-553EC3B6F112}"/>
              </a:ext>
            </a:extLst>
          </p:cNvPr>
          <p:cNvSpPr>
            <a:spLocks xmlns:a="http://schemas.openxmlformats.org/drawingml/2006/main" noGrp="1"/>
          </p:cNvSpPr>
          <p:nvPr/>
        </p:nvSpPr>
        <p:spPr>
          <a:xfrm xmlns:a="http://schemas.openxmlformats.org/drawingml/2006/main">
            <a:off x="2619375" y="5505450"/>
            <a:ext cx="8382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200" b="1" i="0">
                <a:solidFill>
                  <a:srgbClr val="15121B"/>
                </a:solidFill>
                <a:latin typeface="Helvetica"/>
                <a:ea typeface="Helvetica"/>
                <a:cs typeface="Helvetica"/>
              </a:defRPr>
            </a:defPPr>
          </a:lstStyle>
          <a:p xmlns:a="http://schemas.openxmlformats.org/drawingml/2006/main">
            <a:pPr algn="l">
              <a:defRPr sz="1200" b="1" i="0">
                <a:solidFill>
                  <a:srgbClr val="15121B"/>
                </a:solidFill>
                <a:latin typeface="Helvetica"/>
                <a:ea typeface="Helvetica"/>
                <a:cs typeface="Helvetica"/>
              </a:defRPr>
            </a:pPr>
            <a:r>
              <a:rPr sz="1200" b="1" i="0">
                <a:solidFill>
                  <a:srgbClr val="15121B"/>
                </a:solidFill>
                <a:latin typeface="Helvetica"/>
                <a:ea typeface="Helvetica"/>
                <a:cs typeface="Helvetica"/>
              </a:rPr>
              <a:t>Net value and payback remain unavailable until KatKin supplies actual margin, retention and implementation cost.</a:t>
            </a:r>
          </a:p>
        </p:txBody>
      </p:sp>
      <p:sp>
        <p:nvSpPr>
          <p:cNvPr id="17" name="">
            <a:extLst xmlns:a="http://schemas.openxmlformats.org/drawingml/2006/main">
              <a:ext uri="{FF2B5EF4-FFF2-40B4-BE49-F238E27FC236}">
                <a16:creationId xmlns:a16="http://schemas.microsoft.com/office/drawing/2014/main" id="{961A7B0C-A80B-4645-A2DE-927DA1819B9F}"/>
              </a:ext>
            </a:extLst>
          </p:cNvPr>
          <p:cNvSpPr>
            <a:spLocks xmlns:a="http://schemas.openxmlformats.org/drawingml/2006/main" noGrp="1"/>
          </p:cNvSpPr>
          <p:nvPr/>
        </p:nvSpPr>
        <p:spPr>
          <a:xfrm xmlns:a="http://schemas.openxmlformats.org/drawingml/2006/main">
            <a:off x="647700" y="6134100"/>
            <a:ext cx="4953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825" b="1" i="0">
                <a:solidFill>
                  <a:srgbClr val="756D7A"/>
                </a:solidFill>
                <a:latin typeface="Helvetica"/>
                <a:ea typeface="Helvetica"/>
                <a:cs typeface="Helvetica"/>
              </a:defRPr>
            </a:defPPr>
          </a:lstStyle>
          <a:p xmlns:a="http://schemas.openxmlformats.org/drawingml/2006/main">
            <a:pPr algn="l">
              <a:defRPr sz="825" b="1" i="0">
                <a:solidFill>
                  <a:srgbClr val="756D7A"/>
                </a:solidFill>
                <a:latin typeface="Helvetica"/>
                <a:ea typeface="Helvetica"/>
                <a:cs typeface="Helvetica"/>
              </a:defRPr>
            </a:pPr>
            <a:r>
              <a:rPr sz="825" b="1" i="0">
                <a:solidFill>
                  <a:srgbClr val="756D7A"/>
                </a:solidFill>
                <a:latin typeface="Helvetica"/>
                <a:ea typeface="Helvetica"/>
                <a:cs typeface="Helvetica"/>
              </a:rPr>
              <a:t>SOURCES: T1</a:t>
            </a:r>
          </a:p>
        </p:txBody>
      </p:sp>
      <p:sp>
        <p:nvSpPr>
          <p:cNvPr id="18" name="">
            <a:extLst xmlns:a="http://schemas.openxmlformats.org/drawingml/2006/main">
              <a:ext uri="{FF2B5EF4-FFF2-40B4-BE49-F238E27FC236}">
                <a16:creationId xmlns:a16="http://schemas.microsoft.com/office/drawing/2014/main" id="{7F738568-78F6-45D8-ACE9-4ACB6F9E2DB1}"/>
              </a:ext>
            </a:extLst>
          </p:cNvPr>
          <p:cNvSpPr>
            <a:spLocks xmlns:a="http://schemas.openxmlformats.org/drawingml/2006/main" noGrp="1"/>
          </p:cNvSpPr>
          <p:nvPr/>
        </p:nvSpPr>
        <p:spPr>
          <a:xfrm xmlns:a="http://schemas.openxmlformats.org/drawingml/2006/main">
            <a:off x="5715000" y="6134100"/>
            <a:ext cx="48768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r">
              <a:defRPr sz="825" b="1" i="0">
                <a:solidFill>
                  <a:srgbClr val="5A2E78"/>
                </a:solidFill>
                <a:latin typeface="Helvetica"/>
                <a:ea typeface="Helvetica"/>
                <a:cs typeface="Helvetica"/>
              </a:defRPr>
            </a:defPPr>
          </a:lstStyle>
          <a:p xmlns:a="http://schemas.openxmlformats.org/drawingml/2006/main">
            <a:pPr algn="r">
              <a:defRPr sz="825" b="1" i="0">
                <a:solidFill>
                  <a:srgbClr val="5A2E78"/>
                </a:solidFill>
                <a:latin typeface="Helvetica"/>
                <a:ea typeface="Helvetica"/>
                <a:cs typeface="Helvetica"/>
              </a:defRPr>
            </a:pPr>
            <a:r>
              <a:rPr sz="825" b="1" i="0">
                <a:solidFill>
                  <a:srgbClr val="5A2E78"/>
                </a:solidFill>
                <a:latin typeface="Helvetica"/>
                <a:ea typeface="Helvetica"/>
                <a:cs typeface="Helvetica"/>
              </a:rPr>
              <a:t>PROPOSED MEASUREMENT + EVIDENCE GAP</a:t>
            </a:r>
          </a:p>
        </p:txBody>
      </p:sp>
      <p:sp>
        <p:nvSpPr>
          <p:cNvPr id="19" name="">
            <a:extLst xmlns:a="http://schemas.openxmlformats.org/drawingml/2006/main">
              <a:ext uri="{FF2B5EF4-FFF2-40B4-BE49-F238E27FC236}">
                <a16:creationId xmlns:a16="http://schemas.microsoft.com/office/drawing/2014/main" id="{77D87C36-EBEA-4841-B626-D1BE1267DE1C}"/>
              </a:ext>
            </a:extLst>
          </p:cNvPr>
          <p:cNvSpPr>
            <a:spLocks xmlns:a="http://schemas.openxmlformats.org/drawingml/2006/main" noGrp="1"/>
          </p:cNvSpPr>
          <p:nvPr/>
        </p:nvSpPr>
        <p:spPr>
          <a:xfrm xmlns:a="http://schemas.openxmlformats.org/drawingml/2006/main">
            <a:off x="647700" y="6515100"/>
            <a:ext cx="17145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675" b="1" i="0">
                <a:solidFill>
                  <a:srgbClr val="756D7A"/>
                </a:solidFill>
                <a:latin typeface="Helvetica"/>
                <a:ea typeface="Helvetica"/>
                <a:cs typeface="Helvetica"/>
              </a:defRPr>
            </a:defPPr>
          </a:lstStyle>
          <a:p xmlns:a="http://schemas.openxmlformats.org/drawingml/2006/main">
            <a:pPr algn="l">
              <a:defRPr sz="675" b="1" i="0">
                <a:solidFill>
                  <a:srgbClr val="756D7A"/>
                </a:solidFill>
                <a:latin typeface="Helvetica"/>
                <a:ea typeface="Helvetica"/>
                <a:cs typeface="Helvetica"/>
              </a:defRPr>
            </a:pPr>
            <a:r>
              <a:rPr sz="675" b="1" i="0">
                <a:solidFill>
                  <a:srgbClr val="756D7A"/>
                </a:solidFill>
                <a:latin typeface="Helvetica"/>
                <a:ea typeface="Helvetica"/>
                <a:cs typeface="Helvetica"/>
              </a:rPr>
              <a:t>NARRATIIVE</a:t>
            </a:r>
          </a:p>
        </p:txBody>
      </p:sp>
      <p:sp>
        <p:nvSpPr>
          <p:cNvPr id="20" name="">
            <a:extLst xmlns:a="http://schemas.openxmlformats.org/drawingml/2006/main">
              <a:ext uri="{FF2B5EF4-FFF2-40B4-BE49-F238E27FC236}">
                <a16:creationId xmlns:a16="http://schemas.microsoft.com/office/drawing/2014/main" id="{7557CDA8-464D-4DF1-9E9A-0454B3BD86D6}"/>
              </a:ext>
            </a:extLst>
          </p:cNvPr>
          <p:cNvSpPr>
            <a:spLocks xmlns:a="http://schemas.openxmlformats.org/drawingml/2006/main" noGrp="1"/>
          </p:cNvSpPr>
          <p:nvPr/>
        </p:nvSpPr>
        <p:spPr>
          <a:xfrm xmlns:a="http://schemas.openxmlformats.org/drawingml/2006/main">
            <a:off x="10668000" y="6515100"/>
            <a:ext cx="8763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r">
              <a:defRPr sz="675" b="0" i="0">
                <a:solidFill>
                  <a:srgbClr val="756D7A"/>
                </a:solidFill>
                <a:latin typeface="Helvetica"/>
                <a:ea typeface="Helvetica"/>
                <a:cs typeface="Helvetica"/>
              </a:defRPr>
            </a:defPPr>
          </a:lstStyle>
          <a:p xmlns:a="http://schemas.openxmlformats.org/drawingml/2006/main">
            <a:pPr algn="r">
              <a:defRPr sz="675" b="0" i="0">
                <a:solidFill>
                  <a:srgbClr val="756D7A"/>
                </a:solidFill>
                <a:latin typeface="Helvetica"/>
                <a:ea typeface="Helvetica"/>
                <a:cs typeface="Helvetica"/>
              </a:defRPr>
            </a:pPr>
            <a:r>
              <a:rPr sz="675" b="0" i="0">
                <a:solidFill>
                  <a:srgbClr val="756D7A"/>
                </a:solidFill>
                <a:latin typeface="Helvetica"/>
                <a:ea typeface="Helvetica"/>
                <a:cs typeface="Helvetica"/>
              </a:rPr>
              <a:t>29 / 30</a:t>
            </a:r>
          </a:p>
        </p:txBody>
      </p:sp>
    </p:spTree>
    <p:extLst>
      <p:ext uri="{BB962C8B-B14F-4D97-AF65-F5344CB8AC3E}">
        <p14:creationId xmlns:p14="http://schemas.microsoft.com/office/powerpoint/2010/main" val="1494200233"/>
      </p:ext>
    </p:extLst>
  </p:cSld>
</p:sld>
</file>

<file path=ppt/slides/slide30.xml><?xml version="1.0" encoding="utf-8"?>
<p:sld xmlns:p="http://schemas.openxmlformats.org/presentationml/2006/main">
  <p:cSld>
    <p:bg>
      <p:bgPr>
        <a:solidFill xmlns:a="http://schemas.openxmlformats.org/drawingml/2006/main">
          <a:srgbClr val="261A31"/>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D44D7415-8580-4823-B500-F2F7E431EA81}"/>
              </a:ext>
            </a:extLst>
          </p:cNvPr>
          <p:cNvSpPr>
            <a:spLocks xmlns:a="http://schemas.openxmlformats.org/drawingml/2006/main" noGrp="1"/>
          </p:cNvSpPr>
          <p:nvPr/>
        </p:nvSpPr>
        <p:spPr>
          <a:xfrm xmlns:a="http://schemas.openxmlformats.org/drawingml/2006/main">
            <a:off x="647700" y="333375"/>
            <a:ext cx="57150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675" b="1" i="0">
                <a:solidFill>
                  <a:srgbClr val="FF654F"/>
                </a:solidFill>
                <a:latin typeface="Helvetica"/>
                <a:ea typeface="Helvetica"/>
                <a:cs typeface="Helvetica"/>
              </a:defRPr>
            </a:defPPr>
          </a:lstStyle>
          <a:p xmlns:a="http://schemas.openxmlformats.org/drawingml/2006/main">
            <a:pPr algn="l">
              <a:defRPr sz="675" b="1" i="0">
                <a:solidFill>
                  <a:srgbClr val="FF654F"/>
                </a:solidFill>
                <a:latin typeface="Helvetica"/>
                <a:ea typeface="Helvetica"/>
                <a:cs typeface="Helvetica"/>
              </a:defRPr>
            </a:pPr>
            <a:r>
              <a:rPr sz="675" b="1" i="0">
                <a:solidFill>
                  <a:srgbClr val="FF654F"/>
                </a:solidFill>
                <a:latin typeface="Helvetica"/>
                <a:ea typeface="Helvetica"/>
                <a:cs typeface="Helvetica"/>
              </a:rPr>
              <a:t>ACT 6 / IMPLEMENTATION + MEASUREMENT</a:t>
            </a:r>
          </a:p>
        </p:txBody>
      </p:sp>
      <p:sp>
        <p:nvSpPr>
          <p:cNvPr id="2" name="">
            <a:extLst xmlns:a="http://schemas.openxmlformats.org/drawingml/2006/main">
              <a:ext uri="{FF2B5EF4-FFF2-40B4-BE49-F238E27FC236}">
                <a16:creationId xmlns:a16="http://schemas.microsoft.com/office/drawing/2014/main" id="{BFCD2F89-E332-4E01-B767-D1049E134D1C}"/>
              </a:ext>
            </a:extLst>
          </p:cNvPr>
          <p:cNvSpPr>
            <a:spLocks xmlns:a="http://schemas.openxmlformats.org/drawingml/2006/main" noGrp="1"/>
          </p:cNvSpPr>
          <p:nvPr/>
        </p:nvSpPr>
        <p:spPr>
          <a:xfrm xmlns:a="http://schemas.openxmlformats.org/drawingml/2006/main">
            <a:off x="647700" y="685800"/>
            <a:ext cx="1047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2325" b="1" i="0">
                <a:solidFill>
                  <a:srgbClr val="FFFDFC"/>
                </a:solidFill>
                <a:latin typeface="Helvetica"/>
                <a:ea typeface="Helvetica"/>
                <a:cs typeface="Helvetica"/>
              </a:defRPr>
            </a:defPPr>
          </a:lstStyle>
          <a:p xmlns:a="http://schemas.openxmlformats.org/drawingml/2006/main">
            <a:pPr algn="l">
              <a:defRPr sz="2325" b="1" i="0">
                <a:solidFill>
                  <a:srgbClr val="FFFDFC"/>
                </a:solidFill>
                <a:latin typeface="Helvetica"/>
                <a:ea typeface="Helvetica"/>
                <a:cs typeface="Helvetica"/>
              </a:defRPr>
            </a:pPr>
            <a:r>
              <a:rPr sz="2325" b="1" i="0">
                <a:solidFill>
                  <a:srgbClr val="FFFDFC"/>
                </a:solidFill>
                <a:latin typeface="Helvetica"/>
                <a:ea typeface="Helvetica"/>
                <a:cs typeface="Helvetica"/>
              </a:rPr>
              <a:t>Strategic Principle / Closing Mandate</a:t>
            </a:r>
          </a:p>
        </p:txBody>
      </p:sp>
      <p:sp>
        <p:nvSpPr>
          <p:cNvPr id="3" name="">
            <a:extLst xmlns:a="http://schemas.openxmlformats.org/drawingml/2006/main">
              <a:ext uri="{FF2B5EF4-FFF2-40B4-BE49-F238E27FC236}">
                <a16:creationId xmlns:a16="http://schemas.microsoft.com/office/drawing/2014/main" id="{09740A7B-4AF0-4B03-B7E5-645864F5502F}"/>
              </a:ext>
            </a:extLst>
          </p:cNvPr>
          <p:cNvSpPr>
            <a:spLocks xmlns:a="http://schemas.openxmlformats.org/drawingml/2006/main" noGrp="1"/>
          </p:cNvSpPr>
          <p:nvPr/>
        </p:nvSpPr>
        <p:spPr>
          <a:xfrm xmlns:a="http://schemas.openxmlformats.org/drawingml/2006/main">
            <a:off x="647700" y="1400175"/>
            <a:ext cx="10896600" cy="19050"/>
          </a:xfrm>
          <a:prstGeom xmlns:a="http://schemas.openxmlformats.org/drawingml/2006/main" prst="rect">
            <a:avLst/>
          </a:prstGeom>
          <a:solidFill xmlns:a="http://schemas.openxmlformats.org/drawingml/2006/main">
            <a:srgbClr val="5A2E78"/>
          </a:solidFill>
          <a:ln xmlns:a="http://schemas.openxmlformats.org/drawingml/2006/main" w="0">
            <a:solidFill>
              <a:srgbClr val="5A2E78"/>
            </a:solidFill>
          </a:ln>
        </p:spPr>
      </p:sp>
      <p:sp>
        <p:nvSpPr>
          <p:cNvPr id="4" name="">
            <a:extLst xmlns:a="http://schemas.openxmlformats.org/drawingml/2006/main">
              <a:ext uri="{FF2B5EF4-FFF2-40B4-BE49-F238E27FC236}">
                <a16:creationId xmlns:a16="http://schemas.microsoft.com/office/drawing/2014/main" id="{51F1C0BB-034A-4A4E-AAFE-133563009442}"/>
              </a:ext>
            </a:extLst>
          </p:cNvPr>
          <p:cNvSpPr>
            <a:spLocks xmlns:a="http://schemas.openxmlformats.org/drawingml/2006/main" noGrp="1"/>
          </p:cNvSpPr>
          <p:nvPr/>
        </p:nvSpPr>
        <p:spPr>
          <a:xfrm xmlns:a="http://schemas.openxmlformats.org/drawingml/2006/main">
            <a:off x="723900" y="1866900"/>
            <a:ext cx="85725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4200" b="1" i="0">
                <a:solidFill>
                  <a:srgbClr val="FFFDFC"/>
                </a:solidFill>
                <a:latin typeface="Helvetica"/>
                <a:ea typeface="Helvetica"/>
                <a:cs typeface="Helvetica"/>
              </a:defRPr>
            </a:defPPr>
          </a:lstStyle>
          <a:p xmlns:a="http://schemas.openxmlformats.org/drawingml/2006/main">
            <a:pPr algn="l">
              <a:defRPr sz="4200" b="1" i="0">
                <a:solidFill>
                  <a:srgbClr val="FFFDFC"/>
                </a:solidFill>
                <a:latin typeface="Helvetica"/>
                <a:ea typeface="Helvetica"/>
                <a:cs typeface="Helvetica"/>
              </a:defRPr>
            </a:pPr>
            <a:r>
              <a:rPr sz="4200" b="1" i="0">
                <a:solidFill>
                  <a:srgbClr val="FFFDFC"/>
                </a:solidFill>
                <a:latin typeface="Helvetica"/>
                <a:ea typeface="Helvetica"/>
                <a:cs typeface="Helvetica"/>
              </a:rPr>
              <a:t>Own the proof.</a:t>
            </a:r>
          </a:p>
        </p:txBody>
      </p:sp>
      <p:sp>
        <p:nvSpPr>
          <p:cNvPr id="5" name="">
            <a:extLst xmlns:a="http://schemas.openxmlformats.org/drawingml/2006/main">
              <a:ext uri="{FF2B5EF4-FFF2-40B4-BE49-F238E27FC236}">
                <a16:creationId xmlns:a16="http://schemas.microsoft.com/office/drawing/2014/main" id="{D6FEB709-226D-480C-A4B1-3FCFA96F9670}"/>
              </a:ext>
            </a:extLst>
          </p:cNvPr>
          <p:cNvSpPr>
            <a:spLocks xmlns:a="http://schemas.openxmlformats.org/drawingml/2006/main" noGrp="1"/>
          </p:cNvSpPr>
          <p:nvPr/>
        </p:nvSpPr>
        <p:spPr>
          <a:xfrm xmlns:a="http://schemas.openxmlformats.org/drawingml/2006/main">
            <a:off x="723900" y="2724150"/>
            <a:ext cx="85725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3750" b="1" i="0">
                <a:solidFill>
                  <a:srgbClr val="FF654F"/>
                </a:solidFill>
                <a:latin typeface="Helvetica"/>
                <a:ea typeface="Helvetica"/>
                <a:cs typeface="Helvetica"/>
              </a:defRPr>
            </a:defPPr>
          </a:lstStyle>
          <a:p xmlns:a="http://schemas.openxmlformats.org/drawingml/2006/main">
            <a:pPr algn="l">
              <a:defRPr sz="3750" b="1" i="0">
                <a:solidFill>
                  <a:srgbClr val="FF654F"/>
                </a:solidFill>
                <a:latin typeface="Helvetica"/>
                <a:ea typeface="Helvetica"/>
                <a:cs typeface="Helvetica"/>
              </a:defRPr>
            </a:pPr>
            <a:r>
              <a:rPr sz="3750" b="1" i="0">
                <a:solidFill>
                  <a:srgbClr val="FF654F"/>
                </a:solidFill>
                <a:latin typeface="Helvetica"/>
                <a:ea typeface="Helvetica"/>
                <a:cs typeface="Helvetica"/>
              </a:rPr>
              <a:t>Make it easy to feel.</a:t>
            </a:r>
          </a:p>
        </p:txBody>
      </p:sp>
      <p:sp>
        <p:nvSpPr>
          <p:cNvPr id="6" name="">
            <a:extLst xmlns:a="http://schemas.openxmlformats.org/drawingml/2006/main">
              <a:ext uri="{FF2B5EF4-FFF2-40B4-BE49-F238E27FC236}">
                <a16:creationId xmlns:a16="http://schemas.microsoft.com/office/drawing/2014/main" id="{6C982168-77BB-43C6-94C1-80BF23F9BC1E}"/>
              </a:ext>
            </a:extLst>
          </p:cNvPr>
          <p:cNvSpPr>
            <a:spLocks xmlns:a="http://schemas.openxmlformats.org/drawingml/2006/main" noGrp="1"/>
          </p:cNvSpPr>
          <p:nvPr/>
        </p:nvSpPr>
        <p:spPr>
          <a:xfrm xmlns:a="http://schemas.openxmlformats.org/drawingml/2006/main">
            <a:off x="723900" y="3638550"/>
            <a:ext cx="8572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2250" b="1" i="0">
                <a:solidFill>
                  <a:srgbClr val="C8B7E8"/>
                </a:solidFill>
                <a:latin typeface="Helvetica"/>
                <a:ea typeface="Helvetica"/>
                <a:cs typeface="Helvetica"/>
              </a:defRPr>
            </a:defPPr>
          </a:lstStyle>
          <a:p xmlns:a="http://schemas.openxmlformats.org/drawingml/2006/main">
            <a:pPr algn="l">
              <a:defRPr sz="2250" b="1" i="0">
                <a:solidFill>
                  <a:srgbClr val="C8B7E8"/>
                </a:solidFill>
                <a:latin typeface="Helvetica"/>
                <a:ea typeface="Helvetica"/>
                <a:cs typeface="Helvetica"/>
              </a:defRPr>
            </a:pPr>
            <a:r>
              <a:rPr sz="2250" b="1" i="0">
                <a:solidFill>
                  <a:srgbClr val="C8B7E8"/>
                </a:solidFill>
                <a:latin typeface="Helvetica"/>
                <a:ea typeface="Helvetica"/>
                <a:cs typeface="Helvetica"/>
              </a:rPr>
              <a:t>Then earn the right to scale.</a:t>
            </a:r>
          </a:p>
        </p:txBody>
      </p:sp>
      <p:sp>
        <p:nvSpPr>
          <p:cNvPr id="7" name="">
            <a:extLst xmlns:a="http://schemas.openxmlformats.org/drawingml/2006/main">
              <a:ext uri="{FF2B5EF4-FFF2-40B4-BE49-F238E27FC236}">
                <a16:creationId xmlns:a16="http://schemas.microsoft.com/office/drawing/2014/main" id="{629833BC-3018-4B2D-8BA6-3CF6F8C374E8}"/>
              </a:ext>
            </a:extLst>
          </p:cNvPr>
          <p:cNvSpPr>
            <a:spLocks xmlns:a="http://schemas.openxmlformats.org/drawingml/2006/main" noGrp="1"/>
          </p:cNvSpPr>
          <p:nvPr/>
        </p:nvSpPr>
        <p:spPr>
          <a:xfrm xmlns:a="http://schemas.openxmlformats.org/drawingml/2006/main">
            <a:off x="723900" y="4810125"/>
            <a:ext cx="2286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750" b="1" i="0">
                <a:solidFill>
                  <a:srgbClr val="FF654F"/>
                </a:solidFill>
                <a:latin typeface="Helvetica"/>
                <a:ea typeface="Helvetica"/>
                <a:cs typeface="Helvetica"/>
              </a:defRPr>
            </a:defPPr>
          </a:lstStyle>
          <a:p xmlns:a="http://schemas.openxmlformats.org/drawingml/2006/main">
            <a:pPr algn="l">
              <a:defRPr sz="750" b="1" i="0">
                <a:solidFill>
                  <a:srgbClr val="FF654F"/>
                </a:solidFill>
                <a:latin typeface="Helvetica"/>
                <a:ea typeface="Helvetica"/>
                <a:cs typeface="Helvetica"/>
              </a:defRPr>
            </a:pPr>
            <a:r>
              <a:rPr sz="750" b="1" i="0">
                <a:solidFill>
                  <a:srgbClr val="FF654F"/>
                </a:solidFill>
                <a:latin typeface="Helvetica"/>
                <a:ea typeface="Helvetica"/>
                <a:cs typeface="Helvetica"/>
              </a:rPr>
              <a:t>IMMEDIATE NEXT STEP</a:t>
            </a:r>
          </a:p>
        </p:txBody>
      </p:sp>
      <p:sp>
        <p:nvSpPr>
          <p:cNvPr id="8" name="">
            <a:extLst xmlns:a="http://schemas.openxmlformats.org/drawingml/2006/main">
              <a:ext uri="{FF2B5EF4-FFF2-40B4-BE49-F238E27FC236}">
                <a16:creationId xmlns:a16="http://schemas.microsoft.com/office/drawing/2014/main" id="{9DE44E8C-E36A-44C5-AAA5-B7049456AF69}"/>
              </a:ext>
            </a:extLst>
          </p:cNvPr>
          <p:cNvSpPr>
            <a:spLocks xmlns:a="http://schemas.openxmlformats.org/drawingml/2006/main" noGrp="1"/>
          </p:cNvSpPr>
          <p:nvPr/>
        </p:nvSpPr>
        <p:spPr>
          <a:xfrm xmlns:a="http://schemas.openxmlformats.org/drawingml/2006/main">
            <a:off x="723900" y="5143500"/>
            <a:ext cx="876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1425" b="1" i="0">
                <a:solidFill>
                  <a:srgbClr val="FFFDFC"/>
                </a:solidFill>
                <a:latin typeface="Helvetica"/>
                <a:ea typeface="Helvetica"/>
                <a:cs typeface="Helvetica"/>
              </a:defRPr>
            </a:defPPr>
          </a:lstStyle>
          <a:p xmlns:a="http://schemas.openxmlformats.org/drawingml/2006/main">
            <a:pPr algn="l">
              <a:defRPr sz="1425" b="1" i="0">
                <a:solidFill>
                  <a:srgbClr val="FFFDFC"/>
                </a:solidFill>
                <a:latin typeface="Helvetica"/>
                <a:ea typeface="Helvetica"/>
                <a:cs typeface="Helvetica"/>
              </a:defRPr>
            </a:pPr>
            <a:r>
              <a:rPr sz="1425" b="1" i="0">
                <a:solidFill>
                  <a:srgbClr val="FFFDFC"/>
                </a:solidFill>
                <a:latin typeface="Helvetica"/>
                <a:ea typeface="Helvetica"/>
                <a:cs typeface="Helvetica"/>
              </a:rPr>
              <a:t>Founder pressure-test and retail translation test</a:t>
            </a:r>
          </a:p>
        </p:txBody>
      </p:sp>
      <p:sp>
        <p:nvSpPr>
          <p:cNvPr id="9" name="">
            <a:extLst xmlns:a="http://schemas.openxmlformats.org/drawingml/2006/main">
              <a:ext uri="{FF2B5EF4-FFF2-40B4-BE49-F238E27FC236}">
                <a16:creationId xmlns:a16="http://schemas.microsoft.com/office/drawing/2014/main" id="{C88FB047-3094-4E78-AE17-7E286919073E}"/>
              </a:ext>
            </a:extLst>
          </p:cNvPr>
          <p:cNvSpPr>
            <a:spLocks xmlns:a="http://schemas.openxmlformats.org/drawingml/2006/main" noGrp="1"/>
          </p:cNvSpPr>
          <p:nvPr/>
        </p:nvSpPr>
        <p:spPr>
          <a:xfrm xmlns:a="http://schemas.openxmlformats.org/drawingml/2006/main">
            <a:off x="723900" y="5753100"/>
            <a:ext cx="6858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675" b="1" i="0">
                <a:solidFill>
                  <a:srgbClr val="C8B7E8"/>
                </a:solidFill>
                <a:latin typeface="Helvetica"/>
                <a:ea typeface="Helvetica"/>
                <a:cs typeface="Helvetica"/>
              </a:defRPr>
            </a:defPPr>
          </a:lstStyle>
          <a:p xmlns:a="http://schemas.openxmlformats.org/drawingml/2006/main">
            <a:pPr algn="l">
              <a:defRPr sz="675" b="1" i="0">
                <a:solidFill>
                  <a:srgbClr val="C8B7E8"/>
                </a:solidFill>
                <a:latin typeface="Helvetica"/>
                <a:ea typeface="Helvetica"/>
                <a:cs typeface="Helvetica"/>
              </a:defRPr>
            </a:pPr>
            <a:r>
              <a:rPr sz="675" b="1" i="0">
                <a:solidFill>
                  <a:srgbClr val="C8B7E8"/>
                </a:solidFill>
                <a:latin typeface="Helvetica"/>
                <a:ea typeface="Helvetica"/>
                <a:cs typeface="Helvetica"/>
              </a:rPr>
              <a:t>SOURCE REGISTER / governed companion deliverable included</a:t>
            </a:r>
          </a:p>
        </p:txBody>
      </p:sp>
      <p:sp>
        <p:nvSpPr>
          <p:cNvPr id="10" name="">
            <a:extLst xmlns:a="http://schemas.openxmlformats.org/drawingml/2006/main">
              <a:ext uri="{FF2B5EF4-FFF2-40B4-BE49-F238E27FC236}">
                <a16:creationId xmlns:a16="http://schemas.microsoft.com/office/drawing/2014/main" id="{0890EFD5-3534-4018-AA5A-1A7E52C5730F}"/>
              </a:ext>
            </a:extLst>
          </p:cNvPr>
          <p:cNvSpPr>
            <a:spLocks xmlns:a="http://schemas.openxmlformats.org/drawingml/2006/main" noGrp="1"/>
          </p:cNvSpPr>
          <p:nvPr/>
        </p:nvSpPr>
        <p:spPr>
          <a:xfrm xmlns:a="http://schemas.openxmlformats.org/drawingml/2006/main">
            <a:off x="647700" y="6134100"/>
            <a:ext cx="4953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825" b="1" i="0">
                <a:solidFill>
                  <a:srgbClr val="C8B7E8"/>
                </a:solidFill>
                <a:latin typeface="Helvetica"/>
                <a:ea typeface="Helvetica"/>
                <a:cs typeface="Helvetica"/>
              </a:defRPr>
            </a:defPPr>
          </a:lstStyle>
          <a:p xmlns:a="http://schemas.openxmlformats.org/drawingml/2006/main">
            <a:pPr algn="l">
              <a:defRPr sz="825" b="1" i="0">
                <a:solidFill>
                  <a:srgbClr val="C8B7E8"/>
                </a:solidFill>
                <a:latin typeface="Helvetica"/>
                <a:ea typeface="Helvetica"/>
                <a:cs typeface="Helvetica"/>
              </a:defRPr>
            </a:pPr>
            <a:r>
              <a:rPr sz="825" b="1" i="0">
                <a:solidFill>
                  <a:srgbClr val="C8B7E8"/>
                </a:solidFill>
                <a:latin typeface="Helvetica"/>
                <a:ea typeface="Helvetica"/>
                <a:cs typeface="Helvetica"/>
              </a:rPr>
              <a:t>SOURCES: T1</a:t>
            </a:r>
          </a:p>
        </p:txBody>
      </p:sp>
      <p:sp>
        <p:nvSpPr>
          <p:cNvPr id="11" name="">
            <a:extLst xmlns:a="http://schemas.openxmlformats.org/drawingml/2006/main">
              <a:ext uri="{FF2B5EF4-FFF2-40B4-BE49-F238E27FC236}">
                <a16:creationId xmlns:a16="http://schemas.microsoft.com/office/drawing/2014/main" id="{6B444C7B-122A-43E5-8F71-56C1282A2716}"/>
              </a:ext>
            </a:extLst>
          </p:cNvPr>
          <p:cNvSpPr>
            <a:spLocks xmlns:a="http://schemas.openxmlformats.org/drawingml/2006/main" noGrp="1"/>
          </p:cNvSpPr>
          <p:nvPr/>
        </p:nvSpPr>
        <p:spPr>
          <a:xfrm xmlns:a="http://schemas.openxmlformats.org/drawingml/2006/main">
            <a:off x="5715000" y="6134100"/>
            <a:ext cx="48768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r">
              <a:defRPr sz="825" b="1" i="0">
                <a:solidFill>
                  <a:srgbClr val="C8B7E8"/>
                </a:solidFill>
                <a:latin typeface="Helvetica"/>
                <a:ea typeface="Helvetica"/>
                <a:cs typeface="Helvetica"/>
              </a:defRPr>
            </a:defPPr>
          </a:lstStyle>
          <a:p xmlns:a="http://schemas.openxmlformats.org/drawingml/2006/main">
            <a:pPr algn="r">
              <a:defRPr sz="825" b="1" i="0">
                <a:solidFill>
                  <a:srgbClr val="C8B7E8"/>
                </a:solidFill>
                <a:latin typeface="Helvetica"/>
                <a:ea typeface="Helvetica"/>
                <a:cs typeface="Helvetica"/>
              </a:defRPr>
            </a:pPr>
            <a:r>
              <a:rPr sz="825" b="1" i="0">
                <a:solidFill>
                  <a:srgbClr val="C8B7E8"/>
                </a:solidFill>
                <a:latin typeface="Helvetica"/>
                <a:ea typeface="Helvetica"/>
                <a:cs typeface="Helvetica"/>
              </a:rPr>
              <a:t>APPROVED STRATEGY</a:t>
            </a:r>
          </a:p>
        </p:txBody>
      </p:sp>
      <p:sp>
        <p:nvSpPr>
          <p:cNvPr id="12" name="">
            <a:extLst xmlns:a="http://schemas.openxmlformats.org/drawingml/2006/main">
              <a:ext uri="{FF2B5EF4-FFF2-40B4-BE49-F238E27FC236}">
                <a16:creationId xmlns:a16="http://schemas.microsoft.com/office/drawing/2014/main" id="{4532B857-1435-4884-82D3-F8ABF20FA223}"/>
              </a:ext>
            </a:extLst>
          </p:cNvPr>
          <p:cNvSpPr>
            <a:spLocks xmlns:a="http://schemas.openxmlformats.org/drawingml/2006/main" noGrp="1"/>
          </p:cNvSpPr>
          <p:nvPr/>
        </p:nvSpPr>
        <p:spPr>
          <a:xfrm xmlns:a="http://schemas.openxmlformats.org/drawingml/2006/main">
            <a:off x="647700" y="6515100"/>
            <a:ext cx="17145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l">
              <a:defRPr sz="675" b="1" i="0">
                <a:solidFill>
                  <a:srgbClr val="C8B7E8"/>
                </a:solidFill>
                <a:latin typeface="Helvetica"/>
                <a:ea typeface="Helvetica"/>
                <a:cs typeface="Helvetica"/>
              </a:defRPr>
            </a:defPPr>
          </a:lstStyle>
          <a:p xmlns:a="http://schemas.openxmlformats.org/drawingml/2006/main">
            <a:pPr algn="l">
              <a:defRPr sz="675" b="1" i="0">
                <a:solidFill>
                  <a:srgbClr val="C8B7E8"/>
                </a:solidFill>
                <a:latin typeface="Helvetica"/>
                <a:ea typeface="Helvetica"/>
                <a:cs typeface="Helvetica"/>
              </a:defRPr>
            </a:pPr>
            <a:r>
              <a:rPr sz="675" b="1" i="0">
                <a:solidFill>
                  <a:srgbClr val="C8B7E8"/>
                </a:solidFill>
                <a:latin typeface="Helvetica"/>
                <a:ea typeface="Helvetica"/>
                <a:cs typeface="Helvetica"/>
              </a:rPr>
              <a:t>NARRATIIVE</a:t>
            </a:r>
          </a:p>
        </p:txBody>
      </p:sp>
      <p:sp>
        <p:nvSpPr>
          <p:cNvPr id="13" name="">
            <a:extLst xmlns:a="http://schemas.openxmlformats.org/drawingml/2006/main">
              <a:ext uri="{FF2B5EF4-FFF2-40B4-BE49-F238E27FC236}">
                <a16:creationId xmlns:a16="http://schemas.microsoft.com/office/drawing/2014/main" id="{752BD8AD-8E10-4272-AA08-BBC89046DDBF}"/>
              </a:ext>
            </a:extLst>
          </p:cNvPr>
          <p:cNvSpPr>
            <a:spLocks xmlns:a="http://schemas.openxmlformats.org/drawingml/2006/main" noGrp="1"/>
          </p:cNvSpPr>
          <p:nvPr/>
        </p:nvSpPr>
        <p:spPr>
          <a:xfrm xmlns:a="http://schemas.openxmlformats.org/drawingml/2006/main">
            <a:off x="10668000" y="6515100"/>
            <a:ext cx="87630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lstStyle xmlns:a="http://schemas.openxmlformats.org/drawingml/2006/main">
            <a:defPPr algn="r">
              <a:defRPr sz="675" b="0" i="0">
                <a:solidFill>
                  <a:srgbClr val="C8B7E8"/>
                </a:solidFill>
                <a:latin typeface="Helvetica"/>
                <a:ea typeface="Helvetica"/>
                <a:cs typeface="Helvetica"/>
              </a:defRPr>
            </a:defPPr>
          </a:lstStyle>
          <a:p xmlns:a="http://schemas.openxmlformats.org/drawingml/2006/main">
            <a:pPr algn="r">
              <a:defRPr sz="675" b="0" i="0">
                <a:solidFill>
                  <a:srgbClr val="C8B7E8"/>
                </a:solidFill>
                <a:latin typeface="Helvetica"/>
                <a:ea typeface="Helvetica"/>
                <a:cs typeface="Helvetica"/>
              </a:defRPr>
            </a:pPr>
            <a:r>
              <a:rPr sz="675" b="0" i="0">
                <a:solidFill>
                  <a:srgbClr val="C8B7E8"/>
                </a:solidFill>
                <a:latin typeface="Helvetica"/>
                <a:ea typeface="Helvetica"/>
                <a:cs typeface="Helvetica"/>
              </a:rPr>
              <a:t>30 / 30</a:t>
            </a:r>
          </a:p>
        </p:txBody>
      </p:sp>
    </p:spTree>
    <p:extLst>
      <p:ext uri="{BB962C8B-B14F-4D97-AF65-F5344CB8AC3E}">
        <p14:creationId xmlns:p14="http://schemas.microsoft.com/office/powerpoint/2010/main" val="78843576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2026-10-12T22:37:28.3050000Z</dcterms:created>
  <dcterms:modified xsi:type="dcterms:W3CDTF">2026-10-12T22:37:28.3050000Z</dcterms:modified>
</coreProperties>
</file>