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553fc38a5b34d4b" /><Relationship Type="http://schemas.openxmlformats.org/officeDocument/2006/relationships/extended-properties" Target="/docProps/app.xml" Id="Re2b14bbb41bb4f65" /><Relationship Type="http://schemas.openxmlformats.org/officeDocument/2006/relationships/officeDocument" Target="/ppt/presentation.xml" Id="R4aeaea2e89c3411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7d602fb1b1745d2"/>
  </p:sldMasterIdLst>
  <p:notesMasterIdLst>
    <p:notesMasterId xmlns:r="http://schemas.openxmlformats.org/officeDocument/2006/relationships" r:id="Rf12e0c28596144a4"/>
  </p:notesMasterIdLst>
  <p:sldIdLst>
    <p:sldId xmlns:r="http://schemas.openxmlformats.org/officeDocument/2006/relationships" id="256" r:id="R641e89d94e37484f"/>
    <p:sldId xmlns:r="http://schemas.openxmlformats.org/officeDocument/2006/relationships" id="257" r:id="R264abe41b84d440c"/>
    <p:sldId xmlns:r="http://schemas.openxmlformats.org/officeDocument/2006/relationships" id="258" r:id="R9aa202ffe3cc4c57"/>
    <p:sldId xmlns:r="http://schemas.openxmlformats.org/officeDocument/2006/relationships" id="259" r:id="R055a3b1b47f74a8d"/>
    <p:sldId xmlns:r="http://schemas.openxmlformats.org/officeDocument/2006/relationships" id="260" r:id="R20b29a609fc34908"/>
    <p:sldId xmlns:r="http://schemas.openxmlformats.org/officeDocument/2006/relationships" id="261" r:id="Rc892cc76ab4f4792"/>
    <p:sldId xmlns:r="http://schemas.openxmlformats.org/officeDocument/2006/relationships" id="262" r:id="R0648c122cfb74eb1"/>
    <p:sldId xmlns:r="http://schemas.openxmlformats.org/officeDocument/2006/relationships" id="263" r:id="Ra10e5155debe411a"/>
    <p:sldId xmlns:r="http://schemas.openxmlformats.org/officeDocument/2006/relationships" id="264" r:id="R7c8cf8fff4e947d8"/>
    <p:sldId xmlns:r="http://schemas.openxmlformats.org/officeDocument/2006/relationships" id="265" r:id="R18fa0f2c9ac94849"/>
    <p:sldId xmlns:r="http://schemas.openxmlformats.org/officeDocument/2006/relationships" id="266" r:id="R345b6fc4769949ed"/>
    <p:sldId xmlns:r="http://schemas.openxmlformats.org/officeDocument/2006/relationships" id="267" r:id="Rcf80a48a4ed14a12"/>
    <p:sldId xmlns:r="http://schemas.openxmlformats.org/officeDocument/2006/relationships" id="268" r:id="Read0d653bd274dde"/>
    <p:sldId xmlns:r="http://schemas.openxmlformats.org/officeDocument/2006/relationships" id="269" r:id="R94faa5aefa8f4b0e"/>
    <p:sldId xmlns:r="http://schemas.openxmlformats.org/officeDocument/2006/relationships" id="270" r:id="R55e6b9ec6927411d"/>
    <p:sldId xmlns:r="http://schemas.openxmlformats.org/officeDocument/2006/relationships" id="271" r:id="Rcb65e4449a664398"/>
    <p:sldId xmlns:r="http://schemas.openxmlformats.org/officeDocument/2006/relationships" id="272" r:id="Re03b210888be4ee8"/>
    <p:sldId xmlns:r="http://schemas.openxmlformats.org/officeDocument/2006/relationships" id="273" r:id="R0529b824550b4f12"/>
    <p:sldId xmlns:r="http://schemas.openxmlformats.org/officeDocument/2006/relationships" id="274" r:id="R9286bf3dd9bd4c8b"/>
    <p:sldId xmlns:r="http://schemas.openxmlformats.org/officeDocument/2006/relationships" id="275" r:id="R1316450ba584458b"/>
    <p:sldId xmlns:r="http://schemas.openxmlformats.org/officeDocument/2006/relationships" id="276" r:id="R73eef244d3e54205"/>
    <p:sldId xmlns:r="http://schemas.openxmlformats.org/officeDocument/2006/relationships" id="277" r:id="R9cc6011bd4da447f"/>
    <p:sldId xmlns:r="http://schemas.openxmlformats.org/officeDocument/2006/relationships" id="278" r:id="R4c2b362bce074401"/>
    <p:sldId xmlns:r="http://schemas.openxmlformats.org/officeDocument/2006/relationships" id="279" r:id="R5ef2cb2c9b10434b"/>
    <p:sldId xmlns:r="http://schemas.openxmlformats.org/officeDocument/2006/relationships" id="280" r:id="Ra086c89bfb4e41c1"/>
    <p:sldId xmlns:r="http://schemas.openxmlformats.org/officeDocument/2006/relationships" id="281" r:id="R2107000704174440"/>
    <p:sldId xmlns:r="http://schemas.openxmlformats.org/officeDocument/2006/relationships" id="282" r:id="Rd144c2a1d2674479"/>
    <p:sldId xmlns:r="http://schemas.openxmlformats.org/officeDocument/2006/relationships" id="283" r:id="R572da81749114776"/>
    <p:sldId xmlns:r="http://schemas.openxmlformats.org/officeDocument/2006/relationships" id="284" r:id="Re1d9503d343c4387"/>
    <p:sldId xmlns:r="http://schemas.openxmlformats.org/officeDocument/2006/relationships" id="285" r:id="R3e8c6ffe0d7a4b99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2230b995b7a4a77" /><Relationship Type="http://schemas.openxmlformats.org/officeDocument/2006/relationships/slideMaster" Target="/ppt/slideMasters/slideMaster1.xml" Id="R57d602fb1b1745d2" /><Relationship Type="http://schemas.openxmlformats.org/officeDocument/2006/relationships/notesMaster" Target="/ppt/notesMasters/notesMaster1.xml" Id="Rf12e0c28596144a4" /><Relationship Type="http://schemas.openxmlformats.org/officeDocument/2006/relationships/presProps" Target="/ppt/presProps.xml" Id="R7ad25d0d33a04e52" /><Relationship Type="http://schemas.openxmlformats.org/officeDocument/2006/relationships/tableStyles" Target="/ppt/tableStyles.xml" Id="R7210b9002f6647e2" /><Relationship Type="http://schemas.openxmlformats.org/officeDocument/2006/relationships/slide" Target="/ppt/slides/slide1.xml" Id="R641e89d94e37484f" /><Relationship Type="http://schemas.openxmlformats.org/officeDocument/2006/relationships/slide" Target="/ppt/slides/slide2.xml" Id="R264abe41b84d440c" /><Relationship Type="http://schemas.openxmlformats.org/officeDocument/2006/relationships/slide" Target="/ppt/slides/slide3.xml" Id="R9aa202ffe3cc4c57" /><Relationship Type="http://schemas.openxmlformats.org/officeDocument/2006/relationships/slide" Target="/ppt/slides/slide4.xml" Id="R055a3b1b47f74a8d" /><Relationship Type="http://schemas.openxmlformats.org/officeDocument/2006/relationships/slide" Target="/ppt/slides/slide5.xml" Id="R20b29a609fc34908" /><Relationship Type="http://schemas.openxmlformats.org/officeDocument/2006/relationships/slide" Target="/ppt/slides/slide6.xml" Id="Rc892cc76ab4f4792" /><Relationship Type="http://schemas.openxmlformats.org/officeDocument/2006/relationships/slide" Target="/ppt/slides/slide7.xml" Id="R0648c122cfb74eb1" /><Relationship Type="http://schemas.openxmlformats.org/officeDocument/2006/relationships/slide" Target="/ppt/slides/slide8.xml" Id="Ra10e5155debe411a" /><Relationship Type="http://schemas.openxmlformats.org/officeDocument/2006/relationships/slide" Target="/ppt/slides/slide9.xml" Id="R7c8cf8fff4e947d8" /><Relationship Type="http://schemas.openxmlformats.org/officeDocument/2006/relationships/slide" Target="/ppt/slides/slide10.xml" Id="R18fa0f2c9ac94849" /><Relationship Type="http://schemas.openxmlformats.org/officeDocument/2006/relationships/slide" Target="/ppt/slides/slide11.xml" Id="R345b6fc4769949ed" /><Relationship Type="http://schemas.openxmlformats.org/officeDocument/2006/relationships/slide" Target="/ppt/slides/slide12.xml" Id="Rcf80a48a4ed14a12" /><Relationship Type="http://schemas.openxmlformats.org/officeDocument/2006/relationships/slide" Target="/ppt/slides/slide13.xml" Id="Read0d653bd274dde" /><Relationship Type="http://schemas.openxmlformats.org/officeDocument/2006/relationships/slide" Target="/ppt/slides/slide14.xml" Id="R94faa5aefa8f4b0e" /><Relationship Type="http://schemas.openxmlformats.org/officeDocument/2006/relationships/slide" Target="/ppt/slides/slide15.xml" Id="R55e6b9ec6927411d" /><Relationship Type="http://schemas.openxmlformats.org/officeDocument/2006/relationships/slide" Target="/ppt/slides/slide16.xml" Id="Rcb65e4449a664398" /><Relationship Type="http://schemas.openxmlformats.org/officeDocument/2006/relationships/slide" Target="/ppt/slides/slide17.xml" Id="Re03b210888be4ee8" /><Relationship Type="http://schemas.openxmlformats.org/officeDocument/2006/relationships/slide" Target="/ppt/slides/slide18.xml" Id="R0529b824550b4f12" /><Relationship Type="http://schemas.openxmlformats.org/officeDocument/2006/relationships/slide" Target="/ppt/slides/slide19.xml" Id="R9286bf3dd9bd4c8b" /><Relationship Type="http://schemas.openxmlformats.org/officeDocument/2006/relationships/slide" Target="/ppt/slides/slide20.xml" Id="R1316450ba584458b" /><Relationship Type="http://schemas.openxmlformats.org/officeDocument/2006/relationships/slide" Target="/ppt/slides/slide21.xml" Id="R73eef244d3e54205" /><Relationship Type="http://schemas.openxmlformats.org/officeDocument/2006/relationships/slide" Target="/ppt/slides/slide22.xml" Id="R9cc6011bd4da447f" /><Relationship Type="http://schemas.openxmlformats.org/officeDocument/2006/relationships/slide" Target="/ppt/slides/slide23.xml" Id="R4c2b362bce074401" /><Relationship Type="http://schemas.openxmlformats.org/officeDocument/2006/relationships/slide" Target="/ppt/slides/slide24.xml" Id="R5ef2cb2c9b10434b" /><Relationship Type="http://schemas.openxmlformats.org/officeDocument/2006/relationships/slide" Target="/ppt/slides/slide25.xml" Id="Ra086c89bfb4e41c1" /><Relationship Type="http://schemas.openxmlformats.org/officeDocument/2006/relationships/slide" Target="/ppt/slides/slide26.xml" Id="R2107000704174440" /><Relationship Type="http://schemas.openxmlformats.org/officeDocument/2006/relationships/slide" Target="/ppt/slides/slide27.xml" Id="Rd144c2a1d2674479" /><Relationship Type="http://schemas.openxmlformats.org/officeDocument/2006/relationships/slide" Target="/ppt/slides/slide28.xml" Id="R572da81749114776" /><Relationship Type="http://schemas.openxmlformats.org/officeDocument/2006/relationships/slide" Target="/ppt/slides/slide29.xml" Id="Re1d9503d343c4387" /><Relationship Type="http://schemas.openxmlformats.org/officeDocument/2006/relationships/slide" Target="/ppt/slides/slide30.xml" Id="R3e8c6ffe0d7a4b9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b8c750ca5e0414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1c93798f77446ec" /><Relationship Type="http://schemas.openxmlformats.org/officeDocument/2006/relationships/notesMaster" Target="/ppt/notesMasters/notesMaster1.xml" Id="R69e866057110404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a19baab031a46e9" /><Relationship Type="http://schemas.openxmlformats.org/officeDocument/2006/relationships/notesMaster" Target="/ppt/notesMasters/notesMaster1.xml" Id="R21d66da287444e0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d56dd2aac6d42af" /><Relationship Type="http://schemas.openxmlformats.org/officeDocument/2006/relationships/notesMaster" Target="/ppt/notesMasters/notesMaster1.xml" Id="R434fc501167c4eb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1535313fe194865" /><Relationship Type="http://schemas.openxmlformats.org/officeDocument/2006/relationships/notesMaster" Target="/ppt/notesMasters/notesMaster1.xml" Id="R41f6c3547c7c458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69ad35688524ca2" /><Relationship Type="http://schemas.openxmlformats.org/officeDocument/2006/relationships/notesMaster" Target="/ppt/notesMasters/notesMaster1.xml" Id="R03d788fffb6d44d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6882c148f0d4ae2" /><Relationship Type="http://schemas.openxmlformats.org/officeDocument/2006/relationships/notesMaster" Target="/ppt/notesMasters/notesMaster1.xml" Id="R76bd10eee5664556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f269f5b4a16c459c" /><Relationship Type="http://schemas.openxmlformats.org/officeDocument/2006/relationships/notesMaster" Target="/ppt/notesMasters/notesMaster1.xml" Id="Rbd4be57dc7194e96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8dd00d1c1fce46b0" /><Relationship Type="http://schemas.openxmlformats.org/officeDocument/2006/relationships/notesMaster" Target="/ppt/notesMasters/notesMaster1.xml" Id="R43068f408a774f66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6ac6e5f602084e69" /><Relationship Type="http://schemas.openxmlformats.org/officeDocument/2006/relationships/notesMaster" Target="/ppt/notesMasters/notesMaster1.xml" Id="Rfb805dc338194013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8d5a076592f544ea" /><Relationship Type="http://schemas.openxmlformats.org/officeDocument/2006/relationships/notesMaster" Target="/ppt/notesMasters/notesMaster1.xml" Id="Rc8a2d33e115c45d4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c8f1c6d51c3440a7" /><Relationship Type="http://schemas.openxmlformats.org/officeDocument/2006/relationships/notesMaster" Target="/ppt/notesMasters/notesMaster1.xml" Id="Rc086a468854a4720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0f3c7ea3022c4b8a" /><Relationship Type="http://schemas.openxmlformats.org/officeDocument/2006/relationships/notesMaster" Target="/ppt/notesMasters/notesMaster1.xml" Id="Rdda8984e03b6432b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103e701550a54957" /><Relationship Type="http://schemas.openxmlformats.org/officeDocument/2006/relationships/notesMaster" Target="/ppt/notesMasters/notesMaster1.xml" Id="R9c360a7193f54f16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864fb6c7191f4526" /><Relationship Type="http://schemas.openxmlformats.org/officeDocument/2006/relationships/notesMaster" Target="/ppt/notesMasters/notesMaster1.xml" Id="R130c809d654140da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92413fef53f34c1a" /><Relationship Type="http://schemas.openxmlformats.org/officeDocument/2006/relationships/notesMaster" Target="/ppt/notesMasters/notesMaster1.xml" Id="Reb4be94330754edd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af4492b5bbb24ebc" /><Relationship Type="http://schemas.openxmlformats.org/officeDocument/2006/relationships/notesMaster" Target="/ppt/notesMasters/notesMaster1.xml" Id="Re45ec6527a4f48da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0ec26901010a4ff6" /><Relationship Type="http://schemas.openxmlformats.org/officeDocument/2006/relationships/notesMaster" Target="/ppt/notesMasters/notesMaster1.xml" Id="Rd450d93299ca43cb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dbe72b10c07f43b5" /><Relationship Type="http://schemas.openxmlformats.org/officeDocument/2006/relationships/notesMaster" Target="/ppt/notesMasters/notesMaster1.xml" Id="Rc306a95137c44083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212be512030e4927" /><Relationship Type="http://schemas.openxmlformats.org/officeDocument/2006/relationships/notesMaster" Target="/ppt/notesMasters/notesMaster1.xml" Id="Rc6bb4c9e21eb4169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effb4f0befbd42be" /><Relationship Type="http://schemas.openxmlformats.org/officeDocument/2006/relationships/notesMaster" Target="/ppt/notesMasters/notesMaster1.xml" Id="Rdbce42fc0bc44bdc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38516416caac4007" /><Relationship Type="http://schemas.openxmlformats.org/officeDocument/2006/relationships/notesMaster" Target="/ppt/notesMasters/notesMaster1.xml" Id="R80524aaf1f5143ce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34a63316519b4273" /><Relationship Type="http://schemas.openxmlformats.org/officeDocument/2006/relationships/notesMaster" Target="/ppt/notesMasters/notesMaster1.xml" Id="R10446cdc7e78405b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87d4f71b14ec4abd" /><Relationship Type="http://schemas.openxmlformats.org/officeDocument/2006/relationships/notesMaster" Target="/ppt/notesMasters/notesMaster1.xml" Id="R8f265d1080c241eb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2f5f58e3251f4ccc" /><Relationship Type="http://schemas.openxmlformats.org/officeDocument/2006/relationships/notesMaster" Target="/ppt/notesMasters/notesMaster1.xml" Id="Rd2ae5c7dc0704af3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183d47f890e741da" /><Relationship Type="http://schemas.openxmlformats.org/officeDocument/2006/relationships/notesMaster" Target="/ppt/notesMasters/notesMaster1.xml" Id="Ra5cef07191b54389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048f23f88539475c" /><Relationship Type="http://schemas.openxmlformats.org/officeDocument/2006/relationships/notesMaster" Target="/ppt/notesMasters/notesMaster1.xml" Id="R8eba7507b67140bc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fd5eff5118484a46" /><Relationship Type="http://schemas.openxmlformats.org/officeDocument/2006/relationships/notesMaster" Target="/ppt/notesMasters/notesMaster1.xml" Id="R6357bb51683d4df5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566681d827c1455f" /><Relationship Type="http://schemas.openxmlformats.org/officeDocument/2006/relationships/notesMaster" Target="/ppt/notesMasters/notesMaster1.xml" Id="R33f278a9b2ef4bbf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d72f72c095f34e96" /><Relationship Type="http://schemas.openxmlformats.org/officeDocument/2006/relationships/notesMaster" Target="/ppt/notesMasters/notesMaster1.xml" Id="Rb1273ed60c634c59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7092e22125614132" /><Relationship Type="http://schemas.openxmlformats.org/officeDocument/2006/relationships/notesMaster" Target="/ppt/notesMasters/notesMaster1.xml" Id="R0fc0248875f4423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S1A: The Grocer — Series C, market share and 100m-meal scale report (December 2025), thegrocer.co.uk (Series C report)</a:t>
            </a:r>
          </a:p>
          <a:p xmlns:a="http://schemas.openxmlformats.org/drawingml/2006/main">
            <a:r>
              <a:t>S1C: Marketing Week — Lloyd Page appointed first CMO (2025), marketingweek.com</a:t>
            </a:r>
          </a:p>
          <a:p xmlns:a="http://schemas.openxmlformats.org/drawingml/2006/main">
            <a:r>
              <a:t>S2: KatKin / Journal of Animal Science — KatKin heat-damage study and peer-reviewed AGE research (accessed 11 September 2026), katkin.com/articles/katkins-heat-damage-study; Journal of Animal Science</a:t>
            </a:r>
          </a:p>
          <a:p xmlns:a="http://schemas.openxmlformats.org/drawingml/2006/main">
            <a:r>
              <a:t>S3: Untamed / Bubblegum Search — Competitor claims and organic-search comparison (Q3 2025 to September 2026), untamed.com; bubblegumsearch.com</a:t>
            </a:r>
          </a:p>
          <a:p xmlns:a="http://schemas.openxmlformats.org/drawingml/2006/main">
            <a:r>
              <a:t>S5: Motion / Marketing Week — Paid-social volume and creative analysis (accessed 11 September 2026), motionapp.com/library/katkin; marketingweek.com</a:t>
            </a:r>
          </a:p>
          <a:p xmlns:a="http://schemas.openxmlformats.org/drawingml/2006/main">
            <a:r>
              <a:t>T1: Narratiive governed workflow — Approved KatKin Strategy Thesis (September 2026), artifact-63f71c6bacf78fe6-92b790e0f4def86f</a:t>
            </a:r>
          </a:p>
          <a:p xmlns:a="http://schemas.openxmlformats.org/drawingml/2006/main">
            <a:r>
              <a:t>Governed evidence refs: thesis:growth_opportunity, ev_5c64#s5, ev_5c64#s7</a:t>
            </a:r>
          </a:p>
          <a:p xmlns:a="http://schemas.openxmlformats.org/drawingml/2006/main">
            <a:r>
              <a:t>INTERNAL REVIEW DRAFT - HUMAN APPROVAL REQUIRED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S5: Motion / Marketing Week — Paid-social volume and creative analysis (accessed 11 September 2026), motionapp.com/library/katkin; marketingweek.com</a:t>
            </a:r>
          </a:p>
          <a:p xmlns:a="http://schemas.openxmlformats.org/drawingml/2006/main">
            <a:r>
              <a:t>T1: Narratiive governed workflow — Approved KatKin Strategy Thesis (September 2026), artifact-63f71c6bacf78fe6-92b790e0f4def86f</a:t>
            </a:r>
          </a:p>
          <a:p xmlns:a="http://schemas.openxmlformats.org/drawingml/2006/main">
            <a:r>
              <a:t>Governed evidence refs: thesis:growth_opportunity, ev_5c64#s5, ev_5c64#s7</a:t>
            </a:r>
          </a:p>
          <a:p xmlns:a="http://schemas.openxmlformats.org/drawingml/2006/main">
            <a:r>
              <a:t>INTERNAL REVIEW DRAFT - HUMAN APPROVAL REQUIRED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S1A: The Grocer — Series C, market share and 100m-meal scale report (December 2025), thegrocer.co.uk (Series C report)</a:t>
            </a:r>
          </a:p>
          <a:p xmlns:a="http://schemas.openxmlformats.org/drawingml/2006/main">
            <a:r>
              <a:t>S1B: Companies House / Companies in the UK — Anikin Ltd statutory accounts and balance sheet (FY2023), companieshouse.gov.uk; companiesintheuk.co.uk</a:t>
            </a:r>
          </a:p>
          <a:p xmlns:a="http://schemas.openxmlformats.org/drawingml/2006/main">
            <a:r>
              <a:t>S1C: Marketing Week — Lloyd Page appointed first CMO (2025), marketingweek.com</a:t>
            </a:r>
          </a:p>
          <a:p xmlns:a="http://schemas.openxmlformats.org/drawingml/2006/main">
            <a:r>
              <a:t>S3: Untamed / Bubblegum Search — Competitor claims and organic-search comparison (Q3 2025 to September 2026), untamed.com; bubblegumsearch.com</a:t>
            </a:r>
          </a:p>
          <a:p xmlns:a="http://schemas.openxmlformats.org/drawingml/2006/main">
            <a:r>
              <a:t>S5: Motion / Marketing Week — Paid-social volume and creative analysis (accessed 11 September 2026), motionapp.com/library/katkin; marketingweek.com</a:t>
            </a:r>
          </a:p>
          <a:p xmlns:a="http://schemas.openxmlformats.org/drawingml/2006/main">
            <a:r>
              <a:t>Governed evidence refs: none</a:t>
            </a:r>
          </a:p>
          <a:p xmlns:a="http://schemas.openxmlformats.org/drawingml/2006/main">
            <a:r>
              <a:t>INTERNAL REVIEW DRAFT - HUMAN APPROVAL REQUIRED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S2: KatKin / Journal of Animal Science — KatKin heat-damage study and peer-reviewed AGE research (accessed 11 September 2026), katkin.com/articles/katkins-heat-damage-study; Journal of Animal Science</a:t>
            </a:r>
          </a:p>
          <a:p xmlns:a="http://schemas.openxmlformats.org/drawingml/2006/main">
            <a:r>
              <a:t>S3: Untamed / Bubblegum Search — Competitor claims and organic-search comparison (Q3 2025 to September 2026), untamed.com; bubblegumsearch.com</a:t>
            </a:r>
          </a:p>
          <a:p xmlns:a="http://schemas.openxmlformats.org/drawingml/2006/main">
            <a:r>
              <a:t>Governed evidence refs: ev_5c64#s1, ev_5c64#s3</a:t>
            </a:r>
          </a:p>
          <a:p xmlns:a="http://schemas.openxmlformats.org/drawingml/2006/main">
            <a:r>
              <a:t>INTERNAL REVIEW DRAFT - HUMAN APPROVAL REQUIRED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S2: KatKin / Journal of Animal Science — KatKin heat-damage study and peer-reviewed AGE research (accessed 11 September 2026), katkin.com/articles/katkins-heat-damage-study; Journal of Animal Science</a:t>
            </a:r>
          </a:p>
          <a:p xmlns:a="http://schemas.openxmlformats.org/drawingml/2006/main">
            <a:r>
              <a:t>Governed evidence refs: ev_5c64#s1, ev_5c64#s3</a:t>
            </a:r>
          </a:p>
          <a:p xmlns:a="http://schemas.openxmlformats.org/drawingml/2006/main">
            <a:r>
              <a:t>INTERNAL REVIEW DRAFT - HUMAN APPROVAL REQUIRED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S4: KatKin / Trustpilot / Cats.com — Pricing, reviews and customer-friction evidence (accessed 11 September 2026), katkin.com/our-pricing; uk.trustpilot.com/review/katkin.com; cats.com/katkin-cat-food-review</a:t>
            </a:r>
          </a:p>
          <a:p xmlns:a="http://schemas.openxmlformats.org/drawingml/2006/main">
            <a:r>
              <a:t>S6: Pet Business World — Jollyes retail rollout across 80 stores (August 2025), petbusinessworld.co.uk</a:t>
            </a:r>
          </a:p>
          <a:p xmlns:a="http://schemas.openxmlformats.org/drawingml/2006/main">
            <a:r>
              <a:t>Governed evidence refs: ev_5c64#s2, thesis:source_of_difference</a:t>
            </a:r>
          </a:p>
          <a:p xmlns:a="http://schemas.openxmlformats.org/drawingml/2006/main">
            <a:r>
              <a:t>INTERNAL REVIEW DRAFT - HUMAN APPROVAL REQUIRED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S4: KatKin / Trustpilot / Cats.com — Pricing, reviews and customer-friction evidence (accessed 11 September 2026), katkin.com/our-pricing; uk.trustpilot.com/review/katkin.com; cats.com/katkin-cat-food-review</a:t>
            </a:r>
          </a:p>
          <a:p xmlns:a="http://schemas.openxmlformats.org/drawingml/2006/main">
            <a:r>
              <a:t>Governed evidence refs: ev_5c64#s2, thesis:source_of_difference</a:t>
            </a:r>
          </a:p>
          <a:p xmlns:a="http://schemas.openxmlformats.org/drawingml/2006/main">
            <a:r>
              <a:t>INTERNAL REVIEW DRAFT - HUMAN APPROVAL REQUIRED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S2: KatKin / Journal of Animal Science — KatKin heat-damage study and peer-reviewed AGE research (accessed 11 September 2026), katkin.com/articles/katkins-heat-damage-study; Journal of Animal Science</a:t>
            </a:r>
          </a:p>
          <a:p xmlns:a="http://schemas.openxmlformats.org/drawingml/2006/main">
            <a:r>
              <a:t>S3: Untamed / Bubblegum Search — Competitor claims and organic-search comparison (Q3 2025 to September 2026), untamed.com; bubblegumsearch.com</a:t>
            </a:r>
          </a:p>
          <a:p xmlns:a="http://schemas.openxmlformats.org/drawingml/2006/main">
            <a:r>
              <a:t>T1: Narratiive governed workflow — Approved KatKin Strategy Thesis (September 2026), artifact-63f71c6bacf78fe6-92b790e0f4def86f</a:t>
            </a:r>
          </a:p>
          <a:p xmlns:a="http://schemas.openxmlformats.org/drawingml/2006/main">
            <a:r>
              <a:t>Governed evidence refs: thesis:growth_opportunity, ev_5c64#s5, ev_5c64#s7</a:t>
            </a:r>
          </a:p>
          <a:p xmlns:a="http://schemas.openxmlformats.org/drawingml/2006/main">
            <a:r>
              <a:t>INTERNAL REVIEW DRAFT - HUMAN APPROVAL REQUIRED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S2: KatKin / Journal of Animal Science — KatKin heat-damage study and peer-reviewed AGE research (accessed 11 September 2026), katkin.com/articles/katkins-heat-damage-study; Journal of Animal Science</a:t>
            </a:r>
          </a:p>
          <a:p xmlns:a="http://schemas.openxmlformats.org/drawingml/2006/main">
            <a:r>
              <a:t>S3: Untamed / Bubblegum Search — Competitor claims and organic-search comparison (Q3 2025 to September 2026), untamed.com; bubblegumsearch.com</a:t>
            </a:r>
          </a:p>
          <a:p xmlns:a="http://schemas.openxmlformats.org/drawingml/2006/main">
            <a:r>
              <a:t>T1: Narratiive governed workflow — Approved KatKin Strategy Thesis (September 2026), artifact-63f71c6bacf78fe6-92b790e0f4def86f</a:t>
            </a:r>
          </a:p>
          <a:p xmlns:a="http://schemas.openxmlformats.org/drawingml/2006/main">
            <a:r>
              <a:t>Governed evidence refs: ev_5c64#s1, ev_5c64#s5, ev_5c64#s6</a:t>
            </a:r>
          </a:p>
          <a:p xmlns:a="http://schemas.openxmlformats.org/drawingml/2006/main">
            <a:r>
              <a:t>INTERNAL REVIEW DRAFT - HUMAN APPROVAL REQUIRED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S2: KatKin / Journal of Animal Science — KatKin heat-damage study and peer-reviewed AGE research (accessed 11 September 2026), katkin.com/articles/katkins-heat-damage-study; Journal of Animal Science</a:t>
            </a:r>
          </a:p>
          <a:p xmlns:a="http://schemas.openxmlformats.org/drawingml/2006/main">
            <a:r>
              <a:t>S3: Untamed / Bubblegum Search — Competitor claims and organic-search comparison (Q3 2025 to September 2026), untamed.com; bubblegumsearch.com</a:t>
            </a:r>
          </a:p>
          <a:p xmlns:a="http://schemas.openxmlformats.org/drawingml/2006/main">
            <a:r>
              <a:t>T1: Narratiive governed workflow — Approved KatKin Strategy Thesis (September 2026), artifact-63f71c6bacf78fe6-92b790e0f4def86f</a:t>
            </a:r>
          </a:p>
          <a:p xmlns:a="http://schemas.openxmlformats.org/drawingml/2006/main">
            <a:r>
              <a:t>Governed evidence refs: ev_5c64#s1, ev_5c64#s5, ev_5c64#s6</a:t>
            </a:r>
          </a:p>
          <a:p xmlns:a="http://schemas.openxmlformats.org/drawingml/2006/main">
            <a:r>
              <a:t>INTERNAL REVIEW DRAFT - HUMAN APPROVAL REQUIRED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S2: KatKin / Journal of Animal Science — KatKin heat-damage study and peer-reviewed AGE research (accessed 11 September 2026), katkin.com/articles/katkins-heat-damage-study; Journal of Animal Science</a:t>
            </a:r>
          </a:p>
          <a:p xmlns:a="http://schemas.openxmlformats.org/drawingml/2006/main">
            <a:r>
              <a:t>T1: Narratiive governed workflow — Approved KatKin Strategy Thesis (September 2026), artifact-63f71c6bacf78fe6-92b790e0f4def86f</a:t>
            </a:r>
          </a:p>
          <a:p xmlns:a="http://schemas.openxmlformats.org/drawingml/2006/main">
            <a:r>
              <a:t>Governed evidence refs: ev_5c64#s4, thesis:priority_audience</a:t>
            </a:r>
          </a:p>
          <a:p xmlns:a="http://schemas.openxmlformats.org/drawingml/2006/main">
            <a:r>
              <a:t>INTERNAL REVIEW DRAFT - HUMAN APPROVAL REQUIRED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S2: KatKin / Journal of Animal Science — KatKin heat-damage study and peer-reviewed AGE research (accessed 11 September 2026), katkin.com/articles/katkins-heat-damage-study; Journal of Animal Science</a:t>
            </a:r>
          </a:p>
          <a:p xmlns:a="http://schemas.openxmlformats.org/drawingml/2006/main">
            <a:r>
              <a:t>T1: Narratiive governed workflow — Approved KatKin Strategy Thesis (September 2026), artifact-63f71c6bacf78fe6-92b790e0f4def86f</a:t>
            </a:r>
          </a:p>
          <a:p xmlns:a="http://schemas.openxmlformats.org/drawingml/2006/main">
            <a:r>
              <a:t>Governed evidence refs: ev_5c64#s4, thesis:priority_audience</a:t>
            </a:r>
          </a:p>
          <a:p xmlns:a="http://schemas.openxmlformats.org/drawingml/2006/main">
            <a:r>
              <a:t>INTERNAL REVIEW DRAFT - HUMAN APPROVAL REQUIRED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S3: Untamed / Bubblegum Search — Competitor claims and organic-search comparison (Q3 2025 to September 2026), untamed.com; bubblegumsearch.com</a:t>
            </a:r>
          </a:p>
          <a:p xmlns:a="http://schemas.openxmlformats.org/drawingml/2006/main">
            <a:r>
              <a:t>S4: KatKin / Trustpilot / Cats.com — Pricing, reviews and customer-friction evidence (accessed 11 September 2026), katkin.com/our-pricing; uk.trustpilot.com/review/katkin.com; cats.com/katkin-cat-food-review</a:t>
            </a:r>
          </a:p>
          <a:p xmlns:a="http://schemas.openxmlformats.org/drawingml/2006/main">
            <a:r>
              <a:t>S5: Motion / Marketing Week — Paid-social volume and creative analysis (accessed 11 September 2026), motionapp.com/library/katkin; marketingweek.com</a:t>
            </a:r>
          </a:p>
          <a:p xmlns:a="http://schemas.openxmlformats.org/drawingml/2006/main">
            <a:r>
              <a:t>Governed evidence refs: ev_5c64#s4, thesis:priority_audience</a:t>
            </a:r>
          </a:p>
          <a:p xmlns:a="http://schemas.openxmlformats.org/drawingml/2006/main">
            <a:r>
              <a:t>INTERNAL REVIEW DRAFT - HUMAN APPROVAL REQUIRED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S5: Motion / Marketing Week — Paid-social volume and creative analysis (accessed 11 September 2026), motionapp.com/library/katkin; marketingweek.com</a:t>
            </a:r>
          </a:p>
          <a:p xmlns:a="http://schemas.openxmlformats.org/drawingml/2006/main">
            <a:r>
              <a:t>S6: Pet Business World — Jollyes retail rollout across 80 stores (August 2025), petbusinessworld.co.uk</a:t>
            </a:r>
          </a:p>
          <a:p xmlns:a="http://schemas.openxmlformats.org/drawingml/2006/main">
            <a:r>
              <a:t>S7: Active Partners — Series B strategy and retail partnership context (30 November 2023), active.partners</a:t>
            </a:r>
          </a:p>
          <a:p xmlns:a="http://schemas.openxmlformats.org/drawingml/2006/main">
            <a:r>
              <a:t>Governed evidence refs: ev_5c64#s4, thesis:priority_audience</a:t>
            </a:r>
          </a:p>
          <a:p xmlns:a="http://schemas.openxmlformats.org/drawingml/2006/main">
            <a:r>
              <a:t>INTERNAL REVIEW DRAFT - HUMAN APPROVAL REQUIRED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S2: KatKin / Journal of Animal Science — KatKin heat-damage study and peer-reviewed AGE research (accessed 11 September 2026), katkin.com/articles/katkins-heat-damage-study; Journal of Animal Science</a:t>
            </a:r>
          </a:p>
          <a:p xmlns:a="http://schemas.openxmlformats.org/drawingml/2006/main">
            <a:r>
              <a:t>S4: KatKin / Trustpilot / Cats.com — Pricing, reviews and customer-friction evidence (accessed 11 September 2026), katkin.com/our-pricing; uk.trustpilot.com/review/katkin.com; cats.com/katkin-cat-food-review</a:t>
            </a:r>
          </a:p>
          <a:p xmlns:a="http://schemas.openxmlformats.org/drawingml/2006/main">
            <a:r>
              <a:t>S6: Pet Business World — Jollyes retail rollout across 80 stores (August 2025), petbusinessworld.co.uk</a:t>
            </a:r>
          </a:p>
          <a:p xmlns:a="http://schemas.openxmlformats.org/drawingml/2006/main">
            <a:r>
              <a:t>T1: Narratiive governed workflow — Approved KatKin Strategy Thesis (September 2026), artifact-63f71c6bacf78fe6-92b790e0f4def86f</a:t>
            </a:r>
          </a:p>
          <a:p xmlns:a="http://schemas.openxmlformats.org/drawingml/2006/main">
            <a:r>
              <a:t>Governed evidence refs: thesis:positioning_choice, ev_5c64#s2, ev_5c64#s3</a:t>
            </a:r>
          </a:p>
          <a:p xmlns:a="http://schemas.openxmlformats.org/drawingml/2006/main">
            <a:r>
              <a:t>INTERNAL REVIEW DRAFT - HUMAN APPROVAL REQUIRED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S1A: The Grocer — Series C, market share and 100m-meal scale report (December 2025), thegrocer.co.uk (Series C report)</a:t>
            </a:r>
          </a:p>
          <a:p xmlns:a="http://schemas.openxmlformats.org/drawingml/2006/main">
            <a:r>
              <a:t>S1B: Companies House / Companies in the UK — Anikin Ltd statutory accounts and balance sheet (FY2023), companieshouse.gov.uk; companiesintheuk.co.uk</a:t>
            </a:r>
          </a:p>
          <a:p xmlns:a="http://schemas.openxmlformats.org/drawingml/2006/main">
            <a:r>
              <a:t>Governed evidence refs: ev_5c64#s2, thesis:source_of_difference</a:t>
            </a:r>
          </a:p>
          <a:p xmlns:a="http://schemas.openxmlformats.org/drawingml/2006/main">
            <a:r>
              <a:t>INTERNAL REVIEW DRAFT - HUMAN APPROVAL REQUIRED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T1: Narratiive governed workflow — Approved KatKin Strategy Thesis (September 2026), artifact-63f71c6bacf78fe6-92b790e0f4def86f</a:t>
            </a:r>
          </a:p>
          <a:p xmlns:a="http://schemas.openxmlformats.org/drawingml/2006/main">
            <a:r>
              <a:t>Governed evidence refs: thesis:positioning_choice, ev_5c64#s2, ev_5c64#s3</a:t>
            </a:r>
          </a:p>
          <a:p xmlns:a="http://schemas.openxmlformats.org/drawingml/2006/main">
            <a:r>
              <a:t>INTERNAL REVIEW DRAFT - HUMAN APPROVAL REQUIRED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S2: KatKin / Journal of Animal Science — KatKin heat-damage study and peer-reviewed AGE research (accessed 11 September 2026), katkin.com/articles/katkins-heat-damage-study; Journal of Animal Science</a:t>
            </a:r>
          </a:p>
          <a:p xmlns:a="http://schemas.openxmlformats.org/drawingml/2006/main">
            <a:r>
              <a:t>S3: Untamed / Bubblegum Search — Competitor claims and organic-search comparison (Q3 2025 to September 2026), untamed.com; bubblegumsearch.com</a:t>
            </a:r>
          </a:p>
          <a:p xmlns:a="http://schemas.openxmlformats.org/drawingml/2006/main">
            <a:r>
              <a:t>T1: Narratiive governed workflow — Approved KatKin Strategy Thesis (September 2026), artifact-63f71c6bacf78fe6-92b790e0f4def86f</a:t>
            </a:r>
          </a:p>
          <a:p xmlns:a="http://schemas.openxmlformats.org/drawingml/2006/main">
            <a:r>
              <a:t>Governed evidence refs: thesis:positioning_choice, ev_5c64#s2, ev_5c64#s3</a:t>
            </a:r>
          </a:p>
          <a:p xmlns:a="http://schemas.openxmlformats.org/drawingml/2006/main">
            <a:r>
              <a:t>INTERNAL REVIEW DRAFT - HUMAN APPROVAL REQUIRED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S2: KatKin / Journal of Animal Science — KatKin heat-damage study and peer-reviewed AGE research (accessed 11 September 2026), katkin.com/articles/katkins-heat-damage-study; Journal of Animal Science</a:t>
            </a:r>
          </a:p>
          <a:p xmlns:a="http://schemas.openxmlformats.org/drawingml/2006/main">
            <a:r>
              <a:t>S3: Untamed / Bubblegum Search — Competitor claims and organic-search comparison (Q3 2025 to September 2026), untamed.com; bubblegumsearch.com</a:t>
            </a:r>
          </a:p>
          <a:p xmlns:a="http://schemas.openxmlformats.org/drawingml/2006/main">
            <a:r>
              <a:t>T1: Narratiive governed workflow — Approved KatKin Strategy Thesis (September 2026), artifact-63f71c6bacf78fe6-92b790e0f4def86f</a:t>
            </a:r>
          </a:p>
          <a:p xmlns:a="http://schemas.openxmlformats.org/drawingml/2006/main">
            <a:r>
              <a:t>Governed evidence refs: thesis:positioning_choice, ev_5c64#s2, ev_5c64#s3</a:t>
            </a:r>
          </a:p>
          <a:p xmlns:a="http://schemas.openxmlformats.org/drawingml/2006/main">
            <a:r>
              <a:t>INTERNAL REVIEW DRAFT - HUMAN APPROVAL REQUIRED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S2: KatKin / Journal of Animal Science — KatKin heat-damage study and peer-reviewed AGE research (accessed 11 September 2026), katkin.com/articles/katkins-heat-damage-study; Journal of Animal Science</a:t>
            </a:r>
          </a:p>
          <a:p xmlns:a="http://schemas.openxmlformats.org/drawingml/2006/main">
            <a:r>
              <a:t>T1: Narratiive governed workflow — Approved KatKin Strategy Thesis (September 2026), artifact-63f71c6bacf78fe6-92b790e0f4def86f</a:t>
            </a:r>
          </a:p>
          <a:p xmlns:a="http://schemas.openxmlformats.org/drawingml/2006/main">
            <a:r>
              <a:t>Governed evidence refs: thesis:narrative_platform, ev_5c64#s2</a:t>
            </a:r>
          </a:p>
          <a:p xmlns:a="http://schemas.openxmlformats.org/drawingml/2006/main">
            <a:r>
              <a:t>INTERNAL REVIEW DRAFT - HUMAN APPROVAL REQUIRED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S2: KatKin / Journal of Animal Science — KatKin heat-damage study and peer-reviewed AGE research (accessed 11 September 2026), katkin.com/articles/katkins-heat-damage-study; Journal of Animal Science</a:t>
            </a:r>
          </a:p>
          <a:p xmlns:a="http://schemas.openxmlformats.org/drawingml/2006/main">
            <a:r>
              <a:t>T1: Narratiive governed workflow — Approved KatKin Strategy Thesis (September 2026), artifact-63f71c6bacf78fe6-92b790e0f4def86f</a:t>
            </a:r>
          </a:p>
          <a:p xmlns:a="http://schemas.openxmlformats.org/drawingml/2006/main">
            <a:r>
              <a:t>Governed evidence refs: thesis:narrative_platform, ev_5c64#s2</a:t>
            </a:r>
          </a:p>
          <a:p xmlns:a="http://schemas.openxmlformats.org/drawingml/2006/main">
            <a:r>
              <a:t>INTERNAL REVIEW DRAFT - HUMAN APPROVAL REQUIRED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S2: KatKin / Journal of Animal Science — KatKin heat-damage study and peer-reviewed AGE research (accessed 11 September 2026), katkin.com/articles/katkins-heat-damage-study; Journal of Animal Science</a:t>
            </a:r>
          </a:p>
          <a:p xmlns:a="http://schemas.openxmlformats.org/drawingml/2006/main">
            <a:r>
              <a:t>S4: KatKin / Trustpilot / Cats.com — Pricing, reviews and customer-friction evidence (accessed 11 September 2026), katkin.com/our-pricing; uk.trustpilot.com/review/katkin.com; cats.com/katkin-cat-food-review</a:t>
            </a:r>
          </a:p>
          <a:p xmlns:a="http://schemas.openxmlformats.org/drawingml/2006/main">
            <a:r>
              <a:t>T1: Narratiive governed workflow — Approved KatKin Strategy Thesis (September 2026), artifact-63f71c6bacf78fe6-92b790e0f4def86f</a:t>
            </a:r>
          </a:p>
          <a:p xmlns:a="http://schemas.openxmlformats.org/drawingml/2006/main">
            <a:r>
              <a:t>Governed evidence refs: thesis:narrative_platform, ev_5c64#s2</a:t>
            </a:r>
          </a:p>
          <a:p xmlns:a="http://schemas.openxmlformats.org/drawingml/2006/main">
            <a:r>
              <a:t>INTERNAL REVIEW DRAFT - HUMAN APPROVAL REQUIRED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S1A: The Grocer — Series C, market share and 100m-meal scale report (December 2025), thegrocer.co.uk (Series C report)</a:t>
            </a:r>
          </a:p>
          <a:p xmlns:a="http://schemas.openxmlformats.org/drawingml/2006/main">
            <a:r>
              <a:t>S8: Research &amp; Markets — UK cat food market estimate, USD 765.91m (2025 report), researchandmarkets.com</a:t>
            </a:r>
          </a:p>
          <a:p xmlns:a="http://schemas.openxmlformats.org/drawingml/2006/main">
            <a:r>
              <a:t>Governed evidence refs: thesis:growth_opportunity, ev_5c64#s5, ev_5c64#s7</a:t>
            </a:r>
          </a:p>
          <a:p xmlns:a="http://schemas.openxmlformats.org/drawingml/2006/main">
            <a:r>
              <a:t>INTERNAL REVIEW DRAFT - HUMAN APPROVAL REQUIRED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S2: KatKin / Journal of Animal Science — KatKin heat-damage study and peer-reviewed AGE research (accessed 11 September 2026), katkin.com/articles/katkins-heat-damage-study; Journal of Animal Science</a:t>
            </a:r>
          </a:p>
          <a:p xmlns:a="http://schemas.openxmlformats.org/drawingml/2006/main">
            <a:r>
              <a:t>S5: Motion / Marketing Week — Paid-social volume and creative analysis (accessed 11 September 2026), motionapp.com/library/katkin; marketingweek.com</a:t>
            </a:r>
          </a:p>
          <a:p xmlns:a="http://schemas.openxmlformats.org/drawingml/2006/main">
            <a:r>
              <a:t>T1: Narratiive governed workflow — Approved KatKin Strategy Thesis (September 2026), artifact-63f71c6bacf78fe6-92b790e0f4def86f</a:t>
            </a:r>
          </a:p>
          <a:p xmlns:a="http://schemas.openxmlformats.org/drawingml/2006/main">
            <a:r>
              <a:t>Governed evidence refs: thesis:activation_principles</a:t>
            </a:r>
          </a:p>
          <a:p xmlns:a="http://schemas.openxmlformats.org/drawingml/2006/main">
            <a:r>
              <a:t>INTERNAL REVIEW DRAFT - HUMAN APPROVAL REQUIRED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T1: Narratiive governed workflow — Approved KatKin Strategy Thesis (September 2026), artifact-63f71c6bacf78fe6-92b790e0f4def86f</a:t>
            </a:r>
          </a:p>
          <a:p xmlns:a="http://schemas.openxmlformats.org/drawingml/2006/main">
            <a:r>
              <a:t>Governed evidence refs: thesis:activation_principles</a:t>
            </a:r>
          </a:p>
          <a:p xmlns:a="http://schemas.openxmlformats.org/drawingml/2006/main">
            <a:r>
              <a:t>INTERNAL REVIEW DRAFT - HUMAN APPROVAL REQUIRED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T1: Narratiive governed workflow — Approved KatKin Strategy Thesis (September 2026), artifact-63f71c6bacf78fe6-92b790e0f4def86f</a:t>
            </a:r>
          </a:p>
          <a:p xmlns:a="http://schemas.openxmlformats.org/drawingml/2006/main">
            <a:r>
              <a:t>Governed evidence refs: thesis:activation_principles</a:t>
            </a:r>
          </a:p>
          <a:p xmlns:a="http://schemas.openxmlformats.org/drawingml/2006/main">
            <a:r>
              <a:t>INTERNAL REVIEW DRAFT - HUMAN APPROVAL REQUIRED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S2: KatKin / Journal of Animal Science — KatKin heat-damage study and peer-reviewed AGE research (accessed 11 September 2026), katkin.com/articles/katkins-heat-damage-study; Journal of Animal Science</a:t>
            </a:r>
          </a:p>
          <a:p xmlns:a="http://schemas.openxmlformats.org/drawingml/2006/main">
            <a:r>
              <a:t>T1: Narratiive governed workflow — Approved KatKin Strategy Thesis (September 2026), artifact-63f71c6bacf78fe6-92b790e0f4def86f</a:t>
            </a:r>
          </a:p>
          <a:p xmlns:a="http://schemas.openxmlformats.org/drawingml/2006/main">
            <a:r>
              <a:t>Governed evidence refs: thesis:activation_principles</a:t>
            </a:r>
          </a:p>
          <a:p xmlns:a="http://schemas.openxmlformats.org/drawingml/2006/main">
            <a:r>
              <a:t>INTERNAL REVIEW DRAFT - HUMAN APPROVAL REQUIRED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T1: Narratiive governed workflow — Approved KatKin Strategy Thesis (September 2026), artifact-63f71c6bacf78fe6-92b790e0f4def86f</a:t>
            </a:r>
          </a:p>
          <a:p xmlns:a="http://schemas.openxmlformats.org/drawingml/2006/main">
            <a:r>
              <a:t>Governed evidence refs: thesis:activation_principles</a:t>
            </a:r>
          </a:p>
          <a:p xmlns:a="http://schemas.openxmlformats.org/drawingml/2006/main">
            <a:r>
              <a:t>INTERNAL REVIEW DRAFT - HUMAN APPROVAL REQUIRED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T1: Narratiive governed workflow — Approved KatKin Strategy Thesis (September 2026), artifact-63f71c6bacf78fe6-92b790e0f4def86f</a:t>
            </a:r>
          </a:p>
          <a:p xmlns:a="http://schemas.openxmlformats.org/drawingml/2006/main">
            <a:r>
              <a:t>Governed evidence refs: thesis:growth_opportunity, ev_5c64#s5, ev_5c64#s7</a:t>
            </a:r>
          </a:p>
          <a:p xmlns:a="http://schemas.openxmlformats.org/drawingml/2006/main">
            <a:r>
              <a:t>INTERNAL REVIEW DRAFT - HUMAN APPROVAL REQUIRED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T1: Narratiive governed workflow — Approved KatKin Strategy Thesis (September 2026), artifact-63f71c6bacf78fe6-92b790e0f4def86f</a:t>
            </a:r>
          </a:p>
          <a:p xmlns:a="http://schemas.openxmlformats.org/drawingml/2006/main">
            <a:r>
              <a:t>Governed evidence refs: none</a:t>
            </a:r>
          </a:p>
          <a:p xmlns:a="http://schemas.openxmlformats.org/drawingml/2006/main">
            <a:r>
              <a:t>INTERNAL REVIEW DRAFT - HUMAN APPROVAL REQUIRED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60f3cc5948b4467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9021fa31eab4c38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bbd27eb2faa44a0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8523b4a5064417c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82b715828674bcb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482fb924642466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F7F09988-2C5C-4860-8BC7-1D9BDDB5124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9C5F0F32-B888-48B7-A096-D8F0318B693F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4233643C-BAF0-4F12-95E4-EAF8B232665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0D504907-37F4-4C02-94C8-C7F39FD67D4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BB512FDD-BD77-4DCB-8265-DB50ADD6469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C4ADA24C-1114-473A-87F4-7A5A9FC8BBE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CF19CE3E-772E-42BD-966A-75D2C5440AD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A63D7210-5A93-4112-8B7A-3844798F4357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F0857253-F55D-4B69-9E3A-3D9D3C9418E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9A21049B-25D7-4C28-80FD-1532BAE9058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f930cd48eb347d4" /><Relationship Type="http://schemas.openxmlformats.org/officeDocument/2006/relationships/slideLayout" Target="/ppt/slideLayouts/slideLayout1.xml" Id="R4d4f8ed9f12e4fd7" /><Relationship Type="http://schemas.openxmlformats.org/officeDocument/2006/relationships/slideLayout" Target="/ppt/slideLayouts/slideLayout2.xml" Id="R1b08047e8d2c4d1f" /><Relationship Type="http://schemas.openxmlformats.org/officeDocument/2006/relationships/slideLayout" Target="/ppt/slideLayouts/slideLayout3.xml" Id="R8ec997a5861a444e" /><Relationship Type="http://schemas.openxmlformats.org/officeDocument/2006/relationships/slideLayout" Target="/ppt/slideLayouts/slideLayout4.xml" Id="Rec38431dbf254fd9" /><Relationship Type="http://schemas.openxmlformats.org/officeDocument/2006/relationships/slideLayout" Target="/ppt/slideLayouts/slideLayout5.xml" Id="R643e57aec22e41fb" /><Relationship Type="http://schemas.openxmlformats.org/officeDocument/2006/relationships/slideLayout" Target="/ppt/slideLayouts/slideLayout6.xml" Id="Rc4eaff9e6e2745d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d4f8ed9f12e4fd7"/>
    <p:sldLayoutId xmlns:r="http://schemas.openxmlformats.org/officeDocument/2006/relationships" id="2147483650" r:id="R1b08047e8d2c4d1f"/>
    <p:sldLayoutId xmlns:r="http://schemas.openxmlformats.org/officeDocument/2006/relationships" id="2147483651" r:id="R8ec997a5861a444e"/>
    <p:sldLayoutId xmlns:r="http://schemas.openxmlformats.org/officeDocument/2006/relationships" id="2147483652" r:id="Rec38431dbf254fd9"/>
    <p:sldLayoutId xmlns:r="http://schemas.openxmlformats.org/officeDocument/2006/relationships" id="2147483653" r:id="R643e57aec22e41fb"/>
    <p:sldLayoutId xmlns:r="http://schemas.openxmlformats.org/officeDocument/2006/relationships" id="2147483654" r:id="Rc4eaff9e6e2745d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056be679a9c415a" /><Relationship Type="http://schemas.openxmlformats.org/officeDocument/2006/relationships/image" Target="/ppt/media/image.png" Id="R62996b8eb1fd444e" /><Relationship Type="http://schemas.openxmlformats.org/officeDocument/2006/relationships/notesSlide" Target="/ppt/notesSlides/notesSlide1.xml" Id="Rdde7efd0fce8452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8a5c874e034451c" /><Relationship Type="http://schemas.openxmlformats.org/officeDocument/2006/relationships/notesSlide" Target="/ppt/notesSlides/notesSlide2.xml" Id="R5c85baff7fc4494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56792a649b54e39" /><Relationship Type="http://schemas.openxmlformats.org/officeDocument/2006/relationships/notesSlide" Target="/ppt/notesSlides/notesSlide3.xml" Id="Reee430a92dee4a5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7d8b48a56c5426a" /><Relationship Type="http://schemas.openxmlformats.org/officeDocument/2006/relationships/notesSlide" Target="/ppt/notesSlides/notesSlide4.xml" Id="R91909942d6854cb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f3fbaeef7cc48af" /><Relationship Type="http://schemas.openxmlformats.org/officeDocument/2006/relationships/notesSlide" Target="/ppt/notesSlides/notesSlide5.xml" Id="Rb506fc6ba9c44c6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8aadb896ba94d69" /><Relationship Type="http://schemas.openxmlformats.org/officeDocument/2006/relationships/notesSlide" Target="/ppt/notesSlides/notesSlide6.xml" Id="Rbee41d75eb304b0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bd1c21c484343e2" /><Relationship Type="http://schemas.openxmlformats.org/officeDocument/2006/relationships/image" Target="/ppt/media/image2.png" Id="R15eb2692da6744ea" /><Relationship Type="http://schemas.openxmlformats.org/officeDocument/2006/relationships/notesSlide" Target="/ppt/notesSlides/notesSlide7.xml" Id="R8dc2c5df578b4735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e77febf38d544a6" /><Relationship Type="http://schemas.openxmlformats.org/officeDocument/2006/relationships/notesSlide" Target="/ppt/notesSlides/notesSlide8.xml" Id="Ra6bf64e036944727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1a447ae2ed64d3c" /><Relationship Type="http://schemas.openxmlformats.org/officeDocument/2006/relationships/notesSlide" Target="/ppt/notesSlides/notesSlide9.xml" Id="R5dfd340e521a414c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5f0337ae32b47d7" /><Relationship Type="http://schemas.openxmlformats.org/officeDocument/2006/relationships/notesSlide" Target="/ppt/notesSlides/notesSlide10.xml" Id="Rc27447f39e4f4f6e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f181afa1ba64223" /><Relationship Type="http://schemas.openxmlformats.org/officeDocument/2006/relationships/notesSlide" Target="/ppt/notesSlides/notesSlide11.xml" Id="R17a274fc0b754a50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64aa7c92c6945d3" /><Relationship Type="http://schemas.openxmlformats.org/officeDocument/2006/relationships/notesSlide" Target="/ppt/notesSlides/notesSlide12.xml" Id="R6f1a35c26c5044f9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48392793b284b09" /><Relationship Type="http://schemas.openxmlformats.org/officeDocument/2006/relationships/notesSlide" Target="/ppt/notesSlides/notesSlide13.xml" Id="R39456a79f3024c1d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cbdecbc3eb54ca5" /><Relationship Type="http://schemas.openxmlformats.org/officeDocument/2006/relationships/notesSlide" Target="/ppt/notesSlides/notesSlide14.xml" Id="R2afa24555735480b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a4748984f6a42e7" /><Relationship Type="http://schemas.openxmlformats.org/officeDocument/2006/relationships/notesSlide" Target="/ppt/notesSlides/notesSlide15.xml" Id="R50333cd2a11e42f8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68465d52c474d4c" /><Relationship Type="http://schemas.openxmlformats.org/officeDocument/2006/relationships/notesSlide" Target="/ppt/notesSlides/notesSlide16.xml" Id="R88418a856cc84a5d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41e0ec2b0dd48e3" /><Relationship Type="http://schemas.openxmlformats.org/officeDocument/2006/relationships/notesSlide" Target="/ppt/notesSlides/notesSlide17.xml" Id="R777e5cf72cca4085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f8046211bab437c" /><Relationship Type="http://schemas.openxmlformats.org/officeDocument/2006/relationships/notesSlide" Target="/ppt/notesSlides/notesSlide18.xml" Id="R7108b0e4528b4451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d64eedcf27a4be0" /><Relationship Type="http://schemas.openxmlformats.org/officeDocument/2006/relationships/notesSlide" Target="/ppt/notesSlides/notesSlide19.xml" Id="R70d459beb1574dc6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9ceefa6f58744e5" /><Relationship Type="http://schemas.openxmlformats.org/officeDocument/2006/relationships/notesSlide" Target="/ppt/notesSlides/notesSlide20.xml" Id="R72ae9fff0b7b4ce4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82b41c06e0d41bb" /><Relationship Type="http://schemas.openxmlformats.org/officeDocument/2006/relationships/notesSlide" Target="/ppt/notesSlides/notesSlide21.xml" Id="Ra58d5af5f8b5405b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c28d5c056ba478a" /><Relationship Type="http://schemas.openxmlformats.org/officeDocument/2006/relationships/notesSlide" Target="/ppt/notesSlides/notesSlide22.xml" Id="R7d2ae8a8586748fd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399a386a11c4f1c" /><Relationship Type="http://schemas.openxmlformats.org/officeDocument/2006/relationships/notesSlide" Target="/ppt/notesSlides/notesSlide23.xml" Id="R347bbc2f76204b3e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cd0dd9438214a88" /><Relationship Type="http://schemas.openxmlformats.org/officeDocument/2006/relationships/notesSlide" Target="/ppt/notesSlides/notesSlide24.xml" Id="R21d13308ef124b2b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ea03ceaae6d4e0f" /><Relationship Type="http://schemas.openxmlformats.org/officeDocument/2006/relationships/notesSlide" Target="/ppt/notesSlides/notesSlide25.xml" Id="R20ab6a1d65204971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feba69f30634f87" /><Relationship Type="http://schemas.openxmlformats.org/officeDocument/2006/relationships/notesSlide" Target="/ppt/notesSlides/notesSlide26.xml" Id="R8117de829a254b78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f54a8ceab55477b" /><Relationship Type="http://schemas.openxmlformats.org/officeDocument/2006/relationships/notesSlide" Target="/ppt/notesSlides/notesSlide27.xml" Id="Rfcb198bc64084c85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4d18a181e0d40a8" /><Relationship Type="http://schemas.openxmlformats.org/officeDocument/2006/relationships/notesSlide" Target="/ppt/notesSlides/notesSlide28.xml" Id="Rb111fe049933494f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6d2751be6194718" /><Relationship Type="http://schemas.openxmlformats.org/officeDocument/2006/relationships/notesSlide" Target="/ppt/notesSlides/notesSlide29.xml" Id="R3276b3a9a1624a5f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1f9948ba07846ac" /><Relationship Type="http://schemas.openxmlformats.org/officeDocument/2006/relationships/notesSlide" Target="/ppt/notesSlides/notesSlide30.xml" Id="Rbb269569311a4823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5121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D8D81B1-D3A3-46A0-8FD4-100E8A0FB3F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2996b8eb1fd444e"/>
          <a:srcRect xmlns:a="http://schemas.openxmlformats.org/drawingml/2006/main" l="27723" t="0" r="27723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762750" y="0"/>
            <a:ext cx="542925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5827403-C095-460B-9EB6-C54E5143B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78105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21B">
              <a:alpha val="93725"/>
            </a:srgbClr>
          </a:solidFill>
          <a:ln xmlns:a="http://schemas.openxmlformats.org/drawingml/2006/main" w="0">
            <a:solidFill>
              <a:srgbClr val="15121B">
                <a:alpha val="93725"/>
              </a:srgbClr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F238760-76C6-4A23-9011-17E8B5980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54F"/>
          </a:solidFill>
          <a:ln xmlns:a="http://schemas.openxmlformats.org/drawingml/2006/main" w="0">
            <a:solidFill>
              <a:srgbClr val="FF654F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DF0A451-1943-4EF3-8094-F111C24AE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28650"/>
            <a:ext cx="2286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125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1125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pPr>
            <a:r>
              <a:rPr sz="1125" b="1" i="0">
                <a:solidFill>
                  <a:srgbClr val="FFFDFC"/>
                </a:solidFill>
                <a:latin typeface="Helvetica"/>
                <a:ea typeface="Helvetica"/>
                <a:cs typeface="Helvetica"/>
              </a:rPr>
              <a:t>NARRATIIVE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3B22943-E619-4E66-B9CE-71D3755FE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000125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750" b="1" i="0">
                <a:solidFill>
                  <a:srgbClr val="C8B7E8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750" b="1" i="0">
                <a:solidFill>
                  <a:srgbClr val="C8B7E8"/>
                </a:solidFill>
                <a:latin typeface="Helvetica"/>
                <a:ea typeface="Helvetica"/>
                <a:cs typeface="Helvetica"/>
              </a:defRPr>
            </a:pPr>
            <a:r>
              <a:rPr sz="750" b="1" i="0">
                <a:solidFill>
                  <a:srgbClr val="C8B7E8"/>
                </a:solidFill>
                <a:latin typeface="Helvetica"/>
                <a:ea typeface="Helvetica"/>
                <a:cs typeface="Helvetica"/>
              </a:rPr>
              <a:t>GROWTH BLUEPRINT / 2026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3D4B79F-95B6-4920-9131-AF4409420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266950"/>
            <a:ext cx="5715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5100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5100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pPr>
            <a:r>
              <a:rPr sz="5100" b="1" i="0">
                <a:solidFill>
                  <a:srgbClr val="FFFDFC"/>
                </a:solidFill>
                <a:latin typeface="Helvetica"/>
                <a:ea typeface="Helvetica"/>
                <a:cs typeface="Helvetica"/>
              </a:rPr>
              <a:t>KatKin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7628E4D-00A2-47FC-A498-A405EE762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238500"/>
            <a:ext cx="6096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2100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2100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pPr>
            <a:r>
              <a:rPr sz="2100" b="1" i="0">
                <a:solidFill>
                  <a:srgbClr val="FF654F"/>
                </a:solidFill>
                <a:latin typeface="Helvetica"/>
                <a:ea typeface="Helvetica"/>
                <a:cs typeface="Helvetica"/>
              </a:rPr>
              <a:t>The science cats deserve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52DF631-4212-4104-B9EE-2CB84D7CD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924300"/>
            <a:ext cx="5905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350" b="0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1350" b="0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pPr>
            <a:r>
              <a:rPr sz="1350" b="0" i="0">
                <a:solidFill>
                  <a:srgbClr val="FFFDFC"/>
                </a:solidFill>
                <a:latin typeface="Helvetica"/>
                <a:ea typeface="Helvetica"/>
                <a:cs typeface="Helvetica"/>
              </a:rPr>
              <a:t>From category claim to category authority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C44FBCC-F5F4-49CA-9066-B3D499D1D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115050"/>
            <a:ext cx="647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675" b="1" i="0">
                <a:solidFill>
                  <a:srgbClr val="C8B7E8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675" b="1" i="0">
                <a:solidFill>
                  <a:srgbClr val="C8B7E8"/>
                </a:solidFill>
                <a:latin typeface="Helvetica"/>
                <a:ea typeface="Helvetica"/>
                <a:cs typeface="Helvetica"/>
              </a:defRPr>
            </a:pPr>
            <a:r>
              <a:rPr sz="675" b="1" i="0">
                <a:solidFill>
                  <a:srgbClr val="C8B7E8"/>
                </a:solidFill>
                <a:latin typeface="Helvetica"/>
                <a:ea typeface="Helvetica"/>
                <a:cs typeface="Helvetica"/>
              </a:rPr>
              <a:t>INTERNAL REVIEW DRAFT - HUMAN APPROVAL REQUIRED</a:t>
            </a:r>
          </a:p>
        </p:txBody>
      </p:sp>
    </p:spTree>
    <p:extLst>
      <p:ext uri="{BB962C8B-B14F-4D97-AF65-F5344CB8AC3E}">
        <p14:creationId xmlns:p14="http://schemas.microsoft.com/office/powerpoint/2010/main" val="201614115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6F0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D2548A5-BBFF-4F45-82A0-97724ED03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3375"/>
            <a:ext cx="5715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pPr>
            <a:r>
              <a: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rPr>
              <a:t>ACT 1 / THE CASE FOR CHANGE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DB7763C-FD8E-4E31-AF02-884D0AC12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85800"/>
            <a:ext cx="1047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2325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2325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pPr>
            <a:r>
              <a:rPr sz="2325" b="1" i="0">
                <a:solidFill>
                  <a:srgbClr val="15121B"/>
                </a:solidFill>
                <a:latin typeface="Helvetica"/>
                <a:ea typeface="Helvetica"/>
                <a:cs typeface="Helvetica"/>
              </a:rPr>
              <a:t>Executive Thesis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632FA62-9B81-4557-9C27-95084573C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400175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CFD5"/>
          </a:solidFill>
          <a:ln xmlns:a="http://schemas.openxmlformats.org/drawingml/2006/main" w="0">
            <a:solidFill>
              <a:srgbClr val="D9CFD5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03D22CE-D844-44F5-883E-7A33E9074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790700"/>
            <a:ext cx="7096125" cy="2724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2025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2025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pPr>
            <a:r>
              <a:rPr sz="2025" b="1" i="0">
                <a:solidFill>
                  <a:srgbClr val="15121B"/>
                </a:solidFill>
                <a:latin typeface="Helvetica"/>
                <a:ea typeface="Helvetica"/>
                <a:cs typeface="Helvetica"/>
              </a:rPr>
              <a:t>Deploy the underutilised peer-reviewed research asset as the anchor for a distinctive brand platform, closing the self-diagnosed awareness gap behind the first CMO hire, ahead of rising paid-social CAC and competitor SEO/AI-search gains eroding the DTC funnel.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5E33234-2A6F-49F0-8304-4B1F932DE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1809750"/>
            <a:ext cx="2667000" cy="2667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61A31"/>
          </a:solidFill>
          <a:ln xmlns:a="http://schemas.openxmlformats.org/drawingml/2006/main" w="0">
            <a:solidFill>
              <a:srgbClr val="261A31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792A81C-83BE-4FA5-967C-7ACB275DC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1575" y="2419350"/>
            <a:ext cx="17621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ctr">
              <a:defRPr sz="1800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ctr">
              <a:defRPr sz="1800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pPr>
            <a:r>
              <a:rPr sz="1800" b="1" i="0">
                <a:solidFill>
                  <a:srgbClr val="FFFDFC"/>
                </a:solidFill>
                <a:latin typeface="Helvetica"/>
                <a:ea typeface="Helvetica"/>
                <a:cs typeface="Helvetica"/>
              </a:rPr>
              <a:t>PROOF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96FDB99-8546-4C5D-8F57-E2ED703D0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2981325"/>
            <a:ext cx="13811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54F"/>
          </a:solidFill>
          <a:ln xmlns:a="http://schemas.openxmlformats.org/drawingml/2006/main" w="0">
            <a:solidFill>
              <a:srgbClr val="FF654F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E671463-8D64-41B5-A1AE-3384010FF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4425" y="3286125"/>
            <a:ext cx="18859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ctr">
              <a:defRPr sz="1275" b="1" i="0">
                <a:solidFill>
                  <a:srgbClr val="C8B7E8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ctr">
              <a:defRPr sz="1275" b="1" i="0">
                <a:solidFill>
                  <a:srgbClr val="C8B7E8"/>
                </a:solidFill>
                <a:latin typeface="Helvetica"/>
                <a:ea typeface="Helvetica"/>
                <a:cs typeface="Helvetica"/>
              </a:defRPr>
            </a:pPr>
            <a:r>
              <a:rPr sz="1275" b="1" i="0">
                <a:solidFill>
                  <a:srgbClr val="C8B7E8"/>
                </a:solidFill>
                <a:latin typeface="Helvetica"/>
                <a:ea typeface="Helvetica"/>
                <a:cs typeface="Helvetica"/>
              </a:rPr>
              <a:t>A claim competitors cannot copy in one ad cycle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B8DC7C2-941D-45A4-BB5B-A1D3FD862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572125"/>
            <a:ext cx="20955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pPr>
            <a:r>
              <a: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rPr>
              <a:t>COMMERCIAL CONSEQUENCE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A95A0B0-0360-4E46-BBAE-5D1771F6A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5505450"/>
            <a:ext cx="8382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200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1200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pPr>
            <a:r>
              <a:rPr sz="1200" b="1" i="0">
                <a:solidFill>
                  <a:srgbClr val="15121B"/>
                </a:solidFill>
                <a:latin typeface="Helvetica"/>
                <a:ea typeface="Helvetica"/>
                <a:cs typeface="Helvetica"/>
              </a:rPr>
              <a:t>KatKin's next growth question is about where existing strengths can compound.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9DFE965-1217-4E80-9949-F382D3595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134100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825" b="1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825" b="1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pPr>
            <a:r>
              <a:rPr sz="825" b="1" i="0">
                <a:solidFill>
                  <a:srgbClr val="756D7A"/>
                </a:solidFill>
                <a:latin typeface="Helvetica"/>
                <a:ea typeface="Helvetica"/>
                <a:cs typeface="Helvetica"/>
              </a:rPr>
              <a:t>SOURCES: S5, T1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A618C33-C690-479D-84C8-07C33EFF6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6134100"/>
            <a:ext cx="4876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r">
              <a:defRPr sz="825" b="1" i="0">
                <a:solidFill>
                  <a:srgbClr val="5A2E78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r">
              <a:defRPr sz="825" b="1" i="0">
                <a:solidFill>
                  <a:srgbClr val="5A2E78"/>
                </a:solidFill>
                <a:latin typeface="Helvetica"/>
                <a:ea typeface="Helvetica"/>
                <a:cs typeface="Helvetica"/>
              </a:defRPr>
            </a:pPr>
            <a:r>
              <a:rPr sz="825" b="1" i="0">
                <a:solidFill>
                  <a:srgbClr val="5A2E78"/>
                </a:solidFill>
                <a:latin typeface="Helvetica"/>
                <a:ea typeface="Helvetica"/>
                <a:cs typeface="Helvetica"/>
              </a:rPr>
              <a:t>APPROVED STRATEGY + VERIFIED FACT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A81EC5E-25CD-4C5A-85BF-4520F81A2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515100"/>
            <a:ext cx="17145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675" b="1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675" b="1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pPr>
            <a:r>
              <a:rPr sz="675" b="1" i="0">
                <a:solidFill>
                  <a:srgbClr val="756D7A"/>
                </a:solidFill>
                <a:latin typeface="Helvetica"/>
                <a:ea typeface="Helvetica"/>
                <a:cs typeface="Helvetica"/>
              </a:rPr>
              <a:t>NARRATIIVE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AC39C40-6DB1-4F8B-9BFA-28A485587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8763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r">
              <a:defRPr sz="675" b="0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r">
              <a:defRPr sz="675" b="0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pPr>
            <a:r>
              <a:rPr sz="675" b="0" i="0">
                <a:solidFill>
                  <a:srgbClr val="756D7A"/>
                </a:solidFill>
                <a:latin typeface="Helvetica"/>
                <a:ea typeface="Helvetica"/>
                <a:cs typeface="Helvetica"/>
              </a:rPr>
              <a:t>02 / 30</a:t>
            </a:r>
          </a:p>
        </p:txBody>
      </p:sp>
    </p:spTree>
    <p:extLst>
      <p:ext uri="{BB962C8B-B14F-4D97-AF65-F5344CB8AC3E}">
        <p14:creationId xmlns:p14="http://schemas.microsoft.com/office/powerpoint/2010/main" val="145293715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6F0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A49B5C5-47D0-4633-948B-AF60D0DF0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3375"/>
            <a:ext cx="5715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pPr>
            <a:r>
              <a: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rPr>
              <a:t>ACT 1 / THE CASE FOR CHANGE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0686196-512A-4F78-A34C-EA37C445D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85800"/>
            <a:ext cx="1047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2325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2325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pPr>
            <a:r>
              <a:rPr sz="2325" b="1" i="0">
                <a:solidFill>
                  <a:srgbClr val="15121B"/>
                </a:solidFill>
                <a:latin typeface="Helvetica"/>
                <a:ea typeface="Helvetica"/>
                <a:cs typeface="Helvetica"/>
              </a:rPr>
              <a:t>The Commercial Question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7278A9C-CB8F-48C6-A1A5-F4D7FF532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400175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CFD5"/>
          </a:solidFill>
          <a:ln xmlns:a="http://schemas.openxmlformats.org/drawingml/2006/main" w="0">
            <a:solidFill>
              <a:srgbClr val="D9CFD5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8A11FBD-176F-462F-B550-883C7224F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790700"/>
            <a:ext cx="7096125" cy="2724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2025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2025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pPr>
            <a:r>
              <a:rPr sz="2025" b="1" i="0">
                <a:solidFill>
                  <a:srgbClr val="15121B"/>
                </a:solidFill>
                <a:latin typeface="Helvetica"/>
                <a:ea typeface="Helvetica"/>
                <a:cs typeface="Helvetica"/>
              </a:rPr>
              <a:t>This deck separates what outside-in evidence supports from what only company access can answer.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5110203-C56F-48AE-BCEB-5B522070C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1809750"/>
            <a:ext cx="2667000" cy="2667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61A31"/>
          </a:solidFill>
          <a:ln xmlns:a="http://schemas.openxmlformats.org/drawingml/2006/main" w="0">
            <a:solidFill>
              <a:srgbClr val="261A31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E244627-2049-4A88-984F-CD63985B6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1575" y="2419350"/>
            <a:ext cx="17621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ctr">
              <a:defRPr sz="1800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ctr">
              <a:defRPr sz="1800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pPr>
            <a:r>
              <a:rPr sz="1800" b="1" i="0">
                <a:solidFill>
                  <a:srgbClr val="FFFDFC"/>
                </a:solidFill>
                <a:latin typeface="Helvetica"/>
                <a:ea typeface="Helvetica"/>
                <a:cs typeface="Helvetica"/>
              </a:rPr>
              <a:t>ONLY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9F6594C-B725-4641-AE39-1E4E76B64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2981325"/>
            <a:ext cx="13811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54F"/>
          </a:solidFill>
          <a:ln xmlns:a="http://schemas.openxmlformats.org/drawingml/2006/main" w="0">
            <a:solidFill>
              <a:srgbClr val="FF654F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CB4B644-FD63-436A-B009-0B238F68D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4425" y="3286125"/>
            <a:ext cx="18859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ctr">
              <a:defRPr sz="1275" b="1" i="0">
                <a:solidFill>
                  <a:srgbClr val="C8B7E8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ctr">
              <a:defRPr sz="1275" b="1" i="0">
                <a:solidFill>
                  <a:srgbClr val="C8B7E8"/>
                </a:solidFill>
                <a:latin typeface="Helvetica"/>
                <a:ea typeface="Helvetica"/>
                <a:cs typeface="Helvetica"/>
              </a:defRPr>
            </a:pPr>
            <a:r>
              <a:rPr sz="1275" b="1" i="0">
                <a:solidFill>
                  <a:srgbClr val="C8B7E8"/>
                </a:solidFill>
                <a:latin typeface="Helvetica"/>
                <a:ea typeface="Helvetica"/>
                <a:cs typeface="Helvetica"/>
              </a:rPr>
              <a:t>Move from awareness as an input to authority as the outcome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708DC7F-890C-47CB-AFF5-143CFE90E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572125"/>
            <a:ext cx="20955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pPr>
            <a:r>
              <a: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rPr>
              <a:t>COMMERCIAL CONSEQUENCE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23A710E-EC8E-4FE4-9527-73C42D639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5505450"/>
            <a:ext cx="8382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200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1200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pPr>
            <a:r>
              <a:rPr sz="1200" b="1" i="0">
                <a:solidFill>
                  <a:srgbClr val="15121B"/>
                </a:solidFill>
                <a:latin typeface="Helvetica"/>
                <a:ea typeface="Helvetica"/>
                <a:cs typeface="Helvetica"/>
              </a:rPr>
              <a:t>Where could KatKin's next meaningful growth come from?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B973B1F-2C06-482C-B53F-AF6F1D2CC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134100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825" b="1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825" b="1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pPr>
            <a:r>
              <a:rPr sz="825" b="1" i="0">
                <a:solidFill>
                  <a:srgbClr val="756D7A"/>
                </a:solidFill>
                <a:latin typeface="Helvetica"/>
                <a:ea typeface="Helvetica"/>
                <a:cs typeface="Helvetica"/>
              </a:rPr>
              <a:t>SOURCES: S1A, S1B, S1C, S3, S5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0DAD532-5F11-45A3-9CD2-DCE4E67EC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6134100"/>
            <a:ext cx="4876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r">
              <a:defRPr sz="825" b="1" i="0">
                <a:solidFill>
                  <a:srgbClr val="5A2E78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r">
              <a:defRPr sz="825" b="1" i="0">
                <a:solidFill>
                  <a:srgbClr val="5A2E78"/>
                </a:solidFill>
                <a:latin typeface="Helvetica"/>
                <a:ea typeface="Helvetica"/>
                <a:cs typeface="Helvetica"/>
              </a:defRPr>
            </a:pPr>
            <a:r>
              <a:rPr sz="825" b="1" i="0">
                <a:solidFill>
                  <a:srgbClr val="5A2E78"/>
                </a:solidFill>
                <a:latin typeface="Helvetica"/>
                <a:ea typeface="Helvetica"/>
                <a:cs typeface="Helvetica"/>
              </a:rPr>
              <a:t>INTERPRETATION + VERIFIED FACT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E926F76-C056-416F-9F30-651645D95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515100"/>
            <a:ext cx="17145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675" b="1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675" b="1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pPr>
            <a:r>
              <a:rPr sz="675" b="1" i="0">
                <a:solidFill>
                  <a:srgbClr val="756D7A"/>
                </a:solidFill>
                <a:latin typeface="Helvetica"/>
                <a:ea typeface="Helvetica"/>
                <a:cs typeface="Helvetica"/>
              </a:rPr>
              <a:t>NARRATIIVE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0D3F406-E230-4011-B09B-90E35FCB6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8763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r">
              <a:defRPr sz="675" b="0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r">
              <a:defRPr sz="675" b="0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pPr>
            <a:r>
              <a:rPr sz="675" b="0" i="0">
                <a:solidFill>
                  <a:srgbClr val="756D7A"/>
                </a:solidFill>
                <a:latin typeface="Helvetica"/>
                <a:ea typeface="Helvetica"/>
                <a:cs typeface="Helvetica"/>
              </a:rPr>
              <a:t>03 / 30</a:t>
            </a:r>
          </a:p>
        </p:txBody>
      </p:sp>
    </p:spTree>
    <p:extLst>
      <p:ext uri="{BB962C8B-B14F-4D97-AF65-F5344CB8AC3E}">
        <p14:creationId xmlns:p14="http://schemas.microsoft.com/office/powerpoint/2010/main" val="5335125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6F0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6B35E7C-D88D-4EDA-BCF9-BA2B96EE7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3375"/>
            <a:ext cx="5715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pPr>
            <a:r>
              <a: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rPr>
              <a:t>ACT 1 / THE CASE FOR CHANGE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FC7F577-3CCA-4CAA-93E2-F3FCFA57A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85800"/>
            <a:ext cx="1047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2325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2325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pPr>
            <a:r>
              <a:rPr sz="2325" b="1" i="0">
                <a:solidFill>
                  <a:srgbClr val="15121B"/>
                </a:solidFill>
                <a:latin typeface="Helvetica"/>
                <a:ea typeface="Helvetica"/>
                <a:cs typeface="Helvetica"/>
              </a:rPr>
              <a:t>Market Reality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195FC2A-C9E9-4ED6-8012-C60A256D4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400175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CFD5"/>
          </a:solidFill>
          <a:ln xmlns:a="http://schemas.openxmlformats.org/drawingml/2006/main" w="0">
            <a:solidFill>
              <a:srgbClr val="D9CFD5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7561C92-A9C1-4630-90A2-227108DE6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924050"/>
            <a:ext cx="316230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0">
            <a:solidFill>
              <a:srgbClr val="FFFDFC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7289FCE-2AAE-4B9A-BDA3-DB6DE3D15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095500"/>
            <a:ext cx="27241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750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750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pPr>
            <a:r>
              <a:rPr sz="750" b="1" i="0">
                <a:solidFill>
                  <a:srgbClr val="FF654F"/>
                </a:solidFill>
                <a:latin typeface="Helvetica"/>
                <a:ea typeface="Helvetica"/>
                <a:cs typeface="Helvetica"/>
              </a:rPr>
              <a:t>SAMENESS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8C38547-FF4C-4FD8-8262-ECC361EAD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390775"/>
            <a:ext cx="27241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350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1350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pPr>
            <a:r>
              <a:rPr sz="1350" b="1" i="0">
                <a:solidFill>
                  <a:srgbClr val="15121B"/>
                </a:solidFill>
                <a:latin typeface="Helvetica"/>
                <a:ea typeface="Helvetica"/>
                <a:cs typeface="Helvetica"/>
              </a:rPr>
              <a:t>Shared functional language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379E4A3-0974-4873-A582-B02543098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429000"/>
            <a:ext cx="316230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8D8D2"/>
          </a:solidFill>
          <a:ln xmlns:a="http://schemas.openxmlformats.org/drawingml/2006/main" w="0">
            <a:solidFill>
              <a:srgbClr val="F8D8D2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CE49633-54D7-4E4B-885E-E284F671B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600450"/>
            <a:ext cx="27241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750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750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pPr>
            <a:r>
              <a:rPr sz="750" b="1" i="0">
                <a:solidFill>
                  <a:srgbClr val="FF654F"/>
                </a:solidFill>
                <a:latin typeface="Helvetica"/>
                <a:ea typeface="Helvetica"/>
                <a:cs typeface="Helvetica"/>
              </a:rPr>
              <a:t>DISCOVERY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2AD03D1-0377-4B68-B2A2-F163C3F96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895725"/>
            <a:ext cx="27241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350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1350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pPr>
            <a:r>
              <a:rPr sz="1350" b="1" i="0">
                <a:solidFill>
                  <a:srgbClr val="15121B"/>
                </a:solidFill>
                <a:latin typeface="Helvetica"/>
                <a:ea typeface="Helvetica"/>
                <a:cs typeface="Helvetica"/>
              </a:rPr>
              <a:t>Organic and AI search shift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23C3047-BBB8-4AFF-86DD-F629EF65D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1924050"/>
            <a:ext cx="316230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0">
            <a:solidFill>
              <a:srgbClr val="FFFDFC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ACC6FB5-015D-4EF0-B979-C3708D079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095500"/>
            <a:ext cx="27241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750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750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pPr>
            <a:r>
              <a:rPr sz="750" b="1" i="0">
                <a:solidFill>
                  <a:srgbClr val="FF654F"/>
                </a:solidFill>
                <a:latin typeface="Helvetica"/>
                <a:ea typeface="Helvetica"/>
                <a:cs typeface="Helvetica"/>
              </a:rPr>
              <a:t>ECONOMICS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6C14520-E6A9-4109-9867-7FA953C60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390775"/>
            <a:ext cx="27241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350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1350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pPr>
            <a:r>
              <a:rPr sz="1350" b="1" i="0">
                <a:solidFill>
                  <a:srgbClr val="15121B"/>
                </a:solidFill>
                <a:latin typeface="Helvetica"/>
                <a:ea typeface="Helvetica"/>
                <a:cs typeface="Helvetica"/>
              </a:rPr>
              <a:t>Paid creative pressure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F2D3C90-10B7-4A24-BD34-5C21F556E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429000"/>
            <a:ext cx="316230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8D8D2"/>
          </a:solidFill>
          <a:ln xmlns:a="http://schemas.openxmlformats.org/drawingml/2006/main" w="0">
            <a:solidFill>
              <a:srgbClr val="F8D8D2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2C4AE4A-D493-4022-8AB7-279C23C30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600450"/>
            <a:ext cx="27241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750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750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pPr>
            <a:r>
              <a:rPr sz="750" b="1" i="0">
                <a:solidFill>
                  <a:srgbClr val="FF654F"/>
                </a:solidFill>
                <a:latin typeface="Helvetica"/>
                <a:ea typeface="Helvetica"/>
                <a:cs typeface="Helvetica"/>
              </a:rPr>
              <a:t>MANDATE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4954312-0DD4-4A55-B7DC-E64499355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895725"/>
            <a:ext cx="27241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350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1350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pPr>
            <a:r>
              <a:rPr sz="1350" b="1" i="0">
                <a:solidFill>
                  <a:srgbClr val="15121B"/>
                </a:solidFill>
                <a:latin typeface="Helvetica"/>
                <a:ea typeface="Helvetica"/>
                <a:cs typeface="Helvetica"/>
              </a:rPr>
              <a:t>Build a loved brand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756C495-C1DF-410A-83BE-9E97A3764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305050"/>
            <a:ext cx="3009900" cy="1952625"/>
          </a:xfrm>
          <a:prstGeom xmlns:a="http://schemas.openxmlformats.org/drawingml/2006/main" prst="roundRect">
            <a:avLst>
              <a:gd name="adj" fmla="val 3902"/>
            </a:avLst>
          </a:prstGeom>
          <a:solidFill xmlns:a="http://schemas.openxmlformats.org/drawingml/2006/main">
            <a:srgbClr val="15121B"/>
          </a:solidFill>
          <a:ln xmlns:a="http://schemas.openxmlformats.org/drawingml/2006/main" w="0">
            <a:solidFill>
              <a:srgbClr val="15121B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4CC4969-B230-43DF-820A-000E34182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647950"/>
            <a:ext cx="2286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ctr">
              <a:defRPr sz="750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ctr">
              <a:defRPr sz="750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pPr>
            <a:r>
              <a:rPr sz="750" b="1" i="0">
                <a:solidFill>
                  <a:srgbClr val="FF654F"/>
                </a:solidFill>
                <a:latin typeface="Helvetica"/>
                <a:ea typeface="Helvetica"/>
                <a:cs typeface="Helvetica"/>
              </a:rPr>
              <a:t>THE PRESSURE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C25F77E-9FCE-469D-A1C9-52A99F799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009900"/>
            <a:ext cx="2286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ctr">
              <a:defRPr sz="1425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ctr">
              <a:defRPr sz="1425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pPr>
            <a:r>
              <a:rPr sz="1425" b="1" i="0">
                <a:solidFill>
                  <a:srgbClr val="FFFDFC"/>
                </a:solidFill>
                <a:latin typeface="Helvetica"/>
                <a:ea typeface="Helvetica"/>
                <a:cs typeface="Helvetica"/>
              </a:rPr>
              <a:t>UK fresh-frozen cat food functional vocabulary ('real meat, no fillers, vet-formulated') has commoditised across DTC entrants; Untamed matches near-identical claims with roughly a quarter.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B1833A1-D1A9-456C-A287-A94FB8506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572125"/>
            <a:ext cx="20955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pPr>
            <a:r>
              <a: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rPr>
              <a:t>COMMERCIAL CONSEQUENCE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14A6BAE-151C-49C9-A0A4-AEBAE148A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5505450"/>
            <a:ext cx="8382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200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1200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pPr>
            <a:r>
              <a:rPr sz="1200" b="1" i="0">
                <a:solidFill>
                  <a:srgbClr val="15121B"/>
                </a:solidFill>
                <a:latin typeface="Helvetica"/>
                <a:ea typeface="Helvetica"/>
                <a:cs typeface="Helvetica"/>
              </a:rPr>
              <a:t>Category context creates pressure, but does not diagnose KatKin by itself.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7532799-2A73-4266-9415-95CCD1BF9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134100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825" b="1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825" b="1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pPr>
            <a:r>
              <a:rPr sz="825" b="1" i="0">
                <a:solidFill>
                  <a:srgbClr val="756D7A"/>
                </a:solidFill>
                <a:latin typeface="Helvetica"/>
                <a:ea typeface="Helvetica"/>
                <a:cs typeface="Helvetica"/>
              </a:rPr>
              <a:t>SOURCES: S2, S3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5DCF19C-E4A0-45B8-B5FB-24A5E2301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6134100"/>
            <a:ext cx="4876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r">
              <a:defRPr sz="825" b="1" i="0">
                <a:solidFill>
                  <a:srgbClr val="5A2E78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r">
              <a:defRPr sz="825" b="1" i="0">
                <a:solidFill>
                  <a:srgbClr val="5A2E78"/>
                </a:solidFill>
                <a:latin typeface="Helvetica"/>
                <a:ea typeface="Helvetica"/>
                <a:cs typeface="Helvetica"/>
              </a:defRPr>
            </a:pPr>
            <a:r>
              <a:rPr sz="825" b="1" i="0">
                <a:solidFill>
                  <a:srgbClr val="5A2E78"/>
                </a:solidFill>
                <a:latin typeface="Helvetica"/>
                <a:ea typeface="Helvetica"/>
                <a:cs typeface="Helvetica"/>
              </a:rPr>
              <a:t>INTERPRETATION + VERIFIED FACT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EEBD8D9-1B1F-44B7-9CBB-8D1AACDA0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515100"/>
            <a:ext cx="17145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675" b="1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675" b="1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pPr>
            <a:r>
              <a:rPr sz="675" b="1" i="0">
                <a:solidFill>
                  <a:srgbClr val="756D7A"/>
                </a:solidFill>
                <a:latin typeface="Helvetica"/>
                <a:ea typeface="Helvetica"/>
                <a:cs typeface="Helvetica"/>
              </a:rPr>
              <a:t>NARRATIIVE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5DB0559-08E5-4787-9B84-5AABC07C9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8763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r">
              <a:defRPr sz="675" b="0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r">
              <a:defRPr sz="675" b="0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pPr>
            <a:r>
              <a:rPr sz="675" b="0" i="0">
                <a:solidFill>
                  <a:srgbClr val="756D7A"/>
                </a:solidFill>
                <a:latin typeface="Helvetica"/>
                <a:ea typeface="Helvetica"/>
                <a:cs typeface="Helvetica"/>
              </a:rPr>
              <a:t>04 / 30</a:t>
            </a:r>
          </a:p>
        </p:txBody>
      </p:sp>
    </p:spTree>
    <p:extLst>
      <p:ext uri="{BB962C8B-B14F-4D97-AF65-F5344CB8AC3E}">
        <p14:creationId xmlns:p14="http://schemas.microsoft.com/office/powerpoint/2010/main" val="100761109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6F0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B934F9B-61A5-4FC8-8878-52514ACCE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3375"/>
            <a:ext cx="5715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pPr>
            <a:r>
              <a: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rPr>
              <a:t>ACT 1 / THE CASE FOR CHANGE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7E72E59-0B7A-4A90-9713-136811FAE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85800"/>
            <a:ext cx="1047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2325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2325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pPr>
            <a:r>
              <a:rPr sz="2325" b="1" i="0">
                <a:solidFill>
                  <a:srgbClr val="15121B"/>
                </a:solidFill>
                <a:latin typeface="Helvetica"/>
                <a:ea typeface="Helvetica"/>
                <a:cs typeface="Helvetica"/>
              </a:rPr>
              <a:t>Category Growth Dynamics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03A17F6-D5B6-4B58-B7D5-828A36D5F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400175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CFD5"/>
          </a:solidFill>
          <a:ln xmlns:a="http://schemas.openxmlformats.org/drawingml/2006/main" w="0">
            <a:solidFill>
              <a:srgbClr val="D9CFD5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3FCF970-E2AB-46BD-BBF1-D2AFA1F9E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809750"/>
            <a:ext cx="44767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654F"/>
          </a:solidFill>
          <a:ln xmlns:a="http://schemas.openxmlformats.org/drawingml/2006/main" w="0">
            <a:solidFill>
              <a:srgbClr val="FF654F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6D709B3-CA0E-49C7-BF16-00C6B9ED8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028825"/>
            <a:ext cx="3905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200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1200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pPr>
            <a:r>
              <a:rPr sz="1200" b="1" i="0">
                <a:solidFill>
                  <a:srgbClr val="FFFDFC"/>
                </a:solidFill>
                <a:latin typeface="Helvetica"/>
                <a:ea typeface="Helvetica"/>
                <a:cs typeface="Helvetica"/>
              </a:rPr>
              <a:t>01 CLAIM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4E2A574-23FB-4F1C-A739-005550791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2762250"/>
            <a:ext cx="34290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5A2E78"/>
          </a:solidFill>
          <a:ln xmlns:a="http://schemas.openxmlformats.org/drawingml/2006/main" w="0">
            <a:solidFill>
              <a:srgbClr val="5A2E78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C85208C-CCCD-4DF4-B8DF-77A6ACBC6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7375" y="2981325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200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1200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pPr>
            <a:r>
              <a:rPr sz="1200" b="1" i="0">
                <a:solidFill>
                  <a:srgbClr val="FFFDFC"/>
                </a:solidFill>
                <a:latin typeface="Helvetica"/>
                <a:ea typeface="Helvetica"/>
                <a:cs typeface="Helvetica"/>
              </a:rPr>
              <a:t>02 PROOF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FA6E0B6-A4D2-42E0-8FF1-69559DAA6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3714750"/>
            <a:ext cx="23812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261A31"/>
          </a:solidFill>
          <a:ln xmlns:a="http://schemas.openxmlformats.org/drawingml/2006/main" w="0">
            <a:solidFill>
              <a:srgbClr val="261A31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5C4A213-783F-4F22-9904-B1BD5CCEA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3933825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200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1200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pPr>
            <a:r>
              <a:rPr sz="1200" b="1" i="0">
                <a:solidFill>
                  <a:srgbClr val="FFFDFC"/>
                </a:solidFill>
                <a:latin typeface="Helvetica"/>
                <a:ea typeface="Helvetica"/>
                <a:cs typeface="Helvetica"/>
              </a:rPr>
              <a:t>03 METHOD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F0C557E-D923-4AF4-8E56-271FF8D24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095500"/>
            <a:ext cx="40005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800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1800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pPr>
            <a:r>
              <a:rPr sz="1800" b="1" i="0">
                <a:solidFill>
                  <a:srgbClr val="15121B"/>
                </a:solidFill>
                <a:latin typeface="Helvetica"/>
                <a:ea typeface="Helvetica"/>
                <a:cs typeface="Helvetica"/>
              </a:rPr>
              <a:t>No independent verification of KatKin's claimed 2% market share beyond trade press reporting.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DBBC9D7-6908-4B9A-BDAC-DDB753E69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572125"/>
            <a:ext cx="20955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pPr>
            <a:r>
              <a: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rPr>
              <a:t>COMMERCIAL CONSEQUENCE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4A82E35-790A-4503-AB04-DA51A7E9D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5505450"/>
            <a:ext cx="8382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200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1200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pPr>
            <a:r>
              <a:rPr sz="1200" b="1" i="0">
                <a:solidFill>
                  <a:srgbClr val="15121B"/>
                </a:solidFill>
                <a:latin typeface="Helvetica"/>
                <a:ea typeface="Helvetica"/>
                <a:cs typeface="Helvetica"/>
              </a:rPr>
              <a:t>Premiumisation and category polarisation make the middle harder to defend.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92BCAE9-10B3-48F3-A678-DD90C8116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134100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825" b="1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825" b="1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pPr>
            <a:r>
              <a:rPr sz="825" b="1" i="0">
                <a:solidFill>
                  <a:srgbClr val="756D7A"/>
                </a:solidFill>
                <a:latin typeface="Helvetica"/>
                <a:ea typeface="Helvetica"/>
                <a:cs typeface="Helvetica"/>
              </a:rPr>
              <a:t>SOURCES: S2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15D84B4-853D-4A85-BEF9-C3F426B25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6134100"/>
            <a:ext cx="4876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r">
              <a:defRPr sz="825" b="1" i="0">
                <a:solidFill>
                  <a:srgbClr val="5A2E78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r">
              <a:defRPr sz="825" b="1" i="0">
                <a:solidFill>
                  <a:srgbClr val="5A2E78"/>
                </a:solidFill>
                <a:latin typeface="Helvetica"/>
                <a:ea typeface="Helvetica"/>
                <a:cs typeface="Helvetica"/>
              </a:defRPr>
            </a:pPr>
            <a:r>
              <a:rPr sz="825" b="1" i="0">
                <a:solidFill>
                  <a:srgbClr val="5A2E78"/>
                </a:solidFill>
                <a:latin typeface="Helvetica"/>
                <a:ea typeface="Helvetica"/>
                <a:cs typeface="Helvetica"/>
              </a:rPr>
              <a:t>VERIFIED FACT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ED8F5AD-C127-43BB-B585-90FE1AD14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515100"/>
            <a:ext cx="17145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675" b="1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675" b="1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pPr>
            <a:r>
              <a:rPr sz="675" b="1" i="0">
                <a:solidFill>
                  <a:srgbClr val="756D7A"/>
                </a:solidFill>
                <a:latin typeface="Helvetica"/>
                <a:ea typeface="Helvetica"/>
                <a:cs typeface="Helvetica"/>
              </a:rPr>
              <a:t>NARRATIIVE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2E2C52D-D8D4-439B-ABD4-4E26667F7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8763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r">
              <a:defRPr sz="675" b="0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r">
              <a:defRPr sz="675" b="0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pPr>
            <a:r>
              <a:rPr sz="675" b="0" i="0">
                <a:solidFill>
                  <a:srgbClr val="756D7A"/>
                </a:solidFill>
                <a:latin typeface="Helvetica"/>
                <a:ea typeface="Helvetica"/>
                <a:cs typeface="Helvetica"/>
              </a:rPr>
              <a:t>05 / 30</a:t>
            </a:r>
          </a:p>
        </p:txBody>
      </p:sp>
    </p:spTree>
    <p:extLst>
      <p:ext uri="{BB962C8B-B14F-4D97-AF65-F5344CB8AC3E}">
        <p14:creationId xmlns:p14="http://schemas.microsoft.com/office/powerpoint/2010/main" val="24873942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6F0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0953FF0-EA21-41C3-A2EA-DCD99BC58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3375"/>
            <a:ext cx="5715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pPr>
            <a:r>
              <a: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rPr>
              <a:t>ACT 2 / MARKET + COMPETITIVE DIAGNOSIS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7C58875-D9E6-48CD-A625-BC5493386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85800"/>
            <a:ext cx="1047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2325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2325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pPr>
            <a:r>
              <a:rPr sz="2325" b="1" i="0">
                <a:solidFill>
                  <a:srgbClr val="15121B"/>
                </a:solidFill>
                <a:latin typeface="Helvetica"/>
                <a:ea typeface="Helvetica"/>
                <a:cs typeface="Helvetica"/>
              </a:rPr>
              <a:t>Competitive Landscape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788528A-5039-40E2-9907-878D10CB4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400175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CFD5"/>
          </a:solidFill>
          <a:ln xmlns:a="http://schemas.openxmlformats.org/drawingml/2006/main" w="0">
            <a:solidFill>
              <a:srgbClr val="D9CFD5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39546E3-DF0B-4D59-B343-D5032344A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952625"/>
            <a:ext cx="3200400" cy="2590800"/>
          </a:xfrm>
          <a:prstGeom xmlns:a="http://schemas.openxmlformats.org/drawingml/2006/main" prst="roundRect">
            <a:avLst>
              <a:gd name="adj" fmla="val 2941"/>
            </a:avLst>
          </a:prstGeom>
          <a:solidFill xmlns:a="http://schemas.openxmlformats.org/drawingml/2006/main">
            <a:srgbClr val="261A31"/>
          </a:solidFill>
          <a:ln xmlns:a="http://schemas.openxmlformats.org/drawingml/2006/main" w="0">
            <a:solidFill>
              <a:srgbClr val="261A31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DCEC09F-8992-4CFB-9A75-ADCB7037D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181225"/>
            <a:ext cx="457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900" b="1" i="0">
                <a:solidFill>
                  <a:srgbClr val="C8B7E8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900" b="1" i="0">
                <a:solidFill>
                  <a:srgbClr val="C8B7E8"/>
                </a:solidFill>
                <a:latin typeface="Helvetica"/>
                <a:ea typeface="Helvetica"/>
                <a:cs typeface="Helvetica"/>
              </a:defRPr>
            </a:pPr>
            <a:r>
              <a:rPr sz="900" b="1" i="0">
                <a:solidFill>
                  <a:srgbClr val="C8B7E8"/>
                </a:solidFill>
                <a:latin typeface="Helvetica"/>
                <a:ea typeface="Helvetica"/>
                <a:cs typeface="Helvetica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9CD4F44-B7C2-4B41-AF73-32519F7A6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619375"/>
            <a:ext cx="2724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575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1575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pPr>
            <a:r>
              <a:rPr sz="1575" b="1" i="0">
                <a:solidFill>
                  <a:srgbClr val="FFFDFC"/>
                </a:solidFill>
                <a:latin typeface="Helvetica"/>
                <a:ea typeface="Helvetica"/>
                <a:cs typeface="Helvetica"/>
              </a:rPr>
              <a:t>DISCOVERY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C51D1AF-1F49-4F47-ABB1-E697BA2C7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09925"/>
            <a:ext cx="27241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200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1200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pPr>
            <a:r>
              <a:rPr sz="1200" b="1" i="0">
                <a:solidFill>
                  <a:srgbClr val="FFFDFC"/>
                </a:solidFill>
                <a:latin typeface="Helvetica"/>
                <a:ea typeface="Helvetica"/>
                <a:cs typeface="Helvetica"/>
              </a:rPr>
              <a:t>Competitors own different trust and value cues; KatKin's combination remains a hypothesis.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20A119B-9DC3-4C4F-B6A5-BE731BAE1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105025"/>
            <a:ext cx="3200400" cy="2590800"/>
          </a:xfrm>
          <a:prstGeom xmlns:a="http://schemas.openxmlformats.org/drawingml/2006/main" prst="roundRect">
            <a:avLst>
              <a:gd name="adj" fmla="val 2941"/>
            </a:avLst>
          </a:prstGeom>
          <a:solidFill xmlns:a="http://schemas.openxmlformats.org/drawingml/2006/main">
            <a:srgbClr val="5A2E78"/>
          </a:solidFill>
          <a:ln xmlns:a="http://schemas.openxmlformats.org/drawingml/2006/main" w="0">
            <a:solidFill>
              <a:srgbClr val="5A2E78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70D914D-F4D8-4077-B293-8207BDF26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333625"/>
            <a:ext cx="457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900" b="1" i="0">
                <a:solidFill>
                  <a:srgbClr val="C8B7E8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900" b="1" i="0">
                <a:solidFill>
                  <a:srgbClr val="C8B7E8"/>
                </a:solidFill>
                <a:latin typeface="Helvetica"/>
                <a:ea typeface="Helvetica"/>
                <a:cs typeface="Helvetica"/>
              </a:defRPr>
            </a:pPr>
            <a:r>
              <a:rPr sz="900" b="1" i="0">
                <a:solidFill>
                  <a:srgbClr val="C8B7E8"/>
                </a:solidFill>
                <a:latin typeface="Helvetica"/>
                <a:ea typeface="Helvetica"/>
                <a:cs typeface="Helvetica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27A8F96-66D0-4F66-BC99-48FC656B6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771775"/>
            <a:ext cx="2724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575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1575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pPr>
            <a:r>
              <a:rPr sz="1575" b="1" i="0">
                <a:solidFill>
                  <a:srgbClr val="FFFDFC"/>
                </a:solidFill>
                <a:latin typeface="Helvetica"/>
                <a:ea typeface="Helvetica"/>
                <a:cs typeface="Helvetica"/>
              </a:rPr>
              <a:t>DECISION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00259D0-1EB0-41AA-AEA3-5F5D83706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3362325"/>
            <a:ext cx="27241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200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1200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pPr>
            <a:r>
              <a:rPr sz="1200" b="1" i="0">
                <a:solidFill>
                  <a:srgbClr val="FFFDFC"/>
                </a:solidFill>
                <a:latin typeface="Helvetica"/>
                <a:ea typeface="Helvetica"/>
                <a:cs typeface="Helvetica"/>
              </a:rPr>
              <a:t>KatKin's defensible proof points are its peer-reviewed, published AGE research (Journal of Animal Science), Board-Certified Veterinary Nutritionist.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098E00E-9191-45C4-9C9B-64FBF2183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257425"/>
            <a:ext cx="3200400" cy="2590800"/>
          </a:xfrm>
          <a:prstGeom xmlns:a="http://schemas.openxmlformats.org/drawingml/2006/main" prst="roundRect">
            <a:avLst>
              <a:gd name="adj" fmla="val 2941"/>
            </a:avLst>
          </a:prstGeom>
          <a:solidFill xmlns:a="http://schemas.openxmlformats.org/drawingml/2006/main">
            <a:srgbClr val="FF654F"/>
          </a:solidFill>
          <a:ln xmlns:a="http://schemas.openxmlformats.org/drawingml/2006/main" w="0">
            <a:solidFill>
              <a:srgbClr val="FF654F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883EB0A-CBCA-403D-9202-267050134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486025"/>
            <a:ext cx="457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900" b="1" i="0">
                <a:solidFill>
                  <a:srgbClr val="C8B7E8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900" b="1" i="0">
                <a:solidFill>
                  <a:srgbClr val="C8B7E8"/>
                </a:solidFill>
                <a:latin typeface="Helvetica"/>
                <a:ea typeface="Helvetica"/>
                <a:cs typeface="Helvetica"/>
              </a:defRPr>
            </a:pPr>
            <a:r>
              <a:rPr sz="900" b="1" i="0">
                <a:solidFill>
                  <a:srgbClr val="C8B7E8"/>
                </a:solidFill>
                <a:latin typeface="Helvetica"/>
                <a:ea typeface="Helvetica"/>
                <a:cs typeface="Helvetica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518E179-018D-4677-AB7A-99CFCB42C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924175"/>
            <a:ext cx="2724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575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1575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pPr>
            <a:r>
              <a:rPr sz="1575" b="1" i="0">
                <a:solidFill>
                  <a:srgbClr val="FFFDFC"/>
                </a:solidFill>
                <a:latin typeface="Helvetica"/>
                <a:ea typeface="Helvetica"/>
                <a:cs typeface="Helvetica"/>
              </a:rPr>
              <a:t>REPEAT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51AEAEC-C690-4C0B-8344-B0336C450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3514725"/>
            <a:ext cx="27241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200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1200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pPr>
            <a:r>
              <a:rPr sz="1200" b="1" i="0">
                <a:solidFill>
                  <a:srgbClr val="FFFDFC"/>
                </a:solidFill>
                <a:latin typeface="Helvetica"/>
                <a:ea typeface="Helvetica"/>
                <a:cs typeface="Helvetica"/>
              </a:rPr>
              <a:t>Competitors own different trust and value cues; KatKin's combination remains a hypothesis.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E6E7DEB-A6D4-4CF1-AD19-9FCF3DC56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572125"/>
            <a:ext cx="20955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pPr>
            <a:r>
              <a: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rPr>
              <a:t>COMMERCIAL CONSEQUENCE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F82118D-DDD0-4A3A-B516-D4C311D72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5505450"/>
            <a:ext cx="8382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200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1200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pPr>
            <a:r>
              <a:rPr sz="1200" b="1" i="0">
                <a:solidFill>
                  <a:srgbClr val="15121B"/>
                </a:solidFill>
                <a:latin typeface="Helvetica"/>
                <a:ea typeface="Helvetica"/>
                <a:cs typeface="Helvetica"/>
              </a:rPr>
              <a:t>Competitors own different trust and value cues; KatKin's combination remains a hypothesis.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1C86B69-C8C0-428C-9599-C3904B2C5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134100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825" b="1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825" b="1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pPr>
            <a:r>
              <a:rPr sz="825" b="1" i="0">
                <a:solidFill>
                  <a:srgbClr val="756D7A"/>
                </a:solidFill>
                <a:latin typeface="Helvetica"/>
                <a:ea typeface="Helvetica"/>
                <a:cs typeface="Helvetica"/>
              </a:rPr>
              <a:t>SOURCES: S4, S6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79F8EE7-0F69-456B-816C-80FA40CDC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6134100"/>
            <a:ext cx="4876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r">
              <a:defRPr sz="825" b="1" i="0">
                <a:solidFill>
                  <a:srgbClr val="5A2E78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r">
              <a:defRPr sz="825" b="1" i="0">
                <a:solidFill>
                  <a:srgbClr val="5A2E78"/>
                </a:solidFill>
                <a:latin typeface="Helvetica"/>
                <a:ea typeface="Helvetica"/>
                <a:cs typeface="Helvetica"/>
              </a:defRPr>
            </a:pPr>
            <a:r>
              <a:rPr sz="825" b="1" i="0">
                <a:solidFill>
                  <a:srgbClr val="5A2E78"/>
                </a:solidFill>
                <a:latin typeface="Helvetica"/>
                <a:ea typeface="Helvetica"/>
                <a:cs typeface="Helvetica"/>
              </a:rPr>
              <a:t>MIXED FACT AND HYPOTHESIS + VERIFIED FACT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E8859BB-7B5A-48B6-93AC-4F799D05B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515100"/>
            <a:ext cx="17145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675" b="1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675" b="1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pPr>
            <a:r>
              <a:rPr sz="675" b="1" i="0">
                <a:solidFill>
                  <a:srgbClr val="756D7A"/>
                </a:solidFill>
                <a:latin typeface="Helvetica"/>
                <a:ea typeface="Helvetica"/>
                <a:cs typeface="Helvetica"/>
              </a:rPr>
              <a:t>NARRATIIVE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3340937-5AF9-439F-BB21-408D53C7E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8763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r">
              <a:defRPr sz="675" b="0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r">
              <a:defRPr sz="675" b="0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pPr>
            <a:r>
              <a:rPr sz="675" b="0" i="0">
                <a:solidFill>
                  <a:srgbClr val="756D7A"/>
                </a:solidFill>
                <a:latin typeface="Helvetica"/>
                <a:ea typeface="Helvetica"/>
                <a:cs typeface="Helvetica"/>
              </a:rPr>
              <a:t>06 / 30</a:t>
            </a:r>
          </a:p>
        </p:txBody>
      </p:sp>
    </p:spTree>
    <p:extLst>
      <p:ext uri="{BB962C8B-B14F-4D97-AF65-F5344CB8AC3E}">
        <p14:creationId xmlns:p14="http://schemas.microsoft.com/office/powerpoint/2010/main" val="124254385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6F0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EDB63E6-B35E-4FA9-8E8F-8F3771A4E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3375"/>
            <a:ext cx="5715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pPr>
            <a:r>
              <a: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rPr>
              <a:t>ACT 2 / MARKET + COMPETITIVE DIAGNOSIS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9BEB02B-F910-4460-B193-0D38BF2C6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85800"/>
            <a:ext cx="1047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2325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2325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pPr>
            <a:r>
              <a:rPr sz="2325" b="1" i="0">
                <a:solidFill>
                  <a:srgbClr val="15121B"/>
                </a:solidFill>
                <a:latin typeface="Helvetica"/>
                <a:ea typeface="Helvetica"/>
                <a:cs typeface="Helvetica"/>
              </a:rPr>
              <a:t>The Sea of Sameness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5B1AE59-2FC0-4183-A129-98A529A25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400175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CFD5"/>
          </a:solidFill>
          <a:ln xmlns:a="http://schemas.openxmlformats.org/drawingml/2006/main" w="0">
            <a:solidFill>
              <a:srgbClr val="D9CFD5"/>
            </a:solidFill>
          </a:ln>
        </p:spPr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A314B3C-09BA-4F4C-87A3-C28BA5FDAA1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5eb2692da6744ea"/>
          <a:srcRect xmlns:a="http://schemas.openxmlformats.org/drawingml/2006/main" l="4172" t="0" r="4172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7700" y="1714500"/>
            <a:ext cx="5429250" cy="33337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C003FFE-37CA-4703-899C-782F41144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1714500"/>
            <a:ext cx="548640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1A31"/>
          </a:solidFill>
          <a:ln xmlns:a="http://schemas.openxmlformats.org/drawingml/2006/main" w="0">
            <a:solidFill>
              <a:srgbClr val="261A31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F166F2B-5920-4623-8764-8B3A46AD4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076450"/>
            <a:ext cx="409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750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750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pPr>
            <a:r>
              <a:rPr sz="750" b="1" i="0">
                <a:solidFill>
                  <a:srgbClr val="FF654F"/>
                </a:solidFill>
                <a:latin typeface="Helvetica"/>
                <a:ea typeface="Helvetica"/>
                <a:cs typeface="Helvetica"/>
              </a:rPr>
              <a:t>THE HARD PART IS ALREADY DONE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442B63D-9577-4C29-99E6-6B4656CAC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476500"/>
            <a:ext cx="41910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725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1725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pPr>
            <a:r>
              <a:rPr sz="1725" b="1" i="0">
                <a:solidFill>
                  <a:srgbClr val="FFFDFC"/>
                </a:solidFill>
                <a:latin typeface="Helvetica"/>
                <a:ea typeface="Helvetica"/>
                <a:cs typeface="Helvetica"/>
              </a:rPr>
              <a:t>Brand platform and proof hierarchy should foreground the published research as the lead differentiator, since this is currently underused relative to testimonial-led creative.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6497D04-1CC9-4B49-8823-AD5401DD5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572125"/>
            <a:ext cx="20955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pPr>
            <a:r>
              <a: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rPr>
              <a:t>COMMERCIAL CONSEQUENCE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EFE3DD2-C21F-426C-890B-E03105D6F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5505450"/>
            <a:ext cx="8382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200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1200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pPr>
            <a:r>
              <a:rPr sz="1200" b="1" i="0">
                <a:solidFill>
                  <a:srgbClr val="15121B"/>
                </a:solidFill>
                <a:latin typeface="Helvetica"/>
                <a:ea typeface="Helvetica"/>
                <a:cs typeface="Helvetica"/>
              </a:rPr>
              <a:t>KatKin needs a reason to be remembered, not another generic category claim.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AA231F3-4B55-42C0-8A14-C7A7EE313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134100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825" b="1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825" b="1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pPr>
            <a:r>
              <a:rPr sz="825" b="1" i="0">
                <a:solidFill>
                  <a:srgbClr val="756D7A"/>
                </a:solidFill>
                <a:latin typeface="Helvetica"/>
                <a:ea typeface="Helvetica"/>
                <a:cs typeface="Helvetica"/>
              </a:rPr>
              <a:t>SOURCES: S4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2E1D1E8-7648-4C69-968B-0C06EAAF1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6134100"/>
            <a:ext cx="4876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r">
              <a:defRPr sz="825" b="1" i="0">
                <a:solidFill>
                  <a:srgbClr val="5A2E78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r">
              <a:defRPr sz="825" b="1" i="0">
                <a:solidFill>
                  <a:srgbClr val="5A2E78"/>
                </a:solidFill>
                <a:latin typeface="Helvetica"/>
                <a:ea typeface="Helvetica"/>
                <a:cs typeface="Helvetica"/>
              </a:defRPr>
            </a:pPr>
            <a:r>
              <a:rPr sz="825" b="1" i="0">
                <a:solidFill>
                  <a:srgbClr val="5A2E78"/>
                </a:solidFill>
                <a:latin typeface="Helvetica"/>
                <a:ea typeface="Helvetica"/>
                <a:cs typeface="Helvetica"/>
              </a:rPr>
              <a:t>MIXED FACT AND HYPOTHESIS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E025B1B-F927-4043-90D3-04793D001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515100"/>
            <a:ext cx="17145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675" b="1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675" b="1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pPr>
            <a:r>
              <a:rPr sz="675" b="1" i="0">
                <a:solidFill>
                  <a:srgbClr val="756D7A"/>
                </a:solidFill>
                <a:latin typeface="Helvetica"/>
                <a:ea typeface="Helvetica"/>
                <a:cs typeface="Helvetica"/>
              </a:rPr>
              <a:t>NARRATIIVE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82E1563-E842-40DA-9304-7761A0C7D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8763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r">
              <a:defRPr sz="675" b="0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r">
              <a:defRPr sz="675" b="0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pPr>
            <a:r>
              <a:rPr sz="675" b="0" i="0">
                <a:solidFill>
                  <a:srgbClr val="756D7A"/>
                </a:solidFill>
                <a:latin typeface="Helvetica"/>
                <a:ea typeface="Helvetica"/>
                <a:cs typeface="Helvetica"/>
              </a:rPr>
              <a:t>07 / 30</a:t>
            </a:r>
          </a:p>
        </p:txBody>
      </p:sp>
    </p:spTree>
    <p:extLst>
      <p:ext uri="{BB962C8B-B14F-4D97-AF65-F5344CB8AC3E}">
        <p14:creationId xmlns:p14="http://schemas.microsoft.com/office/powerpoint/2010/main" val="65296301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6F0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FF5B30D-1738-4EA9-81AA-F9E88E26F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3375"/>
            <a:ext cx="5715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pPr>
            <a:r>
              <a: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rPr>
              <a:t>ACT 2 / MARKET + COMPETITIVE DIAGNOSIS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F1A1090-9A91-4F89-84CD-89CFAB1CC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85800"/>
            <a:ext cx="1047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2325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2325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pPr>
            <a:r>
              <a:rPr sz="2325" b="1" i="0">
                <a:solidFill>
                  <a:srgbClr val="15121B"/>
                </a:solidFill>
                <a:latin typeface="Helvetica"/>
                <a:ea typeface="Helvetica"/>
                <a:cs typeface="Helvetica"/>
              </a:rPr>
              <a:t>The Market Gap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956DC29-634D-4616-AAAF-531F332CD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400175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CFD5"/>
          </a:solidFill>
          <a:ln xmlns:a="http://schemas.openxmlformats.org/drawingml/2006/main" w="0">
            <a:solidFill>
              <a:srgbClr val="D9CFD5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9FE4E72-6D60-44D8-AD71-328B10A74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62125"/>
            <a:ext cx="7239000" cy="3333750"/>
          </a:xfrm>
          <a:prstGeom xmlns:a="http://schemas.openxmlformats.org/drawingml/2006/main" prst="roundRect">
            <a:avLst>
              <a:gd name="adj" fmla="val 2286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0">
            <a:solidFill>
              <a:srgbClr val="FFFDFC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72E8A41-383B-4A1E-85B5-D1995A541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333875"/>
            <a:ext cx="5905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56D7A"/>
          </a:solidFill>
          <a:ln xmlns:a="http://schemas.openxmlformats.org/drawingml/2006/main" w="0">
            <a:solidFill>
              <a:srgbClr val="756D7A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3CBC8CE-B951-4B2B-A5E6-3357C3EA7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2095500"/>
            <a:ext cx="19050" cy="2571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56D7A"/>
          </a:solidFill>
          <a:ln xmlns:a="http://schemas.openxmlformats.org/drawingml/2006/main" w="0">
            <a:solidFill>
              <a:srgbClr val="756D7A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83FFFA1-FDA5-467B-89C2-D8039BB1C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476750"/>
            <a:ext cx="2000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675" b="1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675" b="1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pPr>
            <a:r>
              <a:rPr sz="675" b="1" i="0">
                <a:solidFill>
                  <a:srgbClr val="756D7A"/>
                </a:solidFill>
                <a:latin typeface="Helvetica"/>
                <a:ea typeface="Helvetica"/>
                <a:cs typeface="Helvetica"/>
              </a:rPr>
              <a:t>CATEGORY CLAIM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259AB62-EE0B-4997-99B1-76D4EBDCF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476750"/>
            <a:ext cx="171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r">
              <a:def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r">
              <a:def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pPr>
            <a:r>
              <a: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rPr>
              <a:t>INDEPENDENT PROOF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4CFBFE0-9742-477E-B369-DAB9F96FE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952625"/>
            <a:ext cx="171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675" b="1" i="0">
                <a:solidFill>
                  <a:srgbClr val="5A2E78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675" b="1" i="0">
                <a:solidFill>
                  <a:srgbClr val="5A2E78"/>
                </a:solidFill>
                <a:latin typeface="Helvetica"/>
                <a:ea typeface="Helvetica"/>
                <a:cs typeface="Helvetica"/>
              </a:defRPr>
            </a:pPr>
            <a:r>
              <a:rPr sz="675" b="1" i="0">
                <a:solidFill>
                  <a:srgbClr val="5A2E78"/>
                </a:solidFill>
                <a:latin typeface="Helvetica"/>
                <a:ea typeface="Helvetica"/>
                <a:cs typeface="Helvetica"/>
              </a:rPr>
              <a:t>BRAND AUTHORITY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5D10C7D-2973-4232-930D-244197875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387858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56D7A"/>
          </a:solidFill>
          <a:ln xmlns:a="http://schemas.openxmlformats.org/drawingml/2006/main" w="0">
            <a:solidFill>
              <a:srgbClr val="756D7A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32C5B45-0031-4DD4-AFC8-693210978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3859530"/>
            <a:ext cx="114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675" b="1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675" b="1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pPr>
            <a:r>
              <a:rPr sz="675" b="1" i="0">
                <a:solidFill>
                  <a:srgbClr val="756D7A"/>
                </a:solidFill>
                <a:latin typeface="Helvetica"/>
                <a:ea typeface="Helvetica"/>
                <a:cs typeface="Helvetica"/>
              </a:rPr>
              <a:t>CATEGORY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FF3B7F8-982D-47A7-B258-BC7B86279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338328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A2E78"/>
          </a:solidFill>
          <a:ln xmlns:a="http://schemas.openxmlformats.org/drawingml/2006/main" w="0">
            <a:solidFill>
              <a:srgbClr val="5A2E78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514D352-0D61-4724-9D63-8966604AC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3364230"/>
            <a:ext cx="114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675" b="1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675" b="1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pPr>
            <a:r>
              <a:rPr sz="675" b="1" i="0">
                <a:solidFill>
                  <a:srgbClr val="756D7A"/>
                </a:solidFill>
                <a:latin typeface="Helvetica"/>
                <a:ea typeface="Helvetica"/>
                <a:cs typeface="Helvetica"/>
              </a:rPr>
              <a:t>UNTAMED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0A7D1DF-C2D7-4924-9943-EF567CEEC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240792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54F"/>
          </a:solidFill>
          <a:ln xmlns:a="http://schemas.openxmlformats.org/drawingml/2006/main" w="0">
            <a:solidFill>
              <a:srgbClr val="FF654F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2E88AF0-9E46-472A-8801-05165FAAB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522220"/>
            <a:ext cx="152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82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82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pPr>
            <a:r>
              <a:rPr sz="825" b="1" i="0">
                <a:solidFill>
                  <a:srgbClr val="FF654F"/>
                </a:solidFill>
                <a:latin typeface="Helvetica"/>
                <a:ea typeface="Helvetica"/>
                <a:cs typeface="Helvetica"/>
              </a:rPr>
              <a:t>OWNABLE SPACE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ECC35C3-D3D6-462C-A760-283F36203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1762125"/>
            <a:ext cx="3114675" cy="3333750"/>
          </a:xfrm>
          <a:prstGeom xmlns:a="http://schemas.openxmlformats.org/drawingml/2006/main" prst="roundRect">
            <a:avLst>
              <a:gd name="adj" fmla="val 2446"/>
            </a:avLst>
          </a:prstGeom>
          <a:solidFill xmlns:a="http://schemas.openxmlformats.org/drawingml/2006/main">
            <a:srgbClr val="261A31"/>
          </a:solidFill>
          <a:ln xmlns:a="http://schemas.openxmlformats.org/drawingml/2006/main" w="0">
            <a:solidFill>
              <a:srgbClr val="261A31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D08F8FE-0A40-4D78-8244-791DB7C2C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114550"/>
            <a:ext cx="228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750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750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pPr>
            <a:r>
              <a:rPr sz="750" b="1" i="0">
                <a:solidFill>
                  <a:srgbClr val="FF654F"/>
                </a:solidFill>
                <a:latin typeface="Helvetica"/>
                <a:ea typeface="Helvetica"/>
                <a:cs typeface="Helvetica"/>
              </a:rPr>
              <a:t>THE GAP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7BDDFC9-0BF8-4187-A864-DF50B4CCB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571750"/>
            <a:ext cx="2333625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800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1800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pPr>
            <a:r>
              <a:rPr sz="1800" b="1" i="0">
                <a:solidFill>
                  <a:srgbClr val="FFFDFC"/>
                </a:solidFill>
                <a:latin typeface="Helvetica"/>
                <a:ea typeface="Helvetica"/>
                <a:cs typeface="Helvetica"/>
              </a:rPr>
              <a:t>Independent science made easy to feel and easy to inspect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2EF7EFF-D18C-41DA-8EEF-9AC86E3FF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238625"/>
            <a:ext cx="23336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675" b="1" i="0">
                <a:solidFill>
                  <a:srgbClr val="C8B7E8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675" b="1" i="0">
                <a:solidFill>
                  <a:srgbClr val="C8B7E8"/>
                </a:solidFill>
                <a:latin typeface="Helvetica"/>
                <a:ea typeface="Helvetica"/>
                <a:cs typeface="Helvetica"/>
              </a:defRPr>
            </a:pPr>
            <a:r>
              <a:rPr sz="675" b="1" i="0">
                <a:solidFill>
                  <a:srgbClr val="C8B7E8"/>
                </a:solidFill>
                <a:latin typeface="Helvetica"/>
                <a:ea typeface="Helvetica"/>
                <a:cs typeface="Helvetica"/>
              </a:rPr>
              <a:t>HYPOTHESIS TO VALIDATE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8EF0800-2C80-42D9-A01F-EF9F18A3A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572125"/>
            <a:ext cx="20955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pPr>
            <a:r>
              <a: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rPr>
              <a:t>COMMERCIAL CONSEQUENCE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BDC6899-9B2E-4DC8-9156-4F725A448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5505450"/>
            <a:ext cx="8382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200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1200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pPr>
            <a:r>
              <a:rPr sz="1200" b="1" i="0">
                <a:solidFill>
                  <a:srgbClr val="15121B"/>
                </a:solidFill>
                <a:latin typeface="Helvetica"/>
                <a:ea typeface="Helvetica"/>
                <a:cs typeface="Helvetica"/>
              </a:rPr>
              <a:t>KatKin can test an under-leveraged space where independent proof builds brand authority.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A9E86FB-8FD3-448D-B0DF-FECC49BD4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134100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825" b="1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825" b="1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pPr>
            <a:r>
              <a:rPr sz="825" b="1" i="0">
                <a:solidFill>
                  <a:srgbClr val="756D7A"/>
                </a:solidFill>
                <a:latin typeface="Helvetica"/>
                <a:ea typeface="Helvetica"/>
                <a:cs typeface="Helvetica"/>
              </a:rPr>
              <a:t>SOURCES: S2, S3, T1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63A7091-0CA3-44BA-B961-52693916E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6134100"/>
            <a:ext cx="4876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r">
              <a:defRPr sz="825" b="1" i="0">
                <a:solidFill>
                  <a:srgbClr val="5A2E78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r">
              <a:defRPr sz="825" b="1" i="0">
                <a:solidFill>
                  <a:srgbClr val="5A2E78"/>
                </a:solidFill>
                <a:latin typeface="Helvetica"/>
                <a:ea typeface="Helvetica"/>
                <a:cs typeface="Helvetica"/>
              </a:defRPr>
            </a:pPr>
            <a:r>
              <a:rPr sz="825" b="1" i="0">
                <a:solidFill>
                  <a:srgbClr val="5A2E78"/>
                </a:solidFill>
                <a:latin typeface="Helvetica"/>
                <a:ea typeface="Helvetica"/>
                <a:cs typeface="Helvetica"/>
              </a:rPr>
              <a:t>STRATEGIC INTERPRETATION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FF86539-5578-4114-850D-82599CB27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515100"/>
            <a:ext cx="17145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675" b="1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675" b="1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pPr>
            <a:r>
              <a:rPr sz="675" b="1" i="0">
                <a:solidFill>
                  <a:srgbClr val="756D7A"/>
                </a:solidFill>
                <a:latin typeface="Helvetica"/>
                <a:ea typeface="Helvetica"/>
                <a:cs typeface="Helvetica"/>
              </a:rPr>
              <a:t>NARRATIIVE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E2FBB29-24E2-41E2-AF3B-7FA671572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8763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r">
              <a:defRPr sz="675" b="0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r">
              <a:defRPr sz="675" b="0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pPr>
            <a:r>
              <a:rPr sz="675" b="0" i="0">
                <a:solidFill>
                  <a:srgbClr val="756D7A"/>
                </a:solidFill>
                <a:latin typeface="Helvetica"/>
                <a:ea typeface="Helvetica"/>
                <a:cs typeface="Helvetica"/>
              </a:rPr>
              <a:t>08 / 30</a:t>
            </a:r>
          </a:p>
        </p:txBody>
      </p:sp>
    </p:spTree>
    <p:extLst>
      <p:ext uri="{BB962C8B-B14F-4D97-AF65-F5344CB8AC3E}">
        <p14:creationId xmlns:p14="http://schemas.microsoft.com/office/powerpoint/2010/main" val="114281915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15121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3F71A31-79D7-40C5-AACE-55F2C119F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3375"/>
            <a:ext cx="5715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pPr>
            <a:r>
              <a: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rPr>
              <a:t>ACT 2 / MARKET + COMPETITIVE DIAGNOSIS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B0F3FD6-1B2D-4DE9-9710-A99D13979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85800"/>
            <a:ext cx="1047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2325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2325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pPr>
            <a:r>
              <a:rPr sz="2325" b="1" i="0">
                <a:solidFill>
                  <a:srgbClr val="FFFDFC"/>
                </a:solidFill>
                <a:latin typeface="Helvetica"/>
                <a:ea typeface="Helvetica"/>
                <a:cs typeface="Helvetica"/>
              </a:rPr>
              <a:t>Growth Constraint Diagnosis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D183BA3-2C05-48C2-9395-E6A95A0FD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400175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2E78"/>
          </a:solidFill>
          <a:ln xmlns:a="http://schemas.openxmlformats.org/drawingml/2006/main" w="0">
            <a:solidFill>
              <a:srgbClr val="5A2E78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B02175F-D815-4EB5-A01C-4537A8133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428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750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750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pPr>
            <a:r>
              <a:rPr sz="750" b="1" i="0">
                <a:solidFill>
                  <a:srgbClr val="FF654F"/>
                </a:solidFill>
                <a:latin typeface="Helvetica"/>
                <a:ea typeface="Helvetica"/>
                <a:cs typeface="Helvetica"/>
              </a:rPr>
              <a:t>POSITION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4F057F0-45D9-4707-A1AD-9D27FF302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1838325"/>
            <a:ext cx="495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2E78"/>
          </a:solidFill>
          <a:ln xmlns:a="http://schemas.openxmlformats.org/drawingml/2006/main" w="0">
            <a:solidFill>
              <a:srgbClr val="5A2E78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A92D53A-014C-4A9F-BBF5-AC166B9E7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1676400"/>
            <a:ext cx="7334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875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1875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pPr>
            <a:r>
              <a:rPr sz="1875" b="1" i="0">
                <a:solidFill>
                  <a:srgbClr val="FFFDFC"/>
                </a:solidFill>
                <a:latin typeface="Helvetica"/>
                <a:ea typeface="Helvetica"/>
                <a:cs typeface="Helvetica"/>
              </a:rPr>
              <a:t>Proof, not promise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C97A547-AF65-4273-8481-36A6FC950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09850"/>
            <a:ext cx="1428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750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750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pPr>
            <a:r>
              <a:rPr sz="750" b="1" i="0">
                <a:solidFill>
                  <a:srgbClr val="FF654F"/>
                </a:solidFill>
                <a:latin typeface="Helvetica"/>
                <a:ea typeface="Helvetica"/>
                <a:cs typeface="Helvetica"/>
              </a:rPr>
              <a:t>BENEFIT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CCC090C-7C80-4DD4-A544-6BDAC3A42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2695575"/>
            <a:ext cx="495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2E78"/>
          </a:solidFill>
          <a:ln xmlns:a="http://schemas.openxmlformats.org/drawingml/2006/main" w="0">
            <a:solidFill>
              <a:srgbClr val="5A2E78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95BA225-56C3-4E0C-95E1-9EC8C5612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533650"/>
            <a:ext cx="7334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87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187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pPr>
            <a:r>
              <a:rPr sz="1875" b="1" i="0">
                <a:solidFill>
                  <a:srgbClr val="FF654F"/>
                </a:solidFill>
                <a:latin typeface="Helvetica"/>
                <a:ea typeface="Helvetica"/>
                <a:cs typeface="Helvetica"/>
              </a:rPr>
              <a:t>Confidence without self-audit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82339C5-EE1A-4504-A41C-DAF1732F0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467100"/>
            <a:ext cx="1428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750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750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pPr>
            <a:r>
              <a:rPr sz="750" b="1" i="0">
                <a:solidFill>
                  <a:srgbClr val="FF654F"/>
                </a:solidFill>
                <a:latin typeface="Helvetica"/>
                <a:ea typeface="Helvetica"/>
                <a:cs typeface="Helvetica"/>
              </a:rPr>
              <a:t>PLATFORM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DB7D7EE-60C8-404C-A3BC-19D823D30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3552825"/>
            <a:ext cx="495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2E78"/>
          </a:solidFill>
          <a:ln xmlns:a="http://schemas.openxmlformats.org/drawingml/2006/main" w="0">
            <a:solidFill>
              <a:srgbClr val="5A2E78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86BF66A-AAE1-492B-9164-594A1C917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390900"/>
            <a:ext cx="7334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875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1875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pPr>
            <a:r>
              <a:rPr sz="1875" b="1" i="0">
                <a:solidFill>
                  <a:srgbClr val="FFFDFC"/>
                </a:solidFill>
                <a:latin typeface="Helvetica"/>
                <a:ea typeface="Helvetica"/>
                <a:cs typeface="Helvetica"/>
              </a:rPr>
              <a:t>The science cats deserve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E3A655D-06BA-4D64-8173-D6DCEABD9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24350"/>
            <a:ext cx="1428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750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750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pPr>
            <a:r>
              <a:rPr sz="750" b="1" i="0">
                <a:solidFill>
                  <a:srgbClr val="FF654F"/>
                </a:solidFill>
                <a:latin typeface="Helvetica"/>
                <a:ea typeface="Helvetica"/>
                <a:cs typeface="Helvetica"/>
              </a:rPr>
              <a:t>EXPRESSION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4181D6F-D74B-4500-9BB6-C9D6A5F0F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4410075"/>
            <a:ext cx="495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2E78"/>
          </a:solidFill>
          <a:ln xmlns:a="http://schemas.openxmlformats.org/drawingml/2006/main" w="0">
            <a:solidFill>
              <a:srgbClr val="5A2E78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D601612-F329-4F94-82D2-458AB8A99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248150"/>
            <a:ext cx="7334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875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1875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pPr>
            <a:r>
              <a:rPr sz="1875" b="1" i="0">
                <a:solidFill>
                  <a:srgbClr val="FFFDFC"/>
                </a:solidFill>
                <a:latin typeface="Helvetica"/>
                <a:ea typeface="Helvetica"/>
                <a:cs typeface="Helvetica"/>
              </a:rPr>
              <a:t>Visible without personalisation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F3E96E4-9E0A-4588-A508-5484CED15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572125"/>
            <a:ext cx="20955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pPr>
            <a:r>
              <a: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rPr>
              <a:t>COMMERCIAL CONSEQUENCE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0AF3881-8038-47FF-8898-0E81A26FC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5505450"/>
            <a:ext cx="8382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200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1200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pPr>
            <a:r>
              <a:rPr sz="1200" b="1" i="0">
                <a:solidFill>
                  <a:srgbClr val="FFFDFC"/>
                </a:solidFill>
                <a:latin typeface="Helvetica"/>
                <a:ea typeface="Helvetica"/>
                <a:cs typeface="Helvetica"/>
              </a:rPr>
              <a:t>Trust and conversion are constrained by unresolved proof and proposition questions.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1B98FB5-3AFE-41BA-B5BF-D0AC52B82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134100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825" b="1" i="0">
                <a:solidFill>
                  <a:srgbClr val="C8B7E8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825" b="1" i="0">
                <a:solidFill>
                  <a:srgbClr val="C8B7E8"/>
                </a:solidFill>
                <a:latin typeface="Helvetica"/>
                <a:ea typeface="Helvetica"/>
                <a:cs typeface="Helvetica"/>
              </a:defRPr>
            </a:pPr>
            <a:r>
              <a:rPr sz="825" b="1" i="0">
                <a:solidFill>
                  <a:srgbClr val="C8B7E8"/>
                </a:solidFill>
                <a:latin typeface="Helvetica"/>
                <a:ea typeface="Helvetica"/>
                <a:cs typeface="Helvetica"/>
              </a:rPr>
              <a:t>SOURCES: S2, S3, T1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B6DD15E-8CDA-4407-AA39-9AE54A402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6134100"/>
            <a:ext cx="4876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r">
              <a:defRPr sz="825" b="1" i="0">
                <a:solidFill>
                  <a:srgbClr val="C8B7E8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r">
              <a:defRPr sz="825" b="1" i="0">
                <a:solidFill>
                  <a:srgbClr val="C8B7E8"/>
                </a:solidFill>
                <a:latin typeface="Helvetica"/>
                <a:ea typeface="Helvetica"/>
                <a:cs typeface="Helvetica"/>
              </a:defRPr>
            </a:pPr>
            <a:r>
              <a:rPr sz="825" b="1" i="0">
                <a:solidFill>
                  <a:srgbClr val="C8B7E8"/>
                </a:solidFill>
                <a:latin typeface="Helvetica"/>
                <a:ea typeface="Helvetica"/>
                <a:cs typeface="Helvetica"/>
              </a:rPr>
              <a:t>APPROVED STRATEGY + INTERPRETATION + VERIFIED FACT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78C64A4-59D9-4160-8222-1D592C841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515100"/>
            <a:ext cx="17145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675" b="1" i="0">
                <a:solidFill>
                  <a:srgbClr val="C8B7E8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675" b="1" i="0">
                <a:solidFill>
                  <a:srgbClr val="C8B7E8"/>
                </a:solidFill>
                <a:latin typeface="Helvetica"/>
                <a:ea typeface="Helvetica"/>
                <a:cs typeface="Helvetica"/>
              </a:defRPr>
            </a:pPr>
            <a:r>
              <a:rPr sz="675" b="1" i="0">
                <a:solidFill>
                  <a:srgbClr val="C8B7E8"/>
                </a:solidFill>
                <a:latin typeface="Helvetica"/>
                <a:ea typeface="Helvetica"/>
                <a:cs typeface="Helvetica"/>
              </a:rPr>
              <a:t>NARRATIIVE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2B69979-4AB6-409E-817D-8130F41DD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8763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r">
              <a:defRPr sz="675" b="0" i="0">
                <a:solidFill>
                  <a:srgbClr val="C8B7E8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r">
              <a:defRPr sz="675" b="0" i="0">
                <a:solidFill>
                  <a:srgbClr val="C8B7E8"/>
                </a:solidFill>
                <a:latin typeface="Helvetica"/>
                <a:ea typeface="Helvetica"/>
                <a:cs typeface="Helvetica"/>
              </a:defRPr>
            </a:pPr>
            <a:r>
              <a:rPr sz="675" b="0" i="0">
                <a:solidFill>
                  <a:srgbClr val="C8B7E8"/>
                </a:solidFill>
                <a:latin typeface="Helvetica"/>
                <a:ea typeface="Helvetica"/>
                <a:cs typeface="Helvetica"/>
              </a:rPr>
              <a:t>09 / 30</a:t>
            </a:r>
          </a:p>
        </p:txBody>
      </p:sp>
    </p:spTree>
    <p:extLst>
      <p:ext uri="{BB962C8B-B14F-4D97-AF65-F5344CB8AC3E}">
        <p14:creationId xmlns:p14="http://schemas.microsoft.com/office/powerpoint/2010/main" val="1417847148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6F0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3DBFA72-C281-4764-AFFD-581A4C510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3375"/>
            <a:ext cx="5715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pPr>
            <a:r>
              <a: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rPr>
              <a:t>ACT 2 / MARKET + COMPETITIVE DIAGNOSIS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B2F5A39-F18C-4B76-99D2-2ACB5DB60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85800"/>
            <a:ext cx="1047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2325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2325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pPr>
            <a:r>
              <a:rPr sz="2325" b="1" i="0">
                <a:solidFill>
                  <a:srgbClr val="15121B"/>
                </a:solidFill>
                <a:latin typeface="Helvetica"/>
                <a:ea typeface="Helvetica"/>
                <a:cs typeface="Helvetica"/>
              </a:rPr>
              <a:t>The Provocation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5F91234-421B-4DE6-8EBA-3680B3F19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400175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CFD5"/>
          </a:solidFill>
          <a:ln xmlns:a="http://schemas.openxmlformats.org/drawingml/2006/main" w="0">
            <a:solidFill>
              <a:srgbClr val="D9CFD5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E6C1A0D-2289-4A54-8C13-466CAEF7E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905000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750" b="1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750" b="1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pPr>
            <a:r>
              <a:rPr sz="750" b="1" i="0">
                <a:solidFill>
                  <a:srgbClr val="756D7A"/>
                </a:solidFill>
                <a:latin typeface="Helvetica"/>
                <a:ea typeface="Helvetica"/>
                <a:cs typeface="Helvetica"/>
              </a:rPr>
              <a:t>WHAT OWNERS SEE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AD707C6-6BF6-4AAD-9810-D02671199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62200"/>
            <a:ext cx="4000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2625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2625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pPr>
            <a:r>
              <a:rPr sz="2625" b="1" i="0">
                <a:solidFill>
                  <a:srgbClr val="15121B"/>
                </a:solidFill>
                <a:latin typeface="Helvetica"/>
                <a:ea typeface="Helvetica"/>
                <a:cs typeface="Helvetica"/>
              </a:rPr>
              <a:t>Confident claims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42B1054-31F8-48B8-9B1B-C604FD706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95625"/>
            <a:ext cx="4000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575" b="0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1575" b="0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pPr>
            <a:r>
              <a:rPr sz="1575" b="0" i="0">
                <a:solidFill>
                  <a:srgbClr val="756D7A"/>
                </a:solidFill>
                <a:latin typeface="Helvetica"/>
                <a:ea typeface="Helvetica"/>
                <a:cs typeface="Helvetica"/>
              </a:rPr>
              <a:t>Fresh. Real meat. Vet formulated.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BFCF5B8-D9A1-4DCC-972E-B217D0DA8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2076450"/>
            <a:ext cx="1562100" cy="1562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54F"/>
          </a:solidFill>
          <a:ln xmlns:a="http://schemas.openxmlformats.org/drawingml/2006/main" w="0">
            <a:solidFill>
              <a:srgbClr val="FF654F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668AF0F-73DF-4B96-98B1-C6C1A1A60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2619375"/>
            <a:ext cx="990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ctr">
              <a:defRPr sz="1800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ctr">
              <a:defRPr sz="1800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pPr>
            <a:r>
              <a:rPr sz="1800" b="1" i="0">
                <a:solidFill>
                  <a:srgbClr val="FFFDFC"/>
                </a:solidFill>
                <a:latin typeface="Helvetica"/>
                <a:ea typeface="Helvetica"/>
                <a:cs typeface="Helvetica"/>
              </a:rPr>
              <a:t>THE GAP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42A25D9-FFC1-4EE3-9F65-B68171C4D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1905000"/>
            <a:ext cx="361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750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750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pPr>
            <a:r>
              <a:rPr sz="750" b="1" i="0">
                <a:solidFill>
                  <a:srgbClr val="FF654F"/>
                </a:solidFill>
                <a:latin typeface="Helvetica"/>
                <a:ea typeface="Helvetica"/>
                <a:cs typeface="Helvetica"/>
              </a:rPr>
              <a:t>WHAT KATKIN CAN PROVE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17282FC-A08E-4868-B67C-E1DD5CE5C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2362200"/>
            <a:ext cx="4000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2625" b="1" i="0">
                <a:solidFill>
                  <a:srgbClr val="5A2E78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2625" b="1" i="0">
                <a:solidFill>
                  <a:srgbClr val="5A2E78"/>
                </a:solidFill>
                <a:latin typeface="Helvetica"/>
                <a:ea typeface="Helvetica"/>
                <a:cs typeface="Helvetica"/>
              </a:defRPr>
            </a:pPr>
            <a:r>
              <a:rPr sz="2625" b="1" i="0">
                <a:solidFill>
                  <a:srgbClr val="5A2E78"/>
                </a:solidFill>
                <a:latin typeface="Helvetica"/>
                <a:ea typeface="Helvetica"/>
                <a:cs typeface="Helvetica"/>
              </a:rPr>
              <a:t>Independent science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FF1FAB1-4D2D-4DD2-B0A7-967959E20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3095625"/>
            <a:ext cx="371475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350" b="0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1350" b="0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pPr>
            <a:r>
              <a:rPr sz="1350" b="0" i="0">
                <a:solidFill>
                  <a:srgbClr val="15121B"/>
                </a:solidFill>
                <a:latin typeface="Helvetica"/>
                <a:ea typeface="Helvetica"/>
                <a:cs typeface="Helvetica"/>
              </a:rPr>
              <a:t>The category asks owners to trust confident nutrition claims; KatKin can instead make independent evidence the starting point.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19929E1-5EAF-4722-9101-41BB9B779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572125"/>
            <a:ext cx="20955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pPr>
            <a:r>
              <a: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rPr>
              <a:t>COMMERCIAL CONSEQUENCE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AC8EB2E-0F31-4EFF-9309-6D1A9D8E2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5505450"/>
            <a:ext cx="8382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200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1200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pPr>
            <a:r>
              <a:rPr sz="1200" b="1" i="0">
                <a:solidFill>
                  <a:srgbClr val="15121B"/>
                </a:solidFill>
                <a:latin typeface="Helvetica"/>
                <a:ea typeface="Helvetica"/>
                <a:cs typeface="Helvetica"/>
              </a:rPr>
              <a:t>A public trust contradiction can undermine a trust-dependent growth story.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E5E237C-BF35-436D-A8BB-F6A2CBDAE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134100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825" b="1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825" b="1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pPr>
            <a:r>
              <a:rPr sz="825" b="1" i="0">
                <a:solidFill>
                  <a:srgbClr val="756D7A"/>
                </a:solidFill>
                <a:latin typeface="Helvetica"/>
                <a:ea typeface="Helvetica"/>
                <a:cs typeface="Helvetica"/>
              </a:rPr>
              <a:t>SOURCES: S2, S3, T1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D670D53-9D56-4369-9876-BE9A21F02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6134100"/>
            <a:ext cx="4876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r">
              <a:defRPr sz="825" b="1" i="0">
                <a:solidFill>
                  <a:srgbClr val="5A2E78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r">
              <a:defRPr sz="825" b="1" i="0">
                <a:solidFill>
                  <a:srgbClr val="5A2E78"/>
                </a:solidFill>
                <a:latin typeface="Helvetica"/>
                <a:ea typeface="Helvetica"/>
                <a:cs typeface="Helvetica"/>
              </a:defRPr>
            </a:pPr>
            <a:r>
              <a:rPr sz="825" b="1" i="0">
                <a:solidFill>
                  <a:srgbClr val="5A2E78"/>
                </a:solidFill>
                <a:latin typeface="Helvetica"/>
                <a:ea typeface="Helvetica"/>
                <a:cs typeface="Helvetica"/>
              </a:rPr>
              <a:t>STRATEGIC INTERPRETATION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E07AE59-8E50-4EF1-8796-C384A9978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515100"/>
            <a:ext cx="17145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675" b="1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675" b="1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pPr>
            <a:r>
              <a:rPr sz="675" b="1" i="0">
                <a:solidFill>
                  <a:srgbClr val="756D7A"/>
                </a:solidFill>
                <a:latin typeface="Helvetica"/>
                <a:ea typeface="Helvetica"/>
                <a:cs typeface="Helvetica"/>
              </a:rPr>
              <a:t>NARRATIIVE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9EF28A3-D9F3-4850-8EC8-D9EB9F9CB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8763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r">
              <a:defRPr sz="675" b="0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r">
              <a:defRPr sz="675" b="0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pPr>
            <a:r>
              <a:rPr sz="675" b="0" i="0">
                <a:solidFill>
                  <a:srgbClr val="756D7A"/>
                </a:solidFill>
                <a:latin typeface="Helvetica"/>
                <a:ea typeface="Helvetica"/>
                <a:cs typeface="Helvetica"/>
              </a:rPr>
              <a:t>10 / 30</a:t>
            </a:r>
          </a:p>
        </p:txBody>
      </p:sp>
    </p:spTree>
    <p:extLst>
      <p:ext uri="{BB962C8B-B14F-4D97-AF65-F5344CB8AC3E}">
        <p14:creationId xmlns:p14="http://schemas.microsoft.com/office/powerpoint/2010/main" val="1051008347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6F0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D90762B-ECAA-43DA-96F3-A4DCB3E7C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3375"/>
            <a:ext cx="5715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pPr>
            <a:r>
              <a: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rPr>
              <a:t>ACT 3 / AUDIENCE + DEMAND OPPORTUNITY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9866E2B-DF9D-4EF6-A571-9095CEFA8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85800"/>
            <a:ext cx="1047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2325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2325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pPr>
            <a:r>
              <a:rPr sz="2325" b="1" i="0">
                <a:solidFill>
                  <a:srgbClr val="15121B"/>
                </a:solidFill>
                <a:latin typeface="Helvetica"/>
                <a:ea typeface="Helvetica"/>
                <a:cs typeface="Helvetica"/>
              </a:rPr>
              <a:t>Audience Reality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7C2CA9D-78EE-49C3-BD05-51CC6A245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400175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CFD5"/>
          </a:solidFill>
          <a:ln xmlns:a="http://schemas.openxmlformats.org/drawingml/2006/main" w="0">
            <a:solidFill>
              <a:srgbClr val="D9CFD5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57969C5-8F3E-4DD0-9AB4-7013A88F9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952625"/>
            <a:ext cx="3200400" cy="2590800"/>
          </a:xfrm>
          <a:prstGeom xmlns:a="http://schemas.openxmlformats.org/drawingml/2006/main" prst="roundRect">
            <a:avLst>
              <a:gd name="adj" fmla="val 2941"/>
            </a:avLst>
          </a:prstGeom>
          <a:solidFill xmlns:a="http://schemas.openxmlformats.org/drawingml/2006/main">
            <a:srgbClr val="261A31"/>
          </a:solidFill>
          <a:ln xmlns:a="http://schemas.openxmlformats.org/drawingml/2006/main" w="0">
            <a:solidFill>
              <a:srgbClr val="261A31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E36E8F7-4BA3-4F09-BE60-AEDB2BA97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181225"/>
            <a:ext cx="457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900" b="1" i="0">
                <a:solidFill>
                  <a:srgbClr val="C8B7E8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900" b="1" i="0">
                <a:solidFill>
                  <a:srgbClr val="C8B7E8"/>
                </a:solidFill>
                <a:latin typeface="Helvetica"/>
                <a:ea typeface="Helvetica"/>
                <a:cs typeface="Helvetica"/>
              </a:defRPr>
            </a:pPr>
            <a:r>
              <a:rPr sz="900" b="1" i="0">
                <a:solidFill>
                  <a:srgbClr val="C8B7E8"/>
                </a:solidFill>
                <a:latin typeface="Helvetica"/>
                <a:ea typeface="Helvetica"/>
                <a:cs typeface="Helvetica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FEA3328-F689-4D15-A240-4EA9F7C12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619375"/>
            <a:ext cx="2724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575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1575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pPr>
            <a:r>
              <a:rPr sz="1575" b="1" i="0">
                <a:solidFill>
                  <a:srgbClr val="FFFDFC"/>
                </a:solidFill>
                <a:latin typeface="Helvetica"/>
                <a:ea typeface="Helvetica"/>
                <a:cs typeface="Helvetica"/>
              </a:rPr>
              <a:t>COMMITTED DTC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B9A2E0D-3CF9-47A5-AA8C-7F5162486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09925"/>
            <a:ext cx="27241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200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1200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pPr>
            <a:r>
              <a:rPr sz="1200" b="1" i="0">
                <a:solidFill>
                  <a:srgbClr val="FFFDFC"/>
                </a:solidFill>
                <a:latin typeface="Helvetica"/>
                <a:ea typeface="Helvetica"/>
                <a:cs typeface="Helvetica"/>
              </a:rPr>
              <a:t>Outside-in evidence cannot yet support confident buyer segmentation.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0B93D9E-94DF-4371-8DA6-9FAA151E2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1952625"/>
            <a:ext cx="3200400" cy="2590800"/>
          </a:xfrm>
          <a:prstGeom xmlns:a="http://schemas.openxmlformats.org/drawingml/2006/main" prst="roundRect">
            <a:avLst>
              <a:gd name="adj" fmla="val 2941"/>
            </a:avLst>
          </a:prstGeom>
          <a:solidFill xmlns:a="http://schemas.openxmlformats.org/drawingml/2006/main">
            <a:srgbClr val="5A2E78"/>
          </a:solidFill>
          <a:ln xmlns:a="http://schemas.openxmlformats.org/drawingml/2006/main" w="0">
            <a:solidFill>
              <a:srgbClr val="5A2E78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6DCA839-573E-43A2-AC14-08CE7AEF7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181225"/>
            <a:ext cx="457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900" b="1" i="0">
                <a:solidFill>
                  <a:srgbClr val="C8B7E8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900" b="1" i="0">
                <a:solidFill>
                  <a:srgbClr val="C8B7E8"/>
                </a:solidFill>
                <a:latin typeface="Helvetica"/>
                <a:ea typeface="Helvetica"/>
                <a:cs typeface="Helvetica"/>
              </a:defRPr>
            </a:pPr>
            <a:r>
              <a:rPr sz="900" b="1" i="0">
                <a:solidFill>
                  <a:srgbClr val="C8B7E8"/>
                </a:solidFill>
                <a:latin typeface="Helvetica"/>
                <a:ea typeface="Helvetica"/>
                <a:cs typeface="Helvetica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FC76FB0-B09A-4698-9A3F-3B0CDCFA1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619375"/>
            <a:ext cx="2724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575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1575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pPr>
            <a:r>
              <a:rPr sz="1575" b="1" i="0">
                <a:solidFill>
                  <a:srgbClr val="FFFDFC"/>
                </a:solidFill>
                <a:latin typeface="Helvetica"/>
                <a:ea typeface="Helvetica"/>
                <a:cs typeface="Helvetica"/>
              </a:rPr>
              <a:t>RETAIL CONVERT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589FE32-49BE-4C58-9DF4-C84B849C9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3209925"/>
            <a:ext cx="27241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200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1200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pPr>
            <a:r>
              <a:rPr sz="1200" b="1" i="0">
                <a:solidFill>
                  <a:srgbClr val="FFFDFC"/>
                </a:solidFill>
                <a:latin typeface="Helvetica"/>
                <a:ea typeface="Helvetica"/>
                <a:cs typeface="Helvetica"/>
              </a:rPr>
              <a:t>Approved priority audience is affluent retail converts and prospective mainstream owners, sequenced behind the committed DTC early-adopter base.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38653DB-D59C-4EE7-928E-487756D22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1952625"/>
            <a:ext cx="3200400" cy="2590800"/>
          </a:xfrm>
          <a:prstGeom xmlns:a="http://schemas.openxmlformats.org/drawingml/2006/main" prst="roundRect">
            <a:avLst>
              <a:gd name="adj" fmla="val 2941"/>
            </a:avLst>
          </a:prstGeom>
          <a:solidFill xmlns:a="http://schemas.openxmlformats.org/drawingml/2006/main">
            <a:srgbClr val="FF654F"/>
          </a:solidFill>
          <a:ln xmlns:a="http://schemas.openxmlformats.org/drawingml/2006/main" w="0">
            <a:solidFill>
              <a:srgbClr val="FF654F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2DD4B52-2CC6-4B29-A14D-3A6EA3E8A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181225"/>
            <a:ext cx="457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900" b="1" i="0">
                <a:solidFill>
                  <a:srgbClr val="C8B7E8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900" b="1" i="0">
                <a:solidFill>
                  <a:srgbClr val="C8B7E8"/>
                </a:solidFill>
                <a:latin typeface="Helvetica"/>
                <a:ea typeface="Helvetica"/>
                <a:cs typeface="Helvetica"/>
              </a:defRPr>
            </a:pPr>
            <a:r>
              <a:rPr sz="900" b="1" i="0">
                <a:solidFill>
                  <a:srgbClr val="C8B7E8"/>
                </a:solidFill>
                <a:latin typeface="Helvetica"/>
                <a:ea typeface="Helvetica"/>
                <a:cs typeface="Helvetica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A744297-BBC7-4A57-A609-A1AF58CE3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619375"/>
            <a:ext cx="2724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575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1575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pPr>
            <a:r>
              <a:rPr sz="1575" b="1" i="0">
                <a:solidFill>
                  <a:srgbClr val="FFFDFC"/>
                </a:solidFill>
                <a:latin typeface="Helvetica"/>
                <a:ea typeface="Helvetica"/>
                <a:cs typeface="Helvetica"/>
              </a:rPr>
              <a:t>MAINSTREAM OWNER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85656F9-0389-4E7A-AA3C-D24915E49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3209925"/>
            <a:ext cx="27241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200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1200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pPr>
            <a:r>
              <a:rPr sz="1200" b="1" i="0">
                <a:solidFill>
                  <a:srgbClr val="FFFDFC"/>
                </a:solidFill>
                <a:latin typeface="Helvetica"/>
                <a:ea typeface="Helvetica"/>
                <a:cs typeface="Helvetica"/>
              </a:rPr>
              <a:t>Outside-in evidence cannot yet support confident buyer segmentation.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1A90C18-F844-4277-AD33-BB87C6415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572125"/>
            <a:ext cx="20955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pPr>
            <a:r>
              <a: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rPr>
              <a:t>COMMERCIAL CONSEQUENCE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3776866-3B15-4BDC-81C1-10A864B81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5505450"/>
            <a:ext cx="8382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200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1200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pPr>
            <a:r>
              <a:rPr sz="1200" b="1" i="0">
                <a:solidFill>
                  <a:srgbClr val="15121B"/>
                </a:solidFill>
                <a:latin typeface="Helvetica"/>
                <a:ea typeface="Helvetica"/>
                <a:cs typeface="Helvetica"/>
              </a:rPr>
              <a:t>Outside-in evidence cannot yet support confident buyer segmentation.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CFFE230-A0ED-4753-A103-116CC32FC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134100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825" b="1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825" b="1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pPr>
            <a:r>
              <a:rPr sz="825" b="1" i="0">
                <a:solidFill>
                  <a:srgbClr val="756D7A"/>
                </a:solidFill>
                <a:latin typeface="Helvetica"/>
                <a:ea typeface="Helvetica"/>
                <a:cs typeface="Helvetica"/>
              </a:rPr>
              <a:t>SOURCES: S2, T1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50663E3-9278-4060-BC81-4FAC35066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6134100"/>
            <a:ext cx="4876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r">
              <a:defRPr sz="825" b="1" i="0">
                <a:solidFill>
                  <a:srgbClr val="5A2E78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r">
              <a:defRPr sz="825" b="1" i="0">
                <a:solidFill>
                  <a:srgbClr val="5A2E78"/>
                </a:solidFill>
                <a:latin typeface="Helvetica"/>
                <a:ea typeface="Helvetica"/>
                <a:cs typeface="Helvetica"/>
              </a:defRPr>
            </a:pPr>
            <a:r>
              <a:rPr sz="825" b="1" i="0">
                <a:solidFill>
                  <a:srgbClr val="5A2E78"/>
                </a:solidFill>
                <a:latin typeface="Helvetica"/>
                <a:ea typeface="Helvetica"/>
                <a:cs typeface="Helvetica"/>
              </a:rPr>
              <a:t>APPROVED STRATEGY + VERIFIED FACT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F90960E-3A8D-41F5-80A8-FD1CD5D9C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515100"/>
            <a:ext cx="17145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675" b="1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675" b="1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pPr>
            <a:r>
              <a:rPr sz="675" b="1" i="0">
                <a:solidFill>
                  <a:srgbClr val="756D7A"/>
                </a:solidFill>
                <a:latin typeface="Helvetica"/>
                <a:ea typeface="Helvetica"/>
                <a:cs typeface="Helvetica"/>
              </a:rPr>
              <a:t>NARRATIIVE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5DEB667-416E-4DD7-A808-7F08A160E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8763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r">
              <a:defRPr sz="675" b="0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r">
              <a:defRPr sz="675" b="0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pPr>
            <a:r>
              <a:rPr sz="675" b="0" i="0">
                <a:solidFill>
                  <a:srgbClr val="756D7A"/>
                </a:solidFill>
                <a:latin typeface="Helvetica"/>
                <a:ea typeface="Helvetica"/>
                <a:cs typeface="Helvetica"/>
              </a:rPr>
              <a:t>11 / 30</a:t>
            </a:r>
          </a:p>
        </p:txBody>
      </p:sp>
    </p:spTree>
    <p:extLst>
      <p:ext uri="{BB962C8B-B14F-4D97-AF65-F5344CB8AC3E}">
        <p14:creationId xmlns:p14="http://schemas.microsoft.com/office/powerpoint/2010/main" val="1674610963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6F0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7F2AFDD-A5B9-43A0-9DBD-977C122F5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3375"/>
            <a:ext cx="5715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pPr>
            <a:r>
              <a: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rPr>
              <a:t>ACT 3 / AUDIENCE + DEMAND OPPORTUNITY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47A821F-59B2-4DFA-820E-8D3514218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85800"/>
            <a:ext cx="1047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2325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2325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pPr>
            <a:r>
              <a:rPr sz="2325" b="1" i="0">
                <a:solidFill>
                  <a:srgbClr val="15121B"/>
                </a:solidFill>
                <a:latin typeface="Helvetica"/>
                <a:ea typeface="Helvetica"/>
                <a:cs typeface="Helvetica"/>
              </a:rPr>
              <a:t>Audience Segments / Demand Pools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0854B8B-7AAA-4C55-81B1-268254C6F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400175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CFD5"/>
          </a:solidFill>
          <a:ln xmlns:a="http://schemas.openxmlformats.org/drawingml/2006/main" w="0">
            <a:solidFill>
              <a:srgbClr val="D9CFD5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5096CB2-3989-4F21-827D-7E6B301BD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952625"/>
            <a:ext cx="3200400" cy="2590800"/>
          </a:xfrm>
          <a:prstGeom xmlns:a="http://schemas.openxmlformats.org/drawingml/2006/main" prst="roundRect">
            <a:avLst>
              <a:gd name="adj" fmla="val 2941"/>
            </a:avLst>
          </a:prstGeom>
          <a:solidFill xmlns:a="http://schemas.openxmlformats.org/drawingml/2006/main">
            <a:srgbClr val="261A31"/>
          </a:solidFill>
          <a:ln xmlns:a="http://schemas.openxmlformats.org/drawingml/2006/main" w="0">
            <a:solidFill>
              <a:srgbClr val="261A31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4710401-2CD8-4960-9B0D-06580DDEE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181225"/>
            <a:ext cx="457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900" b="1" i="0">
                <a:solidFill>
                  <a:srgbClr val="C8B7E8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900" b="1" i="0">
                <a:solidFill>
                  <a:srgbClr val="C8B7E8"/>
                </a:solidFill>
                <a:latin typeface="Helvetica"/>
                <a:ea typeface="Helvetica"/>
                <a:cs typeface="Helvetica"/>
              </a:defRPr>
            </a:pPr>
            <a:r>
              <a:rPr sz="900" b="1" i="0">
                <a:solidFill>
                  <a:srgbClr val="C8B7E8"/>
                </a:solidFill>
                <a:latin typeface="Helvetica"/>
                <a:ea typeface="Helvetica"/>
                <a:cs typeface="Helvetica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0465119-F35D-4C7E-80C8-CCF970F09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619375"/>
            <a:ext cx="2724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575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1575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pPr>
            <a:r>
              <a:rPr sz="1575" b="1" i="0">
                <a:solidFill>
                  <a:srgbClr val="FFFDFC"/>
                </a:solidFill>
                <a:latin typeface="Helvetica"/>
                <a:ea typeface="Helvetica"/>
                <a:cs typeface="Helvetica"/>
              </a:rPr>
              <a:t>COMMITTED DTC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7B30A17-64E2-4F1F-AFCE-CBEF60C1F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09925"/>
            <a:ext cx="27241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200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1200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pPr>
            <a:r>
              <a:rPr sz="1200" b="1" i="0">
                <a:solidFill>
                  <a:srgbClr val="FFFDFC"/>
                </a:solidFill>
                <a:latin typeface="Helvetica"/>
                <a:ea typeface="Helvetica"/>
                <a:cs typeface="Helvetica"/>
              </a:rPr>
              <a:t>Potential buyer jobs are a research question, not a settled segment model.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972C257-DD64-4ECD-A8F9-E28F77482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1952625"/>
            <a:ext cx="3200400" cy="2590800"/>
          </a:xfrm>
          <a:prstGeom xmlns:a="http://schemas.openxmlformats.org/drawingml/2006/main" prst="roundRect">
            <a:avLst>
              <a:gd name="adj" fmla="val 2941"/>
            </a:avLst>
          </a:prstGeom>
          <a:solidFill xmlns:a="http://schemas.openxmlformats.org/drawingml/2006/main">
            <a:srgbClr val="5A2E78"/>
          </a:solidFill>
          <a:ln xmlns:a="http://schemas.openxmlformats.org/drawingml/2006/main" w="0">
            <a:solidFill>
              <a:srgbClr val="5A2E78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826E35D-394C-4F3B-935C-DBD7E90A3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181225"/>
            <a:ext cx="457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900" b="1" i="0">
                <a:solidFill>
                  <a:srgbClr val="C8B7E8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900" b="1" i="0">
                <a:solidFill>
                  <a:srgbClr val="C8B7E8"/>
                </a:solidFill>
                <a:latin typeface="Helvetica"/>
                <a:ea typeface="Helvetica"/>
                <a:cs typeface="Helvetica"/>
              </a:defRPr>
            </a:pPr>
            <a:r>
              <a:rPr sz="900" b="1" i="0">
                <a:solidFill>
                  <a:srgbClr val="C8B7E8"/>
                </a:solidFill>
                <a:latin typeface="Helvetica"/>
                <a:ea typeface="Helvetica"/>
                <a:cs typeface="Helvetica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038DE01-600C-4B63-AEDE-91958EEBD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619375"/>
            <a:ext cx="2724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575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1575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pPr>
            <a:r>
              <a:rPr sz="1575" b="1" i="0">
                <a:solidFill>
                  <a:srgbClr val="FFFDFC"/>
                </a:solidFill>
                <a:latin typeface="Helvetica"/>
                <a:ea typeface="Helvetica"/>
                <a:cs typeface="Helvetica"/>
              </a:rPr>
              <a:t>RETAIL CONVERT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74738CC-0D84-405D-BF2F-D40EB997F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3209925"/>
            <a:ext cx="27241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200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1200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pPr>
            <a:r>
              <a:rPr sz="1200" b="1" i="0">
                <a:solidFill>
                  <a:srgbClr val="FFFDFC"/>
                </a:solidFill>
                <a:latin typeface="Helvetica"/>
                <a:ea typeface="Helvetica"/>
                <a:cs typeface="Helvetica"/>
              </a:rPr>
              <a:t>No first-party client data was supplied in this evidence pack to validate behavioural segmentation design.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D79A8C2-4A38-459F-AE86-A4CE53A09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1952625"/>
            <a:ext cx="3200400" cy="2590800"/>
          </a:xfrm>
          <a:prstGeom xmlns:a="http://schemas.openxmlformats.org/drawingml/2006/main" prst="roundRect">
            <a:avLst>
              <a:gd name="adj" fmla="val 2941"/>
            </a:avLst>
          </a:prstGeom>
          <a:solidFill xmlns:a="http://schemas.openxmlformats.org/drawingml/2006/main">
            <a:srgbClr val="FF654F"/>
          </a:solidFill>
          <a:ln xmlns:a="http://schemas.openxmlformats.org/drawingml/2006/main" w="0">
            <a:solidFill>
              <a:srgbClr val="FF654F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4049AFC-E618-4038-9F34-8F5B70ABA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181225"/>
            <a:ext cx="457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900" b="1" i="0">
                <a:solidFill>
                  <a:srgbClr val="C8B7E8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900" b="1" i="0">
                <a:solidFill>
                  <a:srgbClr val="C8B7E8"/>
                </a:solidFill>
                <a:latin typeface="Helvetica"/>
                <a:ea typeface="Helvetica"/>
                <a:cs typeface="Helvetica"/>
              </a:defRPr>
            </a:pPr>
            <a:r>
              <a:rPr sz="900" b="1" i="0">
                <a:solidFill>
                  <a:srgbClr val="C8B7E8"/>
                </a:solidFill>
                <a:latin typeface="Helvetica"/>
                <a:ea typeface="Helvetica"/>
                <a:cs typeface="Helvetica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6DA40AA-347C-4369-A3B5-EACD390AA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619375"/>
            <a:ext cx="2724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575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1575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pPr>
            <a:r>
              <a:rPr sz="1575" b="1" i="0">
                <a:solidFill>
                  <a:srgbClr val="FFFDFC"/>
                </a:solidFill>
                <a:latin typeface="Helvetica"/>
                <a:ea typeface="Helvetica"/>
                <a:cs typeface="Helvetica"/>
              </a:rPr>
              <a:t>MAINSTREAM OWNER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16D10C2-BAEA-4588-9A9D-D3852283E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3209925"/>
            <a:ext cx="27241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200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1200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pPr>
            <a:r>
              <a:rPr sz="1200" b="1" i="0">
                <a:solidFill>
                  <a:srgbClr val="FFFDFC"/>
                </a:solidFill>
                <a:latin typeface="Helvetica"/>
                <a:ea typeface="Helvetica"/>
                <a:cs typeface="Helvetica"/>
              </a:rPr>
              <a:t>Potential buyer jobs are a research question, not a settled segment model.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482E10C-5A25-405B-B4E6-B919E3641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572125"/>
            <a:ext cx="20955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pPr>
            <a:r>
              <a: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rPr>
              <a:t>COMMERCIAL CONSEQUENCE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6EE425F-9C32-493D-845C-AA39CBD5B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5505450"/>
            <a:ext cx="8382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200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1200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pPr>
            <a:r>
              <a:rPr sz="1200" b="1" i="0">
                <a:solidFill>
                  <a:srgbClr val="15121B"/>
                </a:solidFill>
                <a:latin typeface="Helvetica"/>
                <a:ea typeface="Helvetica"/>
                <a:cs typeface="Helvetica"/>
              </a:rPr>
              <a:t>Potential buyer jobs are a research question, not a settled segment model.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E6B35D3-2048-448F-8E85-8D8CFC078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134100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825" b="1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825" b="1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pPr>
            <a:r>
              <a:rPr sz="825" b="1" i="0">
                <a:solidFill>
                  <a:srgbClr val="756D7A"/>
                </a:solidFill>
                <a:latin typeface="Helvetica"/>
                <a:ea typeface="Helvetica"/>
                <a:cs typeface="Helvetica"/>
              </a:rPr>
              <a:t>SOURCES: S2, T1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8C5A99D-67E3-4AD1-AF93-CC8A77826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6134100"/>
            <a:ext cx="4876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r">
              <a:defRPr sz="825" b="1" i="0">
                <a:solidFill>
                  <a:srgbClr val="5A2E78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r">
              <a:defRPr sz="825" b="1" i="0">
                <a:solidFill>
                  <a:srgbClr val="5A2E78"/>
                </a:solidFill>
                <a:latin typeface="Helvetica"/>
                <a:ea typeface="Helvetica"/>
                <a:cs typeface="Helvetica"/>
              </a:defRPr>
            </a:pPr>
            <a:r>
              <a:rPr sz="825" b="1" i="0">
                <a:solidFill>
                  <a:srgbClr val="5A2E78"/>
                </a:solidFill>
                <a:latin typeface="Helvetica"/>
                <a:ea typeface="Helvetica"/>
                <a:cs typeface="Helvetica"/>
              </a:rPr>
              <a:t>APPROVED STRATEGY + VERIFIED FACT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B82883D-4B41-4268-89C7-501037F77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515100"/>
            <a:ext cx="17145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675" b="1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675" b="1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pPr>
            <a:r>
              <a:rPr sz="675" b="1" i="0">
                <a:solidFill>
                  <a:srgbClr val="756D7A"/>
                </a:solidFill>
                <a:latin typeface="Helvetica"/>
                <a:ea typeface="Helvetica"/>
                <a:cs typeface="Helvetica"/>
              </a:rPr>
              <a:t>NARRATIIVE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F3EBDBC-2219-4960-949B-4FE38F515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8763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r">
              <a:defRPr sz="675" b="0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r">
              <a:defRPr sz="675" b="0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pPr>
            <a:r>
              <a:rPr sz="675" b="0" i="0">
                <a:solidFill>
                  <a:srgbClr val="756D7A"/>
                </a:solidFill>
                <a:latin typeface="Helvetica"/>
                <a:ea typeface="Helvetica"/>
                <a:cs typeface="Helvetica"/>
              </a:rPr>
              <a:t>12 / 30</a:t>
            </a:r>
          </a:p>
        </p:txBody>
      </p:sp>
    </p:spTree>
    <p:extLst>
      <p:ext uri="{BB962C8B-B14F-4D97-AF65-F5344CB8AC3E}">
        <p14:creationId xmlns:p14="http://schemas.microsoft.com/office/powerpoint/2010/main" val="244829607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6F0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CD81043-767A-4740-8B37-137F98F9F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3375"/>
            <a:ext cx="5715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pPr>
            <a:r>
              <a: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rPr>
              <a:t>ACT 3 / AUDIENCE + DEMAND OPPORTUNITY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0C92345-3995-472D-94E8-B373AE017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85800"/>
            <a:ext cx="1047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2325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2325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pPr>
            <a:r>
              <a:rPr sz="2325" b="1" i="0">
                <a:solidFill>
                  <a:srgbClr val="15121B"/>
                </a:solidFill>
                <a:latin typeface="Helvetica"/>
                <a:ea typeface="Helvetica"/>
                <a:cs typeface="Helvetica"/>
              </a:rPr>
              <a:t>Customer Evidence Board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558C72A-2237-45B3-8B30-2A3E57AA2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400175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CFD5"/>
          </a:solidFill>
          <a:ln xmlns:a="http://schemas.openxmlformats.org/drawingml/2006/main" w="0">
            <a:solidFill>
              <a:srgbClr val="D9CFD5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77EBB17-3985-44AB-B597-7F97E5043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14500"/>
            <a:ext cx="5143500" cy="12192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0">
            <a:solidFill>
              <a:srgbClr val="FFFDFC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8FA7DF5-975A-4173-9306-0701805A6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924050"/>
            <a:ext cx="1619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750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750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pPr>
            <a:r>
              <a:rPr sz="750" b="1" i="0">
                <a:solidFill>
                  <a:srgbClr val="FF654F"/>
                </a:solidFill>
                <a:latin typeface="Helvetica"/>
                <a:ea typeface="Helvetica"/>
                <a:cs typeface="Helvetica"/>
              </a:rPr>
              <a:t>CUSTOMER SAYS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02C74DB-3248-4117-B613-171006CE0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228850"/>
            <a:ext cx="46196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275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1275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pPr>
            <a:r>
              <a:rPr sz="1275" b="1" i="0">
                <a:solidFill>
                  <a:srgbClr val="15121B"/>
                </a:solidFill>
                <a:latin typeface="Helvetica"/>
                <a:ea typeface="Helvetica"/>
                <a:cs typeface="Helvetica"/>
              </a:rPr>
              <a:t>Public reviews surface value and transition friction.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34DDF73-87A5-474A-BC93-797E93F2B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714500"/>
            <a:ext cx="5143500" cy="12192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0">
            <a:solidFill>
              <a:srgbClr val="FFFDFC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F83B244-43BC-4787-BF75-508D8E3B9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924050"/>
            <a:ext cx="1619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750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750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pPr>
            <a:r>
              <a:rPr sz="750" b="1" i="0">
                <a:solidFill>
                  <a:srgbClr val="FF654F"/>
                </a:solidFill>
                <a:latin typeface="Helvetica"/>
                <a:ea typeface="Helvetica"/>
                <a:cs typeface="Helvetica"/>
              </a:rPr>
              <a:t>SEARCH SHOWS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6E6A7EE-B34C-4414-872B-F0E902D40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228850"/>
            <a:ext cx="46196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275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1275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pPr>
            <a:r>
              <a:rPr sz="1275" b="1" i="0">
                <a:solidFill>
                  <a:srgbClr val="15121B"/>
                </a:solidFill>
                <a:latin typeface="Helvetica"/>
                <a:ea typeface="Helvetica"/>
                <a:cs typeface="Helvetica"/>
              </a:rPr>
              <a:t>Competitors are gaining organic and AI-search visibility.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4AF6A9D-A624-4595-823F-6E0C75D68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90875"/>
            <a:ext cx="5143500" cy="12192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0">
            <a:solidFill>
              <a:srgbClr val="FFFDFC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26A7C0D-4F08-4EE6-9AEA-EBBB7F61C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400425"/>
            <a:ext cx="1619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750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750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pPr>
            <a:r>
              <a:rPr sz="750" b="1" i="0">
                <a:solidFill>
                  <a:srgbClr val="FF654F"/>
                </a:solidFill>
                <a:latin typeface="Helvetica"/>
                <a:ea typeface="Helvetica"/>
                <a:cs typeface="Helvetica"/>
              </a:rPr>
              <a:t>REVIEWS REVEAL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72BB330-39E2-4EDD-8EB1-2818C2907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705225"/>
            <a:ext cx="46196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275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1275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pPr>
            <a:r>
              <a:rPr sz="1275" b="1" i="0">
                <a:solidFill>
                  <a:srgbClr val="15121B"/>
                </a:solidFill>
                <a:latin typeface="Helvetica"/>
                <a:ea typeface="Helvetica"/>
                <a:cs typeface="Helvetica"/>
              </a:rPr>
              <a:t>Strong aggregate satisfaction coexists with price pressure.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B6EA41A-1A8E-418E-AD69-26AAA5BFB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190875"/>
            <a:ext cx="5143500" cy="12192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261A31"/>
          </a:solidFill>
          <a:ln xmlns:a="http://schemas.openxmlformats.org/drawingml/2006/main" w="0">
            <a:solidFill>
              <a:srgbClr val="261A31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DD0CE88-AE74-4C82-B4A9-F71D9AC09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400425"/>
            <a:ext cx="1619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750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750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pPr>
            <a:r>
              <a:rPr sz="750" b="1" i="0">
                <a:solidFill>
                  <a:srgbClr val="FF654F"/>
                </a:solidFill>
                <a:latin typeface="Helvetica"/>
                <a:ea typeface="Helvetica"/>
                <a:cs typeface="Helvetica"/>
              </a:rPr>
              <a:t>SOCIAL SHOWS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DECBC2A-C6A0-4543-A640-6A4F0A0C3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705225"/>
            <a:ext cx="46196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275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1275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pPr>
            <a:r>
              <a:rPr sz="1275" b="1" i="0">
                <a:solidFill>
                  <a:srgbClr val="FFFDFC"/>
                </a:solidFill>
                <a:latin typeface="Helvetica"/>
                <a:ea typeface="Helvetica"/>
                <a:cs typeface="Helvetica"/>
              </a:rPr>
              <a:t>High creative volume converges on familiar functional claims.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D3223FC-5A6B-4223-B7CC-70FEF5326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762500"/>
            <a:ext cx="990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ctr">
              <a:defRPr sz="1350" b="1" i="0">
                <a:solidFill>
                  <a:srgbClr val="5A2E78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ctr">
              <a:defRPr sz="1350" b="1" i="0">
                <a:solidFill>
                  <a:srgbClr val="5A2E78"/>
                </a:solidFill>
                <a:latin typeface="Helvetica"/>
                <a:ea typeface="Helvetica"/>
                <a:cs typeface="Helvetica"/>
              </a:defRPr>
            </a:pPr>
            <a:r>
              <a:rPr sz="1350" b="1" i="0">
                <a:solidFill>
                  <a:srgbClr val="5A2E78"/>
                </a:solidFill>
                <a:latin typeface="Helvetica"/>
                <a:ea typeface="Helvetica"/>
                <a:cs typeface="Helvetica"/>
              </a:rPr>
              <a:t>The opportunity is directional: make proof easier to find without claiming first-party validation.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72D4CFA-8805-44ED-8B18-ED29A57E3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572125"/>
            <a:ext cx="20955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pPr>
            <a:r>
              <a: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rPr>
              <a:t>COMMERCIAL CONSEQUENCE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722D8D6-6A68-4073-9DBB-F10F71BD5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5505450"/>
            <a:ext cx="8382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200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1200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pPr>
            <a:r>
              <a:rPr sz="1200" b="1" i="0">
                <a:solidFill>
                  <a:srgbClr val="15121B"/>
                </a:solidFill>
                <a:latin typeface="Helvetica"/>
                <a:ea typeface="Helvetica"/>
                <a:cs typeface="Helvetica"/>
              </a:rPr>
              <a:t>Public customer, search and social signals support a direction, not a settled segment truth.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93D5A35-1B03-45E5-BADA-14C3DF6EA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134100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825" b="1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825" b="1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pPr>
            <a:r>
              <a:rPr sz="825" b="1" i="0">
                <a:solidFill>
                  <a:srgbClr val="756D7A"/>
                </a:solidFill>
                <a:latin typeface="Helvetica"/>
                <a:ea typeface="Helvetica"/>
                <a:cs typeface="Helvetica"/>
              </a:rPr>
              <a:t>SOURCES: S3, S4, S5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9BB4566-E438-427C-94E2-B76A11AA0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6134100"/>
            <a:ext cx="4876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r">
              <a:defRPr sz="825" b="1" i="0">
                <a:solidFill>
                  <a:srgbClr val="5A2E78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r">
              <a:defRPr sz="825" b="1" i="0">
                <a:solidFill>
                  <a:srgbClr val="5A2E78"/>
                </a:solidFill>
                <a:latin typeface="Helvetica"/>
                <a:ea typeface="Helvetica"/>
                <a:cs typeface="Helvetica"/>
              </a:defRPr>
            </a:pPr>
            <a:r>
              <a:rPr sz="825" b="1" i="0">
                <a:solidFill>
                  <a:srgbClr val="5A2E78"/>
                </a:solidFill>
                <a:latin typeface="Helvetica"/>
                <a:ea typeface="Helvetica"/>
                <a:cs typeface="Helvetica"/>
              </a:rPr>
              <a:t>MIXED VERIFIED FACT + INTERPRETATION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02BFBC4-AC9A-4A67-8100-9C1377D70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515100"/>
            <a:ext cx="17145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675" b="1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675" b="1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pPr>
            <a:r>
              <a:rPr sz="675" b="1" i="0">
                <a:solidFill>
                  <a:srgbClr val="756D7A"/>
                </a:solidFill>
                <a:latin typeface="Helvetica"/>
                <a:ea typeface="Helvetica"/>
                <a:cs typeface="Helvetica"/>
              </a:rPr>
              <a:t>NARRATIIVE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8CDFA48-DB0F-4042-AC19-975CC6C7A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8763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r">
              <a:defRPr sz="675" b="0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r">
              <a:defRPr sz="675" b="0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pPr>
            <a:r>
              <a:rPr sz="675" b="0" i="0">
                <a:solidFill>
                  <a:srgbClr val="756D7A"/>
                </a:solidFill>
                <a:latin typeface="Helvetica"/>
                <a:ea typeface="Helvetica"/>
                <a:cs typeface="Helvetica"/>
              </a:rPr>
              <a:t>13 / 30</a:t>
            </a:r>
          </a:p>
        </p:txBody>
      </p:sp>
    </p:spTree>
    <p:extLst>
      <p:ext uri="{BB962C8B-B14F-4D97-AF65-F5344CB8AC3E}">
        <p14:creationId xmlns:p14="http://schemas.microsoft.com/office/powerpoint/2010/main" val="22354392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6F0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624BD3D-39E1-421C-91FD-E30D803A0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3375"/>
            <a:ext cx="5715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pPr>
            <a:r>
              <a: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rPr>
              <a:t>ACT 3 / AUDIENCE + DEMAND OPPORTUNITY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2DBD8B4-0192-4A72-BD13-132DE4EB2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85800"/>
            <a:ext cx="1047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2325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2325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pPr>
            <a:r>
              <a:rPr sz="2325" b="1" i="0">
                <a:solidFill>
                  <a:srgbClr val="15121B"/>
                </a:solidFill>
                <a:latin typeface="Helvetica"/>
                <a:ea typeface="Helvetica"/>
                <a:cs typeface="Helvetica"/>
              </a:rPr>
              <a:t>Audience Tensions / Decision Context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E5D022B-20FD-403C-B757-0A03B53AC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400175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CFD5"/>
          </a:solidFill>
          <a:ln xmlns:a="http://schemas.openxmlformats.org/drawingml/2006/main" w="0">
            <a:solidFill>
              <a:srgbClr val="D9CFD5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FBB9891-0EF7-47A7-B480-E27D4BC78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952625"/>
            <a:ext cx="3200400" cy="2590800"/>
          </a:xfrm>
          <a:prstGeom xmlns:a="http://schemas.openxmlformats.org/drawingml/2006/main" prst="roundRect">
            <a:avLst>
              <a:gd name="adj" fmla="val 2941"/>
            </a:avLst>
          </a:prstGeom>
          <a:solidFill xmlns:a="http://schemas.openxmlformats.org/drawingml/2006/main">
            <a:srgbClr val="261A31"/>
          </a:solidFill>
          <a:ln xmlns:a="http://schemas.openxmlformats.org/drawingml/2006/main" w="0">
            <a:solidFill>
              <a:srgbClr val="261A31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A29ECF5-E703-49A4-B593-04E4FFA71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181225"/>
            <a:ext cx="457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900" b="1" i="0">
                <a:solidFill>
                  <a:srgbClr val="C8B7E8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900" b="1" i="0">
                <a:solidFill>
                  <a:srgbClr val="C8B7E8"/>
                </a:solidFill>
                <a:latin typeface="Helvetica"/>
                <a:ea typeface="Helvetica"/>
                <a:cs typeface="Helvetica"/>
              </a:defRPr>
            </a:pPr>
            <a:r>
              <a:rPr sz="900" b="1" i="0">
                <a:solidFill>
                  <a:srgbClr val="C8B7E8"/>
                </a:solidFill>
                <a:latin typeface="Helvetica"/>
                <a:ea typeface="Helvetica"/>
                <a:cs typeface="Helvetica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CB7636D-84CE-4A1D-832E-FB0788F0D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619375"/>
            <a:ext cx="2724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575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1575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pPr>
            <a:r>
              <a:rPr sz="1575" b="1" i="0">
                <a:solidFill>
                  <a:srgbClr val="FFFDFC"/>
                </a:solidFill>
                <a:latin typeface="Helvetica"/>
                <a:ea typeface="Helvetica"/>
                <a:cs typeface="Helvetica"/>
              </a:rPr>
              <a:t>DISCOVERY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5FFA5FA-D700-421E-BF31-DC973B641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09925"/>
            <a:ext cx="27241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200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1200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pPr>
            <a:r>
              <a:rPr sz="1200" b="1" i="0">
                <a:solidFill>
                  <a:srgbClr val="FFFDFC"/>
                </a:solidFill>
                <a:latin typeface="Helvetica"/>
                <a:ea typeface="Helvetica"/>
                <a:cs typeface="Helvetica"/>
              </a:rPr>
              <a:t>The useful tension is between breadth of appeal and clarity of choice.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51FAD8B-B5FB-464D-9EDD-B988DBF90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105025"/>
            <a:ext cx="3200400" cy="2590800"/>
          </a:xfrm>
          <a:prstGeom xmlns:a="http://schemas.openxmlformats.org/drawingml/2006/main" prst="roundRect">
            <a:avLst>
              <a:gd name="adj" fmla="val 2941"/>
            </a:avLst>
          </a:prstGeom>
          <a:solidFill xmlns:a="http://schemas.openxmlformats.org/drawingml/2006/main">
            <a:srgbClr val="5A2E78"/>
          </a:solidFill>
          <a:ln xmlns:a="http://schemas.openxmlformats.org/drawingml/2006/main" w="0">
            <a:solidFill>
              <a:srgbClr val="5A2E78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7EDFA11-F8ED-4E3A-92E6-ACD55F147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333625"/>
            <a:ext cx="457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900" b="1" i="0">
                <a:solidFill>
                  <a:srgbClr val="C8B7E8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900" b="1" i="0">
                <a:solidFill>
                  <a:srgbClr val="C8B7E8"/>
                </a:solidFill>
                <a:latin typeface="Helvetica"/>
                <a:ea typeface="Helvetica"/>
                <a:cs typeface="Helvetica"/>
              </a:defRPr>
            </a:pPr>
            <a:r>
              <a:rPr sz="900" b="1" i="0">
                <a:solidFill>
                  <a:srgbClr val="C8B7E8"/>
                </a:solidFill>
                <a:latin typeface="Helvetica"/>
                <a:ea typeface="Helvetica"/>
                <a:cs typeface="Helvetica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6D347F1-BCA2-4B37-B055-07A9F2ABD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771775"/>
            <a:ext cx="2724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575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1575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pPr>
            <a:r>
              <a:rPr sz="1575" b="1" i="0">
                <a:solidFill>
                  <a:srgbClr val="FFFDFC"/>
                </a:solidFill>
                <a:latin typeface="Helvetica"/>
                <a:ea typeface="Helvetica"/>
                <a:cs typeface="Helvetica"/>
              </a:rPr>
              <a:t>DECISION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12CA472-408B-4DE6-8326-6917A5291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3362325"/>
            <a:ext cx="27241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200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1200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pPr>
            <a:r>
              <a:rPr sz="1200" b="1" i="0">
                <a:solidFill>
                  <a:srgbClr val="FFFDFC"/>
                </a:solidFill>
                <a:latin typeface="Helvetica"/>
                <a:ea typeface="Helvetica"/>
                <a:cs typeface="Helvetica"/>
              </a:rPr>
              <a:t>Segmentation design must rely on existing login/order-cadence/proxy-income signals only, per activation principle, and must define a distinct.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CB5172A-E2CF-4D8E-81D2-BDF88F08F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257425"/>
            <a:ext cx="3200400" cy="2590800"/>
          </a:xfrm>
          <a:prstGeom xmlns:a="http://schemas.openxmlformats.org/drawingml/2006/main" prst="roundRect">
            <a:avLst>
              <a:gd name="adj" fmla="val 2941"/>
            </a:avLst>
          </a:prstGeom>
          <a:solidFill xmlns:a="http://schemas.openxmlformats.org/drawingml/2006/main">
            <a:srgbClr val="FF654F"/>
          </a:solidFill>
          <a:ln xmlns:a="http://schemas.openxmlformats.org/drawingml/2006/main" w="0">
            <a:solidFill>
              <a:srgbClr val="FF654F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B0E37B5-FAFF-4273-B761-B1602CD51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486025"/>
            <a:ext cx="457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900" b="1" i="0">
                <a:solidFill>
                  <a:srgbClr val="C8B7E8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900" b="1" i="0">
                <a:solidFill>
                  <a:srgbClr val="C8B7E8"/>
                </a:solidFill>
                <a:latin typeface="Helvetica"/>
                <a:ea typeface="Helvetica"/>
                <a:cs typeface="Helvetica"/>
              </a:defRPr>
            </a:pPr>
            <a:r>
              <a:rPr sz="900" b="1" i="0">
                <a:solidFill>
                  <a:srgbClr val="C8B7E8"/>
                </a:solidFill>
                <a:latin typeface="Helvetica"/>
                <a:ea typeface="Helvetica"/>
                <a:cs typeface="Helvetica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FED3B4F-CD15-498D-8892-5C32E37FD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924175"/>
            <a:ext cx="2724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575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1575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pPr>
            <a:r>
              <a:rPr sz="1575" b="1" i="0">
                <a:solidFill>
                  <a:srgbClr val="FFFDFC"/>
                </a:solidFill>
                <a:latin typeface="Helvetica"/>
                <a:ea typeface="Helvetica"/>
                <a:cs typeface="Helvetica"/>
              </a:rPr>
              <a:t>REPEAT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ECF0C7B-D37E-4B52-BE09-F95113319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3514725"/>
            <a:ext cx="27241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200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1200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pPr>
            <a:r>
              <a:rPr sz="1200" b="1" i="0">
                <a:solidFill>
                  <a:srgbClr val="FFFDFC"/>
                </a:solidFill>
                <a:latin typeface="Helvetica"/>
                <a:ea typeface="Helvetica"/>
                <a:cs typeface="Helvetica"/>
              </a:rPr>
              <a:t>The useful tension is between breadth of appeal and clarity of choice.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E69AA6B-CAE8-4528-8B8C-9EE554E9D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572125"/>
            <a:ext cx="20955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pPr>
            <a:r>
              <a: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rPr>
              <a:t>COMMERCIAL CONSEQUENCE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AB40324-05E0-4740-B3ED-4D9DE1937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5505450"/>
            <a:ext cx="8382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200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1200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pPr>
            <a:r>
              <a:rPr sz="1200" b="1" i="0">
                <a:solidFill>
                  <a:srgbClr val="15121B"/>
                </a:solidFill>
                <a:latin typeface="Helvetica"/>
                <a:ea typeface="Helvetica"/>
                <a:cs typeface="Helvetica"/>
              </a:rPr>
              <a:t>The useful tension is between breadth of appeal and clarity of choice.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5AFD423-0A19-4186-8E7F-855C1D38B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134100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825" b="1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825" b="1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pPr>
            <a:r>
              <a:rPr sz="825" b="1" i="0">
                <a:solidFill>
                  <a:srgbClr val="756D7A"/>
                </a:solidFill>
                <a:latin typeface="Helvetica"/>
                <a:ea typeface="Helvetica"/>
                <a:cs typeface="Helvetica"/>
              </a:rPr>
              <a:t>SOURCES: S5, S6, S7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E23551E-E83A-4201-B6DC-62365B036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6134100"/>
            <a:ext cx="4876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r">
              <a:defRPr sz="825" b="1" i="0">
                <a:solidFill>
                  <a:srgbClr val="5A2E78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r">
              <a:defRPr sz="825" b="1" i="0">
                <a:solidFill>
                  <a:srgbClr val="5A2E78"/>
                </a:solidFill>
                <a:latin typeface="Helvetica"/>
                <a:ea typeface="Helvetica"/>
                <a:cs typeface="Helvetica"/>
              </a:defRPr>
            </a:pPr>
            <a:r>
              <a:rPr sz="825" b="1" i="0">
                <a:solidFill>
                  <a:srgbClr val="5A2E78"/>
                </a:solidFill>
                <a:latin typeface="Helvetica"/>
                <a:ea typeface="Helvetica"/>
                <a:cs typeface="Helvetica"/>
              </a:rPr>
              <a:t>VERIFIED FACT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F797BA7-BC78-4AAD-95BE-97E0DB503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515100"/>
            <a:ext cx="17145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675" b="1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675" b="1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pPr>
            <a:r>
              <a:rPr sz="675" b="1" i="0">
                <a:solidFill>
                  <a:srgbClr val="756D7A"/>
                </a:solidFill>
                <a:latin typeface="Helvetica"/>
                <a:ea typeface="Helvetica"/>
                <a:cs typeface="Helvetica"/>
              </a:rPr>
              <a:t>NARRATIIVE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64AD557-6605-4F1E-9C73-63E9E587B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8763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r">
              <a:defRPr sz="675" b="0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r">
              <a:defRPr sz="675" b="0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pPr>
            <a:r>
              <a:rPr sz="675" b="0" i="0">
                <a:solidFill>
                  <a:srgbClr val="756D7A"/>
                </a:solidFill>
                <a:latin typeface="Helvetica"/>
                <a:ea typeface="Helvetica"/>
                <a:cs typeface="Helvetica"/>
              </a:rPr>
              <a:t>14 / 30</a:t>
            </a:r>
          </a:p>
        </p:txBody>
      </p:sp>
    </p:spTree>
    <p:extLst>
      <p:ext uri="{BB962C8B-B14F-4D97-AF65-F5344CB8AC3E}">
        <p14:creationId xmlns:p14="http://schemas.microsoft.com/office/powerpoint/2010/main" val="1166658452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6F0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2702D56-56DA-4560-B7F8-A1E9A67DB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3375"/>
            <a:ext cx="5715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pPr>
            <a:r>
              <a: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rPr>
              <a:t>ACT 3 / AUDIENCE + DEMAND OPPORTUNITY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75D407D-3D88-405C-ADF0-16197319A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85800"/>
            <a:ext cx="1047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2325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2325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pPr>
            <a:r>
              <a:rPr sz="2325" b="1" i="0">
                <a:solidFill>
                  <a:srgbClr val="15121B"/>
                </a:solidFill>
                <a:latin typeface="Helvetica"/>
                <a:ea typeface="Helvetica"/>
                <a:cs typeface="Helvetica"/>
              </a:rPr>
              <a:t>Category Entry Points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0879A32-EA38-45EB-A1C7-07C6A4671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400175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CFD5"/>
          </a:solidFill>
          <a:ln xmlns:a="http://schemas.openxmlformats.org/drawingml/2006/main" w="0">
            <a:solidFill>
              <a:srgbClr val="D9CFD5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10A84E6-7838-4F39-B967-4DAC87E1B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952625"/>
            <a:ext cx="3200400" cy="2619375"/>
          </a:xfrm>
          <a:prstGeom xmlns:a="http://schemas.openxmlformats.org/drawingml/2006/main" prst="roundRect">
            <a:avLst>
              <a:gd name="adj" fmla="val 2909"/>
            </a:avLst>
          </a:prstGeom>
          <a:solidFill xmlns:a="http://schemas.openxmlformats.org/drawingml/2006/main">
            <a:srgbClr val="261A31"/>
          </a:solidFill>
          <a:ln xmlns:a="http://schemas.openxmlformats.org/drawingml/2006/main" w="0">
            <a:solidFill>
              <a:srgbClr val="261A31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0B916B9-358F-4A25-9125-28D173D88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19075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825" b="1" i="0">
                <a:solidFill>
                  <a:srgbClr val="C8B7E8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825" b="1" i="0">
                <a:solidFill>
                  <a:srgbClr val="C8B7E8"/>
                </a:solidFill>
                <a:latin typeface="Helvetica"/>
                <a:ea typeface="Helvetica"/>
                <a:cs typeface="Helvetica"/>
              </a:defRPr>
            </a:pPr>
            <a:r>
              <a:rPr sz="825" b="1" i="0">
                <a:solidFill>
                  <a:srgbClr val="C8B7E8"/>
                </a:solidFill>
                <a:latin typeface="Helvetica"/>
                <a:ea typeface="Helvetica"/>
                <a:cs typeface="Helvetica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E775531-28A4-4198-A4D7-34768C57F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667000"/>
            <a:ext cx="2714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575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1575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pPr>
            <a:r>
              <a:rPr sz="1575" b="1" i="0">
                <a:solidFill>
                  <a:srgbClr val="FFFDFC"/>
                </a:solidFill>
                <a:latin typeface="Helvetica"/>
                <a:ea typeface="Helvetica"/>
                <a:cs typeface="Helvetica"/>
              </a:rPr>
              <a:t>HEALTH RESET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510590A-D58E-42F1-9B8C-55852306E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19450"/>
            <a:ext cx="271462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200" b="0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1200" b="0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pPr>
            <a:r>
              <a:rPr sz="1200" b="0" i="0">
                <a:solidFill>
                  <a:srgbClr val="FFFDFC"/>
                </a:solidFill>
                <a:latin typeface="Helvetica"/>
                <a:ea typeface="Helvetica"/>
                <a:cs typeface="Helvetica"/>
              </a:rPr>
              <a:t>A health concern prompts active nutrition discovery.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9B5382F-F1BE-4D48-BBDD-551F52E81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1952625"/>
            <a:ext cx="3200400" cy="2619375"/>
          </a:xfrm>
          <a:prstGeom xmlns:a="http://schemas.openxmlformats.org/drawingml/2006/main" prst="roundRect">
            <a:avLst>
              <a:gd name="adj" fmla="val 2909"/>
            </a:avLst>
          </a:prstGeom>
          <a:solidFill xmlns:a="http://schemas.openxmlformats.org/drawingml/2006/main">
            <a:srgbClr val="5A2E78"/>
          </a:solidFill>
          <a:ln xmlns:a="http://schemas.openxmlformats.org/drawingml/2006/main" w="0">
            <a:solidFill>
              <a:srgbClr val="5A2E78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76DEA05-E738-4B52-8A61-BD4E44908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19075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825" b="1" i="0">
                <a:solidFill>
                  <a:srgbClr val="C8B7E8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825" b="1" i="0">
                <a:solidFill>
                  <a:srgbClr val="C8B7E8"/>
                </a:solidFill>
                <a:latin typeface="Helvetica"/>
                <a:ea typeface="Helvetica"/>
                <a:cs typeface="Helvetica"/>
              </a:defRPr>
            </a:pPr>
            <a:r>
              <a:rPr sz="825" b="1" i="0">
                <a:solidFill>
                  <a:srgbClr val="C8B7E8"/>
                </a:solidFill>
                <a:latin typeface="Helvetica"/>
                <a:ea typeface="Helvetica"/>
                <a:cs typeface="Helvetica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9AEC21E-7C7E-4126-8AFE-88293B540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667000"/>
            <a:ext cx="2714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575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1575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pPr>
            <a:r>
              <a:rPr sz="1575" b="1" i="0">
                <a:solidFill>
                  <a:srgbClr val="FFFDFC"/>
                </a:solidFill>
                <a:latin typeface="Helvetica"/>
                <a:ea typeface="Helvetica"/>
                <a:cs typeface="Helvetica"/>
              </a:rPr>
              <a:t>PROOF SEEKER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654B1DE-532C-4B20-A243-4A00FCF57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3219450"/>
            <a:ext cx="271462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200" b="0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1200" b="0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pPr>
            <a:r>
              <a:rPr sz="1200" b="0" i="0">
                <a:solidFill>
                  <a:srgbClr val="FFFDFC"/>
                </a:solidFill>
                <a:latin typeface="Helvetica"/>
                <a:ea typeface="Helvetica"/>
                <a:cs typeface="Helvetica"/>
              </a:rPr>
              <a:t>An owner compares claims and looks for credible evidence.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8A22DBF-9F08-4BDE-9A9D-A7B84AD95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1952625"/>
            <a:ext cx="3200400" cy="2619375"/>
          </a:xfrm>
          <a:prstGeom xmlns:a="http://schemas.openxmlformats.org/drawingml/2006/main" prst="roundRect">
            <a:avLst>
              <a:gd name="adj" fmla="val 2909"/>
            </a:avLst>
          </a:prstGeom>
          <a:solidFill xmlns:a="http://schemas.openxmlformats.org/drawingml/2006/main">
            <a:srgbClr val="FF654F"/>
          </a:solidFill>
          <a:ln xmlns:a="http://schemas.openxmlformats.org/drawingml/2006/main" w="0">
            <a:solidFill>
              <a:srgbClr val="FF654F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39E8B62-C3C2-4F9F-8203-E6C635851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19075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825" b="1" i="0">
                <a:solidFill>
                  <a:srgbClr val="C8B7E8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825" b="1" i="0">
                <a:solidFill>
                  <a:srgbClr val="C8B7E8"/>
                </a:solidFill>
                <a:latin typeface="Helvetica"/>
                <a:ea typeface="Helvetica"/>
                <a:cs typeface="Helvetica"/>
              </a:defRPr>
            </a:pPr>
            <a:r>
              <a:rPr sz="825" b="1" i="0">
                <a:solidFill>
                  <a:srgbClr val="C8B7E8"/>
                </a:solidFill>
                <a:latin typeface="Helvetica"/>
                <a:ea typeface="Helvetica"/>
                <a:cs typeface="Helvetica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A64F24C-FAC6-4A97-8FBC-B5DC5496B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667000"/>
            <a:ext cx="2714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575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1575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pPr>
            <a:r>
              <a:rPr sz="1575" b="1" i="0">
                <a:solidFill>
                  <a:srgbClr val="FFFDFC"/>
                </a:solidFill>
                <a:latin typeface="Helvetica"/>
                <a:ea typeface="Helvetica"/>
                <a:cs typeface="Helvetica"/>
              </a:rPr>
              <a:t>RETAIL TRIAL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F6E1774-B893-422A-AE0A-AC4EB79AD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3219450"/>
            <a:ext cx="271462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200" b="0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1200" b="0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pPr>
            <a:r>
              <a:rPr sz="1200" b="0" i="0">
                <a:solidFill>
                  <a:srgbClr val="FFFDFC"/>
                </a:solidFill>
                <a:latin typeface="Helvetica"/>
                <a:ea typeface="Helvetica"/>
                <a:cs typeface="Helvetica"/>
              </a:rPr>
              <a:t>Shelf communication must convert without a personal quiz.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2C73997-006F-4349-86E1-92ACC6C0F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572125"/>
            <a:ext cx="20955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pPr>
            <a:r>
              <a: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rPr>
              <a:t>COMMERCIAL CONSEQUENCE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FE15A74-4F67-48CC-86FE-F54CB6704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5505450"/>
            <a:ext cx="8382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200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1200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pPr>
            <a:r>
              <a:rPr sz="1200" b="1" i="0">
                <a:solidFill>
                  <a:srgbClr val="15121B"/>
                </a:solidFill>
                <a:latin typeface="Helvetica"/>
                <a:ea typeface="Helvetica"/>
                <a:cs typeface="Helvetica"/>
              </a:rPr>
              <a:t>Different entry points may require different proof and proposition jobs.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72C0E78-BA72-4216-A423-50A7B9D8F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134100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825" b="1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825" b="1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pPr>
            <a:r>
              <a:rPr sz="825" b="1" i="0">
                <a:solidFill>
                  <a:srgbClr val="756D7A"/>
                </a:solidFill>
                <a:latin typeface="Helvetica"/>
                <a:ea typeface="Helvetica"/>
                <a:cs typeface="Helvetica"/>
              </a:rPr>
              <a:t>SOURCES: S2, S4, S6, T1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2830232-80F3-4ED6-8BE5-575902CFD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6134100"/>
            <a:ext cx="4876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r">
              <a:defRPr sz="825" b="1" i="0">
                <a:solidFill>
                  <a:srgbClr val="5A2E78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r">
              <a:defRPr sz="825" b="1" i="0">
                <a:solidFill>
                  <a:srgbClr val="5A2E78"/>
                </a:solidFill>
                <a:latin typeface="Helvetica"/>
                <a:ea typeface="Helvetica"/>
                <a:cs typeface="Helvetica"/>
              </a:defRPr>
            </a:pPr>
            <a:r>
              <a:rPr sz="825" b="1" i="0">
                <a:solidFill>
                  <a:srgbClr val="5A2E78"/>
                </a:solidFill>
                <a:latin typeface="Helvetica"/>
                <a:ea typeface="Helvetica"/>
                <a:cs typeface="Helvetica"/>
              </a:rPr>
              <a:t>PROPOSED TEST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E3B02AA-C133-4184-977F-7D9129036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515100"/>
            <a:ext cx="17145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675" b="1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675" b="1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pPr>
            <a:r>
              <a:rPr sz="675" b="1" i="0">
                <a:solidFill>
                  <a:srgbClr val="756D7A"/>
                </a:solidFill>
                <a:latin typeface="Helvetica"/>
                <a:ea typeface="Helvetica"/>
                <a:cs typeface="Helvetica"/>
              </a:rPr>
              <a:t>NARRATIIVE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00E858A-E8DC-4AAF-8392-F1B78BD02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8763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r">
              <a:defRPr sz="675" b="0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r">
              <a:defRPr sz="675" b="0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pPr>
            <a:r>
              <a:rPr sz="675" b="0" i="0">
                <a:solidFill>
                  <a:srgbClr val="756D7A"/>
                </a:solidFill>
                <a:latin typeface="Helvetica"/>
                <a:ea typeface="Helvetica"/>
                <a:cs typeface="Helvetica"/>
              </a:rPr>
              <a:t>15 / 30</a:t>
            </a:r>
          </a:p>
        </p:txBody>
      </p:sp>
    </p:spTree>
    <p:extLst>
      <p:ext uri="{BB962C8B-B14F-4D97-AF65-F5344CB8AC3E}">
        <p14:creationId xmlns:p14="http://schemas.microsoft.com/office/powerpoint/2010/main" val="1920759404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15121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17D2BDA-581C-48A0-B7B1-4D650405E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3375"/>
            <a:ext cx="5715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pPr>
            <a:r>
              <a: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rPr>
              <a:t>ACT 4 / POSITIONING + NARRATIVE ANSWER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3D7F75B-8C7D-4AB7-A742-15E942395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85800"/>
            <a:ext cx="1047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2325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2325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pPr>
            <a:r>
              <a:rPr sz="2325" b="1" i="0">
                <a:solidFill>
                  <a:srgbClr val="FFFDFC"/>
                </a:solidFill>
                <a:latin typeface="Helvetica"/>
                <a:ea typeface="Helvetica"/>
                <a:cs typeface="Helvetica"/>
              </a:rPr>
              <a:t>Current Brand Diagnosis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5ACF602-A006-4122-AD08-FF62E1702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400175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2E78"/>
          </a:solidFill>
          <a:ln xmlns:a="http://schemas.openxmlformats.org/drawingml/2006/main" w="0">
            <a:solidFill>
              <a:srgbClr val="5A2E78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7010098-7506-48CC-96C4-73F799033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428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750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750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pPr>
            <a:r>
              <a:rPr sz="750" b="1" i="0">
                <a:solidFill>
                  <a:srgbClr val="FF654F"/>
                </a:solidFill>
                <a:latin typeface="Helvetica"/>
                <a:ea typeface="Helvetica"/>
                <a:cs typeface="Helvetica"/>
              </a:rPr>
              <a:t>POSITION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66ACA81-ADA9-48C2-A278-56D5806F3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1838325"/>
            <a:ext cx="495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2E78"/>
          </a:solidFill>
          <a:ln xmlns:a="http://schemas.openxmlformats.org/drawingml/2006/main" w="0">
            <a:solidFill>
              <a:srgbClr val="5A2E78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82D5AA0-D8BC-4F4A-B009-66DE24A9F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1676400"/>
            <a:ext cx="7334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87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187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pPr>
            <a:r>
              <a:rPr sz="1875" b="1" i="0">
                <a:solidFill>
                  <a:srgbClr val="FF654F"/>
                </a:solidFill>
                <a:latin typeface="Helvetica"/>
                <a:ea typeface="Helvetica"/>
                <a:cs typeface="Helvetica"/>
              </a:rPr>
              <a:t>Proof, not promise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0E824F4-CE51-4BB1-B32F-C579B76CA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09850"/>
            <a:ext cx="1428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750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750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pPr>
            <a:r>
              <a:rPr sz="750" b="1" i="0">
                <a:solidFill>
                  <a:srgbClr val="FF654F"/>
                </a:solidFill>
                <a:latin typeface="Helvetica"/>
                <a:ea typeface="Helvetica"/>
                <a:cs typeface="Helvetica"/>
              </a:rPr>
              <a:t>BENEFIT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1773608-5477-4BB2-875A-FBFF69E2A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2695575"/>
            <a:ext cx="495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2E78"/>
          </a:solidFill>
          <a:ln xmlns:a="http://schemas.openxmlformats.org/drawingml/2006/main" w="0">
            <a:solidFill>
              <a:srgbClr val="5A2E78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5BC3923-BA33-4CD3-8166-E34CD9AFD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533650"/>
            <a:ext cx="7334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875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1875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pPr>
            <a:r>
              <a:rPr sz="1875" b="1" i="0">
                <a:solidFill>
                  <a:srgbClr val="FFFDFC"/>
                </a:solidFill>
                <a:latin typeface="Helvetica"/>
                <a:ea typeface="Helvetica"/>
                <a:cs typeface="Helvetica"/>
              </a:rPr>
              <a:t>Confidence without self-audit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CB5A141-AE87-48C1-8692-7ABC23BAE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467100"/>
            <a:ext cx="1428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750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750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pPr>
            <a:r>
              <a:rPr sz="750" b="1" i="0">
                <a:solidFill>
                  <a:srgbClr val="FF654F"/>
                </a:solidFill>
                <a:latin typeface="Helvetica"/>
                <a:ea typeface="Helvetica"/>
                <a:cs typeface="Helvetica"/>
              </a:rPr>
              <a:t>PLATFORM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9F70DEF-7122-4CF9-920C-DE7C4A746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3552825"/>
            <a:ext cx="495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2E78"/>
          </a:solidFill>
          <a:ln xmlns:a="http://schemas.openxmlformats.org/drawingml/2006/main" w="0">
            <a:solidFill>
              <a:srgbClr val="5A2E78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F4E3A5F-75E8-4910-AE78-A4FD6A35B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390900"/>
            <a:ext cx="7334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875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1875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pPr>
            <a:r>
              <a:rPr sz="1875" b="1" i="0">
                <a:solidFill>
                  <a:srgbClr val="FFFDFC"/>
                </a:solidFill>
                <a:latin typeface="Helvetica"/>
                <a:ea typeface="Helvetica"/>
                <a:cs typeface="Helvetica"/>
              </a:rPr>
              <a:t>The science cats deserve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2E785D4-0A55-40E3-9C02-AA7D5BC74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24350"/>
            <a:ext cx="1428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750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750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pPr>
            <a:r>
              <a:rPr sz="750" b="1" i="0">
                <a:solidFill>
                  <a:srgbClr val="FF654F"/>
                </a:solidFill>
                <a:latin typeface="Helvetica"/>
                <a:ea typeface="Helvetica"/>
                <a:cs typeface="Helvetica"/>
              </a:rPr>
              <a:t>EXPRESSION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03CC47A-40FE-445D-B0A5-FD0410E84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4410075"/>
            <a:ext cx="495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2E78"/>
          </a:solidFill>
          <a:ln xmlns:a="http://schemas.openxmlformats.org/drawingml/2006/main" w="0">
            <a:solidFill>
              <a:srgbClr val="5A2E78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A494502-C28F-433A-B02B-3D00464BD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248150"/>
            <a:ext cx="7334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875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1875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pPr>
            <a:r>
              <a:rPr sz="1875" b="1" i="0">
                <a:solidFill>
                  <a:srgbClr val="FFFDFC"/>
                </a:solidFill>
                <a:latin typeface="Helvetica"/>
                <a:ea typeface="Helvetica"/>
                <a:cs typeface="Helvetica"/>
              </a:rPr>
              <a:t>Visible without personalisation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54EA6FE-ED08-40B2-B642-51B105C30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572125"/>
            <a:ext cx="20955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pPr>
            <a:r>
              <a: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rPr>
              <a:t>COMMERCIAL CONSEQUENCE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7879F07-8C6C-47AA-861F-A671646F0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5505450"/>
            <a:ext cx="8382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200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1200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pPr>
            <a:r>
              <a:rPr sz="1200" b="1" i="0">
                <a:solidFill>
                  <a:srgbClr val="FFFDFC"/>
                </a:solidFill>
                <a:latin typeface="Helvetica"/>
                <a:ea typeface="Helvetica"/>
                <a:cs typeface="Helvetica"/>
              </a:rPr>
              <a:t>KatKin's current proposition is observable; its effectiveness is not proven.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41A82A4-E9CE-46C6-BA09-387AF66DC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134100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825" b="1" i="0">
                <a:solidFill>
                  <a:srgbClr val="C8B7E8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825" b="1" i="0">
                <a:solidFill>
                  <a:srgbClr val="C8B7E8"/>
                </a:solidFill>
                <a:latin typeface="Helvetica"/>
                <a:ea typeface="Helvetica"/>
                <a:cs typeface="Helvetica"/>
              </a:defRPr>
            </a:pPr>
            <a:r>
              <a:rPr sz="825" b="1" i="0">
                <a:solidFill>
                  <a:srgbClr val="C8B7E8"/>
                </a:solidFill>
                <a:latin typeface="Helvetica"/>
                <a:ea typeface="Helvetica"/>
                <a:cs typeface="Helvetica"/>
              </a:rPr>
              <a:t>SOURCES: S1A, S1B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732538A-0631-4295-B79A-681CD6E3E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6134100"/>
            <a:ext cx="4876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r">
              <a:defRPr sz="825" b="1" i="0">
                <a:solidFill>
                  <a:srgbClr val="C8B7E8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r">
              <a:defRPr sz="825" b="1" i="0">
                <a:solidFill>
                  <a:srgbClr val="C8B7E8"/>
                </a:solidFill>
                <a:latin typeface="Helvetica"/>
                <a:ea typeface="Helvetica"/>
                <a:cs typeface="Helvetica"/>
              </a:defRPr>
            </a:pPr>
            <a:r>
              <a:rPr sz="825" b="1" i="0">
                <a:solidFill>
                  <a:srgbClr val="C8B7E8"/>
                </a:solidFill>
                <a:latin typeface="Helvetica"/>
                <a:ea typeface="Helvetica"/>
                <a:cs typeface="Helvetica"/>
              </a:rPr>
              <a:t>VERIFIED FACT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179947B-C389-4194-A46F-870FA195C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515100"/>
            <a:ext cx="17145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675" b="1" i="0">
                <a:solidFill>
                  <a:srgbClr val="C8B7E8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675" b="1" i="0">
                <a:solidFill>
                  <a:srgbClr val="C8B7E8"/>
                </a:solidFill>
                <a:latin typeface="Helvetica"/>
                <a:ea typeface="Helvetica"/>
                <a:cs typeface="Helvetica"/>
              </a:defRPr>
            </a:pPr>
            <a:r>
              <a:rPr sz="675" b="1" i="0">
                <a:solidFill>
                  <a:srgbClr val="C8B7E8"/>
                </a:solidFill>
                <a:latin typeface="Helvetica"/>
                <a:ea typeface="Helvetica"/>
                <a:cs typeface="Helvetica"/>
              </a:rPr>
              <a:t>NARRATIIVE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6A7DEF8-1ADB-4B45-ADAB-AC37CFFCF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8763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r">
              <a:defRPr sz="675" b="0" i="0">
                <a:solidFill>
                  <a:srgbClr val="C8B7E8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r">
              <a:defRPr sz="675" b="0" i="0">
                <a:solidFill>
                  <a:srgbClr val="C8B7E8"/>
                </a:solidFill>
                <a:latin typeface="Helvetica"/>
                <a:ea typeface="Helvetica"/>
                <a:cs typeface="Helvetica"/>
              </a:defRPr>
            </a:pPr>
            <a:r>
              <a:rPr sz="675" b="0" i="0">
                <a:solidFill>
                  <a:srgbClr val="C8B7E8"/>
                </a:solidFill>
                <a:latin typeface="Helvetica"/>
                <a:ea typeface="Helvetica"/>
                <a:cs typeface="Helvetica"/>
              </a:rPr>
              <a:t>16 / 30</a:t>
            </a:r>
          </a:p>
        </p:txBody>
      </p:sp>
    </p:spTree>
    <p:extLst>
      <p:ext uri="{BB962C8B-B14F-4D97-AF65-F5344CB8AC3E}">
        <p14:creationId xmlns:p14="http://schemas.microsoft.com/office/powerpoint/2010/main" val="2063355333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15121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FDE3800-D156-4666-A64E-B77102CCB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3375"/>
            <a:ext cx="5715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pPr>
            <a:r>
              <a: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rPr>
              <a:t>ACT 4 / POSITIONING + NARRATIVE ANSWER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AAAB995-5ED0-4B38-B16F-896743152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85800"/>
            <a:ext cx="1047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2325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2325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pPr>
            <a:r>
              <a:rPr sz="2325" b="1" i="0">
                <a:solidFill>
                  <a:srgbClr val="FFFDFC"/>
                </a:solidFill>
                <a:latin typeface="Helvetica"/>
                <a:ea typeface="Helvetica"/>
                <a:cs typeface="Helvetica"/>
              </a:rPr>
              <a:t>Positioning Problem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0571804-6DD6-4642-9AC4-F841EF0A5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400175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2E78"/>
          </a:solidFill>
          <a:ln xmlns:a="http://schemas.openxmlformats.org/drawingml/2006/main" w="0">
            <a:solidFill>
              <a:srgbClr val="5A2E78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07F0039-B9EC-4057-926F-CB44AE4F2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428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750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750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pPr>
            <a:r>
              <a:rPr sz="750" b="1" i="0">
                <a:solidFill>
                  <a:srgbClr val="FF654F"/>
                </a:solidFill>
                <a:latin typeface="Helvetica"/>
                <a:ea typeface="Helvetica"/>
                <a:cs typeface="Helvetica"/>
              </a:rPr>
              <a:t>POSITION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AACD68D-EBCF-4A62-842B-11DF0FC84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1838325"/>
            <a:ext cx="495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2E78"/>
          </a:solidFill>
          <a:ln xmlns:a="http://schemas.openxmlformats.org/drawingml/2006/main" w="0">
            <a:solidFill>
              <a:srgbClr val="5A2E78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FC18CEB-FDBA-475D-B127-941238AD1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1676400"/>
            <a:ext cx="7334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875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1875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pPr>
            <a:r>
              <a:rPr sz="1875" b="1" i="0">
                <a:solidFill>
                  <a:srgbClr val="FFFDFC"/>
                </a:solidFill>
                <a:latin typeface="Helvetica"/>
                <a:ea typeface="Helvetica"/>
                <a:cs typeface="Helvetica"/>
              </a:rPr>
              <a:t>Proof, not promise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93EA159-63F8-47E9-B43A-EA15CA4CD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09850"/>
            <a:ext cx="1428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750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750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pPr>
            <a:r>
              <a:rPr sz="750" b="1" i="0">
                <a:solidFill>
                  <a:srgbClr val="FF654F"/>
                </a:solidFill>
                <a:latin typeface="Helvetica"/>
                <a:ea typeface="Helvetica"/>
                <a:cs typeface="Helvetica"/>
              </a:rPr>
              <a:t>BENEFIT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49D6160-FC18-4E26-A378-DE058DA9F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2695575"/>
            <a:ext cx="495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2E78"/>
          </a:solidFill>
          <a:ln xmlns:a="http://schemas.openxmlformats.org/drawingml/2006/main" w="0">
            <a:solidFill>
              <a:srgbClr val="5A2E78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2F37BBE-7FFA-49AF-B970-A5549AA04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533650"/>
            <a:ext cx="7334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87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187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pPr>
            <a:r>
              <a:rPr sz="1875" b="1" i="0">
                <a:solidFill>
                  <a:srgbClr val="FF654F"/>
                </a:solidFill>
                <a:latin typeface="Helvetica"/>
                <a:ea typeface="Helvetica"/>
                <a:cs typeface="Helvetica"/>
              </a:rPr>
              <a:t>Confidence without self-audit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D679A40-E8A9-499A-AC70-6759F2F48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467100"/>
            <a:ext cx="1428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750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750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pPr>
            <a:r>
              <a:rPr sz="750" b="1" i="0">
                <a:solidFill>
                  <a:srgbClr val="FF654F"/>
                </a:solidFill>
                <a:latin typeface="Helvetica"/>
                <a:ea typeface="Helvetica"/>
                <a:cs typeface="Helvetica"/>
              </a:rPr>
              <a:t>PLATFORM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2E4687C-4BD2-4493-863D-263EC050E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3552825"/>
            <a:ext cx="495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2E78"/>
          </a:solidFill>
          <a:ln xmlns:a="http://schemas.openxmlformats.org/drawingml/2006/main" w="0">
            <a:solidFill>
              <a:srgbClr val="5A2E78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0073860-FF7C-4DEF-B213-221919BB5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390900"/>
            <a:ext cx="7334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875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1875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pPr>
            <a:r>
              <a:rPr sz="1875" b="1" i="0">
                <a:solidFill>
                  <a:srgbClr val="FFFDFC"/>
                </a:solidFill>
                <a:latin typeface="Helvetica"/>
                <a:ea typeface="Helvetica"/>
                <a:cs typeface="Helvetica"/>
              </a:rPr>
              <a:t>The science cats deserve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9D64285-E6F6-4D3E-80F4-63883EA99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24350"/>
            <a:ext cx="1428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750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750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pPr>
            <a:r>
              <a:rPr sz="750" b="1" i="0">
                <a:solidFill>
                  <a:srgbClr val="FF654F"/>
                </a:solidFill>
                <a:latin typeface="Helvetica"/>
                <a:ea typeface="Helvetica"/>
                <a:cs typeface="Helvetica"/>
              </a:rPr>
              <a:t>EXPRESSION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08E11B2-A202-4CD7-98B8-579083F00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4410075"/>
            <a:ext cx="495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2E78"/>
          </a:solidFill>
          <a:ln xmlns:a="http://schemas.openxmlformats.org/drawingml/2006/main" w="0">
            <a:solidFill>
              <a:srgbClr val="5A2E78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30B69F1-EDB1-4808-83BE-ECBABF433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248150"/>
            <a:ext cx="7334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875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1875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pPr>
            <a:r>
              <a:rPr sz="1875" b="1" i="0">
                <a:solidFill>
                  <a:srgbClr val="FFFDFC"/>
                </a:solidFill>
                <a:latin typeface="Helvetica"/>
                <a:ea typeface="Helvetica"/>
                <a:cs typeface="Helvetica"/>
              </a:rPr>
              <a:t>Visible without personalisation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E53187C-CA32-4943-939F-0B0900FCC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572125"/>
            <a:ext cx="20955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pPr>
            <a:r>
              <a: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rPr>
              <a:t>COMMERCIAL CONSEQUENCE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AABC2F1-F559-497E-85AD-60608AE6A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5505450"/>
            <a:ext cx="8382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200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1200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pPr>
            <a:r>
              <a:rPr sz="1200" b="1" i="0">
                <a:solidFill>
                  <a:srgbClr val="FFFDFC"/>
                </a:solidFill>
                <a:latin typeface="Helvetica"/>
                <a:ea typeface="Helvetica"/>
                <a:cs typeface="Helvetica"/>
              </a:rPr>
              <a:t>The positioning hypothesis depends on resolving a credibility contradiction first.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F3B3809-8432-4376-96F9-CCD84B941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134100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825" b="1" i="0">
                <a:solidFill>
                  <a:srgbClr val="C8B7E8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825" b="1" i="0">
                <a:solidFill>
                  <a:srgbClr val="C8B7E8"/>
                </a:solidFill>
                <a:latin typeface="Helvetica"/>
                <a:ea typeface="Helvetica"/>
                <a:cs typeface="Helvetica"/>
              </a:defRPr>
            </a:pPr>
            <a:r>
              <a:rPr sz="825" b="1" i="0">
                <a:solidFill>
                  <a:srgbClr val="C8B7E8"/>
                </a:solidFill>
                <a:latin typeface="Helvetica"/>
                <a:ea typeface="Helvetica"/>
                <a:cs typeface="Helvetica"/>
              </a:rPr>
              <a:t>SOURCES: T1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C52AEFB-840C-4CE9-B652-BE4112E3C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6134100"/>
            <a:ext cx="4876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r">
              <a:defRPr sz="825" b="1" i="0">
                <a:solidFill>
                  <a:srgbClr val="C8B7E8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r">
              <a:defRPr sz="825" b="1" i="0">
                <a:solidFill>
                  <a:srgbClr val="C8B7E8"/>
                </a:solidFill>
                <a:latin typeface="Helvetica"/>
                <a:ea typeface="Helvetica"/>
                <a:cs typeface="Helvetica"/>
              </a:defRPr>
            </a:pPr>
            <a:r>
              <a:rPr sz="825" b="1" i="0">
                <a:solidFill>
                  <a:srgbClr val="C8B7E8"/>
                </a:solidFill>
                <a:latin typeface="Helvetica"/>
                <a:ea typeface="Helvetica"/>
                <a:cs typeface="Helvetica"/>
              </a:rPr>
              <a:t>APPROVED STRATEGY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6B9F742-5645-458C-9779-E07877370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515100"/>
            <a:ext cx="17145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675" b="1" i="0">
                <a:solidFill>
                  <a:srgbClr val="C8B7E8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675" b="1" i="0">
                <a:solidFill>
                  <a:srgbClr val="C8B7E8"/>
                </a:solidFill>
                <a:latin typeface="Helvetica"/>
                <a:ea typeface="Helvetica"/>
                <a:cs typeface="Helvetica"/>
              </a:defRPr>
            </a:pPr>
            <a:r>
              <a:rPr sz="675" b="1" i="0">
                <a:solidFill>
                  <a:srgbClr val="C8B7E8"/>
                </a:solidFill>
                <a:latin typeface="Helvetica"/>
                <a:ea typeface="Helvetica"/>
                <a:cs typeface="Helvetica"/>
              </a:rPr>
              <a:t>NARRATIIVE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1941C05-B2A8-42EC-A2D0-10008B525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8763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r">
              <a:defRPr sz="675" b="0" i="0">
                <a:solidFill>
                  <a:srgbClr val="C8B7E8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r">
              <a:defRPr sz="675" b="0" i="0">
                <a:solidFill>
                  <a:srgbClr val="C8B7E8"/>
                </a:solidFill>
                <a:latin typeface="Helvetica"/>
                <a:ea typeface="Helvetica"/>
                <a:cs typeface="Helvetica"/>
              </a:defRPr>
            </a:pPr>
            <a:r>
              <a:rPr sz="675" b="0" i="0">
                <a:solidFill>
                  <a:srgbClr val="C8B7E8"/>
                </a:solidFill>
                <a:latin typeface="Helvetica"/>
                <a:ea typeface="Helvetica"/>
                <a:cs typeface="Helvetica"/>
              </a:rPr>
              <a:t>17 / 30</a:t>
            </a:r>
          </a:p>
        </p:txBody>
      </p:sp>
    </p:spTree>
    <p:extLst>
      <p:ext uri="{BB962C8B-B14F-4D97-AF65-F5344CB8AC3E}">
        <p14:creationId xmlns:p14="http://schemas.microsoft.com/office/powerpoint/2010/main" val="413164037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6F0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6DE97AC-7657-4319-8701-4A5890315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3375"/>
            <a:ext cx="5715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pPr>
            <a:r>
              <a: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rPr>
              <a:t>ACT 4 / POSITIONING + NARRATIVE ANSWER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411569B-DBC4-41A5-B4D0-7B731CADD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85800"/>
            <a:ext cx="1047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2325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2325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pPr>
            <a:r>
              <a:rPr sz="2325" b="1" i="0">
                <a:solidFill>
                  <a:srgbClr val="15121B"/>
                </a:solidFill>
                <a:latin typeface="Helvetica"/>
                <a:ea typeface="Helvetica"/>
                <a:cs typeface="Helvetica"/>
              </a:rPr>
              <a:t>Strategic Positioning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F2ED3A5-C338-455B-8DBC-17A5812F0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400175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CFD5"/>
          </a:solidFill>
          <a:ln xmlns:a="http://schemas.openxmlformats.org/drawingml/2006/main" w="0">
            <a:solidFill>
              <a:srgbClr val="D9CFD5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E5193E1-CF5C-45BF-881A-8EE78ECC5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790700"/>
            <a:ext cx="7096125" cy="2724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2025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2025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pPr>
            <a:r>
              <a:rPr sz="2025" b="1" i="0">
                <a:solidFill>
                  <a:srgbClr val="15121B"/>
                </a:solidFill>
                <a:latin typeface="Helvetica"/>
                <a:ea typeface="Helvetica"/>
                <a:cs typeface="Helvetica"/>
              </a:rPr>
              <a:t>Move from the copyable claim that fresh food is better to a provisional position: cats deserve nutrition validated by independent science, not manufacturer assertion.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1F28E35-D03E-4A13-8C4C-2D97C1E2C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1809750"/>
            <a:ext cx="2667000" cy="2667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61A31"/>
          </a:solidFill>
          <a:ln xmlns:a="http://schemas.openxmlformats.org/drawingml/2006/main" w="0">
            <a:solidFill>
              <a:srgbClr val="261A31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33C2AE1-CE91-4F82-8AD5-82F3A60B1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1575" y="2419350"/>
            <a:ext cx="17621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ctr">
              <a:defRPr sz="1800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ctr">
              <a:defRPr sz="1800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pPr>
            <a:r>
              <a:rPr sz="1800" b="1" i="0">
                <a:solidFill>
                  <a:srgbClr val="FFFDFC"/>
                </a:solidFill>
                <a:latin typeface="Helvetica"/>
                <a:ea typeface="Helvetica"/>
                <a:cs typeface="Helvetica"/>
              </a:rPr>
              <a:t>DECISION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5C5031C-8DB8-45AA-90EF-1C2267D35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2981325"/>
            <a:ext cx="13811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54F"/>
          </a:solidFill>
          <a:ln xmlns:a="http://schemas.openxmlformats.org/drawingml/2006/main" w="0">
            <a:solidFill>
              <a:srgbClr val="FF654F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3E91C6B-9780-422E-9345-9A039B3CF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4425" y="3286125"/>
            <a:ext cx="18859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ctr">
              <a:defRPr sz="1275" b="1" i="0">
                <a:solidFill>
                  <a:srgbClr val="C8B7E8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ctr">
              <a:defRPr sz="1275" b="1" i="0">
                <a:solidFill>
                  <a:srgbClr val="C8B7E8"/>
                </a:solidFill>
                <a:latin typeface="Helvetica"/>
                <a:ea typeface="Helvetica"/>
                <a:cs typeface="Helvetica"/>
              </a:defRPr>
            </a:pPr>
            <a:r>
              <a:rPr sz="1275" b="1" i="0">
                <a:solidFill>
                  <a:srgbClr val="C8B7E8"/>
                </a:solidFill>
                <a:latin typeface="Helvetica"/>
                <a:ea typeface="Helvetica"/>
                <a:cs typeface="Helvetica"/>
              </a:rPr>
              <a:t>The approved positioning is a testable strategic hypothesis, not a proven market fact.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FCA6313-3A44-441B-A188-6519A55A2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572125"/>
            <a:ext cx="20955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pPr>
            <a:r>
              <a: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rPr>
              <a:t>COMMERCIAL CONSEQUENCE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65A1ECA-91ED-432F-8A7E-0CEFB216C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5505450"/>
            <a:ext cx="8382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200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1200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pPr>
            <a:r>
              <a:rPr sz="1200" b="1" i="0">
                <a:solidFill>
                  <a:srgbClr val="15121B"/>
                </a:solidFill>
                <a:latin typeface="Helvetica"/>
                <a:ea typeface="Helvetica"/>
                <a:cs typeface="Helvetica"/>
              </a:rPr>
              <a:t>The approved positioning is a testable strategic hypothesis, not a proven market fact.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95623C0-0A70-46EF-A71B-6C4985262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134100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825" b="1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825" b="1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pPr>
            <a:r>
              <a:rPr sz="825" b="1" i="0">
                <a:solidFill>
                  <a:srgbClr val="756D7A"/>
                </a:solidFill>
                <a:latin typeface="Helvetica"/>
                <a:ea typeface="Helvetica"/>
                <a:cs typeface="Helvetica"/>
              </a:rPr>
              <a:t>SOURCES: S2, S3, T1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3F5E020-8CEC-423A-94F0-B39F81F53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6134100"/>
            <a:ext cx="4876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r">
              <a:defRPr sz="825" b="1" i="0">
                <a:solidFill>
                  <a:srgbClr val="5A2E78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r">
              <a:defRPr sz="825" b="1" i="0">
                <a:solidFill>
                  <a:srgbClr val="5A2E78"/>
                </a:solidFill>
                <a:latin typeface="Helvetica"/>
                <a:ea typeface="Helvetica"/>
                <a:cs typeface="Helvetica"/>
              </a:defRPr>
            </a:pPr>
            <a:r>
              <a:rPr sz="825" b="1" i="0">
                <a:solidFill>
                  <a:srgbClr val="5A2E78"/>
                </a:solidFill>
                <a:latin typeface="Helvetica"/>
                <a:ea typeface="Helvetica"/>
                <a:cs typeface="Helvetica"/>
              </a:rPr>
              <a:t>PROPOSED POSITIONING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3F9DE77-7580-4891-A6EF-6C98FD2F5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515100"/>
            <a:ext cx="17145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675" b="1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675" b="1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pPr>
            <a:r>
              <a:rPr sz="675" b="1" i="0">
                <a:solidFill>
                  <a:srgbClr val="756D7A"/>
                </a:solidFill>
                <a:latin typeface="Helvetica"/>
                <a:ea typeface="Helvetica"/>
                <a:cs typeface="Helvetica"/>
              </a:rPr>
              <a:t>NARRATIIVE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B9DD1D9-A796-4364-B5B0-8520414A5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8763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r">
              <a:defRPr sz="675" b="0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r">
              <a:defRPr sz="675" b="0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pPr>
            <a:r>
              <a:rPr sz="675" b="0" i="0">
                <a:solidFill>
                  <a:srgbClr val="756D7A"/>
                </a:solidFill>
                <a:latin typeface="Helvetica"/>
                <a:ea typeface="Helvetica"/>
                <a:cs typeface="Helvetica"/>
              </a:rPr>
              <a:t>18 / 30</a:t>
            </a:r>
          </a:p>
        </p:txBody>
      </p:sp>
    </p:spTree>
    <p:extLst>
      <p:ext uri="{BB962C8B-B14F-4D97-AF65-F5344CB8AC3E}">
        <p14:creationId xmlns:p14="http://schemas.microsoft.com/office/powerpoint/2010/main" val="455872498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6F0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859E71D-843E-4D79-83C4-32D6F87E5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3375"/>
            <a:ext cx="5715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pPr>
            <a:r>
              <a: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rPr>
              <a:t>ACT 4 / POSITIONING + NARRATIVE ANSWER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8AF3D6A-CA9B-4FCC-928D-378D5D06F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85800"/>
            <a:ext cx="1047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2325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2325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pPr>
            <a:r>
              <a:rPr sz="2325" b="1" i="0">
                <a:solidFill>
                  <a:srgbClr val="15121B"/>
                </a:solidFill>
                <a:latin typeface="Helvetica"/>
                <a:ea typeface="Helvetica"/>
                <a:cs typeface="Helvetica"/>
              </a:rPr>
              <a:t>Positioning Map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F9EA216-7E1F-4632-AD6D-B6B682E52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400175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CFD5"/>
          </a:solidFill>
          <a:ln xmlns:a="http://schemas.openxmlformats.org/drawingml/2006/main" w="0">
            <a:solidFill>
              <a:srgbClr val="D9CFD5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4E5B49D-4283-4818-AB84-49BDE9698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666875"/>
            <a:ext cx="7620000" cy="3524250"/>
          </a:xfrm>
          <a:prstGeom xmlns:a="http://schemas.openxmlformats.org/drawingml/2006/main" prst="roundRect">
            <a:avLst>
              <a:gd name="adj" fmla="val 2162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0">
            <a:solidFill>
              <a:srgbClr val="FFFDFC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3C5ABF7-16C9-4BFC-9A72-1CD2ECFBE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4572000"/>
            <a:ext cx="6286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56D7A"/>
          </a:solidFill>
          <a:ln xmlns:a="http://schemas.openxmlformats.org/drawingml/2006/main" w="0">
            <a:solidFill>
              <a:srgbClr val="756D7A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0767652-B320-451F-84DC-E152633D9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095500"/>
            <a:ext cx="19050" cy="2714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56D7A"/>
          </a:solidFill>
          <a:ln xmlns:a="http://schemas.openxmlformats.org/drawingml/2006/main" w="0">
            <a:solidFill>
              <a:srgbClr val="756D7A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8EE99CC-1F4E-4C13-BD7D-19BCDD8D4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733925"/>
            <a:ext cx="171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675" b="1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675" b="1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pPr>
            <a:r>
              <a:rPr sz="675" b="1" i="0">
                <a:solidFill>
                  <a:srgbClr val="756D7A"/>
                </a:solidFill>
                <a:latin typeface="Helvetica"/>
                <a:ea typeface="Helvetica"/>
                <a:cs typeface="Helvetica"/>
              </a:rPr>
              <a:t>PROMISE-LED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6F32007-1C75-4BE6-8085-2B020E0BA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733925"/>
            <a:ext cx="1619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r">
              <a:def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r">
              <a:def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pPr>
            <a:r>
              <a: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rPr>
              <a:t>PROOF-LED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7D5E122-1CF5-4DC3-8BEB-50375FA1C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85950"/>
            <a:ext cx="171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675" b="1" i="0">
                <a:solidFill>
                  <a:srgbClr val="5A2E78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675" b="1" i="0">
                <a:solidFill>
                  <a:srgbClr val="5A2E78"/>
                </a:solidFill>
                <a:latin typeface="Helvetica"/>
                <a:ea typeface="Helvetica"/>
                <a:cs typeface="Helvetica"/>
              </a:defRPr>
            </a:pPr>
            <a:r>
              <a:rPr sz="675" b="1" i="0">
                <a:solidFill>
                  <a:srgbClr val="5A2E78"/>
                </a:solidFill>
                <a:latin typeface="Helvetica"/>
                <a:ea typeface="Helvetica"/>
                <a:cs typeface="Helvetica"/>
              </a:rPr>
              <a:t>AUTHORITY-BUILDING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F5C6954-4F01-401B-96D0-E580411FA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9624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56D7A"/>
          </a:solidFill>
          <a:ln xmlns:a="http://schemas.openxmlformats.org/drawingml/2006/main" w="0">
            <a:solidFill>
              <a:srgbClr val="756D7A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586C34F-3B03-4F47-A906-E5820CDBF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3943350"/>
            <a:ext cx="1428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675" b="1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675" b="1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pPr>
            <a:r>
              <a:rPr sz="675" b="1" i="0">
                <a:solidFill>
                  <a:srgbClr val="756D7A"/>
                </a:solidFill>
                <a:latin typeface="Helvetica"/>
                <a:ea typeface="Helvetica"/>
                <a:cs typeface="Helvetica"/>
              </a:rPr>
              <a:t>CATEGORY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DF140BF-1746-4781-A753-C95C2D119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93820" y="345567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56D7A"/>
          </a:solidFill>
          <a:ln xmlns:a="http://schemas.openxmlformats.org/drawingml/2006/main" w="0">
            <a:solidFill>
              <a:srgbClr val="756D7A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BC858C2-5322-4ADC-B045-CACA936CC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03370" y="3436620"/>
            <a:ext cx="1428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675" b="1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675" b="1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pPr>
            <a:r>
              <a:rPr sz="675" b="1" i="0">
                <a:solidFill>
                  <a:srgbClr val="756D7A"/>
                </a:solidFill>
                <a:latin typeface="Helvetica"/>
                <a:ea typeface="Helvetica"/>
                <a:cs typeface="Helvetica"/>
              </a:rPr>
              <a:t>UNTAMED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7BEE2BA-B5D8-4B2B-BDCE-C6F4861C6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21564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A2E78"/>
          </a:solidFill>
          <a:ln xmlns:a="http://schemas.openxmlformats.org/drawingml/2006/main" w="0">
            <a:solidFill>
              <a:srgbClr val="5A2E78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DA8C2FA-ED55-4124-8A2E-19721A39E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196590"/>
            <a:ext cx="1428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675" b="1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675" b="1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pPr>
            <a:r>
              <a:rPr sz="675" b="1" i="0">
                <a:solidFill>
                  <a:srgbClr val="756D7A"/>
                </a:solidFill>
                <a:latin typeface="Helvetica"/>
                <a:ea typeface="Helvetica"/>
                <a:cs typeface="Helvetica"/>
              </a:rPr>
              <a:t>KATKIN TODAY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A07640B-51E3-4EE7-BB22-9544477F7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4140" y="252222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54F"/>
          </a:solidFill>
          <a:ln xmlns:a="http://schemas.openxmlformats.org/drawingml/2006/main" w="0">
            <a:solidFill>
              <a:srgbClr val="FF654F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90F5541-712A-4399-89F4-ACD00CC99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3690" y="2503170"/>
            <a:ext cx="1428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pPr>
            <a:r>
              <a: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rPr>
              <a:t>KATKIN FUTURE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213DF08-E87E-4744-8A33-D7FD63709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857375"/>
            <a:ext cx="2667000" cy="3000375"/>
          </a:xfrm>
          <a:prstGeom xmlns:a="http://schemas.openxmlformats.org/drawingml/2006/main" prst="roundRect">
            <a:avLst>
              <a:gd name="adj" fmla="val 2857"/>
            </a:avLst>
          </a:prstGeom>
          <a:solidFill xmlns:a="http://schemas.openxmlformats.org/drawingml/2006/main">
            <a:srgbClr val="15121B"/>
          </a:solidFill>
          <a:ln xmlns:a="http://schemas.openxmlformats.org/drawingml/2006/main" w="0">
            <a:solidFill>
              <a:srgbClr val="15121B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33EFF22-BCF7-4304-A1B2-E02015FA2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190750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750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750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pPr>
            <a:r>
              <a:rPr sz="750" b="1" i="0">
                <a:solidFill>
                  <a:srgbClr val="FF654F"/>
                </a:solidFill>
                <a:latin typeface="Helvetica"/>
                <a:ea typeface="Helvetica"/>
                <a:cs typeface="Helvetica"/>
              </a:rPr>
              <a:t>OWNABLE TERRITORY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D48E98E-6104-4D92-8137-2E4F38019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714625"/>
            <a:ext cx="2095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2025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2025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pPr>
            <a:r>
              <a:rPr sz="2025" b="1" i="0">
                <a:solidFill>
                  <a:srgbClr val="FFFDFC"/>
                </a:solidFill>
                <a:latin typeface="Helvetica"/>
                <a:ea typeface="Helvetica"/>
                <a:cs typeface="Helvetica"/>
              </a:rPr>
              <a:t>Nutrition proven, not promised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B6AE24F-260F-413C-933E-876A29219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4286250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750" b="1" i="0">
                <a:solidFill>
                  <a:srgbClr val="C8B7E8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750" b="1" i="0">
                <a:solidFill>
                  <a:srgbClr val="C8B7E8"/>
                </a:solidFill>
                <a:latin typeface="Helvetica"/>
                <a:ea typeface="Helvetica"/>
                <a:cs typeface="Helvetica"/>
              </a:defRPr>
            </a:pPr>
            <a:r>
              <a:rPr sz="750" b="1" i="0">
                <a:solidFill>
                  <a:srgbClr val="C8B7E8"/>
                </a:solidFill>
                <a:latin typeface="Helvetica"/>
                <a:ea typeface="Helvetica"/>
                <a:cs typeface="Helvetica"/>
              </a:rPr>
              <a:t>Positions are hypotheses.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95685D0-227D-4E4B-BE6E-B2044A440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572125"/>
            <a:ext cx="20955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pPr>
            <a:r>
              <a: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rPr>
              <a:t>COMMERCIAL CONSEQUENCE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8C61CD4-B228-4BC3-9E01-CD5FB47A3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5505450"/>
            <a:ext cx="8382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200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1200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pPr>
            <a:r>
              <a:rPr sz="1200" b="1" i="0">
                <a:solidFill>
                  <a:srgbClr val="15121B"/>
                </a:solidFill>
                <a:latin typeface="Helvetica"/>
                <a:ea typeface="Helvetica"/>
                <a:cs typeface="Helvetica"/>
              </a:rPr>
              <a:t>Move from familiar promise-led nutrition claims toward proof-led authority, subject to founder and customer validation.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3B530DB-0CD2-4EAA-833B-DCF7B8CA6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134100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825" b="1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825" b="1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pPr>
            <a:r>
              <a:rPr sz="825" b="1" i="0">
                <a:solidFill>
                  <a:srgbClr val="756D7A"/>
                </a:solidFill>
                <a:latin typeface="Helvetica"/>
                <a:ea typeface="Helvetica"/>
                <a:cs typeface="Helvetica"/>
              </a:rPr>
              <a:t>SOURCES: S2, S3, T1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6AC166C-4FA5-406B-9366-9E0744840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6134100"/>
            <a:ext cx="4876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r">
              <a:defRPr sz="825" b="1" i="0">
                <a:solidFill>
                  <a:srgbClr val="5A2E78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r">
              <a:defRPr sz="825" b="1" i="0">
                <a:solidFill>
                  <a:srgbClr val="5A2E78"/>
                </a:solidFill>
                <a:latin typeface="Helvetica"/>
                <a:ea typeface="Helvetica"/>
                <a:cs typeface="Helvetica"/>
              </a:defRPr>
            </a:pPr>
            <a:r>
              <a:rPr sz="825" b="1" i="0">
                <a:solidFill>
                  <a:srgbClr val="5A2E78"/>
                </a:solidFill>
                <a:latin typeface="Helvetica"/>
                <a:ea typeface="Helvetica"/>
                <a:cs typeface="Helvetica"/>
              </a:rPr>
              <a:t>POSITIONING HYPOTHESIS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31251AE-F369-457F-B2E4-1EECA0DA3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515100"/>
            <a:ext cx="17145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675" b="1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675" b="1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pPr>
            <a:r>
              <a:rPr sz="675" b="1" i="0">
                <a:solidFill>
                  <a:srgbClr val="756D7A"/>
                </a:solidFill>
                <a:latin typeface="Helvetica"/>
                <a:ea typeface="Helvetica"/>
                <a:cs typeface="Helvetica"/>
              </a:rPr>
              <a:t>NARRATIIVE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E855696-CEF0-41B4-99E9-4D23D8E57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8763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r">
              <a:defRPr sz="675" b="0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r">
              <a:defRPr sz="675" b="0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pPr>
            <a:r>
              <a:rPr sz="675" b="0" i="0">
                <a:solidFill>
                  <a:srgbClr val="756D7A"/>
                </a:solidFill>
                <a:latin typeface="Helvetica"/>
                <a:ea typeface="Helvetica"/>
                <a:cs typeface="Helvetica"/>
              </a:rPr>
              <a:t>19 / 30</a:t>
            </a:r>
          </a:p>
        </p:txBody>
      </p:sp>
    </p:spTree>
    <p:extLst>
      <p:ext uri="{BB962C8B-B14F-4D97-AF65-F5344CB8AC3E}">
        <p14:creationId xmlns:p14="http://schemas.microsoft.com/office/powerpoint/2010/main" val="1731720392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6F0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9DA71B7-DC5D-41F3-BFA7-32B013776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3375"/>
            <a:ext cx="5715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pPr>
            <a:r>
              <a: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rPr>
              <a:t>ACT 4 / POSITIONING + NARRATIVE ANSWER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1ED4774-CC51-40FF-9D7B-ED707D7F1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85800"/>
            <a:ext cx="1047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2325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2325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pPr>
            <a:r>
              <a:rPr sz="2325" b="1" i="0">
                <a:solidFill>
                  <a:srgbClr val="15121B"/>
                </a:solidFill>
                <a:latin typeface="Helvetica"/>
                <a:ea typeface="Helvetica"/>
                <a:cs typeface="Helvetica"/>
              </a:rPr>
              <a:t>Narrative Platform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9B80E3A-D0BD-4274-96A3-49006F18F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400175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CFD5"/>
          </a:solidFill>
          <a:ln xmlns:a="http://schemas.openxmlformats.org/drawingml/2006/main" w="0">
            <a:solidFill>
              <a:srgbClr val="D9CFD5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1B27B33-06B1-4C27-8F71-BC41074D4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952625"/>
            <a:ext cx="3200400" cy="247650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0">
            <a:solidFill>
              <a:srgbClr val="FFFDFC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C8F7A96-503B-4E01-A837-53664D510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71700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350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1350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pPr>
            <a:r>
              <a:rPr sz="1350" b="1" i="0">
                <a:solidFill>
                  <a:srgbClr val="FF654F"/>
                </a:solidFill>
                <a:latin typeface="Helvetica"/>
                <a:ea typeface="Helvetica"/>
                <a:cs typeface="Helvetica"/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8141BB5-6BE4-48BC-9DE0-EFB10BFA9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647950"/>
            <a:ext cx="266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750" b="1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750" b="1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pPr>
            <a:r>
              <a:rPr sz="750" b="1" i="0">
                <a:solidFill>
                  <a:srgbClr val="756D7A"/>
                </a:solidFill>
                <a:latin typeface="Helvetica"/>
                <a:ea typeface="Helvetica"/>
                <a:cs typeface="Helvetica"/>
              </a:rPr>
              <a:t>TENSION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649F7B4-CEBE-4FE5-9F86-67CD62AA1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086100"/>
            <a:ext cx="271462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500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1500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pPr>
            <a:r>
              <a:rPr sz="1500" b="1" i="0">
                <a:solidFill>
                  <a:srgbClr val="15121B"/>
                </a:solidFill>
                <a:latin typeface="Helvetica"/>
                <a:ea typeface="Helvetica"/>
                <a:cs typeface="Helvetica"/>
              </a:rPr>
              <a:t>The category asks owners to trust claims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FA92609-98B9-4F8C-8C6D-C4C03DB60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1952625"/>
            <a:ext cx="3200400" cy="247650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FF654F"/>
          </a:solidFill>
          <a:ln xmlns:a="http://schemas.openxmlformats.org/drawingml/2006/main" w="0">
            <a:solidFill>
              <a:srgbClr val="FF654F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1B70845-12F0-44FD-ABDB-B1CA9D696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171700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350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1350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pPr>
            <a:r>
              <a:rPr sz="1350" b="1" i="0">
                <a:solidFill>
                  <a:srgbClr val="FFFDFC"/>
                </a:solidFill>
                <a:latin typeface="Helvetica"/>
                <a:ea typeface="Helvetica"/>
                <a:cs typeface="Helvetica"/>
              </a:rPr>
              <a:t>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EC523FE-E4A2-4014-96B0-A905E5BEE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647950"/>
            <a:ext cx="266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750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750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pPr>
            <a:r>
              <a:rPr sz="750" b="1" i="0">
                <a:solidFill>
                  <a:srgbClr val="FFFDFC"/>
                </a:solidFill>
                <a:latin typeface="Helvetica"/>
                <a:ea typeface="Helvetica"/>
                <a:cs typeface="Helvetica"/>
              </a:rPr>
              <a:t>SHIFT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B379285-5855-4261-948A-9B368524B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3086100"/>
            <a:ext cx="271462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500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1500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pPr>
            <a:r>
              <a:rPr sz="1500" b="1" i="0">
                <a:solidFill>
                  <a:srgbClr val="FFFDFC"/>
                </a:solidFill>
                <a:latin typeface="Helvetica"/>
                <a:ea typeface="Helvetica"/>
                <a:cs typeface="Helvetica"/>
              </a:rPr>
              <a:t>KatKin makes proof the starting point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DF689CA-FB0F-416E-A30B-35DBE1CAA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1952625"/>
            <a:ext cx="3200400" cy="247650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0">
            <a:solidFill>
              <a:srgbClr val="FFFDFC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3A048B6-244E-43CA-B844-E6B3D369E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171700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350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1350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pPr>
            <a:r>
              <a:rPr sz="1350" b="1" i="0">
                <a:solidFill>
                  <a:srgbClr val="FF654F"/>
                </a:solidFill>
                <a:latin typeface="Helvetica"/>
                <a:ea typeface="Helvetica"/>
                <a:cs typeface="Helvetica"/>
              </a:rPr>
              <a:t>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D05D564-785B-4F2A-90F4-677CD6564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647950"/>
            <a:ext cx="266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750" b="1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750" b="1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pPr>
            <a:r>
              <a:rPr sz="750" b="1" i="0">
                <a:solidFill>
                  <a:srgbClr val="756D7A"/>
                </a:solidFill>
                <a:latin typeface="Helvetica"/>
                <a:ea typeface="Helvetica"/>
                <a:cs typeface="Helvetica"/>
              </a:rPr>
              <a:t>RESOLUTION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DFCC35D-3B7E-4958-A312-831AF1195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086100"/>
            <a:ext cx="271462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500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1500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pPr>
            <a:r>
              <a:rPr sz="1500" b="1" i="0">
                <a:solidFill>
                  <a:srgbClr val="15121B"/>
                </a:solidFill>
                <a:latin typeface="Helvetica"/>
                <a:ea typeface="Helvetica"/>
                <a:cs typeface="Helvetica"/>
              </a:rPr>
              <a:t>Independent science carries the decision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00DFA98-0C8D-486A-AFED-5B028AAF6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4619625"/>
            <a:ext cx="6762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ctr">
              <a:defRPr sz="2175" b="1" i="0">
                <a:solidFill>
                  <a:srgbClr val="5A2E78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ctr">
              <a:defRPr sz="2175" b="1" i="0">
                <a:solidFill>
                  <a:srgbClr val="5A2E78"/>
                </a:solidFill>
                <a:latin typeface="Helvetica"/>
                <a:ea typeface="Helvetica"/>
                <a:cs typeface="Helvetica"/>
              </a:defRPr>
            </a:pPr>
            <a:r>
              <a:rPr sz="2175" b="1" i="0">
                <a:solidFill>
                  <a:srgbClr val="5A2E78"/>
                </a:solidFill>
                <a:latin typeface="Helvetica"/>
                <a:ea typeface="Helvetica"/>
                <a:cs typeface="Helvetica"/>
              </a:rPr>
              <a:t>THE SCIENCE CATS DESERVE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6D8282F-78A6-4DA5-9BE2-5FA9BCDE3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572125"/>
            <a:ext cx="20955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pPr>
            <a:r>
              <a: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rPr>
              <a:t>COMMERCIAL CONSEQUENCE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4036DAD-4F6D-4B2C-BCF2-8FA282A2B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5505450"/>
            <a:ext cx="8382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200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1200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pPr>
            <a:r>
              <a:rPr sz="1200" b="1" i="0">
                <a:solidFill>
                  <a:srgbClr val="15121B"/>
                </a:solidFill>
                <a:latin typeface="Helvetica"/>
                <a:ea typeface="Helvetica"/>
                <a:cs typeface="Helvetica"/>
              </a:rPr>
              <a:t>A clearer progression could turn breadth of range into a guided reason to return.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592E8FB-6171-4128-B7C3-EA77395CD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134100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825" b="1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825" b="1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pPr>
            <a:r>
              <a:rPr sz="825" b="1" i="0">
                <a:solidFill>
                  <a:srgbClr val="756D7A"/>
                </a:solidFill>
                <a:latin typeface="Helvetica"/>
                <a:ea typeface="Helvetica"/>
                <a:cs typeface="Helvetica"/>
              </a:rPr>
              <a:t>SOURCES: S2, T1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5F2868D-31E6-4DDD-87F5-E8A471F79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6134100"/>
            <a:ext cx="4876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r">
              <a:defRPr sz="825" b="1" i="0">
                <a:solidFill>
                  <a:srgbClr val="5A2E78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r">
              <a:defRPr sz="825" b="1" i="0">
                <a:solidFill>
                  <a:srgbClr val="5A2E78"/>
                </a:solidFill>
                <a:latin typeface="Helvetica"/>
                <a:ea typeface="Helvetica"/>
                <a:cs typeface="Helvetica"/>
              </a:defRPr>
            </a:pPr>
            <a:r>
              <a:rPr sz="825" b="1" i="0">
                <a:solidFill>
                  <a:srgbClr val="5A2E78"/>
                </a:solidFill>
                <a:latin typeface="Helvetica"/>
                <a:ea typeface="Helvetica"/>
                <a:cs typeface="Helvetica"/>
              </a:rPr>
              <a:t>APPROVED STRATEGY + VERIFIED FACT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713FDF9-B821-47E4-B985-4DDB998A5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515100"/>
            <a:ext cx="17145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675" b="1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675" b="1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pPr>
            <a:r>
              <a:rPr sz="675" b="1" i="0">
                <a:solidFill>
                  <a:srgbClr val="756D7A"/>
                </a:solidFill>
                <a:latin typeface="Helvetica"/>
                <a:ea typeface="Helvetica"/>
                <a:cs typeface="Helvetica"/>
              </a:rPr>
              <a:t>NARRATIIVE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A8CC03E-424F-4D6A-AD2A-886EB25CF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8763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r">
              <a:defRPr sz="675" b="0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r">
              <a:defRPr sz="675" b="0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pPr>
            <a:r>
              <a:rPr sz="675" b="0" i="0">
                <a:solidFill>
                  <a:srgbClr val="756D7A"/>
                </a:solidFill>
                <a:latin typeface="Helvetica"/>
                <a:ea typeface="Helvetica"/>
                <a:cs typeface="Helvetica"/>
              </a:rPr>
              <a:t>20 / 30</a:t>
            </a:r>
          </a:p>
        </p:txBody>
      </p:sp>
    </p:spTree>
    <p:extLst>
      <p:ext uri="{BB962C8B-B14F-4D97-AF65-F5344CB8AC3E}">
        <p14:creationId xmlns:p14="http://schemas.microsoft.com/office/powerpoint/2010/main" val="596507070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6F0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BEC512F-E9F5-4C4C-9032-66485E8BF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3375"/>
            <a:ext cx="5715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pPr>
            <a:r>
              <a: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rPr>
              <a:t>ACT 4 / POSITIONING + NARRATIVE ANSWER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BDAC293-A802-40FB-89EC-710E35BD5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85800"/>
            <a:ext cx="1047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2325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2325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pPr>
            <a:r>
              <a:rPr sz="2325" b="1" i="0">
                <a:solidFill>
                  <a:srgbClr val="15121B"/>
                </a:solidFill>
                <a:latin typeface="Helvetica"/>
                <a:ea typeface="Helvetica"/>
                <a:cs typeface="Helvetica"/>
              </a:rPr>
              <a:t>Core Message Architecture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B085BD9-7A52-4045-A8E9-D6658BCFF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400175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CFD5"/>
          </a:solidFill>
          <a:ln xmlns:a="http://schemas.openxmlformats.org/drawingml/2006/main" w="0">
            <a:solidFill>
              <a:srgbClr val="D9CFD5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1C7EDA5-C9E8-45F6-B972-CFFED2D67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66900"/>
            <a:ext cx="238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750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750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pPr>
            <a:r>
              <a:rPr sz="750" b="1" i="0">
                <a:solidFill>
                  <a:srgbClr val="FF654F"/>
                </a:solidFill>
                <a:latin typeface="Helvetica"/>
                <a:ea typeface="Helvetica"/>
                <a:cs typeface="Helvetica"/>
              </a:rPr>
              <a:t>MASTER MESSAGE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2A07D40-464E-4E8A-BBCD-C7F085CD8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266950"/>
            <a:ext cx="47625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2550" b="1" i="0">
                <a:solidFill>
                  <a:srgbClr val="5A2E78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2550" b="1" i="0">
                <a:solidFill>
                  <a:srgbClr val="5A2E78"/>
                </a:solidFill>
                <a:latin typeface="Helvetica"/>
                <a:ea typeface="Helvetica"/>
                <a:cs typeface="Helvetica"/>
              </a:defRPr>
            </a:pPr>
            <a:r>
              <a:rPr sz="2550" b="1" i="0">
                <a:solidFill>
                  <a:srgbClr val="5A2E78"/>
                </a:solidFill>
                <a:latin typeface="Helvetica"/>
                <a:ea typeface="Helvetica"/>
                <a:cs typeface="Helvetica"/>
              </a:rPr>
              <a:t>Nutrition proven, not promised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6DF2A64-233F-4E15-B08D-F47404819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809750"/>
            <a:ext cx="19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54F"/>
          </a:solidFill>
          <a:ln xmlns:a="http://schemas.openxmlformats.org/drawingml/2006/main" w="0">
            <a:solidFill>
              <a:srgbClr val="FF654F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8C11A37-4210-4D11-A352-3D1862543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809750"/>
            <a:ext cx="1619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750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750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pPr>
            <a:r>
              <a:rPr sz="750" b="1" i="0">
                <a:solidFill>
                  <a:srgbClr val="FF654F"/>
                </a:solidFill>
                <a:latin typeface="Helvetica"/>
                <a:ea typeface="Helvetica"/>
                <a:cs typeface="Helvetica"/>
              </a:rPr>
              <a:t>PUBLISHED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C82D27C-70A0-4ED1-A411-DA3AB62F4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114550"/>
            <a:ext cx="4286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500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1500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pPr>
            <a:r>
              <a:rPr sz="1500" b="1" i="0">
                <a:solidFill>
                  <a:srgbClr val="15121B"/>
                </a:solidFill>
                <a:latin typeface="Helvetica"/>
                <a:ea typeface="Helvetica"/>
                <a:cs typeface="Helvetica"/>
              </a:rPr>
              <a:t>Peer-reviewed research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DE0DFB7-C362-4527-B078-616C9D3FD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809875"/>
            <a:ext cx="1619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750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750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pPr>
            <a:r>
              <a:rPr sz="750" b="1" i="0">
                <a:solidFill>
                  <a:srgbClr val="FF654F"/>
                </a:solidFill>
                <a:latin typeface="Helvetica"/>
                <a:ea typeface="Helvetica"/>
                <a:cs typeface="Helvetica"/>
              </a:rPr>
              <a:t>FORMULATED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1E06488-94A6-4167-8FA9-517C5313B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114675"/>
            <a:ext cx="4286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500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1500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pPr>
            <a:r>
              <a:rPr sz="1500" b="1" i="0">
                <a:solidFill>
                  <a:srgbClr val="15121B"/>
                </a:solidFill>
                <a:latin typeface="Helvetica"/>
                <a:ea typeface="Helvetica"/>
                <a:cs typeface="Helvetica"/>
              </a:rPr>
              <a:t>Board-Certified Veterinary Nutritionist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5CE1A88-A879-4DCE-9CB0-324D1EF97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810000"/>
            <a:ext cx="1619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750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750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pPr>
            <a:r>
              <a:rPr sz="750" b="1" i="0">
                <a:solidFill>
                  <a:srgbClr val="FF654F"/>
                </a:solidFill>
                <a:latin typeface="Helvetica"/>
                <a:ea typeface="Helvetica"/>
                <a:cs typeface="Helvetica"/>
              </a:rPr>
              <a:t>MADE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BC6CC05-BF1E-4A81-A9E8-4ED7EBC36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114800"/>
            <a:ext cx="4286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500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1500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pPr>
            <a:r>
              <a:rPr sz="1500" b="1" i="0">
                <a:solidFill>
                  <a:srgbClr val="15121B"/>
                </a:solidFill>
                <a:latin typeface="Helvetica"/>
                <a:ea typeface="Helvetica"/>
                <a:cs typeface="Helvetica"/>
              </a:rPr>
              <a:t>Vertically integrated production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0DB28C9-764F-4F2E-A97E-9394EC36E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667125"/>
            <a:ext cx="47625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275" b="0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1275" b="0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pPr>
            <a:r>
              <a:rPr sz="1275" b="0" i="0">
                <a:solidFill>
                  <a:srgbClr val="15121B"/>
                </a:solidFill>
                <a:latin typeface="Helvetica"/>
                <a:ea typeface="Helvetica"/>
                <a:cs typeface="Helvetica"/>
              </a:rPr>
              <a:t>Narrative translation work must produce a shelf-legible version of the science claim within the few seconds available at point of sale, distinct from the longer-form DTC/CRM articulation.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8C2E6BE-46D6-45ED-B92E-0E4B7D779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572125"/>
            <a:ext cx="20955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pPr>
            <a:r>
              <a: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rPr>
              <a:t>COMMERCIAL CONSEQUENCE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6C1E14F-6FAE-4A5C-A4D1-92866B03F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5505450"/>
            <a:ext cx="8382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200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1200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pPr>
            <a:r>
              <a:rPr sz="1200" b="1" i="0">
                <a:solidFill>
                  <a:srgbClr val="15121B"/>
                </a:solidFill>
                <a:latin typeface="Helvetica"/>
                <a:ea typeface="Helvetica"/>
                <a:cs typeface="Helvetica"/>
              </a:rPr>
              <a:t>One front door can make two subscription jobs easier to understand.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7108944-6787-44F4-A879-569A65C1D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134100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825" b="1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825" b="1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pPr>
            <a:r>
              <a:rPr sz="825" b="1" i="0">
                <a:solidFill>
                  <a:srgbClr val="756D7A"/>
                </a:solidFill>
                <a:latin typeface="Helvetica"/>
                <a:ea typeface="Helvetica"/>
                <a:cs typeface="Helvetica"/>
              </a:rPr>
              <a:t>SOURCES: S2, T1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5B7C0A9-05AA-423E-A76F-67FC14CC9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6134100"/>
            <a:ext cx="4876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r">
              <a:defRPr sz="825" b="1" i="0">
                <a:solidFill>
                  <a:srgbClr val="5A2E78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r">
              <a:defRPr sz="825" b="1" i="0">
                <a:solidFill>
                  <a:srgbClr val="5A2E78"/>
                </a:solidFill>
                <a:latin typeface="Helvetica"/>
                <a:ea typeface="Helvetica"/>
                <a:cs typeface="Helvetica"/>
              </a:defRPr>
            </a:pPr>
            <a:r>
              <a:rPr sz="825" b="1" i="0">
                <a:solidFill>
                  <a:srgbClr val="5A2E78"/>
                </a:solidFill>
                <a:latin typeface="Helvetica"/>
                <a:ea typeface="Helvetica"/>
                <a:cs typeface="Helvetica"/>
              </a:rPr>
              <a:t>APPROVED STRATEGY + VERIFIED FACT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57E3EDC-A20D-46E7-B213-9301B6B71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515100"/>
            <a:ext cx="17145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675" b="1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675" b="1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pPr>
            <a:r>
              <a:rPr sz="675" b="1" i="0">
                <a:solidFill>
                  <a:srgbClr val="756D7A"/>
                </a:solidFill>
                <a:latin typeface="Helvetica"/>
                <a:ea typeface="Helvetica"/>
                <a:cs typeface="Helvetica"/>
              </a:rPr>
              <a:t>NARRATIIVE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30FE7CA-4F59-41DB-B596-29FB7DDAC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8763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r">
              <a:defRPr sz="675" b="0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r">
              <a:defRPr sz="675" b="0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pPr>
            <a:r>
              <a:rPr sz="675" b="0" i="0">
                <a:solidFill>
                  <a:srgbClr val="756D7A"/>
                </a:solidFill>
                <a:latin typeface="Helvetica"/>
                <a:ea typeface="Helvetica"/>
                <a:cs typeface="Helvetica"/>
              </a:rPr>
              <a:t>21 / 30</a:t>
            </a:r>
          </a:p>
        </p:txBody>
      </p:sp>
    </p:spTree>
    <p:extLst>
      <p:ext uri="{BB962C8B-B14F-4D97-AF65-F5344CB8AC3E}">
        <p14:creationId xmlns:p14="http://schemas.microsoft.com/office/powerpoint/2010/main" val="205995153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6F0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21A3A841-0593-4987-BC78-CEA481414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3375"/>
            <a:ext cx="5715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pPr>
            <a:r>
              <a: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rPr>
              <a:t>ACT 4 / POSITIONING + NARRATIVE ANSWER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45DD03E-1086-4FC9-A2CE-911C09593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85800"/>
            <a:ext cx="1047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2325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2325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pPr>
            <a:r>
              <a:rPr sz="2325" b="1" i="0">
                <a:solidFill>
                  <a:srgbClr val="15121B"/>
                </a:solidFill>
                <a:latin typeface="Helvetica"/>
                <a:ea typeface="Helvetica"/>
                <a:cs typeface="Helvetica"/>
              </a:rPr>
              <a:t>Messaging Territories / Distinctive Assets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9AA4728-B525-45BE-A2E6-49F4BFA4D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400175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CFD5"/>
          </a:solidFill>
          <a:ln xmlns:a="http://schemas.openxmlformats.org/drawingml/2006/main" w="0">
            <a:solidFill>
              <a:srgbClr val="D9CFD5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A66581A-6FD4-4C75-967B-72F3C41B3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14500"/>
            <a:ext cx="3333750" cy="3381375"/>
          </a:xfrm>
          <a:prstGeom xmlns:a="http://schemas.openxmlformats.org/drawingml/2006/main" prst="roundRect">
            <a:avLst>
              <a:gd name="adj" fmla="val 2286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9CFD5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2074F74-CB0F-4F18-A4DE-2B27CB016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00250"/>
            <a:ext cx="2876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125" b="1" i="0">
                <a:solidFill>
                  <a:srgbClr val="5A2E78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1125" b="1" i="0">
                <a:solidFill>
                  <a:srgbClr val="5A2E78"/>
                </a:solidFill>
                <a:latin typeface="Helvetica"/>
                <a:ea typeface="Helvetica"/>
                <a:cs typeface="Helvetica"/>
              </a:defRPr>
            </a:pPr>
            <a:r>
              <a:rPr sz="1125" b="1" i="0">
                <a:solidFill>
                  <a:srgbClr val="5A2E78"/>
                </a:solidFill>
                <a:latin typeface="Helvetica"/>
                <a:ea typeface="Helvetica"/>
                <a:cs typeface="Helvetica"/>
              </a:rPr>
              <a:t>01 / PROOF, NOT PROMISE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6CC82BA-E72C-4866-92A1-3D9780E66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647950"/>
            <a:ext cx="7810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600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600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pPr>
            <a:r>
              <a:rPr sz="600" b="1" i="0">
                <a:solidFill>
                  <a:srgbClr val="FF654F"/>
                </a:solidFill>
                <a:latin typeface="Helvetica"/>
                <a:ea typeface="Helvetica"/>
                <a:cs typeface="Helvetica"/>
              </a:rPr>
              <a:t>ROLE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3296358-E577-42A1-8B1D-2FD35010B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609850"/>
            <a:ext cx="2019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975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975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pPr>
            <a:r>
              <a:rPr sz="975" b="1" i="0">
                <a:solidFill>
                  <a:srgbClr val="15121B"/>
                </a:solidFill>
                <a:latin typeface="Helvetica"/>
                <a:ea typeface="Helvetica"/>
                <a:cs typeface="Helvetica"/>
              </a:rPr>
              <a:t>Credibility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730AA0C-6C99-4B69-A0C7-26939E7C1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200400"/>
            <a:ext cx="7810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600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600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pPr>
            <a:r>
              <a:rPr sz="600" b="1" i="0">
                <a:solidFill>
                  <a:srgbClr val="FF654F"/>
                </a:solidFill>
                <a:latin typeface="Helvetica"/>
                <a:ea typeface="Helvetica"/>
                <a:cs typeface="Helvetica"/>
              </a:rPr>
              <a:t>TENSION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B3771A2-DC69-48C8-B551-8F96EA6CB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162300"/>
            <a:ext cx="2019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975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975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pPr>
            <a:r>
              <a:rPr sz="975" b="1" i="0">
                <a:solidFill>
                  <a:srgbClr val="15121B"/>
                </a:solidFill>
                <a:latin typeface="Helvetica"/>
                <a:ea typeface="Helvetica"/>
                <a:cs typeface="Helvetica"/>
              </a:rPr>
              <a:t>Distrust of category claims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50BEAD7-E8E4-4CDB-9B8D-23C0867FC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752850"/>
            <a:ext cx="7810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600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600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pPr>
            <a:r>
              <a:rPr sz="600" b="1" i="0">
                <a:solidFill>
                  <a:srgbClr val="FF654F"/>
                </a:solidFill>
                <a:latin typeface="Helvetica"/>
                <a:ea typeface="Helvetica"/>
                <a:cs typeface="Helvetica"/>
              </a:rPr>
              <a:t>PROOF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AF8D5A4-E993-4571-B95C-501EF2FFD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714750"/>
            <a:ext cx="2019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975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975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pPr>
            <a:r>
              <a:rPr sz="975" b="1" i="0">
                <a:solidFill>
                  <a:srgbClr val="15121B"/>
                </a:solidFill>
                <a:latin typeface="Helvetica"/>
                <a:ea typeface="Helvetica"/>
                <a:cs typeface="Helvetica"/>
              </a:rPr>
              <a:t>Peer-reviewed research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6ECFA68-4206-4CDB-BBD1-2FDB9289B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305300"/>
            <a:ext cx="7810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600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600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pPr>
            <a:r>
              <a:rPr sz="600" b="1" i="0">
                <a:solidFill>
                  <a:srgbClr val="FF654F"/>
                </a:solidFill>
                <a:latin typeface="Helvetica"/>
                <a:ea typeface="Helvetica"/>
                <a:cs typeface="Helvetica"/>
              </a:rPr>
              <a:t>ASSET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7D62E64-DF2E-4A14-9257-315836D25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267200"/>
            <a:ext cx="2019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975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975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pPr>
            <a:r>
              <a:rPr sz="975" b="1" i="0">
                <a:solidFill>
                  <a:srgbClr val="15121B"/>
                </a:solidFill>
                <a:latin typeface="Helvetica"/>
                <a:ea typeface="Helvetica"/>
                <a:cs typeface="Helvetica"/>
              </a:rPr>
              <a:t>Coral evidence mark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815B6CD-B774-43FA-86D5-770E1C912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1714500"/>
            <a:ext cx="3333750" cy="3381375"/>
          </a:xfrm>
          <a:prstGeom xmlns:a="http://schemas.openxmlformats.org/drawingml/2006/main" prst="roundRect">
            <a:avLst>
              <a:gd name="adj" fmla="val 2286"/>
            </a:avLst>
          </a:prstGeom>
          <a:solidFill xmlns:a="http://schemas.openxmlformats.org/drawingml/2006/main">
            <a:srgbClr val="261A31"/>
          </a:solidFill>
          <a:ln xmlns:a="http://schemas.openxmlformats.org/drawingml/2006/main" w="0">
            <a:solidFill>
              <a:srgbClr val="261A31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20F7700-7726-45E9-A9F5-2987AE724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000250"/>
            <a:ext cx="2876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12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112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pPr>
            <a:r>
              <a:rPr sz="1125" b="1" i="0">
                <a:solidFill>
                  <a:srgbClr val="FF654F"/>
                </a:solidFill>
                <a:latin typeface="Helvetica"/>
                <a:ea typeface="Helvetica"/>
                <a:cs typeface="Helvetica"/>
              </a:rPr>
              <a:t>02 / THE SCIENCE CATS DESERVE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93BD29D-8AC3-4E28-B472-DA0214F11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647950"/>
            <a:ext cx="7810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600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600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pPr>
            <a:r>
              <a:rPr sz="600" b="1" i="0">
                <a:solidFill>
                  <a:srgbClr val="FF654F"/>
                </a:solidFill>
                <a:latin typeface="Helvetica"/>
                <a:ea typeface="Helvetica"/>
                <a:cs typeface="Helvetica"/>
              </a:rPr>
              <a:t>ROLE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2AE6656-0769-4A63-94A2-40B940CB4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609850"/>
            <a:ext cx="2019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975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975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pPr>
            <a:r>
              <a:rPr sz="975" b="1" i="0">
                <a:solidFill>
                  <a:srgbClr val="FFFDFC"/>
                </a:solidFill>
                <a:latin typeface="Helvetica"/>
                <a:ea typeface="Helvetica"/>
                <a:cs typeface="Helvetica"/>
              </a:rPr>
              <a:t>Emotional meaning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15432F4-02A0-4063-99D4-6B02D0E2B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3200400"/>
            <a:ext cx="7810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600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600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pPr>
            <a:r>
              <a:rPr sz="600" b="1" i="0">
                <a:solidFill>
                  <a:srgbClr val="FF654F"/>
                </a:solidFill>
                <a:latin typeface="Helvetica"/>
                <a:ea typeface="Helvetica"/>
                <a:cs typeface="Helvetica"/>
              </a:rPr>
              <a:t>TENSION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C812481-8645-4400-AB73-D101036D1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3162300"/>
            <a:ext cx="2019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975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975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pPr>
            <a:r>
              <a:rPr sz="975" b="1" i="0">
                <a:solidFill>
                  <a:srgbClr val="FFFDFC"/>
                </a:solidFill>
                <a:latin typeface="Helvetica"/>
                <a:ea typeface="Helvetica"/>
                <a:cs typeface="Helvetica"/>
              </a:rPr>
              <a:t>Nutrition complexity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8588166-11C2-4423-90C4-ECE4F1BC3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3752850"/>
            <a:ext cx="7810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600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600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pPr>
            <a:r>
              <a:rPr sz="600" b="1" i="0">
                <a:solidFill>
                  <a:srgbClr val="FF654F"/>
                </a:solidFill>
                <a:latin typeface="Helvetica"/>
                <a:ea typeface="Helvetica"/>
                <a:cs typeface="Helvetica"/>
              </a:rPr>
              <a:t>PROOF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6AE5CB9-3311-4066-BAC3-E1F99AC1B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3714750"/>
            <a:ext cx="2019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975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975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pPr>
            <a:r>
              <a:rPr sz="975" b="1" i="0">
                <a:solidFill>
                  <a:srgbClr val="FFFDFC"/>
                </a:solidFill>
                <a:latin typeface="Helvetica"/>
                <a:ea typeface="Helvetica"/>
                <a:cs typeface="Helvetica"/>
              </a:rPr>
              <a:t>Veterinary formulation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952C34E-4B25-42DA-9D86-B54DCE97E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4305300"/>
            <a:ext cx="7810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600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600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pPr>
            <a:r>
              <a:rPr sz="600" b="1" i="0">
                <a:solidFill>
                  <a:srgbClr val="FF654F"/>
                </a:solidFill>
                <a:latin typeface="Helvetica"/>
                <a:ea typeface="Helvetica"/>
                <a:cs typeface="Helvetica"/>
              </a:rPr>
              <a:t>ASSET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2AE6C0E-F0F4-4681-BA29-9C8F541D0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4267200"/>
            <a:ext cx="2019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975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975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pPr>
            <a:r>
              <a:rPr sz="975" b="1" i="0">
                <a:solidFill>
                  <a:srgbClr val="FFFDFC"/>
                </a:solidFill>
                <a:latin typeface="Helvetica"/>
                <a:ea typeface="Helvetica"/>
                <a:cs typeface="Helvetica"/>
              </a:rPr>
              <a:t>Clinical crop + warm line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B132478-F34E-4544-9CC6-B76554089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714500"/>
            <a:ext cx="3333750" cy="3381375"/>
          </a:xfrm>
          <a:prstGeom xmlns:a="http://schemas.openxmlformats.org/drawingml/2006/main" prst="roundRect">
            <a:avLst>
              <a:gd name="adj" fmla="val 2286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9CFD5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374BBC7-D8E5-4350-90A9-3C57A3AF8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000250"/>
            <a:ext cx="2876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125" b="1" i="0">
                <a:solidFill>
                  <a:srgbClr val="5A2E78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1125" b="1" i="0">
                <a:solidFill>
                  <a:srgbClr val="5A2E78"/>
                </a:solidFill>
                <a:latin typeface="Helvetica"/>
                <a:ea typeface="Helvetica"/>
                <a:cs typeface="Helvetica"/>
              </a:defRPr>
            </a:pPr>
            <a:r>
              <a:rPr sz="1125" b="1" i="0">
                <a:solidFill>
                  <a:srgbClr val="5A2E78"/>
                </a:solidFill>
                <a:latin typeface="Helvetica"/>
                <a:ea typeface="Helvetica"/>
                <a:cs typeface="Helvetica"/>
              </a:rPr>
              <a:t>03 / VISIBLE CONFIDENCE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A8C8A5F-ABDA-4A4F-AC41-42BCD108A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647950"/>
            <a:ext cx="7810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600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600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pPr>
            <a:r>
              <a:rPr sz="600" b="1" i="0">
                <a:solidFill>
                  <a:srgbClr val="FF654F"/>
                </a:solidFill>
                <a:latin typeface="Helvetica"/>
                <a:ea typeface="Helvetica"/>
                <a:cs typeface="Helvetica"/>
              </a:rPr>
              <a:t>ROLE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7F0C29B-8B2B-4E43-9DFF-B9EE52FC1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609850"/>
            <a:ext cx="2019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975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975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pPr>
            <a:r>
              <a:rPr sz="975" b="1" i="0">
                <a:solidFill>
                  <a:srgbClr val="15121B"/>
                </a:solidFill>
                <a:latin typeface="Helvetica"/>
                <a:ea typeface="Helvetica"/>
                <a:cs typeface="Helvetica"/>
              </a:rPr>
              <a:t>Retail translation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A1DD66B-7B75-4694-AE5D-3B1BDD3C1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200400"/>
            <a:ext cx="7810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600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600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pPr>
            <a:r>
              <a:rPr sz="600" b="1" i="0">
                <a:solidFill>
                  <a:srgbClr val="FF654F"/>
                </a:solidFill>
                <a:latin typeface="Helvetica"/>
                <a:ea typeface="Helvetica"/>
                <a:cs typeface="Helvetica"/>
              </a:rPr>
              <a:t>TENSION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4877993-90FE-4139-99B6-FA96C87DB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162300"/>
            <a:ext cx="2019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975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975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pPr>
            <a:r>
              <a:rPr sz="975" b="1" i="0">
                <a:solidFill>
                  <a:srgbClr val="15121B"/>
                </a:solidFill>
                <a:latin typeface="Helvetica"/>
                <a:ea typeface="Helvetica"/>
                <a:cs typeface="Helvetica"/>
              </a:rPr>
              <a:t>Shelf-glance uncertainty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0BCF70B-F19C-4BD3-A54C-4AD7045C4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752850"/>
            <a:ext cx="7810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600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600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pPr>
            <a:r>
              <a:rPr sz="600" b="1" i="0">
                <a:solidFill>
                  <a:srgbClr val="FF654F"/>
                </a:solidFill>
                <a:latin typeface="Helvetica"/>
                <a:ea typeface="Helvetica"/>
                <a:cs typeface="Helvetica"/>
              </a:rPr>
              <a:t>PROOF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8658215-1A40-4323-95F3-71E05B10D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714750"/>
            <a:ext cx="2019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975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975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pPr>
            <a:r>
              <a:rPr sz="975" b="1" i="0">
                <a:solidFill>
                  <a:srgbClr val="15121B"/>
                </a:solidFill>
                <a:latin typeface="Helvetica"/>
                <a:ea typeface="Helvetica"/>
                <a:cs typeface="Helvetica"/>
              </a:rPr>
              <a:t>Layered source path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C8DFEAA-6DA5-4C39-BB97-3823CEE87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4305300"/>
            <a:ext cx="7810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600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600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pPr>
            <a:r>
              <a:rPr sz="600" b="1" i="0">
                <a:solidFill>
                  <a:srgbClr val="FF654F"/>
                </a:solidFill>
                <a:latin typeface="Helvetica"/>
                <a:ea typeface="Helvetica"/>
                <a:cs typeface="Helvetica"/>
              </a:rPr>
              <a:t>ASSET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D4230D6-2A7B-494E-A09B-42286F13B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4267200"/>
            <a:ext cx="2019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975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975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pPr>
            <a:r>
              <a:rPr sz="975" b="1" i="0">
                <a:solidFill>
                  <a:srgbClr val="15121B"/>
                </a:solidFill>
                <a:latin typeface="Helvetica"/>
                <a:ea typeface="Helvetica"/>
                <a:cs typeface="Helvetica"/>
              </a:rPr>
              <a:t>Observe / mark / signal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EBD09D2-D43B-4982-9BFE-2ECE489EF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572125"/>
            <a:ext cx="20955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pPr>
            <a:r>
              <a: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rPr>
              <a:t>COMMERCIAL CONSEQUENCE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7057330-DEDE-4348-91BD-35A85778B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5505450"/>
            <a:ext cx="8382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200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1200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pPr>
            <a:r>
              <a:rPr sz="1200" b="1" i="0">
                <a:solidFill>
                  <a:srgbClr val="15121B"/>
                </a:solidFill>
                <a:latin typeface="Helvetica"/>
                <a:ea typeface="Helvetica"/>
                <a:cs typeface="Helvetica"/>
              </a:rPr>
              <a:t>Three territories let campaigns vary while one evidence behaviour compounds recognition.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98A77CB-78C9-469C-8791-43B4D447D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134100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825" b="1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825" b="1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pPr>
            <a:r>
              <a:rPr sz="825" b="1" i="0">
                <a:solidFill>
                  <a:srgbClr val="756D7A"/>
                </a:solidFill>
                <a:latin typeface="Helvetica"/>
                <a:ea typeface="Helvetica"/>
                <a:cs typeface="Helvetica"/>
              </a:rPr>
              <a:t>SOURCES: S2, S4, T1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1DC5FE0-8404-468C-ADE5-00A8ABA8A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6134100"/>
            <a:ext cx="4876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r">
              <a:defRPr sz="825" b="1" i="0">
                <a:solidFill>
                  <a:srgbClr val="5A2E78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r">
              <a:defRPr sz="825" b="1" i="0">
                <a:solidFill>
                  <a:srgbClr val="5A2E78"/>
                </a:solidFill>
                <a:latin typeface="Helvetica"/>
                <a:ea typeface="Helvetica"/>
                <a:cs typeface="Helvetica"/>
              </a:defRPr>
            </a:pPr>
            <a:r>
              <a:rPr sz="825" b="1" i="0">
                <a:solidFill>
                  <a:srgbClr val="5A2E78"/>
                </a:solidFill>
                <a:latin typeface="Helvetica"/>
                <a:ea typeface="Helvetica"/>
                <a:cs typeface="Helvetica"/>
              </a:rPr>
              <a:t>PROPOSED MESSAGING SYSTEM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0E6E7292-5BF9-4730-9C6A-EEC4D2265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515100"/>
            <a:ext cx="17145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675" b="1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675" b="1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pPr>
            <a:r>
              <a:rPr sz="675" b="1" i="0">
                <a:solidFill>
                  <a:srgbClr val="756D7A"/>
                </a:solidFill>
                <a:latin typeface="Helvetica"/>
                <a:ea typeface="Helvetica"/>
                <a:cs typeface="Helvetica"/>
              </a:rPr>
              <a:t>NARRATIIVE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2280DBB4-8548-464E-BB39-8B6AFBD37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8763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r">
              <a:defRPr sz="675" b="0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r">
              <a:defRPr sz="675" b="0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pPr>
            <a:r>
              <a:rPr sz="675" b="0" i="0">
                <a:solidFill>
                  <a:srgbClr val="756D7A"/>
                </a:solidFill>
                <a:latin typeface="Helvetica"/>
                <a:ea typeface="Helvetica"/>
                <a:cs typeface="Helvetica"/>
              </a:rPr>
              <a:t>22 / 30</a:t>
            </a:r>
          </a:p>
        </p:txBody>
      </p:sp>
    </p:spTree>
    <p:extLst>
      <p:ext uri="{BB962C8B-B14F-4D97-AF65-F5344CB8AC3E}">
        <p14:creationId xmlns:p14="http://schemas.microsoft.com/office/powerpoint/2010/main" val="104622163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6F0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34426B1-7670-4FDB-BD35-617C30E38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3375"/>
            <a:ext cx="5715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pPr>
            <a:r>
              <a: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rPr>
              <a:t>ACT 5 / THE GROWTH SYSTEM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65C6C43-CA7F-431E-94E0-B9BE3DD84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85800"/>
            <a:ext cx="1047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2325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2325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pPr>
            <a:r>
              <a:rPr sz="2325" b="1" i="0">
                <a:solidFill>
                  <a:srgbClr val="15121B"/>
                </a:solidFill>
                <a:latin typeface="Helvetica"/>
                <a:ea typeface="Helvetica"/>
                <a:cs typeface="Helvetica"/>
              </a:rPr>
              <a:t>Commercial Prize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4AB07C6-28D9-4CF5-8EC4-732C0DEE7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400175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CFD5"/>
          </a:solidFill>
          <a:ln xmlns:a="http://schemas.openxmlformats.org/drawingml/2006/main" w="0">
            <a:solidFill>
              <a:srgbClr val="D9CFD5"/>
            </a:solidFill>
          </a:ln>
        </p:spPr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C5CBC7A-568E-46E4-9A52-1C19906F89A4}"/>
              </a:ext>
            </a:extLst>
          </p:cNvPr>
          <p:cNvGraphicFramePr/>
          <p:nvPr/>
        </p:nvGraphicFramePr>
        <p:xfrm>
          <a:off xmlns:a="http://schemas.openxmlformats.org/drawingml/2006/main" x="647700" y="1885950"/>
          <a:ext xmlns:a="http://schemas.openxmlformats.org/drawingml/2006/main" cx="10896600" cy="2524125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2179320"/>
                <a:gridCol w="2179320"/>
                <a:gridCol w="2179320"/>
                <a:gridCol w="2179320"/>
                <a:gridCol w="2179320"/>
              </a:tblGrid>
              <a:tr h="631031"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DFC"/>
                          </a:solidFill>
                          <a:latin typeface="Helvetica"/>
                          <a:ea typeface="Helvetica"/>
                          <a:cs typeface="Helvetica"/>
                        </a:rPr>
                        <a:t>Scenario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9CFD5"/>
                      </a:solidFill>
                      <a:prstDash val="solid"/>
                    </a:lnL>
                    <a:lnR w="9525">
                      <a:solidFill>
                        <a:srgbClr val="D9CFD5"/>
                      </a:solidFill>
                      <a:prstDash val="solid"/>
                    </a:lnR>
                    <a:lnT w="9525">
                      <a:solidFill>
                        <a:srgbClr val="D9CFD5"/>
                      </a:solidFill>
                      <a:prstDash val="solid"/>
                    </a:lnT>
                    <a:lnB w="9525">
                      <a:solidFill>
                        <a:srgbClr val="D9CFD5"/>
                      </a:solidFill>
                      <a:prstDash val="solid"/>
                    </a:lnB>
                    <a:solidFill>
                      <a:srgbClr val="261A3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DFC"/>
                          </a:solidFill>
                          <a:latin typeface="Helvetica"/>
                          <a:ea typeface="Helvetica"/>
                          <a:cs typeface="Helvetica"/>
                        </a:rPr>
                        <a:t>Target share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CFD5"/>
                      </a:solidFill>
                      <a:prstDash val="solid"/>
                    </a:lnR>
                    <a:lnT w="9525">
                      <a:solidFill>
                        <a:srgbClr val="D9CFD5"/>
                      </a:solidFill>
                      <a:prstDash val="solid"/>
                    </a:lnT>
                    <a:lnB w="9525">
                      <a:solidFill>
                        <a:srgbClr val="D9CFD5"/>
                      </a:solidFill>
                      <a:prstDash val="solid"/>
                    </a:lnB>
                    <a:solidFill>
                      <a:srgbClr val="261A3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DFC"/>
                          </a:solidFill>
                          <a:latin typeface="Helvetica"/>
                          <a:ea typeface="Helvetica"/>
                          <a:cs typeface="Helvetica"/>
                        </a:rPr>
                        <a:t>Revenue upside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CFD5"/>
                      </a:solidFill>
                      <a:prstDash val="solid"/>
                    </a:lnR>
                    <a:lnT w="9525">
                      <a:solidFill>
                        <a:srgbClr val="D9CFD5"/>
                      </a:solidFill>
                      <a:prstDash val="solid"/>
                    </a:lnT>
                    <a:lnB w="9525">
                      <a:solidFill>
                        <a:srgbClr val="D9CFD5"/>
                      </a:solidFill>
                      <a:prstDash val="solid"/>
                    </a:lnB>
                    <a:solidFill>
                      <a:srgbClr val="261A3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DFC"/>
                          </a:solidFill>
                          <a:latin typeface="Helvetica"/>
                          <a:ea typeface="Helvetica"/>
                          <a:cs typeface="Helvetica"/>
                        </a:rPr>
                        <a:t>Contribution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CFD5"/>
                      </a:solidFill>
                      <a:prstDash val="solid"/>
                    </a:lnR>
                    <a:lnT w="9525">
                      <a:solidFill>
                        <a:srgbClr val="D9CFD5"/>
                      </a:solidFill>
                      <a:prstDash val="solid"/>
                    </a:lnT>
                    <a:lnB w="9525">
                      <a:solidFill>
                        <a:srgbClr val="D9CFD5"/>
                      </a:solidFill>
                      <a:prstDash val="solid"/>
                    </a:lnB>
                    <a:solidFill>
                      <a:srgbClr val="261A3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DFC"/>
                          </a:solidFill>
                          <a:latin typeface="Helvetica"/>
                          <a:ea typeface="Helvetica"/>
                          <a:cs typeface="Helvetica"/>
                        </a:rPr>
                        <a:t>Margin assumption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CFD5"/>
                      </a:solidFill>
                      <a:prstDash val="solid"/>
                    </a:lnR>
                    <a:lnT w="9525">
                      <a:solidFill>
                        <a:srgbClr val="D9CFD5"/>
                      </a:solidFill>
                      <a:prstDash val="solid"/>
                    </a:lnT>
                    <a:lnB w="9525">
                      <a:solidFill>
                        <a:srgbClr val="D9CFD5"/>
                      </a:solidFill>
                      <a:prstDash val="solid"/>
                    </a:lnB>
                    <a:solidFill>
                      <a:srgbClr val="261A31"/>
                    </a:solidFill>
                  </a:tcPr>
                </a:tc>
              </a:tr>
              <a:tr h="631031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5121B"/>
                          </a:solidFill>
                          <a:latin typeface="Helvetica"/>
                          <a:ea typeface="Helvetica"/>
                          <a:cs typeface="Helvetica"/>
                        </a:rPr>
                        <a:t>Conservative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9CFD5"/>
                      </a:solidFill>
                      <a:prstDash val="solid"/>
                    </a:lnL>
                    <a:lnR w="9525">
                      <a:solidFill>
                        <a:srgbClr val="D9CFD5"/>
                      </a:solidFill>
                      <a:prstDash val="solid"/>
                    </a:lnR>
                    <a:lnB w="9525">
                      <a:solidFill>
                        <a:srgbClr val="D9CFD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5121B"/>
                          </a:solidFill>
                          <a:latin typeface="Helvetica"/>
                          <a:ea typeface="Helvetica"/>
                          <a:cs typeface="Helvetica"/>
                        </a:rPr>
                        <a:t>2.25%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CFD5"/>
                      </a:solidFill>
                      <a:prstDash val="solid"/>
                    </a:lnR>
                    <a:lnB w="9525">
                      <a:solidFill>
                        <a:srgbClr val="D9CFD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5121B"/>
                          </a:solidFill>
                          <a:latin typeface="Helvetica"/>
                          <a:ea typeface="Helvetica"/>
                          <a:cs typeface="Helvetica"/>
                        </a:rPr>
                        <a:t>£1.50m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CFD5"/>
                      </a:solidFill>
                      <a:prstDash val="solid"/>
                    </a:lnR>
                    <a:lnB w="9525">
                      <a:solidFill>
                        <a:srgbClr val="D9CFD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5121B"/>
                          </a:solidFill>
                          <a:latin typeface="Helvetica"/>
                          <a:ea typeface="Helvetica"/>
                          <a:cs typeface="Helvetica"/>
                        </a:rPr>
                        <a:t>£0.45m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CFD5"/>
                      </a:solidFill>
                      <a:prstDash val="solid"/>
                    </a:lnR>
                    <a:lnB w="9525">
                      <a:solidFill>
                        <a:srgbClr val="D9CFD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5121B"/>
                          </a:solidFill>
                          <a:latin typeface="Helvetica"/>
                          <a:ea typeface="Helvetica"/>
                          <a:cs typeface="Helvetica"/>
                        </a:rPr>
                        <a:t>30%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CFD5"/>
                      </a:solidFill>
                      <a:prstDash val="solid"/>
                    </a:lnR>
                    <a:lnB w="9525">
                      <a:solidFill>
                        <a:srgbClr val="D9CFD5"/>
                      </a:solidFill>
                      <a:prstDash val="solid"/>
                    </a:lnB>
                  </a:tcPr>
                </a:tc>
              </a:tr>
              <a:tr h="631031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5121B"/>
                          </a:solidFill>
                          <a:latin typeface="Helvetica"/>
                          <a:ea typeface="Helvetica"/>
                          <a:cs typeface="Helvetica"/>
                        </a:rPr>
                        <a:t>Base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9CFD5"/>
                      </a:solidFill>
                      <a:prstDash val="solid"/>
                    </a:lnL>
                    <a:lnR w="9525">
                      <a:solidFill>
                        <a:srgbClr val="D9CFD5"/>
                      </a:solidFill>
                      <a:prstDash val="solid"/>
                    </a:lnR>
                    <a:lnB w="9525">
                      <a:solidFill>
                        <a:srgbClr val="D9CFD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5121B"/>
                          </a:solidFill>
                          <a:latin typeface="Helvetica"/>
                          <a:ea typeface="Helvetica"/>
                          <a:cs typeface="Helvetica"/>
                        </a:rPr>
                        <a:t>2.50%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CFD5"/>
                      </a:solidFill>
                      <a:prstDash val="solid"/>
                    </a:lnR>
                    <a:lnB w="9525">
                      <a:solidFill>
                        <a:srgbClr val="D9CFD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5121B"/>
                          </a:solidFill>
                          <a:latin typeface="Helvetica"/>
                          <a:ea typeface="Helvetica"/>
                          <a:cs typeface="Helvetica"/>
                        </a:rPr>
                        <a:t>£3.00m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CFD5"/>
                      </a:solidFill>
                      <a:prstDash val="solid"/>
                    </a:lnR>
                    <a:lnB w="9525">
                      <a:solidFill>
                        <a:srgbClr val="D9CFD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5121B"/>
                          </a:solidFill>
                          <a:latin typeface="Helvetica"/>
                          <a:ea typeface="Helvetica"/>
                          <a:cs typeface="Helvetica"/>
                        </a:rPr>
                        <a:t>£1.20m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CFD5"/>
                      </a:solidFill>
                      <a:prstDash val="solid"/>
                    </a:lnR>
                    <a:lnB w="9525">
                      <a:solidFill>
                        <a:srgbClr val="D9CFD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5121B"/>
                          </a:solidFill>
                          <a:latin typeface="Helvetica"/>
                          <a:ea typeface="Helvetica"/>
                          <a:cs typeface="Helvetica"/>
                        </a:rPr>
                        <a:t>40%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CFD5"/>
                      </a:solidFill>
                      <a:prstDash val="solid"/>
                    </a:lnR>
                    <a:lnB w="9525">
                      <a:solidFill>
                        <a:srgbClr val="D9CFD5"/>
                      </a:solidFill>
                      <a:prstDash val="solid"/>
                    </a:lnB>
                  </a:tcPr>
                </a:tc>
              </a:tr>
              <a:tr h="631031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5121B"/>
                          </a:solidFill>
                          <a:latin typeface="Helvetica"/>
                          <a:ea typeface="Helvetica"/>
                          <a:cs typeface="Helvetica"/>
                        </a:rPr>
                        <a:t>Ambitious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9CFD5"/>
                      </a:solidFill>
                      <a:prstDash val="solid"/>
                    </a:lnL>
                    <a:lnR w="9525">
                      <a:solidFill>
                        <a:srgbClr val="D9CFD5"/>
                      </a:solidFill>
                      <a:prstDash val="solid"/>
                    </a:lnR>
                    <a:lnB w="9525">
                      <a:solidFill>
                        <a:srgbClr val="D9CFD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5121B"/>
                          </a:solidFill>
                          <a:latin typeface="Helvetica"/>
                          <a:ea typeface="Helvetica"/>
                          <a:cs typeface="Helvetica"/>
                        </a:rPr>
                        <a:t>3.00%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CFD5"/>
                      </a:solidFill>
                      <a:prstDash val="solid"/>
                    </a:lnR>
                    <a:lnB w="9525">
                      <a:solidFill>
                        <a:srgbClr val="D9CFD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5121B"/>
                          </a:solidFill>
                          <a:latin typeface="Helvetica"/>
                          <a:ea typeface="Helvetica"/>
                          <a:cs typeface="Helvetica"/>
                        </a:rPr>
                        <a:t>£6.00m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CFD5"/>
                      </a:solidFill>
                      <a:prstDash val="solid"/>
                    </a:lnR>
                    <a:lnB w="9525">
                      <a:solidFill>
                        <a:srgbClr val="D9CFD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5121B"/>
                          </a:solidFill>
                          <a:latin typeface="Helvetica"/>
                          <a:ea typeface="Helvetica"/>
                          <a:cs typeface="Helvetica"/>
                        </a:rPr>
                        <a:t>£3.00m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CFD5"/>
                      </a:solidFill>
                      <a:prstDash val="solid"/>
                    </a:lnR>
                    <a:lnB w="9525">
                      <a:solidFill>
                        <a:srgbClr val="D9CFD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5121B"/>
                          </a:solidFill>
                          <a:latin typeface="Helvetica"/>
                          <a:ea typeface="Helvetica"/>
                          <a:cs typeface="Helvetica"/>
                        </a:rPr>
                        <a:t>50%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CFD5"/>
                      </a:solidFill>
                      <a:prstDash val="solid"/>
                    </a:lnR>
                    <a:lnB w="9525">
                      <a:solidFill>
                        <a:srgbClr val="D9CFD5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16192B5-FE97-4EB5-AE61-BED4CA64B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619625"/>
            <a:ext cx="10896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750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750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pPr>
            <a:r>
              <a:rPr sz="750" b="1" i="0">
                <a:solidFill>
                  <a:srgbClr val="FF654F"/>
                </a:solidFill>
                <a:latin typeface="Helvetica"/>
                <a:ea typeface="Helvetica"/>
                <a:cs typeface="Helvetica"/>
              </a:rPr>
              <a:t>ILLUSTRATIVE SCENARIOS. MARKET SHARE AND CONTRIBUTION MARGIN ARE ASSUMPTIONS, NOT COMPANY FORECASTS.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0E2AD14-D8E7-49E6-BBEC-F093368AA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572125"/>
            <a:ext cx="20955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pPr>
            <a:r>
              <a: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rPr>
              <a:t>COMMERCIAL CONSEQUENCE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D61E982-1E57-4C95-A898-A2D5C9B7E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5505450"/>
            <a:ext cx="8382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200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1200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pPr>
            <a:r>
              <a:rPr sz="1200" b="1" i="0">
                <a:solidFill>
                  <a:srgbClr val="15121B"/>
                </a:solidFill>
                <a:latin typeface="Helvetica"/>
                <a:ea typeface="Helvetica"/>
                <a:cs typeface="Helvetica"/>
              </a:rPr>
              <a:t>A 0.5-point share gain implies about £3.0m in incremental annual revenue in the base scenario.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14F52D4-1474-4EE0-8E7D-6378A4610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134100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825" b="1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825" b="1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pPr>
            <a:r>
              <a:rPr sz="825" b="1" i="0">
                <a:solidFill>
                  <a:srgbClr val="756D7A"/>
                </a:solidFill>
                <a:latin typeface="Helvetica"/>
                <a:ea typeface="Helvetica"/>
                <a:cs typeface="Helvetica"/>
              </a:rPr>
              <a:t>SOURCES: S8, S1A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B3E0638-37B3-4E6E-BA37-5C94B0216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6134100"/>
            <a:ext cx="4876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r">
              <a:defRPr sz="825" b="1" i="0">
                <a:solidFill>
                  <a:srgbClr val="5A2E78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r">
              <a:defRPr sz="825" b="1" i="0">
                <a:solidFill>
                  <a:srgbClr val="5A2E78"/>
                </a:solidFill>
                <a:latin typeface="Helvetica"/>
                <a:ea typeface="Helvetica"/>
                <a:cs typeface="Helvetica"/>
              </a:defRPr>
            </a:pPr>
            <a:r>
              <a:rPr sz="825" b="1" i="0">
                <a:solidFill>
                  <a:srgbClr val="5A2E78"/>
                </a:solidFill>
                <a:latin typeface="Helvetica"/>
                <a:ea typeface="Helvetica"/>
                <a:cs typeface="Helvetica"/>
              </a:rPr>
              <a:t>ESTIMATE + ASSUMPTION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F4EA22D-1479-4757-81E6-DF9B226DA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515100"/>
            <a:ext cx="17145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675" b="1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675" b="1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pPr>
            <a:r>
              <a:rPr sz="675" b="1" i="0">
                <a:solidFill>
                  <a:srgbClr val="756D7A"/>
                </a:solidFill>
                <a:latin typeface="Helvetica"/>
                <a:ea typeface="Helvetica"/>
                <a:cs typeface="Helvetica"/>
              </a:rPr>
              <a:t>NARRATIIVE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2884B9B-F530-41A2-9F28-86AE4FAB6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8763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r">
              <a:defRPr sz="675" b="0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r">
              <a:defRPr sz="675" b="0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pPr>
            <a:r>
              <a:rPr sz="675" b="0" i="0">
                <a:solidFill>
                  <a:srgbClr val="756D7A"/>
                </a:solidFill>
                <a:latin typeface="Helvetica"/>
                <a:ea typeface="Helvetica"/>
                <a:cs typeface="Helvetica"/>
              </a:rPr>
              <a:t>23 / 30</a:t>
            </a:r>
          </a:p>
        </p:txBody>
      </p:sp>
    </p:spTree>
    <p:extLst>
      <p:ext uri="{BB962C8B-B14F-4D97-AF65-F5344CB8AC3E}">
        <p14:creationId xmlns:p14="http://schemas.microsoft.com/office/powerpoint/2010/main" val="583019089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6F0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2FCE84B-BC33-4433-92BD-00ACCB0C2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3375"/>
            <a:ext cx="5715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pPr>
            <a:r>
              <a: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rPr>
              <a:t>ACT 5 / THE GROWTH SYSTEM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C8B8FDE-A92A-4249-9876-37D7A5812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85800"/>
            <a:ext cx="1047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2325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2325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pPr>
            <a:r>
              <a:rPr sz="2325" b="1" i="0">
                <a:solidFill>
                  <a:srgbClr val="15121B"/>
                </a:solidFill>
                <a:latin typeface="Helvetica"/>
                <a:ea typeface="Helvetica"/>
                <a:cs typeface="Helvetica"/>
              </a:rPr>
              <a:t>Attention Strategy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E4D9213-2AAE-49C9-BD76-99A9E6EF9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400175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CFD5"/>
          </a:solidFill>
          <a:ln xmlns:a="http://schemas.openxmlformats.org/drawingml/2006/main" w="0">
            <a:solidFill>
              <a:srgbClr val="D9CFD5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3845C89-BC00-4F14-BBF6-4D15021A3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000250"/>
            <a:ext cx="2400300" cy="2524125"/>
          </a:xfrm>
          <a:prstGeom xmlns:a="http://schemas.openxmlformats.org/drawingml/2006/main" prst="roundRect">
            <a:avLst>
              <a:gd name="adj" fmla="val 3175"/>
            </a:avLst>
          </a:prstGeom>
          <a:solidFill xmlns:a="http://schemas.openxmlformats.org/drawingml/2006/main">
            <a:srgbClr val="261A31"/>
          </a:solidFill>
          <a:ln xmlns:a="http://schemas.openxmlformats.org/drawingml/2006/main" w="0">
            <a:solidFill>
              <a:srgbClr val="261A31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1ECAA5F-B9A5-4D2D-8D89-A7A1EA2AB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381250"/>
            <a:ext cx="1943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750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750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pPr>
            <a:r>
              <a:rPr sz="750" b="1" i="0">
                <a:solidFill>
                  <a:srgbClr val="FF654F"/>
                </a:solidFill>
                <a:latin typeface="Helvetica"/>
                <a:ea typeface="Helvetica"/>
                <a:cs typeface="Helvetica"/>
              </a:rPr>
              <a:t>NOTICE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CA586E1-6385-4F9F-9A64-00DDAEB2C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952750"/>
            <a:ext cx="19431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500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1500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pPr>
            <a:r>
              <a:rPr sz="1500" b="1" i="0">
                <a:solidFill>
                  <a:srgbClr val="FFFDFC"/>
                </a:solidFill>
                <a:latin typeface="Helvetica"/>
                <a:ea typeface="Helvetica"/>
                <a:cs typeface="Helvetica"/>
              </a:rPr>
              <a:t>One coral evidence signal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611A27D-39CC-47B2-9C05-C3794EC1F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2000250"/>
            <a:ext cx="2400300" cy="2524125"/>
          </a:xfrm>
          <a:prstGeom xmlns:a="http://schemas.openxmlformats.org/drawingml/2006/main" prst="roundRect">
            <a:avLst>
              <a:gd name="adj" fmla="val 3175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0">
            <a:solidFill>
              <a:srgbClr val="FFFDFC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A0D0128-48BD-4306-AC0C-B37D8B344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2381250"/>
            <a:ext cx="1943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750" b="1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750" b="1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pPr>
            <a:r>
              <a:rPr sz="750" b="1" i="0">
                <a:solidFill>
                  <a:srgbClr val="756D7A"/>
                </a:solidFill>
                <a:latin typeface="Helvetica"/>
                <a:ea typeface="Helvetica"/>
                <a:cs typeface="Helvetica"/>
              </a:rPr>
              <a:t>REMEMBER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9E8E7A0-CF68-45AB-BB73-A5DC03FEE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2952750"/>
            <a:ext cx="19431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500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1500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pPr>
            <a:r>
              <a:rPr sz="1500" b="1" i="0">
                <a:solidFill>
                  <a:srgbClr val="15121B"/>
                </a:solidFill>
                <a:latin typeface="Helvetica"/>
                <a:ea typeface="Helvetica"/>
                <a:cs typeface="Helvetica"/>
              </a:rPr>
              <a:t>Proof before promise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F2867B0-68DF-4FA9-ACA3-1DC1793E1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000250"/>
            <a:ext cx="2400300" cy="2524125"/>
          </a:xfrm>
          <a:prstGeom xmlns:a="http://schemas.openxmlformats.org/drawingml/2006/main" prst="roundRect">
            <a:avLst>
              <a:gd name="adj" fmla="val 3175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0">
            <a:solidFill>
              <a:srgbClr val="FFFDFC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11F37FE-37A8-47DC-994A-E2A271938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381250"/>
            <a:ext cx="1943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750" b="1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750" b="1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pPr>
            <a:r>
              <a:rPr sz="750" b="1" i="0">
                <a:solidFill>
                  <a:srgbClr val="756D7A"/>
                </a:solidFill>
                <a:latin typeface="Helvetica"/>
                <a:ea typeface="Helvetica"/>
                <a:cs typeface="Helvetica"/>
              </a:rPr>
              <a:t>CONNECT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175C15F-16D9-4304-81C6-5960BA5DB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952750"/>
            <a:ext cx="19431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500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1500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pPr>
            <a:r>
              <a:rPr sz="1500" b="1" i="0">
                <a:solidFill>
                  <a:srgbClr val="15121B"/>
                </a:solidFill>
                <a:latin typeface="Helvetica"/>
                <a:ea typeface="Helvetica"/>
                <a:cs typeface="Helvetica"/>
              </a:rPr>
              <a:t>Science with intimate cat behaviour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D5A9221-E51A-4052-996C-F4F56D843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2000250"/>
            <a:ext cx="2400300" cy="2524125"/>
          </a:xfrm>
          <a:prstGeom xmlns:a="http://schemas.openxmlformats.org/drawingml/2006/main" prst="roundRect">
            <a:avLst>
              <a:gd name="adj" fmla="val 3175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0">
            <a:solidFill>
              <a:srgbClr val="FFFDFC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5FB1B97-F691-41A4-8FC4-B9CC44154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2381250"/>
            <a:ext cx="1943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750" b="1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750" b="1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pPr>
            <a:r>
              <a:rPr sz="750" b="1" i="0">
                <a:solidFill>
                  <a:srgbClr val="756D7A"/>
                </a:solidFill>
                <a:latin typeface="Helvetica"/>
                <a:ea typeface="Helvetica"/>
                <a:cs typeface="Helvetica"/>
              </a:rPr>
              <a:t>VERIFY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7F2C195-91F0-44F2-AECC-C6D9A134D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2952750"/>
            <a:ext cx="19431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500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1500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pPr>
            <a:r>
              <a:rPr sz="1500" b="1" i="0">
                <a:solidFill>
                  <a:srgbClr val="15121B"/>
                </a:solidFill>
                <a:latin typeface="Helvetica"/>
                <a:ea typeface="Helvetica"/>
                <a:cs typeface="Helvetica"/>
              </a:rPr>
              <a:t>A readable path to the source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273F6FD-381B-4A99-8DA2-EC1B8341D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572125"/>
            <a:ext cx="20955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pPr>
            <a:r>
              <a: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rPr>
              <a:t>COMMERCIAL CONSEQUENCE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DD96E56-3846-489B-872E-B33223CEC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5505450"/>
            <a:ext cx="8382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200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1200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pPr>
            <a:r>
              <a:rPr sz="1200" b="1" i="0">
                <a:solidFill>
                  <a:srgbClr val="15121B"/>
                </a:solidFill>
                <a:latin typeface="Helvetica"/>
                <a:ea typeface="Helvetica"/>
                <a:cs typeface="Helvetica"/>
              </a:rPr>
              <a:t>Earn memory by repeating one visible evidence signal across every decision context.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D6DDE0B-3E41-4930-A65D-B2D047F88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134100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825" b="1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825" b="1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pPr>
            <a:r>
              <a:rPr sz="825" b="1" i="0">
                <a:solidFill>
                  <a:srgbClr val="756D7A"/>
                </a:solidFill>
                <a:latin typeface="Helvetica"/>
                <a:ea typeface="Helvetica"/>
                <a:cs typeface="Helvetica"/>
              </a:rPr>
              <a:t>SOURCES: S2, S5, T1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1E106C9-F431-42B4-B315-8FFAF9A94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6134100"/>
            <a:ext cx="4876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r">
              <a:defRPr sz="825" b="1" i="0">
                <a:solidFill>
                  <a:srgbClr val="5A2E78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r">
              <a:defRPr sz="825" b="1" i="0">
                <a:solidFill>
                  <a:srgbClr val="5A2E78"/>
                </a:solidFill>
                <a:latin typeface="Helvetica"/>
                <a:ea typeface="Helvetica"/>
                <a:cs typeface="Helvetica"/>
              </a:defRPr>
            </a:pPr>
            <a:r>
              <a:rPr sz="825" b="1" i="0">
                <a:solidFill>
                  <a:srgbClr val="5A2E78"/>
                </a:solidFill>
                <a:latin typeface="Helvetica"/>
                <a:ea typeface="Helvetica"/>
                <a:cs typeface="Helvetica"/>
              </a:rPr>
              <a:t>PROPOSED ATTENTION STRATEGY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67A396A-9C22-47DB-9BA4-9B9A0340A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515100"/>
            <a:ext cx="17145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675" b="1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675" b="1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pPr>
            <a:r>
              <a:rPr sz="675" b="1" i="0">
                <a:solidFill>
                  <a:srgbClr val="756D7A"/>
                </a:solidFill>
                <a:latin typeface="Helvetica"/>
                <a:ea typeface="Helvetica"/>
                <a:cs typeface="Helvetica"/>
              </a:rPr>
              <a:t>NARRATIIVE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69D3DEC-8ABE-4D24-9E70-1873AB9DA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8763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r">
              <a:defRPr sz="675" b="0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r">
              <a:defRPr sz="675" b="0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pPr>
            <a:r>
              <a:rPr sz="675" b="0" i="0">
                <a:solidFill>
                  <a:srgbClr val="756D7A"/>
                </a:solidFill>
                <a:latin typeface="Helvetica"/>
                <a:ea typeface="Helvetica"/>
                <a:cs typeface="Helvetica"/>
              </a:rPr>
              <a:t>24 / 30</a:t>
            </a:r>
          </a:p>
        </p:txBody>
      </p:sp>
    </p:spTree>
    <p:extLst>
      <p:ext uri="{BB962C8B-B14F-4D97-AF65-F5344CB8AC3E}">
        <p14:creationId xmlns:p14="http://schemas.microsoft.com/office/powerpoint/2010/main" val="564021514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6F0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B827269-B143-4108-93A9-26893ED89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3375"/>
            <a:ext cx="5715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pPr>
            <a:r>
              <a: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rPr>
              <a:t>ACT 5 / THE GROWTH SYSTEM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6686B0F-AA54-40C7-A8DD-37FFA95C0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85800"/>
            <a:ext cx="1047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2325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2325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pPr>
            <a:r>
              <a:rPr sz="2325" b="1" i="0">
                <a:solidFill>
                  <a:srgbClr val="15121B"/>
                </a:solidFill>
                <a:latin typeface="Helvetica"/>
                <a:ea typeface="Helvetica"/>
                <a:cs typeface="Helvetica"/>
              </a:rPr>
              <a:t>Channel Roles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823BC85-B3D1-48CE-9EA0-177E6EB04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400175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CFD5"/>
          </a:solidFill>
          <a:ln xmlns:a="http://schemas.openxmlformats.org/drawingml/2006/main" w="0">
            <a:solidFill>
              <a:srgbClr val="D9CFD5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A43EC9E-9399-40F8-A782-58987FE30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714500"/>
            <a:ext cx="2000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750" b="1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750" b="1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pPr>
            <a:r>
              <a:rPr sz="750" b="1" i="0">
                <a:solidFill>
                  <a:srgbClr val="756D7A"/>
                </a:solidFill>
                <a:latin typeface="Helvetica"/>
                <a:ea typeface="Helvetica"/>
                <a:cs typeface="Helvetica"/>
              </a:rPr>
              <a:t>DTC QUIZ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53E7D33-BFCD-4666-A6F3-290A4E56E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1676400"/>
            <a:ext cx="485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425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1425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pPr>
            <a:r>
              <a:rPr sz="1425" b="1" i="0">
                <a:solidFill>
                  <a:srgbClr val="15121B"/>
                </a:solidFill>
                <a:latin typeface="Helvetica"/>
                <a:ea typeface="Helvetica"/>
                <a:cs typeface="Helvetica"/>
              </a:rPr>
              <a:t>Discovery and education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5CDBDF2-2B43-4A15-AFE5-98179E3C8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1714500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r">
              <a:defRPr sz="825" b="1" i="0">
                <a:solidFill>
                  <a:srgbClr val="5A2E78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r">
              <a:defRPr sz="825" b="1" i="0">
                <a:solidFill>
                  <a:srgbClr val="5A2E78"/>
                </a:solidFill>
                <a:latin typeface="Helvetica"/>
                <a:ea typeface="Helvetica"/>
                <a:cs typeface="Helvetica"/>
              </a:defRPr>
            </a:pPr>
            <a:r>
              <a:rPr sz="825" b="1" i="0">
                <a:solidFill>
                  <a:srgbClr val="5A2E78"/>
                </a:solidFill>
                <a:latin typeface="Helvetica"/>
                <a:ea typeface="Helvetica"/>
                <a:cs typeface="Helvetica"/>
              </a:rPr>
              <a:t>Personalised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273097E-13B6-4F23-B392-737E66A7D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114550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CFD5"/>
          </a:solidFill>
          <a:ln xmlns:a="http://schemas.openxmlformats.org/drawingml/2006/main" w="0">
            <a:solidFill>
              <a:srgbClr val="D9CFD5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3A55048-E943-441B-BB77-E4377D2D5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362200"/>
            <a:ext cx="2000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750" b="1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750" b="1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pPr>
            <a:r>
              <a:rPr sz="750" b="1" i="0">
                <a:solidFill>
                  <a:srgbClr val="756D7A"/>
                </a:solidFill>
                <a:latin typeface="Helvetica"/>
                <a:ea typeface="Helvetica"/>
                <a:cs typeface="Helvetica"/>
              </a:rPr>
              <a:t>CRM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FCB8166-087B-46EE-924A-BD0D0B584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2324100"/>
            <a:ext cx="485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425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1425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pPr>
            <a:r>
              <a:rPr sz="1425" b="1" i="0">
                <a:solidFill>
                  <a:srgbClr val="15121B"/>
                </a:solidFill>
                <a:latin typeface="Helvetica"/>
                <a:ea typeface="Helvetica"/>
                <a:cs typeface="Helvetica"/>
              </a:rPr>
              <a:t>Trust and retention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B9BBA0E-5D32-40E4-9288-4CD3654BB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362200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r">
              <a:defRPr sz="825" b="1" i="0">
                <a:solidFill>
                  <a:srgbClr val="5A2E78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r">
              <a:defRPr sz="825" b="1" i="0">
                <a:solidFill>
                  <a:srgbClr val="5A2E78"/>
                </a:solidFill>
                <a:latin typeface="Helvetica"/>
                <a:ea typeface="Helvetica"/>
                <a:cs typeface="Helvetica"/>
              </a:defRPr>
            </a:pPr>
            <a:r>
              <a:rPr sz="825" b="1" i="0">
                <a:solidFill>
                  <a:srgbClr val="5A2E78"/>
                </a:solidFill>
                <a:latin typeface="Helvetica"/>
                <a:ea typeface="Helvetica"/>
                <a:cs typeface="Helvetica"/>
              </a:rPr>
              <a:t>First party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441BEEF-425C-4E2C-8178-6819BFE79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762250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CFD5"/>
          </a:solidFill>
          <a:ln xmlns:a="http://schemas.openxmlformats.org/drawingml/2006/main" w="0">
            <a:solidFill>
              <a:srgbClr val="D9CFD5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3AB0FD8-580E-4842-B7C3-C5F437FB0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933700"/>
            <a:ext cx="108966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8D8D2"/>
          </a:solidFill>
          <a:ln xmlns:a="http://schemas.openxmlformats.org/drawingml/2006/main" w="0">
            <a:solidFill>
              <a:srgbClr val="F8D8D2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8A63AF4-7924-41FD-ADB6-0EA0E9D6A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009900"/>
            <a:ext cx="2000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750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750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pPr>
            <a:r>
              <a:rPr sz="750" b="1" i="0">
                <a:solidFill>
                  <a:srgbClr val="FF654F"/>
                </a:solidFill>
                <a:latin typeface="Helvetica"/>
                <a:ea typeface="Helvetica"/>
                <a:cs typeface="Helvetica"/>
              </a:rPr>
              <a:t>RETAIL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78C4987-CBE0-44F3-B89D-8B84C4EEE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2971800"/>
            <a:ext cx="485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425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1425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pPr>
            <a:r>
              <a:rPr sz="1425" b="1" i="0">
                <a:solidFill>
                  <a:srgbClr val="15121B"/>
                </a:solidFill>
                <a:latin typeface="Helvetica"/>
                <a:ea typeface="Helvetica"/>
                <a:cs typeface="Helvetica"/>
              </a:rPr>
              <a:t>Conversion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8CF9112-279F-4185-A64B-4ACEFBD52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009900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r">
              <a:defRPr sz="825" b="1" i="0">
                <a:solidFill>
                  <a:srgbClr val="5A2E78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r">
              <a:defRPr sz="825" b="1" i="0">
                <a:solidFill>
                  <a:srgbClr val="5A2E78"/>
                </a:solidFill>
                <a:latin typeface="Helvetica"/>
                <a:ea typeface="Helvetica"/>
                <a:cs typeface="Helvetica"/>
              </a:defRPr>
            </a:pPr>
            <a:r>
              <a:rPr sz="825" b="1" i="0">
                <a:solidFill>
                  <a:srgbClr val="5A2E78"/>
                </a:solidFill>
                <a:latin typeface="Helvetica"/>
                <a:ea typeface="Helvetica"/>
                <a:cs typeface="Helvetica"/>
              </a:rPr>
              <a:t>Unaided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8FDF997-DE77-4356-92A8-3BA4472AB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409950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CFD5"/>
          </a:solidFill>
          <a:ln xmlns:a="http://schemas.openxmlformats.org/drawingml/2006/main" w="0">
            <a:solidFill>
              <a:srgbClr val="D9CFD5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EA99B16-7A5A-4479-83B9-8744D5692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657600"/>
            <a:ext cx="2000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750" b="1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750" b="1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pPr>
            <a:r>
              <a:rPr sz="750" b="1" i="0">
                <a:solidFill>
                  <a:srgbClr val="756D7A"/>
                </a:solidFill>
                <a:latin typeface="Helvetica"/>
                <a:ea typeface="Helvetica"/>
                <a:cs typeface="Helvetica"/>
              </a:rPr>
              <a:t>EARNED / SEARCH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C75B2D8-2FE5-4667-94F4-677AA6537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3619500"/>
            <a:ext cx="485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425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1425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pPr>
            <a:r>
              <a:rPr sz="1425" b="1" i="0">
                <a:solidFill>
                  <a:srgbClr val="15121B"/>
                </a:solidFill>
                <a:latin typeface="Helvetica"/>
                <a:ea typeface="Helvetica"/>
                <a:cs typeface="Helvetica"/>
              </a:rPr>
              <a:t>Scale discovery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BF4822D-2E51-4EE5-A6C9-436C5F6A3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657600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r">
              <a:defRPr sz="825" b="1" i="0">
                <a:solidFill>
                  <a:srgbClr val="5A2E78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r">
              <a:defRPr sz="825" b="1" i="0">
                <a:solidFill>
                  <a:srgbClr val="5A2E78"/>
                </a:solidFill>
                <a:latin typeface="Helvetica"/>
                <a:ea typeface="Helvetica"/>
                <a:cs typeface="Helvetica"/>
              </a:defRPr>
            </a:pPr>
            <a:r>
              <a:rPr sz="825" b="1" i="0">
                <a:solidFill>
                  <a:srgbClr val="5A2E78"/>
                </a:solidFill>
                <a:latin typeface="Helvetica"/>
                <a:ea typeface="Helvetica"/>
                <a:cs typeface="Helvetica"/>
              </a:rPr>
              <a:t>Citable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55EA04D-09BE-4002-B87C-CAEF0EF57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57650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CFD5"/>
          </a:solidFill>
          <a:ln xmlns:a="http://schemas.openxmlformats.org/drawingml/2006/main" w="0">
            <a:solidFill>
              <a:srgbClr val="D9CFD5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6668B5E-43E9-42C7-B6F7-2D1491056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305300"/>
            <a:ext cx="2000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750" b="1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750" b="1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pPr>
            <a:r>
              <a:rPr sz="750" b="1" i="0">
                <a:solidFill>
                  <a:srgbClr val="756D7A"/>
                </a:solidFill>
                <a:latin typeface="Helvetica"/>
                <a:ea typeface="Helvetica"/>
                <a:cs typeface="Helvetica"/>
              </a:rPr>
              <a:t>PAID SOCIAL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08463E2-25FF-4C38-8D32-3FB6DFB5A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4267200"/>
            <a:ext cx="485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425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1425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pPr>
            <a:r>
              <a:rPr sz="1425" b="1" i="0">
                <a:solidFill>
                  <a:srgbClr val="15121B"/>
                </a:solidFill>
                <a:latin typeface="Helvetica"/>
                <a:ea typeface="Helvetica"/>
                <a:cs typeface="Helvetica"/>
              </a:rPr>
              <a:t>Volume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8718FDD-F65E-489B-983C-880289CB9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4305300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r">
              <a:defRPr sz="825" b="1" i="0">
                <a:solidFill>
                  <a:srgbClr val="5A2E78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r">
              <a:defRPr sz="825" b="1" i="0">
                <a:solidFill>
                  <a:srgbClr val="5A2E78"/>
                </a:solidFill>
                <a:latin typeface="Helvetica"/>
                <a:ea typeface="Helvetica"/>
                <a:cs typeface="Helvetica"/>
              </a:defRPr>
            </a:pPr>
            <a:r>
              <a:rPr sz="825" b="1" i="0">
                <a:solidFill>
                  <a:srgbClr val="5A2E78"/>
                </a:solidFill>
                <a:latin typeface="Helvetica"/>
                <a:ea typeface="Helvetica"/>
                <a:cs typeface="Helvetica"/>
              </a:rPr>
              <a:t>Rebalanced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5158F9E-7FD0-45FA-B9CF-BA3259AEF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572125"/>
            <a:ext cx="20955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pPr>
            <a:r>
              <a: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rPr>
              <a:t>COMMERCIAL CONSEQUENCE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09BFB54-21FA-494B-B33C-4FF59EAD5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5505450"/>
            <a:ext cx="8382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200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1200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pPr>
            <a:r>
              <a:rPr sz="1200" b="1" i="0">
                <a:solidFill>
                  <a:srgbClr val="15121B"/>
                </a:solidFill>
                <a:latin typeface="Helvetica"/>
                <a:ea typeface="Helvetica"/>
                <a:cs typeface="Helvetica"/>
              </a:rPr>
              <a:t>Channels remain hypotheses until channel economics and conversion evidence are available.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A918DB7-F922-4AA6-8039-CFEE0302D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134100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825" b="1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825" b="1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pPr>
            <a:r>
              <a:rPr sz="825" b="1" i="0">
                <a:solidFill>
                  <a:srgbClr val="756D7A"/>
                </a:solidFill>
                <a:latin typeface="Helvetica"/>
                <a:ea typeface="Helvetica"/>
                <a:cs typeface="Helvetica"/>
              </a:rPr>
              <a:t>SOURCES: T1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BBA0B80-9CE3-4629-8A8D-A42DC4ED4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6134100"/>
            <a:ext cx="4876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r">
              <a:defRPr sz="825" b="1" i="0">
                <a:solidFill>
                  <a:srgbClr val="5A2E78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r">
              <a:defRPr sz="825" b="1" i="0">
                <a:solidFill>
                  <a:srgbClr val="5A2E78"/>
                </a:solidFill>
                <a:latin typeface="Helvetica"/>
                <a:ea typeface="Helvetica"/>
                <a:cs typeface="Helvetica"/>
              </a:defRPr>
            </a:pPr>
            <a:r>
              <a:rPr sz="825" b="1" i="0">
                <a:solidFill>
                  <a:srgbClr val="5A2E78"/>
                </a:solidFill>
                <a:latin typeface="Helvetica"/>
                <a:ea typeface="Helvetica"/>
                <a:cs typeface="Helvetica"/>
              </a:rPr>
              <a:t>APPROVED STRATEGY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0C8C5CD-B396-4518-9757-03F4E2651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515100"/>
            <a:ext cx="17145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675" b="1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675" b="1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pPr>
            <a:r>
              <a:rPr sz="675" b="1" i="0">
                <a:solidFill>
                  <a:srgbClr val="756D7A"/>
                </a:solidFill>
                <a:latin typeface="Helvetica"/>
                <a:ea typeface="Helvetica"/>
                <a:cs typeface="Helvetica"/>
              </a:rPr>
              <a:t>NARRATIIVE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1D4D8A6-EAB5-4AD1-9CF9-AE31F6C71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8763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r">
              <a:defRPr sz="675" b="0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r">
              <a:defRPr sz="675" b="0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pPr>
            <a:r>
              <a:rPr sz="675" b="0" i="0">
                <a:solidFill>
                  <a:srgbClr val="756D7A"/>
                </a:solidFill>
                <a:latin typeface="Helvetica"/>
                <a:ea typeface="Helvetica"/>
                <a:cs typeface="Helvetica"/>
              </a:rPr>
              <a:t>25 / 30</a:t>
            </a:r>
          </a:p>
        </p:txBody>
      </p:sp>
    </p:spTree>
    <p:extLst>
      <p:ext uri="{BB962C8B-B14F-4D97-AF65-F5344CB8AC3E}">
        <p14:creationId xmlns:p14="http://schemas.microsoft.com/office/powerpoint/2010/main" val="432404021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6F0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D1C1597-D3E9-498F-9B1F-B1FC5783D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3375"/>
            <a:ext cx="5715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pPr>
            <a:r>
              <a: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rPr>
              <a:t>ACT 5 / THE GROWTH SYSTEM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7F522F2-29CB-4B9F-BFD0-76A3C71AE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85800"/>
            <a:ext cx="1047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2325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2325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pPr>
            <a:r>
              <a:rPr sz="2325" b="1" i="0">
                <a:solidFill>
                  <a:srgbClr val="15121B"/>
                </a:solidFill>
                <a:latin typeface="Helvetica"/>
                <a:ea typeface="Helvetica"/>
                <a:cs typeface="Helvetica"/>
              </a:rPr>
              <a:t>Content / Campaign System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C61F6F1-D8C1-4F4A-9ADC-AFC99A2D1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400175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CFD5"/>
          </a:solidFill>
          <a:ln xmlns:a="http://schemas.openxmlformats.org/drawingml/2006/main" w="0">
            <a:solidFill>
              <a:srgbClr val="D9CFD5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4DC57B6-EBAD-4772-838E-D43710137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809750"/>
            <a:ext cx="7810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261A31"/>
          </a:solidFill>
          <a:ln xmlns:a="http://schemas.openxmlformats.org/drawingml/2006/main" w="0">
            <a:solidFill>
              <a:srgbClr val="261A31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90104BF-A003-4F24-8D2B-65AD32D8F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981200"/>
            <a:ext cx="1809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975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975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pPr>
            <a:r>
              <a:rPr sz="975" b="1" i="0">
                <a:solidFill>
                  <a:srgbClr val="FFFDFC"/>
                </a:solidFill>
                <a:latin typeface="Helvetica"/>
                <a:ea typeface="Helvetica"/>
                <a:cs typeface="Helvetica"/>
              </a:rPr>
              <a:t>RETAIL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75BBA14-EBCF-415F-B7FF-4166EE4B9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38325" y="2590800"/>
            <a:ext cx="6715125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5A2E78"/>
          </a:solidFill>
          <a:ln xmlns:a="http://schemas.openxmlformats.org/drawingml/2006/main" w="0">
            <a:solidFill>
              <a:srgbClr val="5A2E78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D81C195-8C68-49DB-B23B-79D14A6CD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2762250"/>
            <a:ext cx="1809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975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975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pPr>
            <a:r>
              <a:rPr sz="975" b="1" i="0">
                <a:solidFill>
                  <a:srgbClr val="FFFDFC"/>
                </a:solidFill>
                <a:latin typeface="Helvetica"/>
                <a:ea typeface="Helvetica"/>
                <a:cs typeface="Helvetica"/>
              </a:rPr>
              <a:t>CRM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F4891B6-A6CF-4A46-8BE4-3836840B3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3371850"/>
            <a:ext cx="5619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654F"/>
          </a:solidFill>
          <a:ln xmlns:a="http://schemas.openxmlformats.org/drawingml/2006/main" w="0">
            <a:solidFill>
              <a:srgbClr val="FF654F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EE9982C-6350-410F-90B2-E3C57C410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3543300"/>
            <a:ext cx="1809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975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975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pPr>
            <a:r>
              <a:rPr sz="975" b="1" i="0">
                <a:solidFill>
                  <a:srgbClr val="FFFDFC"/>
                </a:solidFill>
                <a:latin typeface="Helvetica"/>
                <a:ea typeface="Helvetica"/>
                <a:cs typeface="Helvetica"/>
              </a:rPr>
              <a:t>EARNED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9EDCED1-55DE-43AF-A0E1-8DF314A04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29075" y="4152900"/>
            <a:ext cx="4524375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15121B"/>
          </a:solidFill>
          <a:ln xmlns:a="http://schemas.openxmlformats.org/drawingml/2006/main" w="0">
            <a:solidFill>
              <a:srgbClr val="15121B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273A026-3B2D-4AA1-A6FC-80BD9C978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324350"/>
            <a:ext cx="1809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975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975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pPr>
            <a:r>
              <a:rPr sz="975" b="1" i="0">
                <a:solidFill>
                  <a:srgbClr val="FFFDFC"/>
                </a:solidFill>
                <a:latin typeface="Helvetica"/>
                <a:ea typeface="Helvetica"/>
                <a:cs typeface="Helvetica"/>
              </a:rPr>
              <a:t>PAID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6511C80-CF2A-49AE-BF23-76C7946F9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095500"/>
            <a:ext cx="22860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575" b="1" i="0">
                <a:solidFill>
                  <a:srgbClr val="5A2E78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1575" b="1" i="0">
                <a:solidFill>
                  <a:srgbClr val="5A2E78"/>
                </a:solidFill>
                <a:latin typeface="Helvetica"/>
                <a:ea typeface="Helvetica"/>
                <a:cs typeface="Helvetica"/>
              </a:defRPr>
            </a:pPr>
            <a:r>
              <a:rPr sz="1575" b="1" i="0">
                <a:solidFill>
                  <a:srgbClr val="5A2E78"/>
                </a:solidFill>
                <a:latin typeface="Helvetica"/>
                <a:ea typeface="Helvetica"/>
                <a:cs typeface="Helvetica"/>
              </a:rPr>
              <a:t>Execution should test the proposition architecture, not multiply generic content.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ACF82BF-8BD5-4520-9654-89392635C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572125"/>
            <a:ext cx="20955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pPr>
            <a:r>
              <a: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rPr>
              <a:t>COMMERCIAL CONSEQUENCE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166343A-935D-4E3D-BFB8-BBFE45E7F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5505450"/>
            <a:ext cx="8382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200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1200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pPr>
            <a:r>
              <a:rPr sz="1200" b="1" i="0">
                <a:solidFill>
                  <a:srgbClr val="15121B"/>
                </a:solidFill>
                <a:latin typeface="Helvetica"/>
                <a:ea typeface="Helvetica"/>
                <a:cs typeface="Helvetica"/>
              </a:rPr>
              <a:t>Execution should test the proposition architecture, not multiply generic content.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3111860-7026-4EBD-94E0-E21244552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134100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825" b="1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825" b="1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pPr>
            <a:r>
              <a:rPr sz="825" b="1" i="0">
                <a:solidFill>
                  <a:srgbClr val="756D7A"/>
                </a:solidFill>
                <a:latin typeface="Helvetica"/>
                <a:ea typeface="Helvetica"/>
                <a:cs typeface="Helvetica"/>
              </a:rPr>
              <a:t>SOURCES: T1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B183748-E531-44C6-BD7B-6F0618C99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6134100"/>
            <a:ext cx="4876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r">
              <a:defRPr sz="825" b="1" i="0">
                <a:solidFill>
                  <a:srgbClr val="5A2E78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r">
              <a:defRPr sz="825" b="1" i="0">
                <a:solidFill>
                  <a:srgbClr val="5A2E78"/>
                </a:solidFill>
                <a:latin typeface="Helvetica"/>
                <a:ea typeface="Helvetica"/>
                <a:cs typeface="Helvetica"/>
              </a:defRPr>
            </a:pPr>
            <a:r>
              <a:rPr sz="825" b="1" i="0">
                <a:solidFill>
                  <a:srgbClr val="5A2E78"/>
                </a:solidFill>
                <a:latin typeface="Helvetica"/>
                <a:ea typeface="Helvetica"/>
                <a:cs typeface="Helvetica"/>
              </a:rPr>
              <a:t>APPROVED STRATEGY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38D7022-6CBB-4F64-A345-F4381CD42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515100"/>
            <a:ext cx="17145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675" b="1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675" b="1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pPr>
            <a:r>
              <a:rPr sz="675" b="1" i="0">
                <a:solidFill>
                  <a:srgbClr val="756D7A"/>
                </a:solidFill>
                <a:latin typeface="Helvetica"/>
                <a:ea typeface="Helvetica"/>
                <a:cs typeface="Helvetica"/>
              </a:rPr>
              <a:t>NARRATIIVE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F828983-4F88-4EC6-AC91-02E90068A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8763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r">
              <a:defRPr sz="675" b="0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r">
              <a:defRPr sz="675" b="0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pPr>
            <a:r>
              <a:rPr sz="675" b="0" i="0">
                <a:solidFill>
                  <a:srgbClr val="756D7A"/>
                </a:solidFill>
                <a:latin typeface="Helvetica"/>
                <a:ea typeface="Helvetica"/>
                <a:cs typeface="Helvetica"/>
              </a:rPr>
              <a:t>26 / 30</a:t>
            </a:r>
          </a:p>
        </p:txBody>
      </p:sp>
    </p:spTree>
    <p:extLst>
      <p:ext uri="{BB962C8B-B14F-4D97-AF65-F5344CB8AC3E}">
        <p14:creationId xmlns:p14="http://schemas.microsoft.com/office/powerpoint/2010/main" val="14087537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15121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286F2FE-0D00-436B-87A2-DAF9094AF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3375"/>
            <a:ext cx="5715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pPr>
            <a:r>
              <a: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rPr>
              <a:t>ACT 5 / THE GROWTH SYSTEM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C02A0E5-CA8E-4130-A439-736FA121F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85800"/>
            <a:ext cx="1047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2325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2325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pPr>
            <a:r>
              <a:rPr sz="2325" b="1" i="0">
                <a:solidFill>
                  <a:srgbClr val="FFFDFC"/>
                </a:solidFill>
                <a:latin typeface="Helvetica"/>
                <a:ea typeface="Helvetica"/>
                <a:cs typeface="Helvetica"/>
              </a:rPr>
              <a:t>Creative Direction / Next-Phase Hook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0BE1C72-EC5F-4011-A941-793AC8D11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400175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2E78"/>
          </a:solidFill>
          <a:ln xmlns:a="http://schemas.openxmlformats.org/drawingml/2006/main" w="0">
            <a:solidFill>
              <a:srgbClr val="5A2E78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57F8657-C3C4-4FE1-850F-6A576A932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952625"/>
            <a:ext cx="4762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2550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2550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pPr>
            <a:r>
              <a:rPr sz="2550" b="1" i="0">
                <a:solidFill>
                  <a:srgbClr val="FFFDFC"/>
                </a:solidFill>
                <a:latin typeface="Helvetica"/>
                <a:ea typeface="Helvetica"/>
                <a:cs typeface="Helvetica"/>
              </a:rPr>
              <a:t>CLINICAL PRECISION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AC06F5A-5FC6-4815-B51F-C58A2CC19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619375"/>
            <a:ext cx="1714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500" b="0" i="1">
                <a:solidFill>
                  <a:srgbClr val="C8B7E8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1500" b="0" i="1">
                <a:solidFill>
                  <a:srgbClr val="C8B7E8"/>
                </a:solidFill>
                <a:latin typeface="Helvetica"/>
                <a:ea typeface="Helvetica"/>
                <a:cs typeface="Helvetica"/>
              </a:defRPr>
            </a:pPr>
            <a:r>
              <a:rPr sz="1500" b="0" i="1">
                <a:solidFill>
                  <a:srgbClr val="C8B7E8"/>
                </a:solidFill>
                <a:latin typeface="Helvetica"/>
                <a:ea typeface="Helvetica"/>
                <a:cs typeface="Helvetica"/>
              </a:rPr>
              <a:t>meets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43EC50B-D89F-44CC-965C-F18B8E0A6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095625"/>
            <a:ext cx="4953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2550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2550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pPr>
            <a:r>
              <a:rPr sz="2550" b="1" i="0">
                <a:solidFill>
                  <a:srgbClr val="FF654F"/>
                </a:solidFill>
                <a:latin typeface="Helvetica"/>
                <a:ea typeface="Helvetica"/>
                <a:cs typeface="Helvetica"/>
              </a:rPr>
              <a:t>INTIMATE CAT BEHAVIOUR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FF3E84E-9639-49D5-B097-F11D51405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847850"/>
            <a:ext cx="428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82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82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pPr>
            <a:r>
              <a:rPr sz="825" b="1" i="0">
                <a:solidFill>
                  <a:srgbClr val="FF654F"/>
                </a:solidFill>
                <a:latin typeface="Helvetica"/>
                <a:ea typeface="Helvetica"/>
                <a:cs typeface="Helvetica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29D0563-9AF9-4E22-B33D-E8FC3466A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1847850"/>
            <a:ext cx="1619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750" b="1" i="0">
                <a:solidFill>
                  <a:srgbClr val="C8B7E8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750" b="1" i="0">
                <a:solidFill>
                  <a:srgbClr val="C8B7E8"/>
                </a:solidFill>
                <a:latin typeface="Helvetica"/>
                <a:ea typeface="Helvetica"/>
                <a:cs typeface="Helvetica"/>
              </a:defRPr>
            </a:pPr>
            <a:r>
              <a:rPr sz="750" b="1" i="0">
                <a:solidFill>
                  <a:srgbClr val="C8B7E8"/>
                </a:solidFill>
                <a:latin typeface="Helvetica"/>
                <a:ea typeface="Helvetica"/>
                <a:cs typeface="Helvetica"/>
              </a:rPr>
              <a:t>OBSERVATION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54FB0AF-7CBD-4B58-9BEE-E1C98C0F5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2114550"/>
            <a:ext cx="3810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425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1425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pPr>
            <a:r>
              <a:rPr sz="1425" b="1" i="0">
                <a:solidFill>
                  <a:srgbClr val="FFFDFC"/>
                </a:solidFill>
                <a:latin typeface="Helvetica"/>
                <a:ea typeface="Helvetica"/>
                <a:cs typeface="Helvetica"/>
              </a:rPr>
              <a:t>Tight crops and watchful eyes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3F5872C-C9EF-4C4A-90D1-94D3BDBDC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847975"/>
            <a:ext cx="428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82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82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pPr>
            <a:r>
              <a:rPr sz="825" b="1" i="0">
                <a:solidFill>
                  <a:srgbClr val="FF654F"/>
                </a:solidFill>
                <a:latin typeface="Helvetica"/>
                <a:ea typeface="Helvetica"/>
                <a:cs typeface="Helvetica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40BB04D-6C04-4CAA-9FEB-9DE284F95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2847975"/>
            <a:ext cx="1619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750" b="1" i="0">
                <a:solidFill>
                  <a:srgbClr val="C8B7E8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750" b="1" i="0">
                <a:solidFill>
                  <a:srgbClr val="C8B7E8"/>
                </a:solidFill>
                <a:latin typeface="Helvetica"/>
                <a:ea typeface="Helvetica"/>
                <a:cs typeface="Helvetica"/>
              </a:defRPr>
            </a:pPr>
            <a:r>
              <a:rPr sz="750" b="1" i="0">
                <a:solidFill>
                  <a:srgbClr val="C8B7E8"/>
                </a:solidFill>
                <a:latin typeface="Helvetica"/>
                <a:ea typeface="Helvetica"/>
                <a:cs typeface="Helvetica"/>
              </a:rPr>
              <a:t>EVIDENCE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A33F772-CC0D-47D2-829B-998C8B01A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3114675"/>
            <a:ext cx="3810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425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1425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pPr>
            <a:r>
              <a:rPr sz="1425" b="1" i="0">
                <a:solidFill>
                  <a:srgbClr val="FFFDFC"/>
                </a:solidFill>
                <a:latin typeface="Helvetica"/>
                <a:ea typeface="Helvetica"/>
                <a:cs typeface="Helvetica"/>
              </a:rPr>
              <a:t>Visible marks that show what was checked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33D1DF2-FA69-4D40-8C14-9F597B9FA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848100"/>
            <a:ext cx="428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82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82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pPr>
            <a:r>
              <a:rPr sz="825" b="1" i="0">
                <a:solidFill>
                  <a:srgbClr val="FF654F"/>
                </a:solidFill>
                <a:latin typeface="Helvetica"/>
                <a:ea typeface="Helvetica"/>
                <a:cs typeface="Helvetica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F966A5A-295A-4367-8340-DA8550960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3848100"/>
            <a:ext cx="1619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750" b="1" i="0">
                <a:solidFill>
                  <a:srgbClr val="C8B7E8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750" b="1" i="0">
                <a:solidFill>
                  <a:srgbClr val="C8B7E8"/>
                </a:solidFill>
                <a:latin typeface="Helvetica"/>
                <a:ea typeface="Helvetica"/>
                <a:cs typeface="Helvetica"/>
              </a:defRPr>
            </a:pPr>
            <a:r>
              <a:rPr sz="750" b="1" i="0">
                <a:solidFill>
                  <a:srgbClr val="C8B7E8"/>
                </a:solidFill>
                <a:latin typeface="Helvetica"/>
                <a:ea typeface="Helvetica"/>
                <a:cs typeface="Helvetica"/>
              </a:rPr>
              <a:t>SIGNAL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4D36ABE-DBD7-40BD-A756-310658BB0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4114800"/>
            <a:ext cx="3810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425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1425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pPr>
            <a:r>
              <a:rPr sz="1425" b="1" i="0">
                <a:solidFill>
                  <a:srgbClr val="FFFDFC"/>
                </a:solidFill>
                <a:latin typeface="Helvetica"/>
                <a:ea typeface="Helvetica"/>
                <a:cs typeface="Helvetica"/>
              </a:rPr>
              <a:t>One coral cue points to the proof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0F95839-6AD0-4D1C-870A-328DE6A33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572125"/>
            <a:ext cx="20955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pPr>
            <a:r>
              <a: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rPr>
              <a:t>COMMERCIAL CONSEQUENCE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8051914-5688-47F1-9788-F1D3E25D0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5505450"/>
            <a:ext cx="8382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200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1200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pPr>
            <a:r>
              <a:rPr sz="1200" b="1" i="0">
                <a:solidFill>
                  <a:srgbClr val="FFFDFC"/>
                </a:solidFill>
                <a:latin typeface="Helvetica"/>
                <a:ea typeface="Helvetica"/>
                <a:cs typeface="Helvetica"/>
              </a:rPr>
              <a:t>A distinctive world turns the published science into a recognisable visual behaviour, not another nutrition claim.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7178F8A-AAC7-4039-A11F-D5A4DB227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134100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825" b="1" i="0">
                <a:solidFill>
                  <a:srgbClr val="C8B7E8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825" b="1" i="0">
                <a:solidFill>
                  <a:srgbClr val="C8B7E8"/>
                </a:solidFill>
                <a:latin typeface="Helvetica"/>
                <a:ea typeface="Helvetica"/>
                <a:cs typeface="Helvetica"/>
              </a:defRPr>
            </a:pPr>
            <a:r>
              <a:rPr sz="825" b="1" i="0">
                <a:solidFill>
                  <a:srgbClr val="C8B7E8"/>
                </a:solidFill>
                <a:latin typeface="Helvetica"/>
                <a:ea typeface="Helvetica"/>
                <a:cs typeface="Helvetica"/>
              </a:rPr>
              <a:t>SOURCES: T1, S2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B07F29B-9883-4A4A-A9C8-70FAC770A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6134100"/>
            <a:ext cx="4876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r">
              <a:defRPr sz="825" b="1" i="0">
                <a:solidFill>
                  <a:srgbClr val="C8B7E8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r">
              <a:defRPr sz="825" b="1" i="0">
                <a:solidFill>
                  <a:srgbClr val="C8B7E8"/>
                </a:solidFill>
                <a:latin typeface="Helvetica"/>
                <a:ea typeface="Helvetica"/>
                <a:cs typeface="Helvetica"/>
              </a:defRPr>
            </a:pPr>
            <a:r>
              <a:rPr sz="825" b="1" i="0">
                <a:solidFill>
                  <a:srgbClr val="C8B7E8"/>
                </a:solidFill>
                <a:latin typeface="Helvetica"/>
                <a:ea typeface="Helvetica"/>
                <a:cs typeface="Helvetica"/>
              </a:rPr>
              <a:t>PROPOSED CREATIVE TERRITORY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F066E44-BA7A-4417-9279-6E19BBE5C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515100"/>
            <a:ext cx="17145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675" b="1" i="0">
                <a:solidFill>
                  <a:srgbClr val="C8B7E8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675" b="1" i="0">
                <a:solidFill>
                  <a:srgbClr val="C8B7E8"/>
                </a:solidFill>
                <a:latin typeface="Helvetica"/>
                <a:ea typeface="Helvetica"/>
                <a:cs typeface="Helvetica"/>
              </a:defRPr>
            </a:pPr>
            <a:r>
              <a:rPr sz="675" b="1" i="0">
                <a:solidFill>
                  <a:srgbClr val="C8B7E8"/>
                </a:solidFill>
                <a:latin typeface="Helvetica"/>
                <a:ea typeface="Helvetica"/>
                <a:cs typeface="Helvetica"/>
              </a:rPr>
              <a:t>NARRATIIVE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252546A-AA32-43E8-B4FD-087EA1BDB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8763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r">
              <a:defRPr sz="675" b="0" i="0">
                <a:solidFill>
                  <a:srgbClr val="C8B7E8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r">
              <a:defRPr sz="675" b="0" i="0">
                <a:solidFill>
                  <a:srgbClr val="C8B7E8"/>
                </a:solidFill>
                <a:latin typeface="Helvetica"/>
                <a:ea typeface="Helvetica"/>
                <a:cs typeface="Helvetica"/>
              </a:defRPr>
            </a:pPr>
            <a:r>
              <a:rPr sz="675" b="0" i="0">
                <a:solidFill>
                  <a:srgbClr val="C8B7E8"/>
                </a:solidFill>
                <a:latin typeface="Helvetica"/>
                <a:ea typeface="Helvetica"/>
                <a:cs typeface="Helvetica"/>
              </a:rPr>
              <a:t>27 / 30</a:t>
            </a:r>
          </a:p>
        </p:txBody>
      </p:sp>
    </p:spTree>
    <p:extLst>
      <p:ext uri="{BB962C8B-B14F-4D97-AF65-F5344CB8AC3E}">
        <p14:creationId xmlns:p14="http://schemas.microsoft.com/office/powerpoint/2010/main" val="1299947688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6F0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4456C72-3200-486C-8202-11E8BB3B2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3375"/>
            <a:ext cx="5715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pPr>
            <a:r>
              <a: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rPr>
              <a:t>ACT 6 / IMPLEMENTATION + MEASUREMENT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BE75694-336A-46A7-9A85-6448235C6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85800"/>
            <a:ext cx="1047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2325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2325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pPr>
            <a:r>
              <a:rPr sz="2325" b="1" i="0">
                <a:solidFill>
                  <a:srgbClr val="15121B"/>
                </a:solidFill>
                <a:latin typeface="Helvetica"/>
                <a:ea typeface="Helvetica"/>
                <a:cs typeface="Helvetica"/>
              </a:rPr>
              <a:t>Growth Priorities / 90-Day Activation Plan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C60F292-A7AD-482B-AE7A-13EEB5345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400175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CFD5"/>
          </a:solidFill>
          <a:ln xmlns:a="http://schemas.openxmlformats.org/drawingml/2006/main" w="0">
            <a:solidFill>
              <a:srgbClr val="D9CFD5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9CC5DF5-64AE-43E5-A630-27C021860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57375"/>
            <a:ext cx="3238500" cy="3000375"/>
          </a:xfrm>
          <a:prstGeom xmlns:a="http://schemas.openxmlformats.org/drawingml/2006/main" prst="roundRect">
            <a:avLst>
              <a:gd name="adj" fmla="val 2540"/>
            </a:avLst>
          </a:prstGeom>
          <a:solidFill xmlns:a="http://schemas.openxmlformats.org/drawingml/2006/main">
            <a:srgbClr val="261A31"/>
          </a:solidFill>
          <a:ln xmlns:a="http://schemas.openxmlformats.org/drawingml/2006/main" w="0">
            <a:solidFill>
              <a:srgbClr val="261A31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90450C8-4B96-43A9-BB3E-21D794514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33600"/>
            <a:ext cx="2781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750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750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pPr>
            <a:r>
              <a:rPr sz="750" b="1" i="0">
                <a:solidFill>
                  <a:srgbClr val="FFFDFC"/>
                </a:solidFill>
                <a:latin typeface="Helvetica"/>
                <a:ea typeface="Helvetica"/>
                <a:cs typeface="Helvetica"/>
              </a:rPr>
              <a:t>DAYS 1-30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E96C5DD-425D-4B62-B6FA-E532F419C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647950"/>
            <a:ext cx="27813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2025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2025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pPr>
            <a:r>
              <a:rPr sz="2025" b="1" i="0">
                <a:solidFill>
                  <a:srgbClr val="FFFDFC"/>
                </a:solidFill>
                <a:latin typeface="Helvetica"/>
                <a:ea typeface="Helvetica"/>
                <a:cs typeface="Helvetica"/>
              </a:rPr>
              <a:t>Foundation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325994C-B1CE-4395-B51A-45EE50E50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352800"/>
            <a:ext cx="27813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350" b="0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1350" b="0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pPr>
            <a:r>
              <a:rPr sz="1350" b="0" i="0">
                <a:solidFill>
                  <a:srgbClr val="FFFDFC"/>
                </a:solidFill>
                <a:latin typeface="Helvetica"/>
                <a:ea typeface="Helvetica"/>
                <a:cs typeface="Helvetica"/>
              </a:rPr>
              <a:t>Founder pressure-test and evidence audit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76F642F-610E-469C-8BC3-46E93C21C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1857375"/>
            <a:ext cx="3238500" cy="3000375"/>
          </a:xfrm>
          <a:prstGeom xmlns:a="http://schemas.openxmlformats.org/drawingml/2006/main" prst="roundRect">
            <a:avLst>
              <a:gd name="adj" fmla="val 2540"/>
            </a:avLst>
          </a:prstGeom>
          <a:solidFill xmlns:a="http://schemas.openxmlformats.org/drawingml/2006/main">
            <a:srgbClr val="5A2E78"/>
          </a:solidFill>
          <a:ln xmlns:a="http://schemas.openxmlformats.org/drawingml/2006/main" w="0">
            <a:solidFill>
              <a:srgbClr val="5A2E78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1F7AC01-144C-497F-9068-CBEA070DA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133600"/>
            <a:ext cx="2781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750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750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pPr>
            <a:r>
              <a:rPr sz="750" b="1" i="0">
                <a:solidFill>
                  <a:srgbClr val="FFFDFC"/>
                </a:solidFill>
                <a:latin typeface="Helvetica"/>
                <a:ea typeface="Helvetica"/>
                <a:cs typeface="Helvetica"/>
              </a:rPr>
              <a:t>DAYS 31-60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7E3C1A9-62D4-4819-B587-9DCF69EFC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647950"/>
            <a:ext cx="27813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2025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2025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pPr>
            <a:r>
              <a:rPr sz="2025" b="1" i="0">
                <a:solidFill>
                  <a:srgbClr val="FFFDFC"/>
                </a:solidFill>
                <a:latin typeface="Helvetica"/>
                <a:ea typeface="Helvetica"/>
                <a:cs typeface="Helvetica"/>
              </a:rPr>
              <a:t>Prove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D5C843B-ED84-4000-AD74-9A71E6AF2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3352800"/>
            <a:ext cx="27813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350" b="0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1350" b="0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pPr>
            <a:r>
              <a:rPr sz="1350" b="0" i="0">
                <a:solidFill>
                  <a:srgbClr val="FFFDFC"/>
                </a:solidFill>
                <a:latin typeface="Helvetica"/>
                <a:ea typeface="Helvetica"/>
                <a:cs typeface="Helvetica"/>
              </a:rPr>
              <a:t>Retail translation and CRM pilot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4EDC16E-0F3E-483F-9CDF-2B15345E1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1857375"/>
            <a:ext cx="3238500" cy="3000375"/>
          </a:xfrm>
          <a:prstGeom xmlns:a="http://schemas.openxmlformats.org/drawingml/2006/main" prst="roundRect">
            <a:avLst>
              <a:gd name="adj" fmla="val 2540"/>
            </a:avLst>
          </a:prstGeom>
          <a:solidFill xmlns:a="http://schemas.openxmlformats.org/drawingml/2006/main">
            <a:srgbClr val="FF654F"/>
          </a:solidFill>
          <a:ln xmlns:a="http://schemas.openxmlformats.org/drawingml/2006/main" w="0">
            <a:solidFill>
              <a:srgbClr val="FF654F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D7DA655-3CB5-4BC8-ABB9-19AF2CEF7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133600"/>
            <a:ext cx="2781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750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750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pPr>
            <a:r>
              <a:rPr sz="750" b="1" i="0">
                <a:solidFill>
                  <a:srgbClr val="FFFDFC"/>
                </a:solidFill>
                <a:latin typeface="Helvetica"/>
                <a:ea typeface="Helvetica"/>
                <a:cs typeface="Helvetica"/>
              </a:rPr>
              <a:t>DAYS 61-90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E1672BC-036B-49B0-B1AB-0BBFB03E9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647950"/>
            <a:ext cx="27813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2025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2025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pPr>
            <a:r>
              <a:rPr sz="2025" b="1" i="0">
                <a:solidFill>
                  <a:srgbClr val="FFFDFC"/>
                </a:solidFill>
                <a:latin typeface="Helvetica"/>
                <a:ea typeface="Helvetica"/>
                <a:cs typeface="Helvetica"/>
              </a:rPr>
              <a:t>Scale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DBF74F0-11FB-47EC-95B7-E14049A46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352800"/>
            <a:ext cx="27813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350" b="0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1350" b="0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pPr>
            <a:r>
              <a:rPr sz="1350" b="0" i="0">
                <a:solidFill>
                  <a:srgbClr val="FFFDFC"/>
                </a:solidFill>
                <a:latin typeface="Helvetica"/>
                <a:ea typeface="Helvetica"/>
                <a:cs typeface="Helvetica"/>
              </a:rPr>
              <a:t>Shift spend only when leading signals move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FE16F9A-4676-43C3-9CAE-745C901E5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572125"/>
            <a:ext cx="20955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pPr>
            <a:r>
              <a: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rPr>
              <a:t>COMMERCIAL CONSEQUENCE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47790C1-85ED-4050-A70E-96EB2FD06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5505450"/>
            <a:ext cx="8382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200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1200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pPr>
            <a:r>
              <a:rPr sz="1200" b="1" i="0">
                <a:solidFill>
                  <a:srgbClr val="15121B"/>
                </a:solidFill>
                <a:latin typeface="Helvetica"/>
                <a:ea typeface="Helvetica"/>
                <a:cs typeface="Helvetica"/>
              </a:rPr>
              <a:t>Start with a capped, reversible test and a separate claims audit.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11CFC29-1A21-4B0B-BE8A-8E5903B1E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134100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825" b="1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825" b="1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pPr>
            <a:r>
              <a:rPr sz="825" b="1" i="0">
                <a:solidFill>
                  <a:srgbClr val="756D7A"/>
                </a:solidFill>
                <a:latin typeface="Helvetica"/>
                <a:ea typeface="Helvetica"/>
                <a:cs typeface="Helvetica"/>
              </a:rPr>
              <a:t>SOURCES: T1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2768BD1-EC34-4C09-9767-CDCE61F55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6134100"/>
            <a:ext cx="4876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r">
              <a:defRPr sz="825" b="1" i="0">
                <a:solidFill>
                  <a:srgbClr val="5A2E78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r">
              <a:defRPr sz="825" b="1" i="0">
                <a:solidFill>
                  <a:srgbClr val="5A2E78"/>
                </a:solidFill>
                <a:latin typeface="Helvetica"/>
                <a:ea typeface="Helvetica"/>
                <a:cs typeface="Helvetica"/>
              </a:defRPr>
            </a:pPr>
            <a:r>
              <a:rPr sz="825" b="1" i="0">
                <a:solidFill>
                  <a:srgbClr val="5A2E78"/>
                </a:solidFill>
                <a:latin typeface="Helvetica"/>
                <a:ea typeface="Helvetica"/>
                <a:cs typeface="Helvetica"/>
              </a:rPr>
              <a:t>APPROVED STRATEGY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09FEA02-CF2F-40D9-A55A-7E005A22C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515100"/>
            <a:ext cx="17145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675" b="1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675" b="1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pPr>
            <a:r>
              <a:rPr sz="675" b="1" i="0">
                <a:solidFill>
                  <a:srgbClr val="756D7A"/>
                </a:solidFill>
                <a:latin typeface="Helvetica"/>
                <a:ea typeface="Helvetica"/>
                <a:cs typeface="Helvetica"/>
              </a:rPr>
              <a:t>NARRATIIVE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02A202A-4ABB-446E-B405-DF1C805B4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8763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r">
              <a:defRPr sz="675" b="0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r">
              <a:defRPr sz="675" b="0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pPr>
            <a:r>
              <a:rPr sz="675" b="0" i="0">
                <a:solidFill>
                  <a:srgbClr val="756D7A"/>
                </a:solidFill>
                <a:latin typeface="Helvetica"/>
                <a:ea typeface="Helvetica"/>
                <a:cs typeface="Helvetica"/>
              </a:rPr>
              <a:t>28 / 30</a:t>
            </a:r>
          </a:p>
        </p:txBody>
      </p:sp>
    </p:spTree>
    <p:extLst>
      <p:ext uri="{BB962C8B-B14F-4D97-AF65-F5344CB8AC3E}">
        <p14:creationId xmlns:p14="http://schemas.microsoft.com/office/powerpoint/2010/main" val="1286035713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6F0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BAB2BE1-98F9-4356-8FDD-A0705CDAA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3375"/>
            <a:ext cx="5715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pPr>
            <a:r>
              <a: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rPr>
              <a:t>ACT 6 / IMPLEMENTATION + MEASUREMENT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E554920-FD69-467B-8A9D-10488565A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85800"/>
            <a:ext cx="1047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2325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2325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pPr>
            <a:r>
              <a:rPr sz="2325" b="1" i="0">
                <a:solidFill>
                  <a:srgbClr val="15121B"/>
                </a:solidFill>
                <a:latin typeface="Helvetica"/>
                <a:ea typeface="Helvetica"/>
                <a:cs typeface="Helvetica"/>
              </a:rPr>
              <a:t>Measurement Framework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F49F82C-EAA3-4C7A-B278-BDD35F58E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400175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CFD5"/>
          </a:solidFill>
          <a:ln xmlns:a="http://schemas.openxmlformats.org/drawingml/2006/main" w="0">
            <a:solidFill>
              <a:srgbClr val="D9CFD5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2C15626-365E-416E-8E73-AB3974386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09750"/>
            <a:ext cx="323850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F654F"/>
          </a:solidFill>
          <a:ln xmlns:a="http://schemas.openxmlformats.org/drawingml/2006/main" w="0">
            <a:solidFill>
              <a:srgbClr val="FF654F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3B2EBF0-6C1E-407E-A086-28FB5F8B0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076450"/>
            <a:ext cx="2781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825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825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pPr>
            <a:r>
              <a:rPr sz="825" b="1" i="0">
                <a:solidFill>
                  <a:srgbClr val="FFFDFC"/>
                </a:solidFill>
                <a:latin typeface="Helvetica"/>
                <a:ea typeface="Helvetica"/>
                <a:cs typeface="Helvetica"/>
              </a:rPr>
              <a:t>LEADING / 3-6 MONTHS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F2D473E-F940-4573-80A1-E6C20F042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943100"/>
            <a:ext cx="6286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500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1500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pPr>
            <a:r>
              <a:rPr sz="1500" b="1" i="0">
                <a:solidFill>
                  <a:srgbClr val="15121B"/>
                </a:solidFill>
                <a:latin typeface="Helvetica"/>
                <a:ea typeface="Helvetica"/>
                <a:cs typeface="Helvetica"/>
              </a:rPr>
              <a:t>Claim recognition, shelf comprehension, earned search share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B1647B1-352B-4DFB-B190-A3E04FEA0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686050"/>
            <a:ext cx="6286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CFD5"/>
          </a:solidFill>
          <a:ln xmlns:a="http://schemas.openxmlformats.org/drawingml/2006/main" w="0">
            <a:solidFill>
              <a:srgbClr val="D9CFD5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C8E7DB4-4A39-4DEF-89C8-9D5A6549F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876550"/>
            <a:ext cx="323850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261A31"/>
          </a:solidFill>
          <a:ln xmlns:a="http://schemas.openxmlformats.org/drawingml/2006/main" w="0">
            <a:solidFill>
              <a:srgbClr val="261A31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9ECE990-1B98-4403-9C4D-B1097E12D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143250"/>
            <a:ext cx="2781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825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825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pPr>
            <a:r>
              <a:rPr sz="825" b="1" i="0">
                <a:solidFill>
                  <a:srgbClr val="FFFDFC"/>
                </a:solidFill>
                <a:latin typeface="Helvetica"/>
                <a:ea typeface="Helvetica"/>
                <a:cs typeface="Helvetica"/>
              </a:rPr>
              <a:t>LAGGING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2058BE0-2119-46CE-9D7C-98985ABDE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009900"/>
            <a:ext cx="6286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500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1500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pPr>
            <a:r>
              <a:rPr sz="1500" b="1" i="0">
                <a:solidFill>
                  <a:srgbClr val="15121B"/>
                </a:solidFill>
                <a:latin typeface="Helvetica"/>
                <a:ea typeface="Helvetica"/>
                <a:cs typeface="Helvetica"/>
              </a:rPr>
              <a:t>Retail sell-through, blended CAC trend, subscriber retention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F16DCFE-DD15-436F-ABB6-7089C5C6D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752850"/>
            <a:ext cx="6286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CFD5"/>
          </a:solidFill>
          <a:ln xmlns:a="http://schemas.openxmlformats.org/drawingml/2006/main" w="0">
            <a:solidFill>
              <a:srgbClr val="D9CFD5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2EA53E0-37C6-4B5C-9CE4-1F799A62A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943350"/>
            <a:ext cx="323850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261A31"/>
          </a:solidFill>
          <a:ln xmlns:a="http://schemas.openxmlformats.org/drawingml/2006/main" w="0">
            <a:solidFill>
              <a:srgbClr val="261A31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F0BBC2D-122F-49DC-8024-DEDA9C869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210050"/>
            <a:ext cx="2781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825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825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pPr>
            <a:r>
              <a:rPr sz="825" b="1" i="0">
                <a:solidFill>
                  <a:srgbClr val="FFFDFC"/>
                </a:solidFill>
                <a:latin typeface="Helvetica"/>
                <a:ea typeface="Helvetica"/>
                <a:cs typeface="Helvetica"/>
              </a:rPr>
              <a:t>COMMERCIAL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C332780-F80B-41D5-97F9-9D6ABEE9D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076700"/>
            <a:ext cx="6286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500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1500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pPr>
            <a:r>
              <a:rPr sz="1500" b="1" i="0">
                <a:solidFill>
                  <a:srgbClr val="15121B"/>
                </a:solidFill>
                <a:latin typeface="Helvetica"/>
                <a:ea typeface="Helvetica"/>
                <a:cs typeface="Helvetica"/>
              </a:rPr>
              <a:t>Price realisation versus discount dependency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9B2A3D5-8789-4B97-A4FB-A5B98D8BF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572125"/>
            <a:ext cx="20955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pPr>
            <a:r>
              <a: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rPr>
              <a:t>COMMERCIAL CONSEQUENCE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16FFC06-064D-41BC-B12D-5DD05362B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5505450"/>
            <a:ext cx="8382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200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1200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pPr>
            <a:r>
              <a:rPr sz="1200" b="1" i="0">
                <a:solidFill>
                  <a:srgbClr val="15121B"/>
                </a:solidFill>
                <a:latin typeface="Helvetica"/>
                <a:ea typeface="Helvetica"/>
                <a:cs typeface="Helvetica"/>
              </a:rPr>
              <a:t>Net value and payback remain unavailable until KatKin supplies actual margin, retention and implementation cost.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68212A8-4FEB-48EB-AFB7-C41B4D19D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134100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825" b="1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825" b="1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pPr>
            <a:r>
              <a:rPr sz="825" b="1" i="0">
                <a:solidFill>
                  <a:srgbClr val="756D7A"/>
                </a:solidFill>
                <a:latin typeface="Helvetica"/>
                <a:ea typeface="Helvetica"/>
                <a:cs typeface="Helvetica"/>
              </a:rPr>
              <a:t>SOURCES: T1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0D7977D-58E2-4844-830C-7C5A27CE4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6134100"/>
            <a:ext cx="4876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r">
              <a:defRPr sz="825" b="1" i="0">
                <a:solidFill>
                  <a:srgbClr val="5A2E78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r">
              <a:defRPr sz="825" b="1" i="0">
                <a:solidFill>
                  <a:srgbClr val="5A2E78"/>
                </a:solidFill>
                <a:latin typeface="Helvetica"/>
                <a:ea typeface="Helvetica"/>
                <a:cs typeface="Helvetica"/>
              </a:defRPr>
            </a:pPr>
            <a:r>
              <a:rPr sz="825" b="1" i="0">
                <a:solidFill>
                  <a:srgbClr val="5A2E78"/>
                </a:solidFill>
                <a:latin typeface="Helvetica"/>
                <a:ea typeface="Helvetica"/>
                <a:cs typeface="Helvetica"/>
              </a:rPr>
              <a:t>PROPOSED MEASUREMENT + EVIDENCE GAP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FB900DE-ACEF-431C-83CF-365080543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515100"/>
            <a:ext cx="17145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675" b="1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675" b="1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pPr>
            <a:r>
              <a:rPr sz="675" b="1" i="0">
                <a:solidFill>
                  <a:srgbClr val="756D7A"/>
                </a:solidFill>
                <a:latin typeface="Helvetica"/>
                <a:ea typeface="Helvetica"/>
                <a:cs typeface="Helvetica"/>
              </a:rPr>
              <a:t>NARRATIIVE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4689EFB-E868-46FD-AFD3-7B03707AD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8763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r">
              <a:defRPr sz="675" b="0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r">
              <a:defRPr sz="675" b="0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pPr>
            <a:r>
              <a:rPr sz="675" b="0" i="0">
                <a:solidFill>
                  <a:srgbClr val="756D7A"/>
                </a:solidFill>
                <a:latin typeface="Helvetica"/>
                <a:ea typeface="Helvetica"/>
                <a:cs typeface="Helvetica"/>
              </a:rPr>
              <a:t>29 / 30</a:t>
            </a:r>
          </a:p>
        </p:txBody>
      </p:sp>
    </p:spTree>
    <p:extLst>
      <p:ext uri="{BB962C8B-B14F-4D97-AF65-F5344CB8AC3E}">
        <p14:creationId xmlns:p14="http://schemas.microsoft.com/office/powerpoint/2010/main" val="1971340007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261A3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7C88AB7-A038-4B35-BED4-38CA4A9BA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3375"/>
            <a:ext cx="5715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pPr>
            <a:r>
              <a: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rPr>
              <a:t>ACT 6 / IMPLEMENTATION + MEASUREMENT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8C19A4B-6790-445D-8562-D5023894A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85800"/>
            <a:ext cx="1047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2325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2325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pPr>
            <a:r>
              <a:rPr sz="2325" b="1" i="0">
                <a:solidFill>
                  <a:srgbClr val="FFFDFC"/>
                </a:solidFill>
                <a:latin typeface="Helvetica"/>
                <a:ea typeface="Helvetica"/>
                <a:cs typeface="Helvetica"/>
              </a:rPr>
              <a:t>Strategic Principle / Closing Mandate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FE2E8C2-E3F3-49F0-BFB0-71BCCF00A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400175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2E78"/>
          </a:solidFill>
          <a:ln xmlns:a="http://schemas.openxmlformats.org/drawingml/2006/main" w="0">
            <a:solidFill>
              <a:srgbClr val="5A2E78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33AB2E6-00FC-4725-A8F8-9927028BD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66900"/>
            <a:ext cx="8572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4200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4200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pPr>
            <a:r>
              <a:rPr sz="4200" b="1" i="0">
                <a:solidFill>
                  <a:srgbClr val="FFFDFC"/>
                </a:solidFill>
                <a:latin typeface="Helvetica"/>
                <a:ea typeface="Helvetica"/>
                <a:cs typeface="Helvetica"/>
              </a:rPr>
              <a:t>Own the proof.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EC7D6CB-9ED8-4100-99C5-6671AE07F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724150"/>
            <a:ext cx="8572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3750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3750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pPr>
            <a:r>
              <a:rPr sz="3750" b="1" i="0">
                <a:solidFill>
                  <a:srgbClr val="FF654F"/>
                </a:solidFill>
                <a:latin typeface="Helvetica"/>
                <a:ea typeface="Helvetica"/>
                <a:cs typeface="Helvetica"/>
              </a:rPr>
              <a:t>Make it easy to feel.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B9A9C4F-112A-44E6-90D0-5AB890A41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638550"/>
            <a:ext cx="8572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2250" b="1" i="0">
                <a:solidFill>
                  <a:srgbClr val="C8B7E8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2250" b="1" i="0">
                <a:solidFill>
                  <a:srgbClr val="C8B7E8"/>
                </a:solidFill>
                <a:latin typeface="Helvetica"/>
                <a:ea typeface="Helvetica"/>
                <a:cs typeface="Helvetica"/>
              </a:defRPr>
            </a:pPr>
            <a:r>
              <a:rPr sz="2250" b="1" i="0">
                <a:solidFill>
                  <a:srgbClr val="C8B7E8"/>
                </a:solidFill>
                <a:latin typeface="Helvetica"/>
                <a:ea typeface="Helvetica"/>
                <a:cs typeface="Helvetica"/>
              </a:rPr>
              <a:t>Then earn the right to scale.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C7595F7-66C5-4DB6-BC6B-A78B0E209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810125"/>
            <a:ext cx="228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750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750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pPr>
            <a:r>
              <a:rPr sz="750" b="1" i="0">
                <a:solidFill>
                  <a:srgbClr val="FF654F"/>
                </a:solidFill>
                <a:latin typeface="Helvetica"/>
                <a:ea typeface="Helvetica"/>
                <a:cs typeface="Helvetica"/>
              </a:rPr>
              <a:t>IMMEDIATE NEXT STEP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3B51AF0-F17D-4FFE-B9AE-3F51B37E3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143500"/>
            <a:ext cx="876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425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1425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pPr>
            <a:r>
              <a:rPr sz="1425" b="1" i="0">
                <a:solidFill>
                  <a:srgbClr val="FFFDFC"/>
                </a:solidFill>
                <a:latin typeface="Helvetica"/>
                <a:ea typeface="Helvetica"/>
                <a:cs typeface="Helvetica"/>
              </a:rPr>
              <a:t>Founder pressure-test and retail translation test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C03C32B-7957-4A33-B38F-B6B0842E8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753100"/>
            <a:ext cx="685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675" b="1" i="0">
                <a:solidFill>
                  <a:srgbClr val="C8B7E8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675" b="1" i="0">
                <a:solidFill>
                  <a:srgbClr val="C8B7E8"/>
                </a:solidFill>
                <a:latin typeface="Helvetica"/>
                <a:ea typeface="Helvetica"/>
                <a:cs typeface="Helvetica"/>
              </a:defRPr>
            </a:pPr>
            <a:r>
              <a:rPr sz="675" b="1" i="0">
                <a:solidFill>
                  <a:srgbClr val="C8B7E8"/>
                </a:solidFill>
                <a:latin typeface="Helvetica"/>
                <a:ea typeface="Helvetica"/>
                <a:cs typeface="Helvetica"/>
              </a:rPr>
              <a:t>SOURCE REGISTER / governed companion deliverable included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155BCE1-036D-4019-A4B7-8513F09E2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134100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825" b="1" i="0">
                <a:solidFill>
                  <a:srgbClr val="C8B7E8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825" b="1" i="0">
                <a:solidFill>
                  <a:srgbClr val="C8B7E8"/>
                </a:solidFill>
                <a:latin typeface="Helvetica"/>
                <a:ea typeface="Helvetica"/>
                <a:cs typeface="Helvetica"/>
              </a:defRPr>
            </a:pPr>
            <a:r>
              <a:rPr sz="825" b="1" i="0">
                <a:solidFill>
                  <a:srgbClr val="C8B7E8"/>
                </a:solidFill>
                <a:latin typeface="Helvetica"/>
                <a:ea typeface="Helvetica"/>
                <a:cs typeface="Helvetica"/>
              </a:rPr>
              <a:t>SOURCES: T1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0B3F5F6-6749-422A-8540-31EEC03F5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6134100"/>
            <a:ext cx="4876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r">
              <a:defRPr sz="825" b="1" i="0">
                <a:solidFill>
                  <a:srgbClr val="C8B7E8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r">
              <a:defRPr sz="825" b="1" i="0">
                <a:solidFill>
                  <a:srgbClr val="C8B7E8"/>
                </a:solidFill>
                <a:latin typeface="Helvetica"/>
                <a:ea typeface="Helvetica"/>
                <a:cs typeface="Helvetica"/>
              </a:defRPr>
            </a:pPr>
            <a:r>
              <a:rPr sz="825" b="1" i="0">
                <a:solidFill>
                  <a:srgbClr val="C8B7E8"/>
                </a:solidFill>
                <a:latin typeface="Helvetica"/>
                <a:ea typeface="Helvetica"/>
                <a:cs typeface="Helvetica"/>
              </a:rPr>
              <a:t>APPROVED STRATEGY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C0626EE-C648-4871-9E54-4F7490318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515100"/>
            <a:ext cx="17145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675" b="1" i="0">
                <a:solidFill>
                  <a:srgbClr val="C8B7E8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675" b="1" i="0">
                <a:solidFill>
                  <a:srgbClr val="C8B7E8"/>
                </a:solidFill>
                <a:latin typeface="Helvetica"/>
                <a:ea typeface="Helvetica"/>
                <a:cs typeface="Helvetica"/>
              </a:defRPr>
            </a:pPr>
            <a:r>
              <a:rPr sz="675" b="1" i="0">
                <a:solidFill>
                  <a:srgbClr val="C8B7E8"/>
                </a:solidFill>
                <a:latin typeface="Helvetica"/>
                <a:ea typeface="Helvetica"/>
                <a:cs typeface="Helvetica"/>
              </a:rPr>
              <a:t>NARRATIIVE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A2C031C-0D0F-4EF0-BB18-8F3262945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8763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r">
              <a:defRPr sz="675" b="0" i="0">
                <a:solidFill>
                  <a:srgbClr val="C8B7E8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r">
              <a:defRPr sz="675" b="0" i="0">
                <a:solidFill>
                  <a:srgbClr val="C8B7E8"/>
                </a:solidFill>
                <a:latin typeface="Helvetica"/>
                <a:ea typeface="Helvetica"/>
                <a:cs typeface="Helvetica"/>
              </a:defRPr>
            </a:pPr>
            <a:r>
              <a:rPr sz="675" b="0" i="0">
                <a:solidFill>
                  <a:srgbClr val="C8B7E8"/>
                </a:solidFill>
                <a:latin typeface="Helvetica"/>
                <a:ea typeface="Helvetica"/>
                <a:cs typeface="Helvetica"/>
              </a:rPr>
              <a:t>30 / 30</a:t>
            </a:r>
          </a:p>
        </p:txBody>
      </p:sp>
    </p:spTree>
    <p:extLst>
      <p:ext uri="{BB962C8B-B14F-4D97-AF65-F5344CB8AC3E}">
        <p14:creationId xmlns:p14="http://schemas.microsoft.com/office/powerpoint/2010/main" val="209420481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2026-10-13T15:43:12.3800000Z</dcterms:created>
  <dcterms:modified xsi:type="dcterms:W3CDTF">2026-10-13T15:43:12.3800000Z</dcterms:modified>
</coreProperties>
</file>