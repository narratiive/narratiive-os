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77c4f4d0014314" /><Relationship Type="http://schemas.openxmlformats.org/officeDocument/2006/relationships/extended-properties" Target="/docProps/app.xml" Id="Re52c0c397e1742ef" /><Relationship Type="http://schemas.openxmlformats.org/officeDocument/2006/relationships/officeDocument" Target="/ppt/presentation.xml" Id="R8fdf7b1908654c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35bc277fa46ee"/>
  </p:sldMasterIdLst>
  <p:notesMasterIdLst>
    <p:notesMasterId xmlns:r="http://schemas.openxmlformats.org/officeDocument/2006/relationships" r:id="R0c9c7ce49d0b4173"/>
  </p:notesMasterIdLst>
  <p:sldIdLst>
    <p:sldId xmlns:r="http://schemas.openxmlformats.org/officeDocument/2006/relationships" id="256" r:id="Re58b06f9d68f4b05"/>
    <p:sldId xmlns:r="http://schemas.openxmlformats.org/officeDocument/2006/relationships" id="257" r:id="R854e3b98ee914278"/>
    <p:sldId xmlns:r="http://schemas.openxmlformats.org/officeDocument/2006/relationships" id="258" r:id="R9dc64c8b813a4869"/>
    <p:sldId xmlns:r="http://schemas.openxmlformats.org/officeDocument/2006/relationships" id="259" r:id="Rdc81e89806dd4997"/>
    <p:sldId xmlns:r="http://schemas.openxmlformats.org/officeDocument/2006/relationships" id="260" r:id="R4d6d2274effa4305"/>
    <p:sldId xmlns:r="http://schemas.openxmlformats.org/officeDocument/2006/relationships" id="261" r:id="Rf83726f6f091471c"/>
    <p:sldId xmlns:r="http://schemas.openxmlformats.org/officeDocument/2006/relationships" id="262" r:id="R61de3259ca2f4c2d"/>
    <p:sldId xmlns:r="http://schemas.openxmlformats.org/officeDocument/2006/relationships" id="263" r:id="Rf26771545b434bc4"/>
    <p:sldId xmlns:r="http://schemas.openxmlformats.org/officeDocument/2006/relationships" id="264" r:id="R562fe16d609747a7"/>
    <p:sldId xmlns:r="http://schemas.openxmlformats.org/officeDocument/2006/relationships" id="265" r:id="R22d2def898bb48da"/>
    <p:sldId xmlns:r="http://schemas.openxmlformats.org/officeDocument/2006/relationships" id="266" r:id="R4c3f6e800fa04637"/>
    <p:sldId xmlns:r="http://schemas.openxmlformats.org/officeDocument/2006/relationships" id="267" r:id="R1b8906cdc128434d"/>
    <p:sldId xmlns:r="http://schemas.openxmlformats.org/officeDocument/2006/relationships" id="268" r:id="R1d7202468fd64653"/>
    <p:sldId xmlns:r="http://schemas.openxmlformats.org/officeDocument/2006/relationships" id="269" r:id="R7646288e1fad46a6"/>
    <p:sldId xmlns:r="http://schemas.openxmlformats.org/officeDocument/2006/relationships" id="270" r:id="Re436349a60984dc4"/>
    <p:sldId xmlns:r="http://schemas.openxmlformats.org/officeDocument/2006/relationships" id="271" r:id="R832f13667d16477a"/>
    <p:sldId xmlns:r="http://schemas.openxmlformats.org/officeDocument/2006/relationships" id="272" r:id="Rf5cc6e4b341741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06d56c21d49d8" /><Relationship Type="http://schemas.openxmlformats.org/officeDocument/2006/relationships/slideMaster" Target="/ppt/slideMasters/slideMaster1.xml" Id="Rca435bc277fa46ee" /><Relationship Type="http://schemas.openxmlformats.org/officeDocument/2006/relationships/notesMaster" Target="/ppt/notesMasters/notesMaster1.xml" Id="R0c9c7ce49d0b4173" /><Relationship Type="http://schemas.openxmlformats.org/officeDocument/2006/relationships/presProps" Target="/ppt/presProps.xml" Id="Rd9b5b17fe2854739" /><Relationship Type="http://schemas.openxmlformats.org/officeDocument/2006/relationships/tableStyles" Target="/ppt/tableStyles.xml" Id="R6f0f3ac4e73f467c" /><Relationship Type="http://schemas.openxmlformats.org/officeDocument/2006/relationships/slide" Target="/ppt/slides/slide1.xml" Id="Re58b06f9d68f4b05" /><Relationship Type="http://schemas.openxmlformats.org/officeDocument/2006/relationships/slide" Target="/ppt/slides/slide2.xml" Id="R854e3b98ee914278" /><Relationship Type="http://schemas.openxmlformats.org/officeDocument/2006/relationships/slide" Target="/ppt/slides/slide3.xml" Id="R9dc64c8b813a4869" /><Relationship Type="http://schemas.openxmlformats.org/officeDocument/2006/relationships/slide" Target="/ppt/slides/slide4.xml" Id="Rdc81e89806dd4997" /><Relationship Type="http://schemas.openxmlformats.org/officeDocument/2006/relationships/slide" Target="/ppt/slides/slide5.xml" Id="R4d6d2274effa4305" /><Relationship Type="http://schemas.openxmlformats.org/officeDocument/2006/relationships/slide" Target="/ppt/slides/slide6.xml" Id="Rf83726f6f091471c" /><Relationship Type="http://schemas.openxmlformats.org/officeDocument/2006/relationships/slide" Target="/ppt/slides/slide7.xml" Id="R61de3259ca2f4c2d" /><Relationship Type="http://schemas.openxmlformats.org/officeDocument/2006/relationships/slide" Target="/ppt/slides/slide8.xml" Id="Rf26771545b434bc4" /><Relationship Type="http://schemas.openxmlformats.org/officeDocument/2006/relationships/slide" Target="/ppt/slides/slide9.xml" Id="R562fe16d609747a7" /><Relationship Type="http://schemas.openxmlformats.org/officeDocument/2006/relationships/slide" Target="/ppt/slides/slide10.xml" Id="R22d2def898bb48da" /><Relationship Type="http://schemas.openxmlformats.org/officeDocument/2006/relationships/slide" Target="/ppt/slides/slide11.xml" Id="R4c3f6e800fa04637" /><Relationship Type="http://schemas.openxmlformats.org/officeDocument/2006/relationships/slide" Target="/ppt/slides/slide12.xml" Id="R1b8906cdc128434d" /><Relationship Type="http://schemas.openxmlformats.org/officeDocument/2006/relationships/slide" Target="/ppt/slides/slide13.xml" Id="R1d7202468fd64653" /><Relationship Type="http://schemas.openxmlformats.org/officeDocument/2006/relationships/slide" Target="/ppt/slides/slide14.xml" Id="R7646288e1fad46a6" /><Relationship Type="http://schemas.openxmlformats.org/officeDocument/2006/relationships/slide" Target="/ppt/slides/slide15.xml" Id="Re436349a60984dc4" /><Relationship Type="http://schemas.openxmlformats.org/officeDocument/2006/relationships/slide" Target="/ppt/slides/slide16.xml" Id="R832f13667d16477a" /><Relationship Type="http://schemas.openxmlformats.org/officeDocument/2006/relationships/slide" Target="/ppt/slides/slide17.xml" Id="Rf5cc6e4b341741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e28ba5e3f43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b1784062d4ee2" /><Relationship Type="http://schemas.openxmlformats.org/officeDocument/2006/relationships/notesMaster" Target="/ppt/notesMasters/notesMaster1.xml" Id="R79439dde7dca48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93b3a99d94753" /><Relationship Type="http://schemas.openxmlformats.org/officeDocument/2006/relationships/notesMaster" Target="/ppt/notesMasters/notesMaster1.xml" Id="R31013a169413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50330cf1074156" /><Relationship Type="http://schemas.openxmlformats.org/officeDocument/2006/relationships/notesMaster" Target="/ppt/notesMasters/notesMaster1.xml" Id="Re415b5a8231a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ab10c1c5a48a6" /><Relationship Type="http://schemas.openxmlformats.org/officeDocument/2006/relationships/notesMaster" Target="/ppt/notesMasters/notesMaster1.xml" Id="R22d4e96850a1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4e70231d7e451f" /><Relationship Type="http://schemas.openxmlformats.org/officeDocument/2006/relationships/notesMaster" Target="/ppt/notesMasters/notesMaster1.xml" Id="Ra6e1fc11e97145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ee6aef4ca461e" /><Relationship Type="http://schemas.openxmlformats.org/officeDocument/2006/relationships/notesMaster" Target="/ppt/notesMasters/notesMaster1.xml" Id="Rc7823d0cce3243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bf84b280343e0" /><Relationship Type="http://schemas.openxmlformats.org/officeDocument/2006/relationships/notesMaster" Target="/ppt/notesMasters/notesMaster1.xml" Id="R44ef3a7b550141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07a5bdd00348ae" /><Relationship Type="http://schemas.openxmlformats.org/officeDocument/2006/relationships/notesMaster" Target="/ppt/notesMasters/notesMaster1.xml" Id="R21b4759dcc214c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8f094bb4c44b0" /><Relationship Type="http://schemas.openxmlformats.org/officeDocument/2006/relationships/notesMaster" Target="/ppt/notesMasters/notesMaster1.xml" Id="R2f9ee118be5d4d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c2f82a848848b1" /><Relationship Type="http://schemas.openxmlformats.org/officeDocument/2006/relationships/notesMaster" Target="/ppt/notesMasters/notesMaster1.xml" Id="Ra7d03732caa441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25909a006d4b65" /><Relationship Type="http://schemas.openxmlformats.org/officeDocument/2006/relationships/notesMaster" Target="/ppt/notesMasters/notesMaster1.xml" Id="Rb88ea44b25294e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1da57bec4f4f70" /><Relationship Type="http://schemas.openxmlformats.org/officeDocument/2006/relationships/notesMaster" Target="/ppt/notesMasters/notesMaster1.xml" Id="R6ccea81673f748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622bab7f5a4df7" /><Relationship Type="http://schemas.openxmlformats.org/officeDocument/2006/relationships/notesMaster" Target="/ppt/notesMasters/notesMaster1.xml" Id="Rc274283024da45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807dd6cede4cef" /><Relationship Type="http://schemas.openxmlformats.org/officeDocument/2006/relationships/notesMaster" Target="/ppt/notesMasters/notesMaster1.xml" Id="Rf14444a95a7948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55e7e8e5874e20" /><Relationship Type="http://schemas.openxmlformats.org/officeDocument/2006/relationships/notesMaster" Target="/ppt/notesMasters/notesMaster1.xml" Id="Rea638e0ad84f40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3499fdf8434958" /><Relationship Type="http://schemas.openxmlformats.org/officeDocument/2006/relationships/notesMaster" Target="/ppt/notesMasters/notesMaster1.xml" Id="R461f10fed11540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2aaa1a400b423b" /><Relationship Type="http://schemas.openxmlformats.org/officeDocument/2006/relationships/notesMaster" Target="/ppt/notesMasters/notesMaster1.xml" Id="R59774128f3df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thesis:thesis_statement, thesis:growth_opportunity, ev_5c64#s1, ev_5c64#s2, ev_5c64#s5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thesis:commercial_ambition, ev_5c64#s5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ev_5c64#s1, ev_5c64#s3, ev_5c64#s5,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ev_5c64#s2, ev_5c64#s3, thesis:category_choice, thesis:source_of_difference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thesis:priority_audience, ev_5c64#s4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thesis:priority_audience, ev_5c64#s4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ev_5c64#s4, ev_5c64#s5, ev_5c64#s6, thesis:priority_audience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thesis:positioning_choice, ev_5c64#s2, ev_5c64#s3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thesis:positioning_choice, ev_5c64#s2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thesis:narrative_platform, ev_5c64#s2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thesis:narrative_platform, thesis:source_of_difference, ev_5c64#s2, thesis:activation_principles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thesis:growth_opportunity, ev_5c64#s1, ev_5c64#s5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thesis:activation_principles, ev_5c64#s3, ev_5c64#s5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thesis:activation_principles, ev_5c64#s4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ev_5c64#s1, ev_5c64#s5, ev_5c64#s6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lineage is retained in the immutable Blueprint Director review record.</a:t>
            </a:r>
          </a:p>
          <a:p xmlns:a="http://schemas.openxmlformats.org/drawingml/2006/main">
            <a:r>
              <a:t>Evidence refs (internal only): thesis:thesis_statement</a:t>
            </a:r>
          </a:p>
          <a:p xmlns:a="http://schemas.openxmlformats.org/drawingml/2006/main">
            <a:r>
              <a:t>INTERNAL REVIEW DRAFT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74cdcf3bc45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44c2ecfcd48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48bab6b2e4c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0128332c74c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e75e44b9845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16d78a78449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EF9FE7-16CD-401B-AD8C-616350CB9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2B81E4-CA35-42BA-8CE3-C0351211E0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805C04-8D15-4102-9E67-CDF1E064C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38F558-7C10-473C-8A82-18D62A479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CCFCE6-8BE8-4946-A952-7ACC29993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6B9DAA-5F57-4F91-9AE4-97D89619D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E5F93D-C837-4221-847A-F1A5B56BF0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399F69-68C4-4152-9463-2F891B5CDB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244AF9-28A2-414F-92F3-EFF9F66E2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8A921C-EAF2-4F48-B047-CEE1A38B78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78a35f4aa48f1" /><Relationship Type="http://schemas.openxmlformats.org/officeDocument/2006/relationships/slideLayout" Target="/ppt/slideLayouts/slideLayout1.xml" Id="Ra23060ff729648ce" /><Relationship Type="http://schemas.openxmlformats.org/officeDocument/2006/relationships/slideLayout" Target="/ppt/slideLayouts/slideLayout2.xml" Id="R253dd44eb1b0441b" /><Relationship Type="http://schemas.openxmlformats.org/officeDocument/2006/relationships/slideLayout" Target="/ppt/slideLayouts/slideLayout3.xml" Id="R24ad4d7a570640e9" /><Relationship Type="http://schemas.openxmlformats.org/officeDocument/2006/relationships/slideLayout" Target="/ppt/slideLayouts/slideLayout4.xml" Id="Rd47ad41312b2476c" /><Relationship Type="http://schemas.openxmlformats.org/officeDocument/2006/relationships/slideLayout" Target="/ppt/slideLayouts/slideLayout5.xml" Id="R71bc91e6a8c342ec" /><Relationship Type="http://schemas.openxmlformats.org/officeDocument/2006/relationships/slideLayout" Target="/ppt/slideLayouts/slideLayout6.xml" Id="R4fa644bda72949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060ff729648ce"/>
    <p:sldLayoutId xmlns:r="http://schemas.openxmlformats.org/officeDocument/2006/relationships" id="2147483650" r:id="R253dd44eb1b0441b"/>
    <p:sldLayoutId xmlns:r="http://schemas.openxmlformats.org/officeDocument/2006/relationships" id="2147483651" r:id="R24ad4d7a570640e9"/>
    <p:sldLayoutId xmlns:r="http://schemas.openxmlformats.org/officeDocument/2006/relationships" id="2147483652" r:id="Rd47ad41312b2476c"/>
    <p:sldLayoutId xmlns:r="http://schemas.openxmlformats.org/officeDocument/2006/relationships" id="2147483653" r:id="R71bc91e6a8c342ec"/>
    <p:sldLayoutId xmlns:r="http://schemas.openxmlformats.org/officeDocument/2006/relationships" id="2147483654" r:id="R4fa644bda72949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9760c3e1d4419" /><Relationship Type="http://schemas.openxmlformats.org/officeDocument/2006/relationships/image" Target="/ppt/media/image.png" Id="R257045dd55874002" /><Relationship Type="http://schemas.openxmlformats.org/officeDocument/2006/relationships/notesSlide" Target="/ppt/notesSlides/notesSlide1.xml" Id="R0e4d5d5d452b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a1d47375447e8" /><Relationship Type="http://schemas.openxmlformats.org/officeDocument/2006/relationships/notesSlide" Target="/ppt/notesSlides/notesSlide2.xml" Id="R06524315062b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368cab16b4e05" /><Relationship Type="http://schemas.openxmlformats.org/officeDocument/2006/relationships/notesSlide" Target="/ppt/notesSlides/notesSlide3.xml" Id="R94de1b080d9e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32aae42b54664" /><Relationship Type="http://schemas.openxmlformats.org/officeDocument/2006/relationships/image" Target="/ppt/media/image2.png" Id="Ra3514d4731564497" /><Relationship Type="http://schemas.openxmlformats.org/officeDocument/2006/relationships/notesSlide" Target="/ppt/notesSlides/notesSlide4.xml" Id="Rbf0ae00e904148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c6ee86f7349e5" /><Relationship Type="http://schemas.openxmlformats.org/officeDocument/2006/relationships/notesSlide" Target="/ppt/notesSlides/notesSlide5.xml" Id="Refcda9267f584b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8d0f4586764cf3" /><Relationship Type="http://schemas.openxmlformats.org/officeDocument/2006/relationships/notesSlide" Target="/ppt/notesSlides/notesSlide6.xml" Id="R6c4d8c40923c45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8c67d47e64e37" /><Relationship Type="http://schemas.openxmlformats.org/officeDocument/2006/relationships/notesSlide" Target="/ppt/notesSlides/notesSlide7.xml" Id="Rb8fb490db36642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5318fb6334079" /><Relationship Type="http://schemas.openxmlformats.org/officeDocument/2006/relationships/notesSlide" Target="/ppt/notesSlides/notesSlide8.xml" Id="R077fa6ae7b424d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33cd1e5784956" /><Relationship Type="http://schemas.openxmlformats.org/officeDocument/2006/relationships/notesSlide" Target="/ppt/notesSlides/notesSlide9.xml" Id="R50a771396d4540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592f3a5a8418e" /><Relationship Type="http://schemas.openxmlformats.org/officeDocument/2006/relationships/notesSlide" Target="/ppt/notesSlides/notesSlide10.xml" Id="R0f933103a6be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520d612f74830" /><Relationship Type="http://schemas.openxmlformats.org/officeDocument/2006/relationships/notesSlide" Target="/ppt/notesSlides/notesSlide11.xml" Id="R677b9a03222940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38a0a866b4d25" /><Relationship Type="http://schemas.openxmlformats.org/officeDocument/2006/relationships/notesSlide" Target="/ppt/notesSlides/notesSlide12.xml" Id="R81ff0d57e5f44c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1f4c8d76744e8" /><Relationship Type="http://schemas.openxmlformats.org/officeDocument/2006/relationships/notesSlide" Target="/ppt/notesSlides/notesSlide13.xml" Id="Rf8c4a391112944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417fd2fdf486f" /><Relationship Type="http://schemas.openxmlformats.org/officeDocument/2006/relationships/notesSlide" Target="/ppt/notesSlides/notesSlide14.xml" Id="R6089c88da4a24d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7538c866d4f71" /><Relationship Type="http://schemas.openxmlformats.org/officeDocument/2006/relationships/notesSlide" Target="/ppt/notesSlides/notesSlide15.xml" Id="R3d3108409a474b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5ac4a3a9e440f" /><Relationship Type="http://schemas.openxmlformats.org/officeDocument/2006/relationships/notesSlide" Target="/ppt/notesSlides/notesSlide16.xml" Id="R24c77d7018254e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7921a65de4b9a" /><Relationship Type="http://schemas.openxmlformats.org/officeDocument/2006/relationships/image" Target="/ppt/media/image3.png" Id="R5e4f0e1fac274699" /><Relationship Type="http://schemas.openxmlformats.org/officeDocument/2006/relationships/notesSlide" Target="/ppt/notesSlides/notesSlide17.xml" Id="Re84c9660911545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6A9A2-9246-4603-A3D7-D7E968769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45dd558740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FF97-7C71-4C9B-A443-F533C4C6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86667"/>
            </a:srgbClr>
          </a:solidFill>
          <a:ln xmlns:a="http://schemas.openxmlformats.org/drawingml/2006/main" w="0">
            <a:solidFill>
              <a:srgbClr val="15121B">
                <a:alpha val="86667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1C55-E60D-4BE9-8068-1076D77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653C6-F6E8-4567-9296-C08460D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7AD5F-6389-446C-80DC-A2F553C7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A421A-7B10-465A-9DA8-AE87B0D5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CB02A-427E-4A6B-834C-37621F47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950D6-C378-4383-BDD3-2CDF8CF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From category claim to category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344DF-FEBF-4DA2-9988-6EE752F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REVIEW DRAFT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2133270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7AD02-6B43-4E6B-B531-CD566E2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D5407-C443-4849-A015-6AB5A13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brief isn't 'build more brand awareness' - it's 'find what only KatKin can prove'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E820A-0EC5-4ADD-8AB7-9A0D608B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9059-3382-4276-B9C2-31BDFA75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95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Wrong question: how to out-spend or out-create competitors on reach, given KatKin already runs 300+ active paid-social ads and ships roughly 114 new creatives a week. Right question: what can KatKin claim permanently that a funded rival cannot replicate in one ad cycle, and does that claim still work once personalisation disappears at retail. This Blueprint…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113C8-6C3C-43E2-8207-664046B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358CC-9425-438B-877E-62B2D490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F331E-68B4-493B-B2C5-74C2A26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F21D1-B2CE-4CCA-BF78-BAA60F88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claim competitors cannot copy in one ad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94145-0400-40EF-8995-9E76076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9E76D-53D7-4B24-B3E8-2E31E0DC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Redirects the CMO mandate from spend-led awareness building toward asset-led differentiation, changing what gets resourced next quarter.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A939C-7A20-4330-8F62-228FEE73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0B406-0C3B-4B58-89E5-B9D055A3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509877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A2FC7-90C3-4027-8306-12B13DFE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THE PROOF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A928F-3EFE-4498-8C48-B8C1F1F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Five forces are closing the window, and none are solved by more paid reach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A2395-05B3-4916-B2E7-BB723C6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D912A-677B-4AE2-BEFC-14BB317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62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38A9-1698-43DE-A5E1-195F192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SAMENESS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3F7A2-48B4-4A9D-BF2C-00320BD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Shared functional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4906A-6F9B-4A3E-AA43-039229A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162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6A517-7F5D-4EC8-B445-D35DFFD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FC928-77ED-49FD-9310-CEA534BA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Organic and AI search 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77B1B-B191-48AE-8F60-3999585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62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921B1-47E7-42E8-BC01-A4891BF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ECONOMICS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2A7B8-CE38-481C-84D5-383CBCE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669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Paid creative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D051A-B984-4CE4-919D-9BCB80B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162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ED9E7-4CD6-4B67-BE04-FB9132A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MANDATE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51EA9-7D63-45ED-A5BB-6108729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Build a loved brand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B886E-B31C-4EF3-85FE-A3F44C3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21B"/>
          </a:solidFill>
          <a:ln xmlns:a="http://schemas.openxmlformats.org/drawingml/2006/main" w="0">
            <a:solidFill>
              <a:srgbClr val="15121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7388E-2DF3-433A-9920-45CA17B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PRESSURE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61E54-F396-4201-8DB0-0A09EA7E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Category functional language has commoditised across DTC entrants. Discovery is shifting toward organic and AI search, where a lower-funded rival…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7D53A-785E-4F6E-9391-430FC128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20C97-BEBE-42F5-952B-A6883F9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Establishes urgency to act within the current planning cycle, directly tied to a loss-making position that shortens the decision window.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70A07-37B6-45A7-8E61-8EBD674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8C596-85A5-4C80-857A-76EA087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20805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7ACE4-EA37-40BC-BBA7-3B45E876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THE PROOF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713E5-0495-4702-B734-51A6D8B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Every brand says the same thing; only one has the published proof to say something else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77FEC-BC34-484B-B557-18D9835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1AD40-E989-4139-B5D7-72FDE5CA4C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14d4731564497"/>
          <a:srcRect xmlns:a="http://schemas.openxmlformats.org/drawingml/2006/main" l="5445" t="0" r="5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14500"/>
            <a:ext cx="542925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342C4-CE79-4126-91F0-22D0AE2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5486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DBFC3-52CC-4584-85C9-45F8B851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HARD PART IS ALREADY DONE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3130B-8DD3-4745-AF79-CA9AC825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095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Across DTC competitors, 'real meat, no fillers, vet-formulated' is now shared vocabulary - Untamed uses it near-verbatim on a fraction of KatKin's funding. No competitor has claimed independent, peer-reviewed proof as owned territory, because…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DE82-E16A-4A5A-A039-85A4C2E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Independent research changes the basis of competition.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0A521-4C67-4477-86D2-41B135A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7B25C-F5DE-45E7-9AC2-B5FF2856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Converting this gap into owned territory could reduce reliance on functional-claim parity and support earned, not only paid, discovery - a mechanism, not a guaranteed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53FAE-85BB-42BA-AB72-EEBE2345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99052-B238-4D50-B44B-12639F1C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660742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E79AB-21AA-4786-AE75-66298B4F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2 / THE PROOF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5B0E6-9D22-4BEB-A502-2601387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KatKin did the hard, expensive part of proof - and is marketing the easy, copyable part instead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4F4AA-8C4A-4144-96F8-B91A8A42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7BF6A-72AD-4E4F-8397-E2A04C0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WHAT OWNERS 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A65AB-FE1D-44CC-901E-3CA8B0AB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Confident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EBF46-48A5-4CDB-A9CA-20F2202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Fresh. Real meat. Vet formulated.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D6B11-0C4E-4250-9FC7-3BA9561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145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C3592-A258-4902-8501-3138DB5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47C94-37B1-47C6-A477-44F2D66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43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WHAT KATKIN CAN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81F9C-F2B5-4246-9331-BEA3AFF6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Independent science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D3BFC-8519-4DB2-A613-3A31E1E7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tension at the centre of this Blueprint: owners are shown assertion-led claims when KatKin's real edge is evidence-led. Whether consumers reward independently verified…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084A4-7E84-4EA1-B7CC-3D1CF33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B15A0-8F3D-4772-9C6A-924E27D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Forces an explicit choice before committing production budget: build around proof (higher differentiation, higher validation risk) or stay on shared claims (lower risk, no new dif…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9E950-2FDA-4EC1-A524-DEBD7F87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12955-9F35-4A1B-BC4C-A19F8F8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1391498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389A8-FF3C-44BC-B3DA-DDF7FB2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THE GROWTH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ECEE-03FD-4514-AA80-93030D5B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KatKin's loudest signal reaches the one audience it has already won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B5DBE-6627-41A8-A941-AA676AF3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75013-69B3-4FD9-AADE-ECA0ED3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34532-A581-44C9-AE3A-03F2335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FE7DD-00CD-42E0-BFDC-9AE7E54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85D5B-768C-4CDA-845E-0DD8997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Confidence in doing right by the cat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BA27A-4957-46D3-AFB5-8C5D566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3732A-CADB-4D69-B1E2-1541D183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94DE5-9AEB-4450-9625-08EFA73E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Barrier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1A20B-2D55-4426-ADFF-68282B4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Premium price and change anxiety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CA8A3-AD3F-477A-B6B2-8E70003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A5721-91B1-497C-A821-5A0F7B4E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05038-3EF2-43D3-BC2A-72604414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BD157-0093-41C0-B8FC-C0C92585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Independent proof at the decision moment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7BAB2-0BAC-4089-97C0-996C93C4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673AA-B29C-481C-83E6-8097D60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Prevents over-resourcing creative for an audience that is already converting, at the expense of the two pools carrying the real growth prize.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EE3F7-CD17-417E-BC29-5D0C9648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97EB-527E-4C23-8BE1-8098448B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133332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F8211-0C35-4FD0-BB66-FE055E05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THE GROWTH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A040D-8C45-4E6A-8B77-B64219F8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growth pools need three different jobs from the same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FF2A7-B56B-4632-995D-04460D24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E1BFE-EC15-43A1-8A3E-F5C5405F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358ED-1CAC-4BF4-881A-40AE839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CDCF7-2496-48A6-8C68-FCCA405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Committed DTC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6F88-EECC-483E-8750-050F84CD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Keep belief. Reduce churn.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6F0C-B5B2-485D-BD11-EE51F454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426A2-2401-460B-8C73-029B6A3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17B85-8D2D-4253-9E0B-04456CE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converts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0C8D-4F5C-4C7D-BA95-2B278011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Earn confidence without a quiz.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FE032-1677-42CF-B8CB-2345B87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1FCC1-5C94-4E6A-B3AB-074E531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10531-9DE6-4D00-AE95-08E8275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Mainstream owners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2477B-223D-4325-8577-1605C68D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proof legible at a glance.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8080D-2079-4917-90B6-4FC74C8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FBBB9-D51A-490B-9BF2-7067A1C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Directs investment sequencing by evidence confidence, not assumed importance - the mainstream pool should be validated before media spend is committed to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19555-16D5-491D-9BD8-17730F53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B2DCE-D1D5-4804-AAA8-196944B2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8728679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8BAB3-2D09-4717-8EF8-78B70CA4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3 / THE GROWTH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FADA4-5806-43DA-A9EE-4682FBE0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trust-builder that works in a DTC quiz cannot survive three seconds on a shelf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76042-F322-4C48-AB78-7500A86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71863-BF2C-4EA9-A2DA-E778DF23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83242-A73F-4056-A323-6F3E663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E3D48-D7F2-4184-BD57-BB79BC0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00026-2449-4E10-9BC5-5056938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Confidence in doing right by the cat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A6628-4AC9-4ECF-AAC7-74B996B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75458-50FD-4FDB-ACE8-E19A5C4A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83E29-D79E-48BF-A1D9-705E071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Barrier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5190-7305-49D9-84C4-5CA2A34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Premium price and change anxiety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51A51-8355-4AD2-9B59-B1C3B162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22A91-3F7C-4742-8EE1-4B089E8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45736-7390-4D5D-A04B-D7F3AD78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D14-F346-417B-BCC0-A8F25C2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Independent proof at the decision moment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C71F-AF15-4B87-8B98-881AF73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C6204-25DF-4FCE-A786-61BDF890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Prevents a single creative asset being asked to do five different jobs; each stage gets its own measurable mechanism and owner.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E0304-6AAB-4A8E-A5C4-C1BCE7F5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CD382-724B-44A0-BEB6-9FC7469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624790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7B098-4685-4BC9-B157-CA8B687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THE STRATEGIC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6F6F3-974C-4B43-97C5-8F71AD9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Decision one: what KatKin stands for - proof, not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67AE7-5897-4F66-8CCB-F84207BB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E609A-89C5-477A-9255-A8CA3F13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C16D6-5C9A-4FBB-B821-30EF7A2F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Proof, not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21B4-F447-4972-84F2-FDF1E88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BENEFIT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7AA90-BB06-4044-B822-4DE688A5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28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8D9EB-517B-46A8-9C48-C011381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Confidence without self-audit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7416-34A5-45AA-8964-B2F93A1C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D11A2-BFE7-4EDF-9EE7-DEA2C7C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33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8B1D-F709-4E74-81C7-E9AB3CB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0CD9A-38AF-4716-95AF-E6109C8C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EXPRESSION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619ED-275B-4349-89DC-094D621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386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8443D-517F-4252-B6B2-7AC89550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without personalisation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17D15-D476-4988-8580-8A098A3B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92DBE-36E1-42B7-BA50-E827224A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Gives every team one falsifiable sentence to brief from, replacing today's message drift across paid, CRM and retail.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E7F98-D25C-4EBF-9BB4-4FB5146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F6C4D-D7C3-47F7-9F23-A37DBE5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445861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27CE7-5703-4431-9679-C4412B6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THE STRATEGIC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FBDB-B9A8-4511-B4F7-5450A59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Decision two: what the owner should feel - confidence, not persuasion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19FD-2C9F-4ACF-8DF3-92F16BF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1BD91-8555-47A2-962D-56BF95E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47CF-13FF-48E4-B881-55E1416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Proof, not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6838D-11CF-41B8-920C-758CD76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BENEFIT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25563-77A1-4526-B3F4-AFD44710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289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61667-E648-48C5-944E-0C0F799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Confidence without self-audit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D6245-B4AF-49C3-8FA2-311A8F4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492B5-431F-4215-9B4C-936E4D68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33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9D7A8-35A0-477E-89AC-DF680F1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27DFB-24A9-4363-813F-0528C0AA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EXPRESSION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29425-9FE7-4CD7-8426-7F2010C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386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452C-3FF6-45AE-85EB-62D58989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Visible without personalisation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3D441-742A-4A4C-BB18-2EBEC815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D1A27-E74B-49B8-AB8A-C9217B68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If validated, shifts creative briefs from 'prove the food works' to 'prove you don't need to take our word for it' - a different commercial case for performance-marketing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FF38F-12D8-4B3D-A816-66C050F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51B62-652C-4652-95C6-4447B85D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2113614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93A9F-D8A5-4B15-96C0-A630518E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THE STRATEGIC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FA735-F798-4025-ACD7-B192BF5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Decision three: the story that carries it - 'The Science Cats Deserve'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D0E91-0009-4C9C-B490-DC81CA66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B37F8-D277-47A5-922A-C2194018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93F07-D6F2-4944-AE23-673DDB7E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D9B62-84ED-4A3D-862C-D8EB4332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FD288-879C-4B3D-8C60-F44360F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category asks owners to trust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913FB-AADF-423D-89E6-AE369F8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EED5F-41B2-4777-B425-0303A16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72F3A-A132-4AE4-ADE4-65DB58B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7BF81-87E5-458E-B857-24A431CB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 makes proof the starting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980E7-C836-4154-B1B0-195B80D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D9831-13B0-4CDF-A707-106E3E7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16882-E256-423A-A46F-9327B13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361E5-48C1-49D5-88CD-A38755E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Independent science carries the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68146-5A5C-47DC-9100-1E71E559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FC0C7-8665-4768-AF50-0EE6EF1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03D98-0442-4A24-919B-42783C5E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One flexible story could reduce reliance on the current high-volume weekly creative production needed to sustain differentiation, if the shelf and CRM translations hold up under t…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C9199-06B9-449D-BB88-8DC30B2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7B2ED-E4A9-4152-B89E-3367CD9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2003322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6163C-FA63-4CA0-B5DC-2E6F6505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4 / THE STRATEGIC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1B6FC-EAFC-4854-8C0E-4924019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Decision four: how it shows up unaided - one proof, three executions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67E98-E2CC-479B-B2DD-B52831C7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5AC9C-2835-4534-9455-CAFBDCA5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9642D-AEB2-47BB-8AA0-010E8D3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C0AEA-0611-4F81-A2FB-2763C295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4052-5E20-404A-B21A-9C4C3E6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category asks owners to trust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5901D-EAD8-4BF5-918E-0081DC5C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17D97-5C1E-4185-803F-1D2436A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5C28D-5E4F-4DA5-B420-4A0FB58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1EC3-47DD-4CAD-87DD-8921E5F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KatKin makes proof the starting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1D8E0-C5EE-4605-BAD9-94D407C9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00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3839C-2B14-480C-8EF0-9853FCA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A76FE-A5BC-44DF-8718-1A00C060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9524E-5ABB-4B3F-9048-39AAD43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Independent science carries the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291AA-8F2B-4D30-9B1B-57B436A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SCIENCE CATS DESERVE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0FDE5-36A4-462D-800E-AB5D52E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3F31F-547E-4D30-AE6F-6474931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Equips CRM and retail teams with one shared brief instead of two diverging narratives, reducing coordination cost between DTC and retail functions.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792CB-BA87-4F42-851C-6CF5AFF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30A5E-803B-48D8-B6F5-CD4497A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385096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FA703-9E12-462A-89EE-D2BC720E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194DB-5197-4606-85D3-F2AD2DE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prize is pricing power and cheaper growth - not simply more reach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D5BFC-A3F6-4299-AC94-06BAF15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02E26-B092-4A4C-835B-33222B0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BB9A8-BD1F-49C1-AF52-6B9D55F7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54816-6CD4-4735-93FB-F4F629B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BF771-70D4-4FF5-B237-4022F6F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94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citable point of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815E3-BBB2-49FD-A059-FF5EE687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42801-6B83-496E-83D3-8CBADD77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1A178-57CE-4562-BCDA-21157A3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7A3A8-96DA-4018-AB5E-4F50CFD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33750"/>
            <a:ext cx="194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Premium proof at shelf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A689E-8458-438A-AE33-59951410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54873-A4B9-40B3-9C6A-137713F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5DEB6-3DF4-488E-8683-A3FB1BA1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960A0-621F-463A-A3CA-C8D135B6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194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Segmented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906D6-AAD0-4532-B960-A4C95C5A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B7048-C882-4833-AE5A-6F75960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16782-4D7F-4D75-8774-DA369949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INVESTOR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3964B-BCA0-42CD-B847-BC17550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94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Earlier leading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A8A69-4AE9-4C1D-8A72-C15AA2B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1B5FA-1ACC-48BF-B67D-0293E061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Frames the shift in terms investors already track - pricing power and CAC - without asserting unverified numbers.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24922-BC74-42A7-93DA-9E1F997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2A3CA-53D5-4DE8-B158-4BE546F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850766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F7069-AD86-4E73-ABC9-13C52C0D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5C290-2A8F-4142-A2D5-364A041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Retail has three seconds to do what CRM does in three emails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8DAC0-530D-47E5-B2DE-E2AD0AFF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C88B0-7624-4B4D-9343-92A2867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DTC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58F56-5958-4722-9553-414B41D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90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Discovery and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4D6D3-BB19-4704-A807-4D65BB5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28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Personalised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6CEF6-A5BC-4E21-9A10-B79CF24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6C120-EFE7-4E78-AEFE-CD91A36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77354-0EA6-4135-BAE5-49940C6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Trust and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547E8-9E3E-4ABF-BE3B-90D40C1C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First party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7F06E-1101-4956-A2E9-F6E5CC3B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D05E-A87A-4D55-955B-59775CBA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0896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CE12-0D9A-4BD1-8C02-ECD334A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6F7EE-4FC3-4614-B6CF-ECC2C16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8E537-94D2-4CBF-AB19-11203291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Unaided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03D1-EA1B-4134-823C-6A3E0AB7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663DB-0E07-4C35-801E-6F1C7D1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EARNED /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99F6E-DC07-4F6D-A194-9023173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3CDA3-26C3-4632-8ED6-CF516A3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Citable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0C4A1-7E9A-44DC-BE97-1517AB22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BEE72-544F-4B75-9DD3-26AAB7FB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5386-DBC7-4FBB-A2B9-01896023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339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00A6-8C63-4C0E-B0D4-E7415B03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Rebalanced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9BF5C-FF2D-4D20-9D4E-B4FE916D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2DCF4-4D98-4EB6-97AC-9C17C10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Rebalances channel investment toward mechanisms that can compound without continuous paid spend, directly answering the rising-CAC constraint named earlier.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FC845-A79F-4099-96DD-C11341F9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1253A-14F4-4CC6-A419-2CEB03B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803123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BA433-2EE8-45C9-9A4F-9C3AD94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5 / THE GROWTH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A151-6DA0-4617-8801-9C9EB4E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Validate before you commit - founder sign-off gates the final narrative 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7DAD8-70C7-4F0C-A344-6D1F9B1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86647-2A16-401C-8D91-6E8B900C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DTC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C4781-344C-4A7C-9900-077B51B8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90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Discovery and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49677-273F-42F4-8E61-EC18122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28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Personalised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21902-AFD0-4DC0-A1D9-D12DC14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CB741-41BA-4484-B057-3A38DFA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5B0B6-74AA-4D03-A0AF-39CE81A1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Trust and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B78BA-D09F-42D8-BCE4-A18457E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First party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DF31A-170B-4991-B8A5-C0A4365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3D40E-EF4F-45B7-BC0D-28AD9FA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0896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B1F71-DDC1-4A82-99A6-6800570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EC540-2EB6-49C4-A0AE-54432D92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7BA2E-8D4C-4201-865D-A34C18A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Unaided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2081E-7D20-4406-A387-C1EB610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3FCF8-4921-4E47-B7A3-3BF9B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EARNED /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60DD0-DB55-4EC6-9D3C-0D153BCB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A38AB-17EA-4107-977A-B4B0787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Citable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6C2B2-86CA-4EA9-9EC4-48FEE7D0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9B6CF-F12A-4F4D-B3CF-EDEC1583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2640F-E69C-409F-BBA2-EE633D69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339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DBBE6-E57B-4455-BA9D-F3E6B34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Rebalanced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3716A-BC9B-40D7-AB3C-9DC47F4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5FAAA-4EB0-4461-B5A4-DDBC64C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Sequences spend so the cheapest, highest-confidence validation step happens before any retail or creative production investment is committed.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A3909-F0A1-463B-8A04-F3704FE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25101-8014-4289-8162-231405C8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8122124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306A4-9268-4ECE-A8FA-1431D17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6 / THE FIRST 90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945E4-7E0E-4612-8698-408F824E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Prove the shift is working before revenue can show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D9705-A82C-4626-8327-33AA166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26151-AF8B-46C5-87E7-D028410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BBFCE-7393-4D1E-BBC1-0592AA55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1-30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149C5-61D0-46C4-8523-7642992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E969A-63C6-4ABF-BD20-7CA9DA6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pressure-test Claims and evidence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EAF9B-113B-454E-9B38-4610E24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385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74562-45A9-4DF1-9C06-A3D4B9A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31-60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13E44-5BA8-4FA4-86D4-41419A4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CBEA3-624B-4744-B1F2-90763B69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Retail translation test CRM segmentation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C19A7-EBA7-4921-9113-9F64C57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2385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BA929-30CE-4A09-9798-1482298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DAYS 61-90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D428F-B2FF-415F-8BD8-4F840B9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6AC07-5135-4BD5-81D9-40BF8F41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Read leading signals Shift spend only when proven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057B6-4FCB-487D-A296-5F80A98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0BA55-01AB-4B34-A0C7-C1BCFEC4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340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Gives the founder and investors a credible early read on strategy health ahead of the stated runway checkpoint, directly addressing the loss-making position named at the outset.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A9740-C229-4244-A0CE-EAC6B6B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79D2A-B1A6-4BB3-9CD5-60FD510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8A8291"/>
                </a:solidFill>
                <a:latin typeface="Helvetica"/>
                <a:ea typeface="Helvetica"/>
                <a:cs typeface="Helvetica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3816139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4A17E-BD45-4449-A70B-EA4CA2591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f0e1fac274699"/>
          <a:srcRect xmlns:a="http://schemas.openxmlformats.org/drawingml/2006/main" l="29677" t="0" r="29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D8AB4-CAA3-4AAC-98C0-E333E67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333"/>
            </a:srgbClr>
          </a:solidFill>
          <a:ln xmlns:a="http://schemas.openxmlformats.org/drawingml/2006/main" w="0">
            <a:solidFill>
              <a:srgbClr val="15121B">
                <a:alpha val="93333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5A181-7386-480F-8DEE-32F333A9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MANDATE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1645B-BB73-4FC6-8CFA-5AB0C43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4F580-0E42-4E79-9309-E213E941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Make it easy to feel.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62C9B-3534-4632-9B59-D595D59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Then earn the right to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7C6BF-656E-4279-AEF3-404CD9A4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93B88-71A0-471F-B6D5-AAD7A82C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pressure-test and retail translation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61651-AC32-408C-8FDF-39003C5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60C7C-79D3-4BEF-8948-83A46B6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745436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2026-10-12T16:10:43.1970000Z</dcterms:created>
  <dcterms:modified xsi:type="dcterms:W3CDTF">2026-10-12T16:10:43.1970000Z</dcterms:modified>
</coreProperties>
</file>