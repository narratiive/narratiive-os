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1497dd05b341d8" /><Relationship Type="http://schemas.openxmlformats.org/officeDocument/2006/relationships/extended-properties" Target="/docProps/app.xml" Id="Rec168d28321f4b5b" /><Relationship Type="http://schemas.openxmlformats.org/officeDocument/2006/relationships/officeDocument" Target="/ppt/presentation.xml" Id="R367f548f23674b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753c270a3c4673"/>
  </p:sldMasterIdLst>
  <p:notesMasterIdLst>
    <p:notesMasterId xmlns:r="http://schemas.openxmlformats.org/officeDocument/2006/relationships" r:id="R150ebd6b0fd14d92"/>
  </p:notesMasterIdLst>
  <p:sldIdLst>
    <p:sldId xmlns:r="http://schemas.openxmlformats.org/officeDocument/2006/relationships" id="256" r:id="R184e1273fb3f4bf3"/>
    <p:sldId xmlns:r="http://schemas.openxmlformats.org/officeDocument/2006/relationships" id="257" r:id="Rdef8f5c73a7c454e"/>
    <p:sldId xmlns:r="http://schemas.openxmlformats.org/officeDocument/2006/relationships" id="258" r:id="R82146aec01d747b6"/>
    <p:sldId xmlns:r="http://schemas.openxmlformats.org/officeDocument/2006/relationships" id="259" r:id="R35a321f4e5d44d55"/>
    <p:sldId xmlns:r="http://schemas.openxmlformats.org/officeDocument/2006/relationships" id="260" r:id="R81cd5474bea74114"/>
    <p:sldId xmlns:r="http://schemas.openxmlformats.org/officeDocument/2006/relationships" id="261" r:id="Rd583048b9b5a4b91"/>
    <p:sldId xmlns:r="http://schemas.openxmlformats.org/officeDocument/2006/relationships" id="262" r:id="Re9bf10767ae241a2"/>
    <p:sldId xmlns:r="http://schemas.openxmlformats.org/officeDocument/2006/relationships" id="263" r:id="R3a0cb208ce454198"/>
    <p:sldId xmlns:r="http://schemas.openxmlformats.org/officeDocument/2006/relationships" id="264" r:id="Ra04f0291d16d4407"/>
    <p:sldId xmlns:r="http://schemas.openxmlformats.org/officeDocument/2006/relationships" id="265" r:id="Re8bf2abfedbb4f2b"/>
    <p:sldId xmlns:r="http://schemas.openxmlformats.org/officeDocument/2006/relationships" id="266" r:id="Rdf4ebf706f7548b9"/>
    <p:sldId xmlns:r="http://schemas.openxmlformats.org/officeDocument/2006/relationships" id="267" r:id="R39598faa9dfe405b"/>
    <p:sldId xmlns:r="http://schemas.openxmlformats.org/officeDocument/2006/relationships" id="268" r:id="R7569514605a4456a"/>
    <p:sldId xmlns:r="http://schemas.openxmlformats.org/officeDocument/2006/relationships" id="269" r:id="R94754f9dc2144039"/>
    <p:sldId xmlns:r="http://schemas.openxmlformats.org/officeDocument/2006/relationships" id="270" r:id="R70cb3a8f34e346e9"/>
    <p:sldId xmlns:r="http://schemas.openxmlformats.org/officeDocument/2006/relationships" id="271" r:id="R77ff3dd2d683472c"/>
    <p:sldId xmlns:r="http://schemas.openxmlformats.org/officeDocument/2006/relationships" id="272" r:id="Rce98029bc4f14caa"/>
    <p:sldId xmlns:r="http://schemas.openxmlformats.org/officeDocument/2006/relationships" id="273" r:id="Ref6575aec638482e"/>
    <p:sldId xmlns:r="http://schemas.openxmlformats.org/officeDocument/2006/relationships" id="274" r:id="R5cc8ad1a8c434b29"/>
    <p:sldId xmlns:r="http://schemas.openxmlformats.org/officeDocument/2006/relationships" id="275" r:id="Rc63ed21bb8764f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1cda40a4db4632" /><Relationship Type="http://schemas.openxmlformats.org/officeDocument/2006/relationships/slideMaster" Target="/ppt/slideMasters/slideMaster1.xml" Id="R8e753c270a3c4673" /><Relationship Type="http://schemas.openxmlformats.org/officeDocument/2006/relationships/notesMaster" Target="/ppt/notesMasters/notesMaster1.xml" Id="R150ebd6b0fd14d92" /><Relationship Type="http://schemas.openxmlformats.org/officeDocument/2006/relationships/presProps" Target="/ppt/presProps.xml" Id="Rdb59a95b849a4f70" /><Relationship Type="http://schemas.openxmlformats.org/officeDocument/2006/relationships/tableStyles" Target="/ppt/tableStyles.xml" Id="R4a644f3b926d4535" /><Relationship Type="http://schemas.openxmlformats.org/officeDocument/2006/relationships/slide" Target="/ppt/slides/slide1.xml" Id="R184e1273fb3f4bf3" /><Relationship Type="http://schemas.openxmlformats.org/officeDocument/2006/relationships/slide" Target="/ppt/slides/slide2.xml" Id="Rdef8f5c73a7c454e" /><Relationship Type="http://schemas.openxmlformats.org/officeDocument/2006/relationships/slide" Target="/ppt/slides/slide3.xml" Id="R82146aec01d747b6" /><Relationship Type="http://schemas.openxmlformats.org/officeDocument/2006/relationships/slide" Target="/ppt/slides/slide4.xml" Id="R35a321f4e5d44d55" /><Relationship Type="http://schemas.openxmlformats.org/officeDocument/2006/relationships/slide" Target="/ppt/slides/slide5.xml" Id="R81cd5474bea74114" /><Relationship Type="http://schemas.openxmlformats.org/officeDocument/2006/relationships/slide" Target="/ppt/slides/slide6.xml" Id="Rd583048b9b5a4b91" /><Relationship Type="http://schemas.openxmlformats.org/officeDocument/2006/relationships/slide" Target="/ppt/slides/slide7.xml" Id="Re9bf10767ae241a2" /><Relationship Type="http://schemas.openxmlformats.org/officeDocument/2006/relationships/slide" Target="/ppt/slides/slide8.xml" Id="R3a0cb208ce454198" /><Relationship Type="http://schemas.openxmlformats.org/officeDocument/2006/relationships/slide" Target="/ppt/slides/slide9.xml" Id="Ra04f0291d16d4407" /><Relationship Type="http://schemas.openxmlformats.org/officeDocument/2006/relationships/slide" Target="/ppt/slides/slide10.xml" Id="Re8bf2abfedbb4f2b" /><Relationship Type="http://schemas.openxmlformats.org/officeDocument/2006/relationships/slide" Target="/ppt/slides/slide11.xml" Id="Rdf4ebf706f7548b9" /><Relationship Type="http://schemas.openxmlformats.org/officeDocument/2006/relationships/slide" Target="/ppt/slides/slide12.xml" Id="R39598faa9dfe405b" /><Relationship Type="http://schemas.openxmlformats.org/officeDocument/2006/relationships/slide" Target="/ppt/slides/slide13.xml" Id="R7569514605a4456a" /><Relationship Type="http://schemas.openxmlformats.org/officeDocument/2006/relationships/slide" Target="/ppt/slides/slide14.xml" Id="R94754f9dc2144039" /><Relationship Type="http://schemas.openxmlformats.org/officeDocument/2006/relationships/slide" Target="/ppt/slides/slide15.xml" Id="R70cb3a8f34e346e9" /><Relationship Type="http://schemas.openxmlformats.org/officeDocument/2006/relationships/slide" Target="/ppt/slides/slide16.xml" Id="R77ff3dd2d683472c" /><Relationship Type="http://schemas.openxmlformats.org/officeDocument/2006/relationships/slide" Target="/ppt/slides/slide17.xml" Id="Rce98029bc4f14caa" /><Relationship Type="http://schemas.openxmlformats.org/officeDocument/2006/relationships/slide" Target="/ppt/slides/slide18.xml" Id="Ref6575aec638482e" /><Relationship Type="http://schemas.openxmlformats.org/officeDocument/2006/relationships/slide" Target="/ppt/slides/slide19.xml" Id="R5cc8ad1a8c434b29" /><Relationship Type="http://schemas.openxmlformats.org/officeDocument/2006/relationships/slide" Target="/ppt/slides/slide20.xml" Id="Rc63ed21bb8764f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62fdac882f49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2a6c6cee243b3" /><Relationship Type="http://schemas.openxmlformats.org/officeDocument/2006/relationships/notesMaster" Target="/ppt/notesMasters/notesMaster1.xml" Id="Ra80dc29dfa20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01fdf9e43e4ac7" /><Relationship Type="http://schemas.openxmlformats.org/officeDocument/2006/relationships/notesMaster" Target="/ppt/notesMasters/notesMaster1.xml" Id="R68cd37a3b1624f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01e1b3758348fc" /><Relationship Type="http://schemas.openxmlformats.org/officeDocument/2006/relationships/notesMaster" Target="/ppt/notesMasters/notesMaster1.xml" Id="R938f2dcf5a3240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7aad74a1984811" /><Relationship Type="http://schemas.openxmlformats.org/officeDocument/2006/relationships/notesMaster" Target="/ppt/notesMasters/notesMaster1.xml" Id="R6b02d203ba2e40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ee0fa0b6c24c09" /><Relationship Type="http://schemas.openxmlformats.org/officeDocument/2006/relationships/notesMaster" Target="/ppt/notesMasters/notesMaster1.xml" Id="R78a7057499fd4a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7be294f50e431e" /><Relationship Type="http://schemas.openxmlformats.org/officeDocument/2006/relationships/notesMaster" Target="/ppt/notesMasters/notesMaster1.xml" Id="R9d8646ead8874c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34be44b2044273" /><Relationship Type="http://schemas.openxmlformats.org/officeDocument/2006/relationships/notesMaster" Target="/ppt/notesMasters/notesMaster1.xml" Id="Re6dc230bf05a49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b549939f0a494a" /><Relationship Type="http://schemas.openxmlformats.org/officeDocument/2006/relationships/notesMaster" Target="/ppt/notesMasters/notesMaster1.xml" Id="Ra295ad7796a44d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1dbb3cbba24f48" /><Relationship Type="http://schemas.openxmlformats.org/officeDocument/2006/relationships/notesMaster" Target="/ppt/notesMasters/notesMaster1.xml" Id="R9f1a71bb91f344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39cc4fb9354e7d" /><Relationship Type="http://schemas.openxmlformats.org/officeDocument/2006/relationships/notesMaster" Target="/ppt/notesMasters/notesMaster1.xml" Id="Rb009ed41f00842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7db8cf07d348dc" /><Relationship Type="http://schemas.openxmlformats.org/officeDocument/2006/relationships/notesMaster" Target="/ppt/notesMasters/notesMaster1.xml" Id="Rc915992d0a2a42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818f58eae04969" /><Relationship Type="http://schemas.openxmlformats.org/officeDocument/2006/relationships/notesMaster" Target="/ppt/notesMasters/notesMaster1.xml" Id="R6aa02fa3dba045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e09ba28a7f4c3e" /><Relationship Type="http://schemas.openxmlformats.org/officeDocument/2006/relationships/notesMaster" Target="/ppt/notesMasters/notesMaster1.xml" Id="R28e78e5dc0374a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b5b3ee5e5e44c4" /><Relationship Type="http://schemas.openxmlformats.org/officeDocument/2006/relationships/notesMaster" Target="/ppt/notesMasters/notesMaster1.xml" Id="Rc4480a67dcd940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226fd81b204444" /><Relationship Type="http://schemas.openxmlformats.org/officeDocument/2006/relationships/notesMaster" Target="/ppt/notesMasters/notesMaster1.xml" Id="Re4a48c0fd53d41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fda853690d4b90" /><Relationship Type="http://schemas.openxmlformats.org/officeDocument/2006/relationships/notesMaster" Target="/ppt/notesMasters/notesMaster1.xml" Id="R68ba69ce292647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b873be2ae547ff" /><Relationship Type="http://schemas.openxmlformats.org/officeDocument/2006/relationships/notesMaster" Target="/ppt/notesMasters/notesMaster1.xml" Id="R08e27db9e9f342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fbfc70462f4673" /><Relationship Type="http://schemas.openxmlformats.org/officeDocument/2006/relationships/notesMaster" Target="/ppt/notesMasters/notesMaster1.xml" Id="Rfac8c9b5155e47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c34d2695a94db6" /><Relationship Type="http://schemas.openxmlformats.org/officeDocument/2006/relationships/notesMaster" Target="/ppt/notesMasters/notesMaster1.xml" Id="Rea84eba9636140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064ba4c22a443e" /><Relationship Type="http://schemas.openxmlformats.org/officeDocument/2006/relationships/notesMaster" Target="/ppt/notesMasters/notesMaster1.xml" Id="Rd167d5d79139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Governed evidence refs: A1, A2, A3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Governed evidence refs: A1, A2, A3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Governed evidence refs: A1, A2, A3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Governed evidence refs: A1, A2, A3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Governed evidence refs: A4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Governed evidence refs: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Governed evidence refs: A5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A5,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Governed evidence refs: A6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Governed evidence refs: A6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A4, A5, A6, A7,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A1, A2, A3, A4, A5, A6, A7,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 [ASSUMPTION]: FIELDWORK receives 600,000 ecommerce sessions per year.</a:t>
            </a:r>
          </a:p>
          <a:p xmlns:a="http://schemas.openxmlformats.org/drawingml/2006/main">
            <a:r>
              <a:t>A2 [ASSUMPTION]: FIELDWORK converts 2.0% of ecommerce sessions to orders.</a:t>
            </a:r>
          </a:p>
          <a:p xmlns:a="http://schemas.openxmlformats.org/drawingml/2006/main">
            <a:r>
              <a:t>A3 [ASSUMPTION]: FIELDWORK has a £100 average order value before returns and discounts.</a:t>
            </a:r>
          </a:p>
          <a:p xmlns:a="http://schemas.openxmlformats.org/drawingml/2006/main">
            <a:r>
              <a:t>A4 [ASSUMPTION]: The principal growth constraint is a broad proposition that gives qualified buyers too little reason to choose FIELDWORK.</a:t>
            </a:r>
          </a:p>
          <a:p xmlns:a="http://schemas.openxmlformats.org/drawingml/2006/main">
            <a:r>
              <a:t>A5 [ASSUMPTION]: FIELDWORK can build an advantage around objects designed for the overlap between work and home life.</a:t>
            </a:r>
          </a:p>
          <a:p xmlns:a="http://schemas.openxmlformats.org/drawingml/2006/main">
            <a:r>
              <a:t>A6 [ASSUMPTION]: A proposition-led acquisition, conversion and retention programme is operationally feasible.</a:t>
            </a:r>
          </a:p>
          <a:p xmlns:a="http://schemas.openxmlformats.org/drawingml/2006/main">
            <a:r>
              <a:t>A7 [ASSUMPTION]: A staged 12-month validation programme is affordable and resourced.</a:t>
            </a:r>
          </a:p>
          <a:p xmlns:a="http://schemas.openxmlformats.org/drawingml/2006/main">
            <a:r>
              <a:t>C1 [CREATIVE ILLUSTRATION]: Built for the work of living is an illustrative creative territory for FIELDWORK.</a:t>
            </a:r>
          </a:p>
          <a:p xmlns:a="http://schemas.openxmlformats.org/drawingml/2006/main">
            <a:r>
              <a:t>Governed evidence refs: A1, A2, A3, A4, A5, A6, A7, C1</a:t>
            </a:r>
          </a:p>
          <a:p xmlns:a="http://schemas.openxmlformats.org/drawingml/2006/main">
            <a:r>
              <a:t>INTERNAL FICTIONAL DEMONSTRATION - HUMAN APPROVAL REQUIRED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95eed911045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e1b2b7a474d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ea1b8b3cc42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cbdfbde2f46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5afa60b0048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22ad971984f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DE77EE-CC39-4E84-895B-52C536100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888260-D534-4308-9E46-AB4311B402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EA3048-5453-4A0E-A392-0AF337AF79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8A3A0A-D10B-4C5F-9231-F6433B3218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A25D5C-8356-495C-8A93-482E907386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48ABA6-F5E7-4D93-90A4-987891ADD0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49F1DC-F86A-4AFD-948E-7B84DD461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5724C9-1CF6-40BB-ABD6-BED8981423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20E487-90E8-4435-88B7-1D40D544E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A95881-8D2A-46D1-AFB1-53B23D8D56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2dfd7867444b7f" /><Relationship Type="http://schemas.openxmlformats.org/officeDocument/2006/relationships/slideLayout" Target="/ppt/slideLayouts/slideLayout1.xml" Id="R53d41896f8cc45cf" /><Relationship Type="http://schemas.openxmlformats.org/officeDocument/2006/relationships/slideLayout" Target="/ppt/slideLayouts/slideLayout2.xml" Id="R6d408ed02fc544ae" /><Relationship Type="http://schemas.openxmlformats.org/officeDocument/2006/relationships/slideLayout" Target="/ppt/slideLayouts/slideLayout3.xml" Id="R2439925512334053" /><Relationship Type="http://schemas.openxmlformats.org/officeDocument/2006/relationships/slideLayout" Target="/ppt/slideLayouts/slideLayout4.xml" Id="Rbef915f71d874235" /><Relationship Type="http://schemas.openxmlformats.org/officeDocument/2006/relationships/slideLayout" Target="/ppt/slideLayouts/slideLayout5.xml" Id="R8b8b467d13604c7b" /><Relationship Type="http://schemas.openxmlformats.org/officeDocument/2006/relationships/slideLayout" Target="/ppt/slideLayouts/slideLayout6.xml" Id="R8cea1ad39c1a41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41896f8cc45cf"/>
    <p:sldLayoutId xmlns:r="http://schemas.openxmlformats.org/officeDocument/2006/relationships" id="2147483650" r:id="R6d408ed02fc544ae"/>
    <p:sldLayoutId xmlns:r="http://schemas.openxmlformats.org/officeDocument/2006/relationships" id="2147483651" r:id="R2439925512334053"/>
    <p:sldLayoutId xmlns:r="http://schemas.openxmlformats.org/officeDocument/2006/relationships" id="2147483652" r:id="Rbef915f71d874235"/>
    <p:sldLayoutId xmlns:r="http://schemas.openxmlformats.org/officeDocument/2006/relationships" id="2147483653" r:id="R8b8b467d13604c7b"/>
    <p:sldLayoutId xmlns:r="http://schemas.openxmlformats.org/officeDocument/2006/relationships" id="2147483654" r:id="R8cea1ad39c1a41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4536f71234754" /><Relationship Type="http://schemas.openxmlformats.org/officeDocument/2006/relationships/notesSlide" Target="/ppt/notesSlides/notesSlide1.xml" Id="Rf48be6ea22db42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e642ff33c4607" /><Relationship Type="http://schemas.openxmlformats.org/officeDocument/2006/relationships/notesSlide" Target="/ppt/notesSlides/notesSlide2.xml" Id="R544e8e6542ce4d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e7ae1c693b416a" /><Relationship Type="http://schemas.openxmlformats.org/officeDocument/2006/relationships/notesSlide" Target="/ppt/notesSlides/notesSlide3.xml" Id="Ra5ac070a0cb24d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3df8ae12254092" /><Relationship Type="http://schemas.openxmlformats.org/officeDocument/2006/relationships/notesSlide" Target="/ppt/notesSlides/notesSlide4.xml" Id="R7b80d9c008ae41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a7a0dbb2c419e" /><Relationship Type="http://schemas.openxmlformats.org/officeDocument/2006/relationships/notesSlide" Target="/ppt/notesSlides/notesSlide5.xml" Id="R4369e28ff6b24b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567fb86b1476d" /><Relationship Type="http://schemas.openxmlformats.org/officeDocument/2006/relationships/notesSlide" Target="/ppt/notesSlides/notesSlide6.xml" Id="Rbcee1a494a7a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7c46b5a884728" /><Relationship Type="http://schemas.openxmlformats.org/officeDocument/2006/relationships/notesSlide" Target="/ppt/notesSlides/notesSlide7.xml" Id="Refba8bd9d18c4e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a2203cf8f4654" /><Relationship Type="http://schemas.openxmlformats.org/officeDocument/2006/relationships/notesSlide" Target="/ppt/notesSlides/notesSlide8.xml" Id="R1f47f4041cbb47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2c2a0586947e8" /><Relationship Type="http://schemas.openxmlformats.org/officeDocument/2006/relationships/notesSlide" Target="/ppt/notesSlides/notesSlide9.xml" Id="R0eca9c7d5de040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352a86306421b" /><Relationship Type="http://schemas.openxmlformats.org/officeDocument/2006/relationships/notesSlide" Target="/ppt/notesSlides/notesSlide10.xml" Id="R6a6c698303e848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36aa557c2c4ee4" /><Relationship Type="http://schemas.openxmlformats.org/officeDocument/2006/relationships/notesSlide" Target="/ppt/notesSlides/notesSlide11.xml" Id="Re0947452f7884d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8cdd0420fa4fdd" /><Relationship Type="http://schemas.openxmlformats.org/officeDocument/2006/relationships/notesSlide" Target="/ppt/notesSlides/notesSlide12.xml" Id="R7d6f72e8181844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0998d1c774ec1" /><Relationship Type="http://schemas.openxmlformats.org/officeDocument/2006/relationships/notesSlide" Target="/ppt/notesSlides/notesSlide13.xml" Id="Re9c19e180bb74d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07324f02f24bf7" /><Relationship Type="http://schemas.openxmlformats.org/officeDocument/2006/relationships/notesSlide" Target="/ppt/notesSlides/notesSlide14.xml" Id="R49af63a076fb4d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894905d5c4bbd" /><Relationship Type="http://schemas.openxmlformats.org/officeDocument/2006/relationships/notesSlide" Target="/ppt/notesSlides/notesSlide15.xml" Id="R6e6217892d1244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3854b21f34a07" /><Relationship Type="http://schemas.openxmlformats.org/officeDocument/2006/relationships/notesSlide" Target="/ppt/notesSlides/notesSlide16.xml" Id="Ra0965107824b4b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7d386d5f546ca" /><Relationship Type="http://schemas.openxmlformats.org/officeDocument/2006/relationships/notesSlide" Target="/ppt/notesSlides/notesSlide17.xml" Id="R6fd0b842be33447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eab617ec5f413a" /><Relationship Type="http://schemas.openxmlformats.org/officeDocument/2006/relationships/notesSlide" Target="/ppt/notesSlides/notesSlide18.xml" Id="R1c63bc48984d46c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18e12fcd1c4580" /><Relationship Type="http://schemas.openxmlformats.org/officeDocument/2006/relationships/notesSlide" Target="/ppt/notesSlides/notesSlide19.xml" Id="R7ced676c11b645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34256f0c94154" /><Relationship Type="http://schemas.openxmlformats.org/officeDocument/2006/relationships/notesSlide" Target="/ppt/notesSlides/notesSlide20.xml" Id="R36ef836894414d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0FA36-ACE6-4415-9EA4-5A80F831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21B">
              <a:alpha val="93725"/>
            </a:srgbClr>
          </a:solidFill>
          <a:ln xmlns:a="http://schemas.openxmlformats.org/drawingml/2006/main" w="0">
            <a:solidFill>
              <a:srgbClr val="15121B">
                <a:alpha val="93725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EA8EB-30B2-4705-A122-FB559B8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240B-B652-4F75-BDB1-9F570095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1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A3C9-46F8-43D9-986B-F66012FC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01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GROWTH BLUEPRINT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0226A-AF86-46D6-BE22-A4426944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51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FIELDWORK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3059D-E1F2-4EB8-B739-3C331E5B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1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 conditional 12-month opportunity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7FF0A-316D-4FA9-87F6-BBF66D6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Fictional demonstration. Human approval required.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1FCD5-4209-4D7D-B29F-0A01DDF9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647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INTERNAL FICTIONAL DEMONSTRATION - HUMAN APPROVAL REQUIRED</a:t>
            </a:r>
          </a:p>
        </p:txBody>
      </p:sp>
    </p:spTree>
    <p:extLst>
      <p:ext uri="{BB962C8B-B14F-4D97-AF65-F5344CB8AC3E}">
        <p14:creationId xmlns:p14="http://schemas.microsoft.com/office/powerpoint/2010/main" val="17499452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607F0-0FBE-459E-BB5E-170B130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02978-E9BB-4107-8C16-B6B64AF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the commercial opportunity looks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6915D-6835-4E71-97C7-20BAC3E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E591E-A4BD-47E8-AC1F-D88F23FC6EAD}"/>
              </a:ext>
            </a:extLst>
          </p:cNvPr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2524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79320"/>
                <a:gridCol w="2179320"/>
                <a:gridCol w="2179320"/>
                <a:gridCol w="2179320"/>
                <a:gridCol w="2179320"/>
              </a:tblGrid>
              <a:tr h="631031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Scenario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Annual sessions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Average order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Annual revenue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Downside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630,000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£102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£1,349,460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Base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750,000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£105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£1,890,000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Upside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810,000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2.6%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£108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£2,274,480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3075F-BD56-4E41-A1FC-6682461D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9625"/>
            <a:ext cx="1089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ILLUSTRATIVE ANNUALISED SCENARIOS. INPUTS ARE ASSUMPTIONS, NOT COMPANY FORECASTS.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EBDE0-8C6D-45D1-AA65-F97BF8AB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E7BF1-58DA-49E7-8E4A-392F1704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base scenario adds £690,000 in annualised revenue before cost, margin and ramp effects.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D6ECA-E924-42D0-AFED-60055EFE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D2EC1-E522-4AEF-824D-30CEF298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 - SCENARIO, NOT FORECAST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7DE64-6CE1-4AAE-83C0-72DB1B73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FB388-39C3-4357-90AE-6A833D6C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969212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63ADB-CEB1-4948-A767-33A0A53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0DB9D-7C31-4529-9F97-7A438B83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currently prevents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92E23-12C4-47B5-84D8-DBFA2C9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0C42C-1F2A-4965-8BCF-51849003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CURRENT PATTERN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1CC554-F38A-457B-B447-0A4DE0B2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Broad but forgettable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24939-AD04-4DC7-B6B8-A99080A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15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The proposition tries to serve every moment.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214E8-D6D5-49D7-A5FE-66FC1743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6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160DB-B3DB-48B3-8450-B909891E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19375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86827-CA38-4663-9C34-38074FE5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05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WORKING CONSTRAINT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10D14-76D9-47F5-BB8A-D83C74AA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622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6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Weak reason to 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DC978-29E6-42CB-9A3A-F09BBAA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Working diagnosis only. Falsify it by: If a clearer proposition fails to improve qualified landing-page progression and purchase intent versus the current message, reject this diagnosis.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00A34-667B-4640-A9B7-716C7C12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3FCA2-8358-405F-B49F-53F8CC0D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working constraint is proposition clarity, not reach: FIELDWORK has no validated reason for qualified buyers to choose it over familiar alternatives.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9C35F-E98C-48EA-95D1-4C750A90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BC0EF-3F22-4F55-B19C-7CEB0511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DB149-16B2-48A6-9D1F-1B2EC5CF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3F709-2127-4E13-9246-61617BB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3943422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DF124-F3DD-4F55-A203-8488926D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78DD5-1F9E-4878-8E16-B14671CF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strategic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DF5A4-A241-49CB-BF76-CB887E2E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FD1A6-F482-4859-8759-DF0130AD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5F948-006A-45D0-8067-FCD58996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SHARPEN THE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29DD4-BD58-4F4F-A9B7-65F45505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Qualified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C4BF5-6E17-48CC-BDD3-B13023E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Controlled message and landing-page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728D6-0596-485B-AC98-2F06B496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E21DA-319E-4BBD-A3C4-38022E32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 THE PRODUCT 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DE4D3-E849-4965-9A46-344AB3F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Conversion and average order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D9539-455E-4613-BC93-DA4A19E3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Product-story comprehension and basket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055BF-F167-4E52-85DC-E4F1AD1F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6566D-399F-494B-98E8-39ACFE2B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EARN REPEAT BEFORE REACH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0791C-EF8A-48C5-BFBE-DA822CD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Repeat revenue and allowable acquisition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16626-B2B9-4F5E-867C-81CBD5D5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Cohort retention and referral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7F1186-7723-4F52-A8FD-FF43E536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97C41-2818-497C-8534-6A1CBC15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Prioritise a sharper proposition, prove it in conversion and build repeat before scaling acquisition.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19817-A730-4A30-AA77-A21A903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9E695-A096-44AE-95FD-3449A88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59447-981A-4186-AAD2-94350C87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8005B-D6B5-4B3D-A596-BDBFF54E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10820067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591B9-40CF-456A-9349-6116020D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ACT 1 / THE CASE FOR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1885F-AF37-49AD-8B14-235B3B2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What the future could look like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28483-0FBC-4489-8C94-E3ACA769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147E9-B0AD-49DF-B474-5E2E12C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USEFUL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159A0-31B6-4309-8FEE-63F7B466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BC683-33BB-49CD-892F-9C95EB9B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HUMAN IN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15D2D-121C-4451-8605-E9FF805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48467-A79C-4810-BE3F-C4E74F1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39566-2D07-452D-A81C-153BEECA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Real work leaves traces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680AF-7791-4A81-A673-1441D442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60228-8CF9-42CD-B065-D475A474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5C63A-82EF-41E5-B941-3C580D41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Materials and use stay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572F6-D387-4E65-89B0-FBF634D0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3160B-EEBA-4B01-81C8-92475638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49E3D-E02F-4555-A890-907954B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 warm orange work 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F7E531-936B-4CC4-996F-4F2CE304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556EB4-FDC9-426B-889F-41FA502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Objects that respect the untidy overlap between useful work and a life worth living.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49C1-2EFE-49B8-816D-B6EEF15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EA6F0-AB35-43C0-A2A5-502F07F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5B013-BA1C-4CB8-A564-A1F064E2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DE182-E0E2-47D0-9033-DBF8D2DA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521321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6C760-C24A-46AC-8C19-032756F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05047-495F-4FD3-A2A0-11E0CEDA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8DED3-0C4D-4AA4-AD64-8C1F003E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F34EB-78EF-4D9A-B8F3-350240D2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7096125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Validate the baseline and economics before treating the scenario as an investment case.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18EA0-695E-4346-A96C-6529113E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7705C-2F7D-4D78-A915-8F641AE5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19350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BD675-A312-40FC-90F3-239347AF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1381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FC043-8B6B-4E4C-A765-D2EF975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86125"/>
            <a:ext cx="1885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Validate before investment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2E6A3-BB54-458E-BC4E-7ED9309B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06612-18F4-494A-8BAA-A1B36AAC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FIELDWORK could test an annualised ecommerce revenue scenario of £1,890,000, £690,000 above the assumed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80E29-93B6-456D-8F0E-FCB37D26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84D3D-F45C-4037-AD2B-A52C97B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F8AB0-ED4C-4C78-847E-637C0C1B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12310-18B2-430C-BB2C-EB73CA2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649438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ADA96-8114-4897-A8F1-1B87B45E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1 /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F39AF-0EC7-4797-B545-15036D4B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scenario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F6EEA-16F2-4B17-B93D-68BC9995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01AE8-EEC3-4EA7-A653-98E723BA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81596-9F36-4476-848F-D597B5D2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02C5C-F7B4-407A-BD97-89473E63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3C766-EC12-4FD8-9CE9-A5067D5E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213A0-045E-44BA-9D7C-1921031F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792D6-A46A-4C46-9B7A-8E43A8BA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43FA1-2C84-4C11-90BC-FE67F5BD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sequential bridge reconciles to £690,000. The attribution order is a modelling convention.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77CB8-132C-4020-9596-8F361A7A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DC830-3D1D-4253-AA57-1A876776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Traffic and conversion each account for £300,000 of the base case. Higher order value accounts for £90,000.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3B730-F92F-4120-A97F-4C19A909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22E8E-E623-4F09-A5E3-39C7EA7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MODELLED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B18A8-0A4C-40C8-AC5C-55245829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EDBFA-A2DF-4A97-932C-76DBCB05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3104566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6F79E-80C4-4DEB-AF87-61D472DF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F443F-C797-4AAD-9852-6ED7FC13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Constraint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23629C-3EB5-43A1-9736-D70659D0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C248-09B0-49A5-9AD7-9DA29B53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476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85E03-A62D-4277-B34A-7FBA58A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01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ACC56-FE65-45B8-A605-38E4065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622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19382-C4D1-4727-9906-37352051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81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02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1329B-046E-4869-8752-8FDE77D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86FDE-2B51-48A6-A971-B9236C6D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33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03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F0435-0E55-4E6C-9C61-1C4C2AE9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8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If a clearer proposition fails to improve qualified landing-page progression and purchase intent versus the current message, reject this diagnosis.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3A53-A5D4-4586-88AB-8DAA2F5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2326F-4DC2-4B0C-A3EA-15A7E896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working constraint is proposition clarity, not reach: FIELDWORK has no validated reason for qualified buyers to choose it over familiar alternatives.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589D5-85E8-46A7-B85E-D07E9041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797F63-77A6-439F-A7F8-71557E22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910CC-7527-473F-A12A-0CD13D16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75156-D495-44A1-980D-F27BBBAD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862482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7D2E0-BD22-4864-B1A8-9F1531BA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2 / THE CONSTRAINT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B05B5-9FC8-4BF8-B356-05F0E323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What would disprove the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8717F-D983-4BA1-9B05-16DBD963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B7BE0-8B26-4EA5-8260-6661A09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A990C-7CFA-45EB-90B5-79108A2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98FE3-03EA-47EB-8BF9-1D6C16BC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B2305-0223-4AFE-A063-22B07FCA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FOUNDER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DD815-71DC-4033-AFE8-B6EB667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AC4A7-ABC3-40B4-A46F-4B1C4139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504AB-449E-4818-BF22-A0DB74C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CC47D-62F0-4DB5-9427-30BFA36D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14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70C4A-AE10-4825-9A7B-9BB1D311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47CFE-592F-467B-837C-2999EB08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481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0B26E-02F3-476F-95A7-4E2CE3A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723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If a clearer proposition fails to improve qualified landing-page progression and purchase intent versus the current message, reject this diagnosis.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C20F0-2F23-407A-BEE6-857F9AD2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F0CBA-7D77-45A5-AC38-11A48050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constraint changes if proposition clarity fails to improve qualified conversion in a controlled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BFDE0-0039-43A6-8A51-71CB7D9A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CB2E0-7BB4-49EE-9C06-7CB4300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F7E27-E377-4086-9223-43B9C335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A285B-72C0-4DED-8573-C94A5247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964801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A95F37-AE3B-4EC6-BDD5-1E7E225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D5409-81CC-47E0-AA2A-40D191FB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F7367-53B9-4361-BA58-C2A21644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13848-B93D-46B6-BDD9-FC17EB58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723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E1D81-8EEC-4549-A04B-FE8DE6A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29B48-FDD3-4AD2-B24A-CFB8C841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6D7A"/>
          </a:solidFill>
          <a:ln xmlns:a="http://schemas.openxmlformats.org/drawingml/2006/main" w="0">
            <a:solidFill>
              <a:srgbClr val="756D7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74EF-CD23-46ED-BDD9-7DE338CE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GENERIC UTILITY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9A07B-5CE1-4E69-A76A-FA7FF911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OWNABLE POINT OF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9F0BF-AB9E-41DB-9FD9-1CB64DDC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BUILT FOR REAL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604AD-7508-49CB-B34A-25D52011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7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10024-354C-42E0-83E2-AAAB8B1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TEST TERRITORY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AA169-37DF-4504-BA71-7DEBB923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62125"/>
            <a:ext cx="3114675" cy="333375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D73A2-D20B-4933-A02D-3DB813CC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THE GAP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41C90-5200-4E67-80C6-04498A9A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955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Design for real work and real homes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8DA1C-76B7-4FB0-83E2-2A18593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33725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WHO IT MATTERS 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4DC76-DA03-4CFF-8C3A-0150108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9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People who refuse to choose between utility and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C38EE-144C-43B7-8ACB-450DD576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0"/>
            <a:ext cx="2333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WHY COMPETITORS MISS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A8C325-EFFA-4ECB-BC50-FAB8F80F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Validation required. No competitor research is asserted in this fixture.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5D36B-2091-4F14-B80B-8A66D32D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6A4B0-E1B4-4DF1-BC43-F5E39CCE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proposed advantage is practical design for the overlap between work and home, expressed with more honesty and character than generic productivity products.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7B298-28FF-4259-9204-1D28F63D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3CBB2F-7586-4D86-BAFE-4FFB740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E69B6-710B-4306-834A-F07A869A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4324F4-5CCE-4BA8-B704-F544AE84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6161834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652E6-D5C1-486C-AC7E-28D32718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3 / THE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52C55-1396-41C0-A50D-207F332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advantage needs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EABF1-F641-4329-AF4D-2968D65D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2F302-B72E-4B03-9F7D-BB5914E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435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58B9A-EEAE-4C29-B5D1-EB156495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CF225-C56C-46B7-B4E0-5BF759A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NO CUSTOMER QUOTES OR RESEARCH SUPPLIED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C1C70-A610-4519-B89A-1C6D3E32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“Needs validation”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E40C6-49D8-4D88-8F82-E31A31D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“Needs validation”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A833E-566A-4D27-ABF4-90101DDC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“Needs validation”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6DC30-D4E3-499C-8A87-6E2C58DD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19B7-7B9F-40B9-9C4E-3A45F99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FOUNDER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99E97-9E4B-497D-BF04-D4F115EC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288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proposed advantage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51E6E-E63F-45CF-AA62-FE413FD1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9A47F-0473-46A3-ABD2-AC83A53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CUSTOMER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2F06E-D9C5-4E77-8894-9972FD6C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432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49669-8260-4D83-AAE1-4746D267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42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123C1-BCE8-43EB-9E30-36950AA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CHOICE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461DE-DFFE-4C16-836F-D1C37FE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576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56B67-F2F5-4C2C-8C84-6C708528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Treat the proposed advantage as a hypothesis until real preference and conversion evidence exists.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EFA01-CAD0-48EF-9299-258F0F92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D09E1-2811-4F9A-9DFD-055117DA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Founder conviction can frame a hypothesis. Customer choice data must decide whether the advantage is real.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5A5306-CB21-4642-89EA-6E317A8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A35458-562D-48A3-81B5-B653A40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64BB3-E264-4760-A78E-D50EE6BF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5A893B-B80D-45F0-BA9A-B52AB533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3746168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03608-1D1C-4406-BD44-F9589AC2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3ACFA-B60E-44D1-9348-F413890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C3FE3-4A7D-4347-AB23-7C5A051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3152D-1010-47B7-B7CA-45C3B3F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719EC-CE3B-4025-8DFD-6F2F6FFB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6E792-AD43-40D0-90CD-13137517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AA9B2-43DF-40BC-8D24-A54EC097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Useful products disappear into category sameness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7B13B-056B-4195-AB05-1C19766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D57A6-941E-4DDD-B4F7-B1276DDB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C94D1-E7B9-4335-AA6C-EB6F5821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SHIFT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432B4-9F73-4956-BDE7-85A81EA3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Make real work the point of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CAAFF-2357-497E-8791-804DE0C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320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4730D-463D-43AD-A71E-198D062E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13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5CBEA-D80D-4A8D-9900-7F91BA7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479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2187B-4161-438A-B122-BB3D159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Prove the proposition before buying reach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95CB3-F3CE-41A6-B70A-EE86EE17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ctr">
              <a:def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21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Make modern work at home more useful and recognisable.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25E16-EE48-41C7-9407-71759A82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F6886-2ADE-4CE1-98A1-DBD5C475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Make modern work at home more useful and recognisable.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33904-2ACF-426B-B0FC-B886CFC7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4C6AF-3F28-495E-BAD7-5E5F2901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4B33E-E6E1-407E-A075-C7496F4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FD831-16E9-43CC-B236-2997B2BC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0706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6827DC-141F-47C8-B68B-B3372D3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4 / THE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C2314-C9BD-4EEE-B6FA-2BB3811A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Three moves, three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E0C9A-4896-41CF-B80D-9AA95F2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802F9-8934-4570-91FB-6B542D9C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923AD-45AC-428C-A0F2-B2879408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01 / SHARPEN THE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64D90-D54B-49BB-8477-F18EE2D6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6B81C-4531-48EB-99DB-E44E80A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Qualified conversion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D5D05-2A98-402B-80E2-5D2E61E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23CD0-4140-406D-9790-FD8C89F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narrower promise may reduce broad but low-intent traffic.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44C58-67B7-4565-B485-24E3ABE3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60FD5-0A86-4477-8AA5-960145ED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Controlled message and landing-page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DD5AB-7DB9-4C07-A930-1B0436F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65C60-F2AB-4B73-AC18-AD571580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E19AB-93F8-4995-B5D0-CAC64E4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6A8B7-0F47-4243-A6DE-889405ED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 / PROVE THE PRODUCT 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46E38-EE0C-4B3D-B18D-2F284564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E393E-6007-4D26-B3E9-D67BDF42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Conversion and average order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0025B-0BD2-4B89-B3CF-36717604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D656D-B5B3-4096-B0F6-B3185C5E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More proof requires disciplined production and may expose weak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25AF3-3214-404B-9DB3-545AE5EC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3B2BA-E0CB-405D-9F2D-32B29BD9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Product-story comprehension and basket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1A916C-33A6-440F-A868-1F732975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9CF7B-799B-4ACE-8760-58F4D17E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Creative Director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95FBE-3237-4E68-86B9-807F9CC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33337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CFD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B3462F-E5E4-4CAB-AD33-51E4414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03 / EARN REPEAT BEFORE REACH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5C19B-D7CA-4640-A2B0-5AA1A7CB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4370B1-FAC1-4149-9A4D-A420F9AE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86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Repeat revenue and allowable acquisition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B2B152-E9E1-4F5B-8DA3-73C40C48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TENSION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DB358-056E-4B11-85A5-AC6B7D2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Near-term reach grows more slowly while economics are validated.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A5941-9244-40D1-A792-D8608A2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2420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350C67-6F56-4307-BF56-F1C50BCD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Cohort retention and referral pilot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0E897-B5DA-4E30-BD28-72329A8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5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38345-9CCE-4C7E-953E-9AA15F32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Strategy Director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5CBD3-208F-45B6-BB1E-D775A555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VERBAL ASSETS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82A68F-4861-4235-A51D-B3445C74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Specific promise • Visible 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0035B-2B2B-4D39-A178-5D73926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TONE + MOTION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E40D7D-EAF6-47A7-88FF-4A8843B5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Direct • Useful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2910E7-014A-4E2C-B6C1-75D3E202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3238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0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RECURRING FORMATS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01E1E7-87B3-42D6-AF90-4A0B003C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Claim and proof • Test and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D63D03-289A-4D2A-AA16-D7FC40D1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6A3A5D-27B7-4398-B882-E524BD84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strategy connects each recommendation to a measurable commercial lever.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F187AA-FB21-4985-AC8C-04F46DC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C1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3265E1-D22F-40CC-B21F-9A8934DB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4345DB-B7DB-4BD4-9EAC-9E63CD28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C1A323-DF6C-4DC1-A0D9-5754686F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4102863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82605E-3F49-41DF-8B99-4697C43B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FB68D-1742-4CE4-95D6-5CF2332E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The Creative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5BD47-9B00-4E84-B822-4CCAA17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423AE-3095-4CBA-850D-4F0C70A2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USEFUL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0B7D5-6B1F-4504-946E-571C2615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500" b="0" i="1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meets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1E236-5410-4088-80A4-87D7863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25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HUMAN IN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DE6AF-C5C4-4754-B762-4F6050A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A73DE-C05D-490D-94F1-3A22F54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3A601-5846-4232-B8E1-A73DFE8E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145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Real work leaves traces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D8A1B-440E-4C8E-B2A3-63788AA0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7F270-5A1E-4709-8D3C-6D245D41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47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3F25D-C31E-44F3-9EA2-80D37EA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146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Materials and use stay 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DFD07-04D9-4229-BDD5-0C820C38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481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4C74C-C123-4FC4-B890-C7483C3E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481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REPEAT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8E7D8-7346-4F07-8C73-9833B100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148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One warm orange work 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E8C62-FCFD-4447-B7CA-DA1A6213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4407F-DB51-4FB3-B756-E90A930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Built for the work of living: Objects that respect the untidy overlap between useful work and a life worth living.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8AA76-4AE0-4C8D-A6F7-E83A942A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78549-42CA-4680-A2CC-750CE980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C87D2-C377-4FBF-AA34-696CEFA7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ECA6F-BCFF-491E-9AF6-2468903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2879347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2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CB6B6-7249-45A4-A369-F852527B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5 / THE CREATIVE FUTURE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D6514-E606-47BA-9A21-568AA24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A tangible territory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71C03-B7B0-4E2D-B699-57521BE8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C5E14-66F7-4B2E-B1C9-5BF60557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C4DB1-05CD-43C2-8ACF-14BEEBFC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7AE4F-4936-4655-9F31-710FCBC5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D257C-90A9-487A-BDC4-39E5952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short film follows one desk object across a day: invoice, lunch, school drawing, late 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CA422-ADC0-475F-AA1B-27D95FB4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5869A-53EA-4057-8CDA-635EE0DD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57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FE4C1-FBC6-4EED-B75E-E28EC6DD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209FA-9ADB-4B08-9EAC-D7B30348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52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short film follows one desk object across a day: invoice, lunch, school drawing, late call.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BEA7A-0203-4965-B8FE-2DC91669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9525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6E266-52CF-4294-87FF-2DE8D2E7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9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BA494-920B-4869-9FA0-AFF3A26F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87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8FF3B-FE66-4E1D-8EE3-12A0BE90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2427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112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 short film follows one desk object across a day: invoice, lunch, school drawing, late call.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EF500-A7CB-489C-8058-305457D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64F69-7646-4DF0-B270-70F2B705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Objects that respect the untidy overlap between useful work and a life worth living.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3C9848-9843-490E-A3F8-85C5DA9F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A5,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29EC6-31B4-44CD-A271-02A05BF1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CREATIVE ILLUSTRATION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1E7AC-D3A3-492D-9C71-21843B6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46D58-57A7-47A3-9D88-4F6887FB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20491821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5F9126-49EA-477F-98EB-AB8F0C2D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54CF9-808A-46D3-B5AC-DC14AB37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Growth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4AB8C-FB10-475E-AF17-FA98F7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94F9E-5DD5-4257-8CD4-FC6746D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Owned 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293AD-4C61-4D62-9D92-CE79903A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Prove the proposition and convert qualified demand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9CA4B-87F8-43AB-914D-A8A7E334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Message comprehension and net 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9854B-DE1E-4547-B1B2-A2A7E081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3ECE3-B9CA-44E8-84C2-3408BB24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314C8-C78E-49BB-9427-DDBBF7A9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Build repeat, cross-sell and referral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F6777-F3A1-4A48-8A77-AFDB97CA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Cohort contribution and opt-out guardrail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0F92A-2FBC-4F6F-96FF-E058AF6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B3115-FE69-4774-B123-C2043D6B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10896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D8D2"/>
          </a:solidFill>
          <a:ln xmlns:a="http://schemas.openxmlformats.org/drawingml/2006/main" w="0">
            <a:solidFill>
              <a:srgbClr val="F8D8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8B25A-3FEA-425F-A4B0-38FB59F0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Paid social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82CA5-7FD4-410C-ACC6-8AFD8D01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718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Scale tested creative and proposition routes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83430-E1A0-430F-BA3A-5F71A6B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Incremental contribution after creative and media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73390E-8CFC-4AF9-AB9D-A9B15BF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2BD27-21E8-4364-A46C-69F78B92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Partnerships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56F84-1289-4C5B-BF71-AF9004F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195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Reach relevant work and design communities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D77FF-5CF4-45E1-B7E1-217DB990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Qualified traffic and assisted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CF6DE-F6EC-47B1-8CCA-2D7B4B2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E8CC0-796B-46F3-8A23-C4F2639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21715-15BB-4ADA-B905-C3CA61E7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Use owned product proof to improve conversion, then let CRM and referral establish repeat economics before expanding paid reach.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1CEE7-006D-4035-8E59-74326BF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46C68-BC16-4D3E-ABDC-5B910FAD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314F6-3D8E-4997-97C0-AAE33133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44BD5-5EE5-48EC-BF8B-CF269F53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17069311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C311F-F542-457D-A973-84D265A6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6 / THE GROWTH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B9069-1987-4CBE-AFCE-4EAA8757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Measurement before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3E32E-1685-4CC2-AB4E-10C93F9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B87994-4665-4806-BFC9-703830A4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077ED-2324-4DD6-9B22-AF8CA6C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LEADING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35C40-F805-4092-9283-49D16BBC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Proposition comprehension, qualified click-through, product-page progression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491DD-0FC2-49F2-AF1A-8B34269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90162-4CDC-4C5E-A2DB-570A73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995FA-D2EE-41E8-93A4-1D6828C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BEHAVIOURAL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4A946-AB29-4CD9-BEAA-597A0C33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099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Net conversion, average order value, repeat and referral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D12B0-97C7-4A4B-A530-DB015520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52850"/>
            <a:ext cx="628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89A18-EB64-405A-BEEF-CB72FCA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3238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C793F-98F3-43DF-9ADF-F9B32559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COMMERCIAL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31367-D0C0-4F7D-AF26-C69D5D0E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5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Contribution after returns, fulfilment, media and implementation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85A7B-074D-4001-AEC8-76D0B2F3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E7F59-A55E-4BFC-B389-206B45B0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Leading indicators must move before the plan releases larger media or inventory commitments.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8331E-DD60-43EB-84F7-D01D228F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CD1EE-27CE-478F-B71A-A8E8A742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794B1-C690-4F06-BE3A-11735F3F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A930F-43B2-4523-8A33-95FB113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17051797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037DF-6B6C-4460-B29A-A021BA95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CHAPTER 7 / THE NEXT 12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E8871-F3F3-43B5-8D8C-7E1910AC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The Next 12 Months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13320-4EBD-47B4-AC29-573B9898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FAA17-CFCF-4DB0-B89E-943FA9AA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261A31"/>
          </a:solidFill>
          <a:ln xmlns:a="http://schemas.openxmlformats.org/drawingml/2006/main" w="0">
            <a:solidFill>
              <a:srgbClr val="261A3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175EF-9EEB-4AC1-BA5B-E40C30E1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1-3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F8EFD-C722-49D2-B086-67FADA8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Establish the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9A59D-4296-48AD-B03E-8C848867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Verify economics, interview customers and test three proposition routes.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3E749-3E39-4FBB-9679-BEA3FB42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2264C-9287-478C-9293-72BF162F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4-6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4B332-C09F-4D86-B5C9-0DDF612A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Prove the proposition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90185-64B7-4F39-BC0D-40B278F8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Run controlled site, product-story and CRM tests with contribution guardrails.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38855-03B5-4565-AF86-2EAC1A98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57375"/>
            <a:ext cx="3238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654F"/>
          </a:solidFill>
          <a:ln xmlns:a="http://schemas.openxmlformats.org/drawingml/2006/main" w="0">
            <a:solidFill>
              <a:srgbClr val="FF654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10FAE-5440-43D0-BA9E-237BEA67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Months 7-9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927C7-76F8-4635-9A89-51E7418C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0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Build the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6B406-680D-42BA-A6B5-E1B84291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7813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350" b="0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Codify winning creative, CRM and referral mechanics and assess capacity.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AF1DF-2E7E-4AAD-9170-2A81BD37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COMMERCIAL CONSEQUENCE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FB2B6-9C1C-4298-8FE9-3F65E1E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054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1200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A staged validation programme protects cash while the business replaces assumptions with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EAB78-7D53-42A8-BEC2-4E147DD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A4, A5, A6, A7, C1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2CE00-093A-4FE9-BBDF-D279145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ASSUMPTION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D832E4-70EA-4CA2-8BAC-15A4F125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84866-E0AF-4F35-BE06-BF554603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5129978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CDF1F-90DE-4C62-9490-0F37156A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71750-CF35-4AFC-BCC7-69BDE858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15121B"/>
                </a:solidFill>
                <a:latin typeface="Helvetica"/>
                <a:ea typeface="Helvetica"/>
                <a:cs typeface="Helvetica"/>
              </a:rPr>
              <a:t>Evidence and assumptions ledger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98AE6-237E-46BE-9508-8D44F862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D5"/>
          </a:solidFill>
          <a:ln xmlns:a="http://schemas.openxmlformats.org/drawingml/2006/main" w="0">
            <a:solidFill>
              <a:srgbClr val="D9CFD5"/>
            </a:solidFill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1F53A-C7F0-4AE2-A50A-A989F4B03037}"/>
              </a:ext>
            </a:extLst>
          </p:cNvPr>
          <p:cNvGraphicFramePr/>
          <p:nvPr/>
        </p:nvGraphicFramePr>
        <p:xfrm>
          <a:off xmlns:a="http://schemas.openxmlformats.org/drawingml/2006/main" x="647700" y="1752600"/>
          <a:ext xmlns:a="http://schemas.openxmlformats.org/drawingml/2006/main" cx="108966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85800"/>
                <a:gridCol w="1619250"/>
                <a:gridCol w="4953000"/>
                <a:gridCol w="3638550"/>
              </a:tblGrid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Classification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Original source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DFC"/>
                          </a:solidFill>
                          <a:latin typeface="Helvetica"/>
                          <a:ea typeface="Helvetica"/>
                          <a:cs typeface="Helvetica"/>
                        </a:rPr>
                        <a:t>Location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T w="9525">
                      <a:solidFill>
                        <a:srgbClr val="D9CFD5"/>
                      </a:solidFill>
                      <a:prstDash val="solid"/>
                    </a:lnT>
                    <a:lnB w="9525">
                      <a:solidFill>
                        <a:srgbClr val="D9CFD5"/>
                      </a:solidFill>
                      <a:prstDash val="solid"/>
                    </a:lnB>
                    <a:solidFill>
                      <a:srgbClr val="261A31"/>
                    </a:solidFill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Assumed annual ecommerce sessions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Assumed ecommerce conversion rate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Assumed average order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Working constraint hypothesis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Proposed brand advantage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Proposed growth engine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ASSUMPTION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Proposed delivery roadmap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  <a:tr h="370417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CFD5"/>
                      </a:solidFill>
                      <a:prstDash val="solid"/>
                    </a:lnL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CREATIVE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Narratiive fictional fixture: Creative territory illustration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121B"/>
                          </a:solidFill>
                          <a:latin typeface="Helvetica"/>
                          <a:ea typeface="Helvetica"/>
                          <a:cs typeface="Helvetica"/>
                        </a:rPr>
                        <a:t>tests/fixtures/fieldwork_supervised_blueprint.json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CFD5"/>
                      </a:solidFill>
                      <a:prstDash val="solid"/>
                    </a:lnR>
                    <a:lnB w="9525">
                      <a:solidFill>
                        <a:srgbClr val="D9C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941F6-6771-47CB-A088-F90148EC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900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Classification describes how the Blueprint uses each source. Source URLs and dates remain editable in this deck.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04F37-54E2-4006-ADB4-2DFAB1E1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SOURCES: A1, A2, A3, A4, A5, A6, A7,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0CC61-80B0-46F3-AD4B-4FF7089C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5A2E78"/>
                </a:solidFill>
                <a:latin typeface="Helvetica"/>
                <a:ea typeface="Helvetica"/>
                <a:cs typeface="Helvetica"/>
              </a:rPr>
              <a:t>EVIDENCE REGISTER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54FE6-1F69-486A-B4CD-2F01AEF5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AFE2D-F462-42E0-AFC0-E6D8B6D0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756D7A"/>
                </a:solidFill>
                <a:latin typeface="Helvetica"/>
                <a:ea typeface="Helvetica"/>
                <a:cs typeface="Helvetica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2693384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61A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306DB-704E-4349-8BFA-57DD5CA3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"/>
            <a:ext cx="571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GOVERNANCE /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7D454-B7ED-45B5-B2A9-85DD1D94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23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Human approval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FF5FD-53AC-46B8-BEB6-813DFDAF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2E78"/>
          </a:solidFill>
          <a:ln xmlns:a="http://schemas.openxmlformats.org/drawingml/2006/main" w="0">
            <a:solidFill>
              <a:srgbClr val="5A2E7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20DC7-D167-42A2-A2B2-696EFFBC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4200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Review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B8A19-1276-46AB-970C-5456D07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3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Challenge the economics.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A9DA-8D0B-47AB-A122-3EEFBC4A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2250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Approve the exact version.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775C0-30EC-4885-A1ED-3E4665E0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defRPr>
            </a:pPr>
            <a:r>
              <a:rPr sz="750" b="1" i="0">
                <a:solidFill>
                  <a:srgbClr val="FF654F"/>
                </a:solidFill>
                <a:latin typeface="Helvetica"/>
                <a:ea typeface="Helvetica"/>
                <a:cs typeface="Helvetica"/>
              </a:rPr>
              <a:t>IMMEDIATE NEXT 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6A476-CE88-4800-A337-14B01695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defRPr>
            </a:pPr>
            <a:r>
              <a:rPr sz="1425" b="1" i="0">
                <a:solidFill>
                  <a:srgbClr val="FFFDFC"/>
                </a:solidFill>
                <a:latin typeface="Helvetica"/>
                <a:ea typeface="Helvetica"/>
                <a:cs typeface="Helvetica"/>
              </a:rPr>
              <a:t>Matt records approve, revise or block against this package checksum.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31E5D-30BB-489A-9FED-10635E09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SOURCES: A1, A2, A3, A4, A5, A6, A7, 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50FB9-5FF8-4DC9-9C9F-64ED1EFE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34100"/>
            <a:ext cx="487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82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HUMAN DECISION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96E39-67F9-4F06-9DE8-943B4F91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l">
              <a:def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1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NARRATIIVE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1F9D4-503B-4600-894B-9B449247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15100"/>
            <a:ext cx="87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defPPr>
          </a:lstStyle>
          <a:p xmlns:a="http://schemas.openxmlformats.org/drawingml/2006/main">
            <a:pPr algn="r">
              <a:def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defRPr>
            </a:pPr>
            <a:r>
              <a:rPr sz="675" b="0" i="0">
                <a:solidFill>
                  <a:srgbClr val="C8B7E8"/>
                </a:solidFill>
                <a:latin typeface="Helvetica"/>
                <a:ea typeface="Helvetica"/>
                <a:cs typeface="Helvetica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251702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2026-10-14T11:48:28.3080000Z</dcterms:created>
  <dcterms:modified xsi:type="dcterms:W3CDTF">2026-10-14T11:48:28.3080000Z</dcterms:modified>
</coreProperties>
</file>