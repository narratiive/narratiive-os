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5e4e9cc7f4256" /><Relationship Type="http://schemas.openxmlformats.org/officeDocument/2006/relationships/extended-properties" Target="/docProps/app.xml" Id="R316c13fbeba14b81" /><Relationship Type="http://schemas.openxmlformats.org/officeDocument/2006/relationships/officeDocument" Target="/ppt/presentation.xml" Id="R3124031eeb0349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a763fe9a1d424f"/>
  </p:sldMasterIdLst>
  <p:notesMasterIdLst>
    <p:notesMasterId xmlns:r="http://schemas.openxmlformats.org/officeDocument/2006/relationships" r:id="Ra8eab289287d4d9b"/>
  </p:notesMasterIdLst>
  <p:sldIdLst>
    <p:sldId xmlns:r="http://schemas.openxmlformats.org/officeDocument/2006/relationships" id="256" r:id="R7354022b47414d02"/>
    <p:sldId xmlns:r="http://schemas.openxmlformats.org/officeDocument/2006/relationships" id="257" r:id="Rc76a49315aba44e9"/>
    <p:sldId xmlns:r="http://schemas.openxmlformats.org/officeDocument/2006/relationships" id="258" r:id="R0f3ee43ac36a4d20"/>
    <p:sldId xmlns:r="http://schemas.openxmlformats.org/officeDocument/2006/relationships" id="259" r:id="Rffeb8706d2ba4a5d"/>
    <p:sldId xmlns:r="http://schemas.openxmlformats.org/officeDocument/2006/relationships" id="260" r:id="R126dbac4088f4a53"/>
    <p:sldId xmlns:r="http://schemas.openxmlformats.org/officeDocument/2006/relationships" id="261" r:id="R03fe6ffadfd0420f"/>
    <p:sldId xmlns:r="http://schemas.openxmlformats.org/officeDocument/2006/relationships" id="262" r:id="Rbed1e6376f1f4772"/>
    <p:sldId xmlns:r="http://schemas.openxmlformats.org/officeDocument/2006/relationships" id="263" r:id="Rfa95365bb8e94573"/>
    <p:sldId xmlns:r="http://schemas.openxmlformats.org/officeDocument/2006/relationships" id="264" r:id="Rae4501ab771c4e70"/>
    <p:sldId xmlns:r="http://schemas.openxmlformats.org/officeDocument/2006/relationships" id="265" r:id="R33e0558fa6e44c2f"/>
    <p:sldId xmlns:r="http://schemas.openxmlformats.org/officeDocument/2006/relationships" id="266" r:id="Rcae3186299f648d1"/>
    <p:sldId xmlns:r="http://schemas.openxmlformats.org/officeDocument/2006/relationships" id="267" r:id="R5a80536734ba47b4"/>
    <p:sldId xmlns:r="http://schemas.openxmlformats.org/officeDocument/2006/relationships" id="268" r:id="R3573d600c2e04ec3"/>
    <p:sldId xmlns:r="http://schemas.openxmlformats.org/officeDocument/2006/relationships" id="269" r:id="Rbf39652f10c940d2"/>
    <p:sldId xmlns:r="http://schemas.openxmlformats.org/officeDocument/2006/relationships" id="270" r:id="R3e1a51de6deb4fa3"/>
    <p:sldId xmlns:r="http://schemas.openxmlformats.org/officeDocument/2006/relationships" id="271" r:id="R4f302adfb8a44ab7"/>
    <p:sldId xmlns:r="http://schemas.openxmlformats.org/officeDocument/2006/relationships" id="272" r:id="R406de1dbcb7f4e1a"/>
    <p:sldId xmlns:r="http://schemas.openxmlformats.org/officeDocument/2006/relationships" id="273" r:id="Rfb23c68463684923"/>
    <p:sldId xmlns:r="http://schemas.openxmlformats.org/officeDocument/2006/relationships" id="274" r:id="R484a65560da742ca"/>
    <p:sldId xmlns:r="http://schemas.openxmlformats.org/officeDocument/2006/relationships" id="275" r:id="R373769d753dc4a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35e282b3144834" /><Relationship Type="http://schemas.openxmlformats.org/officeDocument/2006/relationships/slideMaster" Target="/ppt/slideMasters/slideMaster1.xml" Id="Rdca763fe9a1d424f" /><Relationship Type="http://schemas.openxmlformats.org/officeDocument/2006/relationships/notesMaster" Target="/ppt/notesMasters/notesMaster1.xml" Id="Ra8eab289287d4d9b" /><Relationship Type="http://schemas.openxmlformats.org/officeDocument/2006/relationships/presProps" Target="/ppt/presProps.xml" Id="Ra74cb60910344df5" /><Relationship Type="http://schemas.openxmlformats.org/officeDocument/2006/relationships/tableStyles" Target="/ppt/tableStyles.xml" Id="R2f5f4e32ca7a4a63" /><Relationship Type="http://schemas.openxmlformats.org/officeDocument/2006/relationships/slide" Target="/ppt/slides/slide1.xml" Id="R7354022b47414d02" /><Relationship Type="http://schemas.openxmlformats.org/officeDocument/2006/relationships/slide" Target="/ppt/slides/slide2.xml" Id="Rc76a49315aba44e9" /><Relationship Type="http://schemas.openxmlformats.org/officeDocument/2006/relationships/slide" Target="/ppt/slides/slide3.xml" Id="R0f3ee43ac36a4d20" /><Relationship Type="http://schemas.openxmlformats.org/officeDocument/2006/relationships/slide" Target="/ppt/slides/slide4.xml" Id="Rffeb8706d2ba4a5d" /><Relationship Type="http://schemas.openxmlformats.org/officeDocument/2006/relationships/slide" Target="/ppt/slides/slide5.xml" Id="R126dbac4088f4a53" /><Relationship Type="http://schemas.openxmlformats.org/officeDocument/2006/relationships/slide" Target="/ppt/slides/slide6.xml" Id="R03fe6ffadfd0420f" /><Relationship Type="http://schemas.openxmlformats.org/officeDocument/2006/relationships/slide" Target="/ppt/slides/slide7.xml" Id="Rbed1e6376f1f4772" /><Relationship Type="http://schemas.openxmlformats.org/officeDocument/2006/relationships/slide" Target="/ppt/slides/slide8.xml" Id="Rfa95365bb8e94573" /><Relationship Type="http://schemas.openxmlformats.org/officeDocument/2006/relationships/slide" Target="/ppt/slides/slide9.xml" Id="Rae4501ab771c4e70" /><Relationship Type="http://schemas.openxmlformats.org/officeDocument/2006/relationships/slide" Target="/ppt/slides/slide10.xml" Id="R33e0558fa6e44c2f" /><Relationship Type="http://schemas.openxmlformats.org/officeDocument/2006/relationships/slide" Target="/ppt/slides/slide11.xml" Id="Rcae3186299f648d1" /><Relationship Type="http://schemas.openxmlformats.org/officeDocument/2006/relationships/slide" Target="/ppt/slides/slide12.xml" Id="R5a80536734ba47b4" /><Relationship Type="http://schemas.openxmlformats.org/officeDocument/2006/relationships/slide" Target="/ppt/slides/slide13.xml" Id="R3573d600c2e04ec3" /><Relationship Type="http://schemas.openxmlformats.org/officeDocument/2006/relationships/slide" Target="/ppt/slides/slide14.xml" Id="Rbf39652f10c940d2" /><Relationship Type="http://schemas.openxmlformats.org/officeDocument/2006/relationships/slide" Target="/ppt/slides/slide15.xml" Id="R3e1a51de6deb4fa3" /><Relationship Type="http://schemas.openxmlformats.org/officeDocument/2006/relationships/slide" Target="/ppt/slides/slide16.xml" Id="R4f302adfb8a44ab7" /><Relationship Type="http://schemas.openxmlformats.org/officeDocument/2006/relationships/slide" Target="/ppt/slides/slide17.xml" Id="R406de1dbcb7f4e1a" /><Relationship Type="http://schemas.openxmlformats.org/officeDocument/2006/relationships/slide" Target="/ppt/slides/slide18.xml" Id="Rfb23c68463684923" /><Relationship Type="http://schemas.openxmlformats.org/officeDocument/2006/relationships/slide" Target="/ppt/slides/slide19.xml" Id="R484a65560da742ca" /><Relationship Type="http://schemas.openxmlformats.org/officeDocument/2006/relationships/slide" Target="/ppt/slides/slide20.xml" Id="R373769d753dc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7ca93ce88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6dd5400864f45" /><Relationship Type="http://schemas.openxmlformats.org/officeDocument/2006/relationships/notesMaster" Target="/ppt/notesMasters/notesMaster1.xml" Id="Re6d6ab6bd2d1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5fcee873114d52" /><Relationship Type="http://schemas.openxmlformats.org/officeDocument/2006/relationships/notesMaster" Target="/ppt/notesMasters/notesMaster1.xml" Id="R5248d448174148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e81bf6a3324b8c" /><Relationship Type="http://schemas.openxmlformats.org/officeDocument/2006/relationships/notesMaster" Target="/ppt/notesMasters/notesMaster1.xml" Id="R094d4ba358164b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64beca2d348f1" /><Relationship Type="http://schemas.openxmlformats.org/officeDocument/2006/relationships/notesMaster" Target="/ppt/notesMasters/notesMaster1.xml" Id="R7d090b7cdf8f49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dc1fb8eccc4232" /><Relationship Type="http://schemas.openxmlformats.org/officeDocument/2006/relationships/notesMaster" Target="/ppt/notesMasters/notesMaster1.xml" Id="R98e8f3f063334c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507808d5af42e6" /><Relationship Type="http://schemas.openxmlformats.org/officeDocument/2006/relationships/notesMaster" Target="/ppt/notesMasters/notesMaster1.xml" Id="R2462e98d1ef748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bc52e207e04aa0" /><Relationship Type="http://schemas.openxmlformats.org/officeDocument/2006/relationships/notesMaster" Target="/ppt/notesMasters/notesMaster1.xml" Id="R1d93f115f7a047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fcf3c9509c4655" /><Relationship Type="http://schemas.openxmlformats.org/officeDocument/2006/relationships/notesMaster" Target="/ppt/notesMasters/notesMaster1.xml" Id="R70d5eb6709f340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61b8784c8940a4" /><Relationship Type="http://schemas.openxmlformats.org/officeDocument/2006/relationships/notesMaster" Target="/ppt/notesMasters/notesMaster1.xml" Id="R961517c2711243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80fd10d293483b" /><Relationship Type="http://schemas.openxmlformats.org/officeDocument/2006/relationships/notesMaster" Target="/ppt/notesMasters/notesMaster1.xml" Id="R5e84b8ddc13741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0be63e19f743ec" /><Relationship Type="http://schemas.openxmlformats.org/officeDocument/2006/relationships/notesMaster" Target="/ppt/notesMasters/notesMaster1.xml" Id="Rcde4d734ef644e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d88983e41548de" /><Relationship Type="http://schemas.openxmlformats.org/officeDocument/2006/relationships/notesMaster" Target="/ppt/notesMasters/notesMaster1.xml" Id="Rb1b9303b6b3f44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4bb9a47ce74126" /><Relationship Type="http://schemas.openxmlformats.org/officeDocument/2006/relationships/notesMaster" Target="/ppt/notesMasters/notesMaster1.xml" Id="Re6b7c2db250040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bdaf3f21894e42" /><Relationship Type="http://schemas.openxmlformats.org/officeDocument/2006/relationships/notesMaster" Target="/ppt/notesMasters/notesMaster1.xml" Id="R47ca195b86964c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6109130b044c72" /><Relationship Type="http://schemas.openxmlformats.org/officeDocument/2006/relationships/notesMaster" Target="/ppt/notesMasters/notesMaster1.xml" Id="R61c4be78327541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fc6ef511c64276" /><Relationship Type="http://schemas.openxmlformats.org/officeDocument/2006/relationships/notesMaster" Target="/ppt/notesMasters/notesMaster1.xml" Id="Rd6bde5dea83241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dfc4ea46b04214" /><Relationship Type="http://schemas.openxmlformats.org/officeDocument/2006/relationships/notesMaster" Target="/ppt/notesMasters/notesMaster1.xml" Id="R9e99133b087d46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2a7c2a5d874083" /><Relationship Type="http://schemas.openxmlformats.org/officeDocument/2006/relationships/notesMaster" Target="/ppt/notesMasters/notesMaster1.xml" Id="R77c8857325a14eb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9a9704ee0f4566" /><Relationship Type="http://schemas.openxmlformats.org/officeDocument/2006/relationships/notesMaster" Target="/ppt/notesMasters/notesMaster1.xml" Id="R8d4937b120ac47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7dbb79ff4e423c" /><Relationship Type="http://schemas.openxmlformats.org/officeDocument/2006/relationships/notesMaster" Target="/ppt/notesMasters/notesMaster1.xml" Id="R3efd1ad741de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Governed evidence refs: A1, A2, A3, A8, A9, A10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A7,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A8, A9, A10,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A8 [ASSUMPTION]: Incremental revenue contributes 32% after returns, fulfilment, payment fees and incremental media.</a:t>
            </a:r>
          </a:p>
          <a:p xmlns:a="http://schemas.openxmlformats.org/drawingml/2006/main">
            <a:r>
              <a:t>A9 [ASSUMPTION]: The business realises 35% to 65% of annualised scenario headroom in the first 12 months.</a:t>
            </a:r>
          </a:p>
          <a:p xmlns:a="http://schemas.openxmlformats.org/drawingml/2006/main">
            <a:r>
              <a:t>A10 [ASSUMPTION]: The first 12 months require £85,000 of incremental implementation investment beyond the Growth Blueprint fee.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A8, A9, A10,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35466e86d4f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0e8b67d3e4f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feaabc7cf45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70bf65a3d45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df375223d4a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9f9b01a9a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13B73-70CF-4FDF-A78F-6FBA58494D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729AB2-233F-4871-A9C4-3CF3E449F8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F410BC-97AF-45C1-95E8-B0EC8F70D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6B3CF8-AA51-4167-AB01-2776EAFA4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6E8AEA-AE7B-478D-AEE8-55FC212ADA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2107B0-99D9-463E-A08B-95E776F34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D79AEC-F03B-46B2-8F5A-5874D7D1F4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BB0EC3-7C86-467E-97DA-04DBD384EE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9B802D-E6F6-4A03-B63D-B2A71C73E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72B5B1-AFE2-4505-85F7-130136CC3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381d6537e4cf1" /><Relationship Type="http://schemas.openxmlformats.org/officeDocument/2006/relationships/slideLayout" Target="/ppt/slideLayouts/slideLayout1.xml" Id="R00d48898638a44a2" /><Relationship Type="http://schemas.openxmlformats.org/officeDocument/2006/relationships/slideLayout" Target="/ppt/slideLayouts/slideLayout2.xml" Id="Rdc572bd9657c4a9b" /><Relationship Type="http://schemas.openxmlformats.org/officeDocument/2006/relationships/slideLayout" Target="/ppt/slideLayouts/slideLayout3.xml" Id="R72864826f28d480e" /><Relationship Type="http://schemas.openxmlformats.org/officeDocument/2006/relationships/slideLayout" Target="/ppt/slideLayouts/slideLayout4.xml" Id="R0a92887453594bfc" /><Relationship Type="http://schemas.openxmlformats.org/officeDocument/2006/relationships/slideLayout" Target="/ppt/slideLayouts/slideLayout5.xml" Id="Rd386cf187096457e" /><Relationship Type="http://schemas.openxmlformats.org/officeDocument/2006/relationships/slideLayout" Target="/ppt/slideLayouts/slideLayout6.xml" Id="R3b183ce81c23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d48898638a44a2"/>
    <p:sldLayoutId xmlns:r="http://schemas.openxmlformats.org/officeDocument/2006/relationships" id="2147483650" r:id="Rdc572bd9657c4a9b"/>
    <p:sldLayoutId xmlns:r="http://schemas.openxmlformats.org/officeDocument/2006/relationships" id="2147483651" r:id="R72864826f28d480e"/>
    <p:sldLayoutId xmlns:r="http://schemas.openxmlformats.org/officeDocument/2006/relationships" id="2147483652" r:id="R0a92887453594bfc"/>
    <p:sldLayoutId xmlns:r="http://schemas.openxmlformats.org/officeDocument/2006/relationships" id="2147483653" r:id="Rd386cf187096457e"/>
    <p:sldLayoutId xmlns:r="http://schemas.openxmlformats.org/officeDocument/2006/relationships" id="2147483654" r:id="R3b183ce81c23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f4dc625aa42f8" /><Relationship Type="http://schemas.openxmlformats.org/officeDocument/2006/relationships/notesSlide" Target="/ppt/notesSlides/notesSlide1.xml" Id="R11d34fc0e2e3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963fe0d5f462b" /><Relationship Type="http://schemas.openxmlformats.org/officeDocument/2006/relationships/notesSlide" Target="/ppt/notesSlides/notesSlide2.xml" Id="R0b42c1044a47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f08161b444dbc" /><Relationship Type="http://schemas.openxmlformats.org/officeDocument/2006/relationships/notesSlide" Target="/ppt/notesSlides/notesSlide3.xml" Id="R9619c91fc75f40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5f0f8c36041f2" /><Relationship Type="http://schemas.openxmlformats.org/officeDocument/2006/relationships/notesSlide" Target="/ppt/notesSlides/notesSlide4.xml" Id="Rbd887fe379514e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9016b3cfc4909" /><Relationship Type="http://schemas.openxmlformats.org/officeDocument/2006/relationships/image" Target="/ppt/media/image.png" Id="R00763d2a1ecb4984" /><Relationship Type="http://schemas.openxmlformats.org/officeDocument/2006/relationships/notesSlide" Target="/ppt/notesSlides/notesSlide5.xml" Id="Rc30a1af33a4942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9209919194215" /><Relationship Type="http://schemas.openxmlformats.org/officeDocument/2006/relationships/notesSlide" Target="/ppt/notesSlides/notesSlide6.xml" Id="Rc37c3315e507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354216f1f40e7" /><Relationship Type="http://schemas.openxmlformats.org/officeDocument/2006/relationships/notesSlide" Target="/ppt/notesSlides/notesSlide7.xml" Id="R627e93ca64b345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271111835494a" /><Relationship Type="http://schemas.openxmlformats.org/officeDocument/2006/relationships/notesSlide" Target="/ppt/notesSlides/notesSlide8.xml" Id="Rb7ba81e06c9c4c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382d4e37b4598" /><Relationship Type="http://schemas.openxmlformats.org/officeDocument/2006/relationships/notesSlide" Target="/ppt/notesSlides/notesSlide9.xml" Id="Rf1f1c7a9823f44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0c3e09254478b" /><Relationship Type="http://schemas.openxmlformats.org/officeDocument/2006/relationships/notesSlide" Target="/ppt/notesSlides/notesSlide10.xml" Id="R4357f97f48f647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f1838d8d546d8" /><Relationship Type="http://schemas.openxmlformats.org/officeDocument/2006/relationships/notesSlide" Target="/ppt/notesSlides/notesSlide11.xml" Id="R5cc9ff277f1a46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4b98291f84981" /><Relationship Type="http://schemas.openxmlformats.org/officeDocument/2006/relationships/notesSlide" Target="/ppt/notesSlides/notesSlide12.xml" Id="R2d0495eb4a8843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4f434e7b644c8" /><Relationship Type="http://schemas.openxmlformats.org/officeDocument/2006/relationships/notesSlide" Target="/ppt/notesSlides/notesSlide13.xml" Id="Rc49bfb346f3441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bfae6d009408c" /><Relationship Type="http://schemas.openxmlformats.org/officeDocument/2006/relationships/notesSlide" Target="/ppt/notesSlides/notesSlide14.xml" Id="R0da7b186452a41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ae1c8b8c044a2" /><Relationship Type="http://schemas.openxmlformats.org/officeDocument/2006/relationships/notesSlide" Target="/ppt/notesSlides/notesSlide15.xml" Id="Rf9b5d20de2d146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a99f57fa34198" /><Relationship Type="http://schemas.openxmlformats.org/officeDocument/2006/relationships/notesSlide" Target="/ppt/notesSlides/notesSlide16.xml" Id="Rc3638c8fe36d43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a183f511f4ef3" /><Relationship Type="http://schemas.openxmlformats.org/officeDocument/2006/relationships/notesSlide" Target="/ppt/notesSlides/notesSlide17.xml" Id="Rb7647966805449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8940494614e23" /><Relationship Type="http://schemas.openxmlformats.org/officeDocument/2006/relationships/notesSlide" Target="/ppt/notesSlides/notesSlide18.xml" Id="R94af29861e5c49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6d6fa1f784b56" /><Relationship Type="http://schemas.openxmlformats.org/officeDocument/2006/relationships/notesSlide" Target="/ppt/notesSlides/notesSlide19.xml" Id="R106e630b05ea42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2724717eb47cd" /><Relationship Type="http://schemas.openxmlformats.org/officeDocument/2006/relationships/notesSlide" Target="/ppt/notesSlides/notesSlide20.xml" Id="Rdbb2e5be823348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C75E0-FDE3-4B01-97C9-7F190B7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A32C0-96ED-4ADD-81D2-09C2F464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DBDEA-33E0-431F-BFCA-B474D241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56E2C-BEDE-4C81-BA47-5C867AA3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E480B-41CF-4160-9991-3767E9FD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FIELDWORK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429E0-FE95-47F9-924C-98C7A684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 the mixed-use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AE4AE-A887-4EAF-8BED-72274D38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conditional route from first object to repeat purchase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B7194-C664-48FF-9E73-1235AE8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FICTIONAL DEMONSTRATION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562572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7CC94-3BA2-4589-AC83-7B2D689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C05BF-8C80-4F50-9905-D137144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the commercial opportunity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DE92F-DDC9-4485-B996-1FF4DF9A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861C-CFC5-45DD-8F4E-F5838238BD4D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revenue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Year 1 contribution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Net after investment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Downside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£1.35m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£17k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654F"/>
                          </a:solidFill>
                          <a:latin typeface="Helvetica"/>
                          <a:ea typeface="Helvetica"/>
                          <a:cs typeface="Helvetica"/>
                        </a:rPr>
                        <a:t>-£68k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£1.89m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£121k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£36k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Upside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£2.27m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£223k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£138k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04C8C-EA43-4939-AD4F-6986E48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32% CONTRIBUTION, £85k INVESTMENT AND SCENARIO RAMP ARE ASSUMPTIONS. NOT A PROFIT FORECAST.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962C9-0B70-4528-AF00-DAD99CC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2E4D2-580F-492A-9162-A1F356E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scenario adds £690,000 of annualised revenue headroom. The base case produces a £36,440 first-year contribution proxy after £85,000 of assumed investment. Verify every input before committing.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7752D-07BA-4399-94DD-2976C8EE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7B2F2-F925-4628-A70D-15B35CF9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 - SCENARIO, NOT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01930-9150-4EF2-8F27-03BC832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7AA39-E68C-4A57-9022-9D6E94A5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892735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C9253-BFA8-48E6-BEBE-E80358F1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70FE2-7D54-49BF-A166-46CDDA5E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currently prevents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AC0F7-952B-4DB5-A088-04758258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8E59E-9D21-4081-9135-91A6CAA2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CURRENT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AC09C-B98D-432A-BE4B-8817B9E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Reach before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3010-C44C-4B54-8C72-67C3245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A broad catalogue asks paid media to create the distinction.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8A184-C122-4904-BA14-B38663B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B9006-DF29-4056-AA33-37E5AC4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E1C37-9CEF-4297-BABA-B6003C43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WORKING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55C0B-1508-408D-864F-2F699F8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No proven repeat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E133D-EF05-4883-944A-C88E1D98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Working diagnosis only. Falsify it by: Reject this diagnosis if a specific mixed-use proposition does not improve qualified product-page progression and net conversion, or if existing cohorts already show strong second-purchase behaviour.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4135A-B842-486A-A62B-6981A73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5BBE4-E3EB-4C68-A974-ECF8B18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is buying attention for a broad design promise before it has proved why a mixed-use household should choose its first object or return for the second.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2770D-5EE5-472F-8708-1BBE6DC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134E2-F739-4A8D-8A60-0DA0745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42AA5-9440-40F3-BFA4-260FE70D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689EC-BEE0-4303-921D-CD7A88E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319278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0348B-C492-4F73-A8B7-04D4F78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01F2D-6C24-4C39-9653-34B5C9A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strategic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DB818-BCDC-4505-84E9-8EF483A4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82300-5B2F-4861-A0B3-4DADBBFA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3D8D2-052F-43BC-90EF-F5A36D0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MIXED-USE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B73B7-3726-47CC-B20B-4A06F21D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B54A7-C0C7-4688-80AE-A3EBB891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FEDEC-289B-45D3-BCB8-DCB6111E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31CB4-4792-456D-B8A2-7A6445C2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USEFULNESS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781C1-AC0B-4B7D-9D28-8CC08F12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3EDC3-7D66-496D-9729-E3BA6B2A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40E30-9094-43DC-B8DC-7CEEEFDA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B88F6-7BFB-4424-9089-AC72F5A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EARN THE SECOND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FAE80-D84C-42A4-B228-259DCA6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Second-purchase economics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27356-4DC5-44E2-864F-922AC6A4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0470E-87A1-41E1-9A01-387EFB2A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542F8-6DCD-4864-8970-E8F0E203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Own the mixed-use surface, make usefulness visible, then earn the second object before scaling acquisition.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86301-350D-4719-96F2-71B5FC55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7A11F-60D9-4131-8FC2-982DA57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157E9-6C11-46FF-A6A4-D20D7264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934DD-D8F9-4125-BBF3-0CB9415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482326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0D079-EFB9-4548-959D-1D403FD54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63d2a1ecb49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E3F1F-E53A-4A59-9A5A-FE9B03E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0980"/>
            </a:srgbClr>
          </a:solidFill>
          <a:ln xmlns:a="http://schemas.openxmlformats.org/drawingml/2006/main" w="0">
            <a:solidFill>
              <a:srgbClr val="15121B">
                <a:alpha val="9098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35DA4-6EA9-4927-BE5D-20813F9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5B10C-628E-4BA1-AC75-0A1654EF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What the future could look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3DD6F-2944-430B-9220-AFDB3E3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36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Built for the work of 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B152E-61BE-43AA-9C04-470F5389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Objects designed for the table where invoices, lunch, school drawings and late calls all happen.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88EEA-03D6-49ED-99C8-E62920E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1559F-986D-485F-B4BE-069EA2B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0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Fictional visual proof. Test relevance, distinctiveness and product comprehension before selection.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D43E0-0038-4167-A442-1866FCD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B420D-323D-4597-BB8F-5B407A9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3B2F7-E462-4C28-A23F-394A6DE8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37543-A409-4E8C-A0C8-76FDB83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296486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B1663-3BCA-4F2B-A762-D44C596E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E0899-B566-4CB7-B07C-9D1D2A9A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21362-DBB0-4793-BE46-ED8AC9D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FE0E-E237-42AD-B7D9-203AE738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case produces a £36,440 first-year contribution proxy after £85,000 of assumed investment. Verify every input before committing.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1B697-5DC7-4FAA-899F-0380A5B2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C1828-7FFD-420F-A1A2-A163A48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098B5-8D5F-4FE8-A1AB-65B19874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C887D-FD74-4A3A-A32D-684AF9E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Validate before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82FA7-2694-4808-A7D2-E3B6E60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D31F1-78A4-45E0-9453-0C05333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could test an annualised ecommerce revenue scenario of £1,890,000, £690,000 above the assumed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063EA-0BEE-4C40-A80E-962A8D72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BC634-46BF-4DAA-BD42-02AF947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655D4-EE6D-4CA4-B535-25309B34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FEED3-D9A6-4C4F-A001-68E192C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243391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2E317-447F-485E-ACBF-36F334EE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DE664-00DE-40FF-9AE1-314791A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scenario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B0EB7-35A9-4728-9EBA-7AE87451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D4CCC-AB64-4C0F-9801-945FE03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DB7DF-F357-41BE-9B89-E8C4E3EF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7E319-BEE4-4D8F-B9EE-8E2CC0B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17F6E-F5D7-49DB-9794-C4F92B73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0D839-E2FE-46E7-9728-659DD0BC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12F27-EC8E-45F5-99B0-9AF0B95A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E427B-4B58-4DEA-843B-EF7D5C9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sequential bridge reconciles to £690,000. The attribution order is a modelling convention.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2E7F1-8B5D-4695-AAB2-60A9DE06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F6EEB-4501-47C7-849A-F03273E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Traffic and conversion each account for £300,000 of the base case. Higher order value accounts for £90,000.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84A62-1FBA-460B-93B3-541081A1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A8, A9, A10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87760-27C4-4AD3-8CCF-77C2BA4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05F11-3657-4E67-B39B-B76047B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873E5-8AFC-49B9-BCAF-84E26C4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6861339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7E4EE-2EC6-4CE3-BCCE-141416D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90B0-1F4C-4BC6-8CC4-F152DCB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0DBC3-CA74-4243-A048-37B353D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FBF9-5216-42FD-96E6-458B801E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C8C50-272A-49D0-8813-6BDA39C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EB683-B340-4F86-99EE-6499633C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4720E-8624-4EF5-BAE8-FBF189F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818A-0B9C-4A23-A84E-2C7C3AD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696F6-79EF-4919-A9B7-F1D306B0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513E4-AD3E-4284-B488-46842FB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a specific mixed-use proposition does not improve qualified product-page progression and net conversion, or if existing cohorts already show strong second-purchase behaviour.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C23CE-DB47-4BD2-9B4E-3B35AC63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DB4DD-9679-4F8C-8F7F-780834D8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is buying attention for a broad design promise before it has proved why a mixed-use household should choose its first object or return for the second.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41B99-5C12-42C7-B01E-5EF18DED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94457-4B85-4D80-B9AC-7DEC1F0E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A28D9-9CD2-4111-8178-42722BB9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4915F-6265-4DA2-80AF-473AC2B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028724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E541F-468B-42C8-AE0C-46961167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CB0C-7082-4BB7-9FA8-8F5FF82A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would disprove the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BAE21-73C2-4A4F-B73B-4AE74F9B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CED43-68DB-4B34-BFFB-D9017C76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54F24-0D3C-47A0-9617-A7FBC83C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4C3C8-7A80-4026-96A8-3944025E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3AC2D-87E5-4879-B35D-8AFB95C1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AA876-AEC0-4FC1-B6F3-E68B036D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3FB1F-FB0C-4051-83A6-D5CC7275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A3B6C-28E9-49A7-83D8-157C93A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108DB-C35A-458C-8223-BE557E22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F6B56-0170-4EAD-BCA3-FF11FFE3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684B7-7F2B-47D8-B0E5-3DF91932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513E7-62F9-4069-ADA8-60E6CF3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Reject this diagnosis if a specific mixed-use proposition does not improve qualified product-page progression and net conversion, or if existing cohorts already show strong second-purchase.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F427B-0466-421B-86C0-D7533409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3F3DA-8411-48AF-A0DB-ED3E5642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diagnosis fails if a specific mixed-use proposition does not improve net conversion or existing cohorts already repeat strongly.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EBBF2-16F8-48BD-B5E7-6C1408F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CF62A-89DE-4C3B-845E-B15FE53F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D2E3D-EE6A-4630-99EC-788D5D42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DBB25-8863-46E7-8DE9-962C2B2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498472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8AB6C-AA12-4292-ADA2-8F903C1C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B82BE-487B-43A8-A60B-4EFC6961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ADCCE-7750-4C5C-A6EF-2B789989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DB92C-076D-451A-AB14-27C8587D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562E-B6EA-48CC-9D3E-DC384B26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B7829-83CA-42D3-AEA4-354D12E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4AAED-5F83-4AAA-B52B-0801F19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GENERIC ORGANISATION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558B7-C65C-43AA-BEC5-63081A6E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MIXED-USE SPECIFIC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3D422-7153-4E43-B65B-812DB79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PROVEN IN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3CAA7-BFFB-4B43-A6F4-A94E721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3774E-9EA8-433D-98DC-AAB41D08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TEST TERRITORY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64E7D-89DD-4F7E-8876-A3FD94F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281DD-A9ED-4689-8A11-15C57F7F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455B9-1E8A-4F40-83AE-5D334BF1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Modular objects for surfaces shared by work and life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92986-E0F8-4926-98FE-0F1B694D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WHO IT MATTERS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7B7D0-7C15-4421-9604-C9977F08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People whose home workspace disappears and reappears every 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22B0E-3A4A-408B-88C0-81B75CE7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WHY COMPETITORS MISS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AC158-3ECB-4570-8FBF-11AB2C85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Validation required. No competitor position is asserted in this fictional fixture.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3A662-5F15-448C-84BB-BE1159A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51C05-90CB-43A3-9898-181410E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could own the mixed-use surface: modular objects designed for the daily collision of paid work, domestic life and limited space.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8175D-B812-4122-B396-685A93AA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F35B0-64F0-4E5E-BE33-3C8844D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DB384-A507-49E6-B798-FC890EBB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6DCE2-4D97-45A9-B7B5-37CDE9B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6488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E0532-6ECE-4A2B-B4A4-31A9ECAF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DB971-28C3-4533-9581-72D6D184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 needs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25353-9CD6-4075-AB03-F2FE3158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E3BB-6A8D-44E4-BDDE-A4370EED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5C60C-B4C8-4453-A67D-0F03B38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EVIDENCE TO 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BDAF7-981A-472C-A384-880A78B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CUSTOMER EVIDENCE REQUIRED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2B039-1127-434F-9958-85D6253E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Observe how shared surfaces are reset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0E2FE-FA45-4265-B33B-1B610F8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Test the mixed-use proposition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D17B6-B33D-4518-8136-F2F05AD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Measure willingness to 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AF888-AE55-42D8-836A-0B0E15E0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01F2D-AF9E-49A4-962B-7DA34043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FOUNDER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5EDEA-E3D3-4C37-8ED4-F986CE3D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proposed category to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F1648-1E4C-40E1-9226-DC4B8E15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C030B-A11B-437B-BC95-768777AA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41A3-8E3A-4E78-B6AA-4CB1C54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Not yet supplied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49DF7-2C1B-48D2-861F-6BFBC0D9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CAD09-A8F3-4BEC-8599-6B244A0C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CHOICE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60BEE-C317-4A10-A85F-F2CAC608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Required before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88905-4648-486E-8B27-BAE611A5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The territory remains a hypothesis until observed behaviour and customer choice evidence support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6AEBE-00E7-43F1-A6B3-459707F8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3EE44-3494-49C6-8AFA-B66D36F5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conviction can frame a hypothesis. Customer choice data must decide whether the advantage is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E160A-8AAA-44D8-81BB-63E9686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8AE8F-BF77-4B64-AA22-68C0082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B9DA6-C07B-40C6-BEB4-E24069F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CD050-7EB0-4FEC-8075-4730F3C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2206616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364C5-0F23-432A-887E-27B36EC3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026F0-2ADC-4D71-9001-EC9BC9E1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24FF-15D7-452C-8DB1-15918BD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8DFAB-F832-4605-B718-B7A9C2DC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222C-FA85-43F4-AC00-B3F75FD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C98E7-E8B5-47B6-B5E3-0237A82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57DE6-4A4F-4505-A7D9-06624E2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Broad accessories compete on taste and paid 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403D-70A6-4B8D-BDA9-27893D23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D25E3-BA2E-4250-801E-923B4A86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DF82C-9920-4BB9-AD76-552A92E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ACF22-997F-45A4-BB8E-5CA9710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Own the mixed-use surface and show usefulness in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87F20-3421-4D56-A853-0C3E5A89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3FA0F-1032-4037-8F96-A1B2DEFA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3E87-8DFE-4377-99E0-BA3D14D3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67F0C-5A3E-4749-8290-F96E4C16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Let the first object earn the second before buying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F8801-CCEB-4900-96D0-AFCCA0EB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Turn one useful object into a reason to return.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CD783-F130-4533-ADD6-06AFC8F8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EE3CC-3188-4748-8465-ACCEBF0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Turn the mixed-use surface into a category FIELDWORK can own, then prove that one useful object earns the next purchase before scaling acquisition.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5BF52-EB33-44F9-8809-3A4ADD05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3E4CB-6B5D-449F-8DE3-D2D2C6D8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D8039-5CAD-4226-8D84-A8954C1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2ECDA-9D57-4FE6-85D7-709E171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43389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427FA8-647E-4D92-A282-D245F22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EC65-C3F9-420F-ACD5-1407DEA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moves, three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0742C-3999-4425-8CD8-46AE39F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8007D-C260-4227-8BDC-77DCB1FF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454F7-8AF8-4C7D-B4E9-47F93A69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OWN THE MIXED-USE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A1E98-E8F7-41BB-907C-191A65F1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71A6B-D4B2-40B2-A24F-7E7ED01C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B1651-751B-4BA2-8A2F-5597F721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C762A-36F6-48E2-B82B-524C5E7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narrower promise may reduce broad but low-intent traffic.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A1706-F626-4C1D-B076-DDE39695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FAC92-CEB2-4CB5-B6E8-90CE0264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79919-F26B-4700-8670-57F40893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12DF4-5399-482A-AD3A-0B6C361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58305-1C10-43C1-AC0C-ECA2F8F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BB1CA-8E1F-4B43-8B12-5EAD474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MAKE USEFULNESS VISIBLE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C44E4-FD99-491F-AFD6-D144E1F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6936-1BBF-47E8-AF2A-F8735DA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9F489-7163-4D02-995D-5B5225D9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7902E-048B-45B9-A246-F9A30CBD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More proof requires disciplined production and may expose weak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5F707-E6AE-43BC-BE66-0ACD938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4999F-0515-4514-80BE-E9801246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68BE5-7910-4A96-B0D9-70943F5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EDFEF-0896-454A-9A7E-58F23DA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F54B7-3092-427B-9AAD-442CF71A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0A43D-96C8-4A6A-AB91-235976B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EARN THE SECOND 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A512C-6164-4729-BC58-D56AF99D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37E1D-799E-4FFF-B9A9-6AE9C1A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Second-purchase economics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6F72B-3CB5-4741-A967-A5A735B0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01693-5AD6-4FB8-BE9C-5565414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Near-term reach grows more slowly while economics are validated.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F3031-F9D4-4CD0-8440-D93A344A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23444-D62D-411B-B79C-52829FFE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6CCBD-64CB-42F0-B34B-16E6E10C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05026-09BB-42F9-ABA7-0D435DFC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F062B-F2E3-435D-A0BF-ADEE6E1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VERBAL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7644F-64A8-4AC8-8E92-4C611998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Specific promise • Visible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940C0-04DC-40A4-A3C7-361E6F4B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TONE + MOTION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4F307E-0B8A-4DA4-8723-1BB6E585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Direct • Useful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FB9E9B-BD40-450C-BF17-D9CC8B7E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RECURRING FORMATS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4864E6-B68A-48F4-9DEC-DA5C95B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Claim and proof • Test and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39E21-60F3-4BE7-AF30-3F6ED94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A3A6-240C-4202-B661-849F126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 connects each recommendation to a measurable commercial lever.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A75B0F-1768-4BC6-87F4-D1EFECA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5B4FA8-281B-49F9-BA09-DB581167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2DF85F-3F40-4DDC-A55B-524323DD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A73BDA-8D00-4F70-B0BB-71934B8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836554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DEF51-DF26-4FA7-A4D1-C0B1CB3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06AC-CD2B-4AF8-80FE-D767346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Creative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C1F2B-BCDA-4AC5-A83A-066CB67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26E20-F757-438A-93BD-777E53BF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USEFUL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3D8E1-E2A8-45B2-91D0-CEB765EC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B5594-71E6-40EF-8ED7-CEE0F3C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HUMAN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3625F-8E2C-42E0-BB2E-43656E1E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CA385-70BD-41CD-BD74-37D6599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40078-6CA9-49C4-83F2-0D4A229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33D7A-44DE-4F4A-84AF-31BB1340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9F3B6-28A6-4B19-90D3-DB54F991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042F0-8604-4923-BC6A-4DCA525A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61295-D614-454B-9A23-108CCA33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4054D-0AB4-42ED-943D-1F39A89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CF5D5-DEAB-48CB-A4BE-DFD5DB1A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23DC9-87E3-4384-B25F-0FF0EF4C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A462B-89C7-4F65-AE24-6F6BA13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Built for the work of living: Objects designed for the table where invoices, lunch, school drawings and late calls all happen.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8D431-1564-4B16-8889-3A2A77AE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74B96-43DE-4872-A05B-563F3B5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A1339-D239-4885-AE76-B6AE7B99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42DB2-7509-4727-8292-6CC7DDCA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4597026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4AB5B-6094-40AF-925D-9BF5D2AD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4904A-2243-410B-8A95-C2542BBF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campaign behaviour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A4551-3C3D-4FF0-83F8-43B4B8A0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AD108-C888-422B-A949-DBC867B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film keeps the camera on one dining table as invoice, lunch, school drawing and late call replace each other. The FIELDWORK object stays, adapts and gathers the day's essential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EB17C-02A6-48CB-9CBE-768EA733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6BA3B-5E75-4CA8-8BAF-3C152040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10B13-4CDE-4251-9FDF-8751981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1DE1B-7F4C-477D-BEA6-1B98475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D11B7-6076-4DFB-AD81-CC7B8255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00B82-BB27-4067-9FB4-9305EC3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03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A105B-5E2C-483A-B624-7A6DB92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765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B6839-9C2B-46A2-8475-E4D6CFA4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250A2-4C50-46C3-B48B-A9975D77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2BE13-8CC5-481C-A78F-8AFD30A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060E6-8295-4DC2-A670-690FB6C7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480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2B3B3-F054-42D5-A1AE-DFA6DC5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B59AE-5768-46FB-931D-420CAC6D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64776-37E3-44D8-9601-616CC06C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Objects designed for the table where invoices, lunch, school drawings and late calls all happen.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DBA6B-4526-4CAE-9764-B8AECC0C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36CA7-21D8-44F8-96B6-4627B584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A14A3-D8EE-4DAB-80CF-A582642F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F4323-3822-4439-A676-390272DC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7906548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CEEA3-DEC4-47E2-9AB3-179C30F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D8C58-4978-4D06-9505-83F6E46D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Growth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DAAF0-1CFB-4DEC-979A-D710DBE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E96B-99C2-4AE2-9FF7-A0508909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Owned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841C0-C447-4990-9510-891FD0B1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Prove the proposition and convert qualified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E8BED-CA13-4D2A-98C4-28DEBE3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Message comprehension and net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B36AF-A5FD-404B-9AE6-CAC8CA5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210E3-25CC-4D5E-BB38-900D57D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DC3E-4843-4F18-8D91-CBC2D749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Build repeat, cross-sell and referral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5BB43-CB34-448D-BFC2-D7DB4FD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Cohort contribution and opt-out guardrail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33DA0-2524-42B2-B181-A23AB86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20620-E298-4FF6-8DEA-006D0E7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2FD31-83C9-435A-987D-12E9F29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6048F-BCCA-40FF-AE50-27B59639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tested creative and proposition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96FA0-8B10-4B4B-89D6-B70C91A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Incremental contribution after creative and media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E3E76-C0A0-4FC0-BDDE-3A911983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712AA-3678-4DAA-89DC-7883964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Partnerships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52E51-19A8-4B10-A1E7-18D912A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Reach relevant work and design communities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5C565-D76C-4E35-AED3-70E10AB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Qualified traffic and assisted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A6F17-D8B9-4820-AB60-8169D44D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0A861-CAC2-41AC-9137-8F34ABB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EC6EE-23D0-425B-ACDA-D62D117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 the owned site to prove the mixed-use proposition, then use the first object to earn a second purchase before paid media scales the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52613-0BD1-496A-A8F7-4B0262B9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A7D78-2F51-4FCF-BCC8-AC1D3D7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5AEEA-8F2D-4879-A997-54465EA3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7B3F4-8C74-43B4-B4DF-5BD67825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20845144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F5143-4B8D-467E-98B1-DD8996D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189F-A2CD-4B64-BD58-7C9FBF5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E64C4-4A8F-4FBD-BD50-2C33BB8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5FAD3-8CDA-4FE3-9937-25B5CA61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8915-491F-4C55-9B53-CB88BD2E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F7AF-47EF-4242-A1D4-E3D3F9A6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Proposition comprehension, qualified click-through, product-page progression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95F61-C76D-4A07-A74F-A2637FFF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CCA9E-710E-4D98-94B1-F8F64538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9E3E3-7B97-469D-924B-6B82CD63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BEHAVIOURAL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1C09F-FD62-4DCC-BCB4-915465C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conversion, average order value, repeat and referral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B5029-868D-4685-B57F-BA8F17D3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B9D4-BDF4-4445-BD84-387850BD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3CEEE-8A10-461D-B62B-D4A8FA4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128C2-BB46-45BE-946D-EC0421E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Contribution after returns, fulfilment, media and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0B660-73C2-4B57-8FE3-B7EC2D9E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6055E-4D02-4524-8C1B-EA16EDBD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Leading indicators must move before the plan releases larger media or inventory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3629E-8D34-4B81-B76E-0889494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C8AD2-91B2-483E-B528-C0460F51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FA23E-B5A6-4119-AC1F-F4B4F9E9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88010-E320-4ED7-9DA2-40243DB0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5357857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378D6-3D48-48DD-A66B-EC7B8D96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7 / THE NEXT 12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1A15E-7848-486A-85BC-AEB80E5B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Next 12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9C5F8-74CF-4EF0-8560-FD58638F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9F3A0-7B79-43D2-A473-00403E3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5223B-36D5-4622-84FD-277330A6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487F4-BA56-427F-9DFA-A0D97234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Establish the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51C1B-6517-47C9-A1BA-083A1625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economics, interview customers and test three proposition routes.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53E71-3CC9-4746-B391-FD6E86A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72657-DC9F-4772-98E9-3A23ADD2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4-6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B5D02-12BA-48E6-8545-605955F0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A57B6-EEBB-4021-9FEE-9CFD179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Run controlled site, product-story and CRM tests with contribution guardrails.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48C6B-E2D6-4773-8CDF-A60E0810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0A611-A4CD-41DC-B46F-590FEF7A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7-9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B91FF-487F-458F-BC3E-27644F41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Build the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10DEC-C403-4618-A23C-8A348E8D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Codify winning creative, CRM and referral mechanics and assess capacity.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B3D8F-4104-41A2-80AF-BAC5143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C2019-112D-43B3-9FC2-BC8B2AEA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staged validation programme protects cash while the business replaces assumptions with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19CB1-7A03-4EB5-B84F-57260DA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A7397-FD49-44A2-8EEC-F2E0047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9E754-BC35-416E-B156-E857AED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08151-F034-4A80-B3E2-1A06E5C2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6272793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79ABE-8C7D-44E4-ADE1-5E096E6C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4FDA6-D2FF-4EF5-8BF4-5B5A6DB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03AF-0BC8-4ABD-AF83-EED872E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B0D6B-3BAB-4E31-87A4-0C28A9EA2324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381125"/>
                <a:gridCol w="4286250"/>
                <a:gridCol w="4676775"/>
              </a:tblGrid>
              <a:tr h="27781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Claim in this Blueprint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What would verify 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receives 600,000 ecommerce sessions per year.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an authorised GA4 export to ecommerce platform sessions and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converts 2.0% of ecommerce sessions to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Agree the conversion denominator and reconcile sessions to completed non-refunded orders.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has a £100 average order value before returns and discounts.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Calculate net realised order value from an authorised transaction export.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principal growth constraint is a broad proposition that gives qualified buyers too little reason to choose FIELDWORK.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Run founder interviews, proposition testing and a controlled landing-page conversion test.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FIELDWORK can build an advantage around objects designed for the overlap between work and home life.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relevance, distinctiveness and willingness to pay with target customers.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proposition-led acquisition, conversion and retention programme is operationally feasible.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channel spend, contribution margin, stock capacity and cohort retention before scale.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 staged 12-month validation programme is affordable and resourced.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Scope the work, cost each phase and secure named owner commitments.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Incremental revenue contributes 32% after returns, fulfilment, payment fees and incremental media.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Reconcile order-level net revenue and variable costs by product and channel.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business realises 35% to 65% of annualised scenario headroom in the first 12 months.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Build a monthly implementation plan with test cadence, seasonality and operational capacity.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The first 12 months require £85,000 of incremental implementation investment beyond the Growth Blueprint fee.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Obtain a costed delivery plan and separate one-off, variable and internal costs.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675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Built for the work of living is an illustrative creative territory for FIELDWORK.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75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 strategic fit, distinctiveness, comprehension and trademark risk before selection.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B6C87-0740-4407-9883-F4C00FE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No verified client or external evidence appears in this fictional sample. Every claim remains tied to a validation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EB630-6CF0-4CE9-A3C9-4E5807E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A4, A5, A6, A7, A8, A9, A10,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3A7F0-3B3F-4A87-AFAF-607DA06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6A253-475C-4887-A868-3FA2A015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AA0E8-54B8-49B1-83A6-29E71ED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741814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C73C3-713A-46A5-B20C-A75ED778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DECISION / NEXT COMMITMENT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0897E-E27C-46BC-8083-921A5E8F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founder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F2156-6526-4A5E-84EC-237E1B14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62549-FBE8-49E2-A079-D037EABC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Fund proof,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200D1-129E-4D5B-8141-98107648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not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55A25-044F-432D-8965-B640A92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Release investment only as evidence improves.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1DED7-4985-4D8A-9269-B8C76328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DEC4E-B71D-47E0-8FA2-C2CBFAAB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the baseline, cost the 12-week proof phase and approve only the first decision gate.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66CF-1183-4688-BE60-63A5F05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A1, A2, A3, A4, A5, A6, A7, A8, A9, A10, 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1684E-FAF1-49C0-8D42-E00BC783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HUMAN DECISION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5AEF7-77E8-4C4E-932C-A572AD2D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6E832-2F85-4BDC-9E65-269CEA0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84370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2026-10-14T17:02:11.4000000Z</dcterms:created>
  <dcterms:modified xsi:type="dcterms:W3CDTF">2026-10-14T17:02:11.4000000Z</dcterms:modified>
</coreProperties>
</file>